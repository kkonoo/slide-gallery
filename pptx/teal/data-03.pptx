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 장내 균총의 절반은 Firmicutes 였다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2217552" y="1898944"/>
            <a:ext cx="2448000" cy="244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2217552" y="2956142"/>
            <a:ext cx="244800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52%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2013506" y="4454944"/>
            <a:ext cx="28560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Firmicutes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5145644" y="2456818"/>
            <a:ext cx="1890125" cy="1890125"/>
          </a:xfrm>
          <a:prstGeom prst="ellipse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5145644" y="3235079"/>
            <a:ext cx="189012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31%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4941598" y="4454944"/>
            <a:ext cx="229821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Bacteroidetes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7515862" y="3328514"/>
            <a:ext cx="1018430" cy="1018430"/>
          </a:xfrm>
          <a:prstGeom prst="ellipse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7515862" y="3670927"/>
            <a:ext cx="101843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9%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7311816" y="4454944"/>
            <a:ext cx="142652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Proteobacteria</a:t>
            </a:r>
          </a:p>
        </p:txBody>
      </p:sp>
      <p:sp>
        <p:nvSpPr>
          <p:cNvPr id="14" name="data-03:bubble"/>
          <p:cNvSpPr/>
          <p:nvPr/>
        </p:nvSpPr>
        <p:spPr>
          <a:xfrm>
            <a:off x="9014384" y="3386759"/>
            <a:ext cx="960185" cy="960185"/>
          </a:xfrm>
          <a:prstGeom prst="ellipse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ata-03:value"/>
          <p:cNvSpPr txBox="1"/>
          <p:nvPr/>
        </p:nvSpPr>
        <p:spPr>
          <a:xfrm>
            <a:off x="9014384" y="3700049"/>
            <a:ext cx="96018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8%</a:t>
            </a:r>
          </a:p>
        </p:txBody>
      </p:sp>
      <p:sp>
        <p:nvSpPr>
          <p:cNvPr id="16" name="data-03:label"/>
          <p:cNvSpPr txBox="1"/>
          <p:nvPr/>
        </p:nvSpPr>
        <p:spPr>
          <a:xfrm>
            <a:off x="8810337" y="4454944"/>
            <a:ext cx="136827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기타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695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67516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Firmicutes/Bacteroidetes 비는 1.7로 건강 대조군(0.9)의 두 배 가까이 높았다.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면역세포 가운데 대식세포가 T세포 다음으로 많았다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757330" y="2164262"/>
            <a:ext cx="2378069" cy="2378069"/>
          </a:xfrm>
          <a:prstGeom prst="ellipse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757330" y="3186495"/>
            <a:ext cx="2378069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38%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504000" y="4650331"/>
            <a:ext cx="28847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3714060" y="2652433"/>
            <a:ext cx="1889898" cy="1889898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3714060" y="3430581"/>
            <a:ext cx="1889898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24%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3460730" y="4650331"/>
            <a:ext cx="239655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6182619" y="3048236"/>
            <a:ext cx="1494095" cy="1494095"/>
          </a:xfrm>
          <a:prstGeom prst="ellipse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6182619" y="3628482"/>
            <a:ext cx="149409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15%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5929288" y="4650331"/>
            <a:ext cx="200075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B세포</a:t>
            </a:r>
          </a:p>
        </p:txBody>
      </p:sp>
      <p:sp>
        <p:nvSpPr>
          <p:cNvPr id="14" name="data-03:bubble"/>
          <p:cNvSpPr/>
          <p:nvPr/>
        </p:nvSpPr>
        <p:spPr>
          <a:xfrm>
            <a:off x="8255375" y="3098898"/>
            <a:ext cx="1443433" cy="1443433"/>
          </a:xfrm>
          <a:prstGeom prst="ellipse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ata-03:value"/>
          <p:cNvSpPr txBox="1"/>
          <p:nvPr/>
        </p:nvSpPr>
        <p:spPr>
          <a:xfrm>
            <a:off x="8255375" y="3653813"/>
            <a:ext cx="1443433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14%</a:t>
            </a:r>
          </a:p>
        </p:txBody>
      </p:sp>
      <p:sp>
        <p:nvSpPr>
          <p:cNvPr id="16" name="data-03:label"/>
          <p:cNvSpPr txBox="1"/>
          <p:nvPr/>
        </p:nvSpPr>
        <p:spPr>
          <a:xfrm>
            <a:off x="8002044" y="4650331"/>
            <a:ext cx="195009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</p:txBody>
      </p:sp>
      <p:sp>
        <p:nvSpPr>
          <p:cNvPr id="17" name="data-03:bubble"/>
          <p:cNvSpPr/>
          <p:nvPr/>
        </p:nvSpPr>
        <p:spPr>
          <a:xfrm>
            <a:off x="10277468" y="3385010"/>
            <a:ext cx="1157321" cy="1157321"/>
          </a:xfrm>
          <a:prstGeom prst="ellipse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data-03:value"/>
          <p:cNvSpPr txBox="1"/>
          <p:nvPr/>
        </p:nvSpPr>
        <p:spPr>
          <a:xfrm>
            <a:off x="10277468" y="3796869"/>
            <a:ext cx="1157321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9%</a:t>
            </a:r>
          </a:p>
        </p:txBody>
      </p:sp>
      <p:sp>
        <p:nvSpPr>
          <p:cNvPr id="19" name="data-03:label"/>
          <p:cNvSpPr txBox="1"/>
          <p:nvPr/>
        </p:nvSpPr>
        <p:spPr>
          <a:xfrm>
            <a:off x="10024138" y="4650331"/>
            <a:ext cx="166398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NK세포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규모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우리 코호트는 기존 연구 평균의 네 배 크기다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4078024" y="2026020"/>
            <a:ext cx="1782000" cy="1782000"/>
          </a:xfrm>
          <a:prstGeom prst="ellipse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4078024" y="2750218"/>
            <a:ext cx="178200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120만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3973145" y="3916020"/>
            <a:ext cx="1991759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공개 아틀라스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6141783" y="2680984"/>
            <a:ext cx="1127036" cy="1127036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6141783" y="3077700"/>
            <a:ext cx="1127036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48만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6036904" y="3916020"/>
            <a:ext cx="1336795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우리 코호트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7550578" y="3244502"/>
            <a:ext cx="563518" cy="563518"/>
          </a:xfrm>
          <a:prstGeom prst="ellipse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7445698" y="2874898"/>
            <a:ext cx="773277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12만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7445698" y="3916020"/>
            <a:ext cx="773277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기존 연구 평균</a:t>
            </a:r>
          </a:p>
        </p:txBody>
      </p:sp>
      <p:cxnSp>
        <p:nvCxnSpPr>
          <p:cNvPr id="14" name="conclusion:line"/>
          <p:cNvCxnSpPr/>
          <p:nvPr/>
        </p:nvCxnSpPr>
        <p:spPr>
          <a:xfrm>
            <a:off x="468000" y="471536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clusion:text"/>
          <p:cNvSpPr txBox="1"/>
          <p:nvPr/>
        </p:nvSpPr>
        <p:spPr>
          <a:xfrm>
            <a:off x="468000" y="491336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공개 아틀라스와 합치면 168만 세포로, 드문 세포 군집(전체의 0.1% 미만)도 따로 분석할 수 있다.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