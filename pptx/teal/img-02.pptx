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(img-02-c).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배경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 반응은 환자마다 크게 다르다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3947420"/>
            <a:ext cx="11256120" cy="215458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379420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장내 균총이 </a:t>
            </a:r>
            <a:r>
              <a:rPr sz="4000" b="1" spc="-40">
                <a:solidFill>
                  <a:srgbClr val="E5484D"/>
                </a:solidFill>
              </a:rPr>
              <a:t>항암 반응</a:t>
            </a:r>
            <a:r>
              <a:rPr sz="4000" b="1" spc="-40">
                <a:solidFill>
                  <a:srgbClr val="FFFFFF"/>
                </a:solidFill>
              </a:rPr>
              <a:t>을 가른다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5202955"/>
            <a:ext cx="8347774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반응군과 무반응군의 장내 미생물을 비교했다 (n = 112)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2부 · 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안 T세포의 상태가 반응을 예측한다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2924762"/>
            <a:ext cx="3863570" cy="13950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종양 안 T세포는 이미 </a:t>
            </a:r>
            <a:r>
              <a:rPr sz="4000" b="1" spc="-40">
                <a:solidFill>
                  <a:srgbClr val="E5484D"/>
                </a:solidFill>
              </a:rPr>
              <a:t>지쳐</a:t>
            </a:r>
            <a:r>
              <a:rPr sz="4000" b="1" spc="-40">
                <a:solidFill>
                  <a:srgbClr val="FFFFFF"/>
                </a:solidFill>
              </a:rPr>
              <a:t> 있다</a:t>
            </a:r>
          </a:p>
        </p:txBody>
      </p:sp>
      <p:sp>
        <p:nvSpPr>
          <p:cNvPr id="8" name="img-02:sub"/>
          <p:cNvSpPr txBox="1"/>
          <p:nvPr/>
        </p:nvSpPr>
        <p:spPr>
          <a:xfrm>
            <a:off x="900000" y="4445831"/>
            <a:ext cx="3863570" cy="315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600" b="0" spc="-40">
                <a:solidFill>
                  <a:srgbClr val="E2E5EA"/>
                </a:solidFill>
              </a:rPr>
              <a:t>소진 T세포 비율이 높을수록 치료 반응이 낮았다</a:t>
            </a:r>
          </a:p>
        </p:txBody>
      </p:sp>
      <p:sp>
        <p:nvSpPr>
          <p:cNvPr id="9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조직 절편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3부 · 남은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단계는 소진을 되돌리는 조절자를 찾는 일이다</a:t>
            </a:r>
          </a:p>
        </p:txBody>
      </p:sp>
      <p:sp>
        <p:nvSpPr>
          <p:cNvPr id="5" name="img-02:photo"/>
          <p:cNvSpPr/>
          <p:nvPr/>
        </p:nvSpPr>
        <p:spPr>
          <a:xfrm>
            <a:off x="468000" y="1584000"/>
            <a:ext cx="11256120" cy="451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img-02:shade"/>
          <p:cNvSpPr/>
          <p:nvPr/>
        </p:nvSpPr>
        <p:spPr>
          <a:xfrm>
            <a:off x="468000" y="4388827"/>
            <a:ext cx="11256120" cy="1713173"/>
          </a:xfrm>
          <a:prstGeom prst="rect">
            <a:avLst/>
          </a:prstGeom>
          <a:solidFill>
            <a:srgbClr val="0000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img-02:message"/>
          <p:cNvSpPr txBox="1"/>
          <p:nvPr/>
        </p:nvSpPr>
        <p:spPr>
          <a:xfrm>
            <a:off x="900000" y="4820827"/>
            <a:ext cx="8347774" cy="697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spc="-40">
                <a:solidFill>
                  <a:srgbClr val="FFFFFF"/>
                </a:solidFill>
              </a:rPr>
              <a:t>무엇이 소진을 </a:t>
            </a:r>
            <a:r>
              <a:rPr sz="4000" b="1" spc="-40">
                <a:solidFill>
                  <a:srgbClr val="E5484D"/>
                </a:solidFill>
              </a:rPr>
              <a:t>되돌리나</a:t>
            </a:r>
          </a:p>
        </p:txBody>
      </p:sp>
      <p:sp>
        <p:nvSpPr>
          <p:cNvPr id="8" name="img-02:credit"/>
          <p:cNvSpPr txBox="1"/>
          <p:nvPr/>
        </p:nvSpPr>
        <p:spPr>
          <a:xfrm>
            <a:off x="9630698" y="5842362"/>
            <a:ext cx="1949422" cy="1516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0" spc="-40">
                <a:solidFill>
                  <a:srgbClr val="C9CDD3"/>
                </a:solidFill>
              </a:rPr>
              <a:t>그림: 배양 접시 예시 (자체 제작)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