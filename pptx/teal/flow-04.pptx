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(flow-04-a).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(flow-04-b).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(flow-04-c).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방식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실험과 분석을 번갈아 돌려요</a:t>
            </a:r>
          </a:p>
        </p:txBody>
      </p:sp>
      <p:sp>
        <p:nvSpPr>
          <p:cNvPr id="5" name="flow-04:segment"/>
          <p:cNvSpPr/>
          <p:nvPr/>
        </p:nvSpPr>
        <p:spPr>
          <a:xfrm>
            <a:off x="4339838" y="2589557"/>
            <a:ext cx="3512443" cy="3512443"/>
          </a:xfrm>
          <a:prstGeom prst="blockArc">
            <a:avLst>
              <a:gd name="adj1" fmla="val 14160000"/>
              <a:gd name="adj2" fmla="val 18240000"/>
              <a:gd name="adj3" fmla="val 13000"/>
            </a:avLst>
          </a:prstGeom>
          <a:solidFill>
            <a:srgbClr val="9FB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4:segment"/>
          <p:cNvSpPr/>
          <p:nvPr/>
        </p:nvSpPr>
        <p:spPr>
          <a:xfrm>
            <a:off x="4339838" y="2589557"/>
            <a:ext cx="3512443" cy="3512443"/>
          </a:xfrm>
          <a:prstGeom prst="blockArc">
            <a:avLst>
              <a:gd name="adj1" fmla="val 18480000"/>
              <a:gd name="adj2" fmla="val 960000"/>
              <a:gd name="adj3" fmla="val 13000"/>
            </a:avLst>
          </a:prstGeom>
          <a:solidFill>
            <a:srgbClr val="9FB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flow-04:segment"/>
          <p:cNvSpPr/>
          <p:nvPr/>
        </p:nvSpPr>
        <p:spPr>
          <a:xfrm>
            <a:off x="4339838" y="2589557"/>
            <a:ext cx="3512443" cy="3512443"/>
          </a:xfrm>
          <a:prstGeom prst="blockArc">
            <a:avLst>
              <a:gd name="adj1" fmla="val 1200000"/>
              <a:gd name="adj2" fmla="val 5280000"/>
              <a:gd name="adj3" fmla="val 13000"/>
            </a:avLst>
          </a:prstGeom>
          <a:solidFill>
            <a:srgbClr val="9FB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flow-04:segment"/>
          <p:cNvSpPr/>
          <p:nvPr/>
        </p:nvSpPr>
        <p:spPr>
          <a:xfrm>
            <a:off x="4339838" y="2589557"/>
            <a:ext cx="3512443" cy="3512443"/>
          </a:xfrm>
          <a:prstGeom prst="blockArc">
            <a:avLst>
              <a:gd name="adj1" fmla="val 5520000"/>
              <a:gd name="adj2" fmla="val 9600000"/>
              <a:gd name="adj3" fmla="val 13000"/>
            </a:avLst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flow-04:segment"/>
          <p:cNvSpPr/>
          <p:nvPr/>
        </p:nvSpPr>
        <p:spPr>
          <a:xfrm>
            <a:off x="4339838" y="2589557"/>
            <a:ext cx="3512443" cy="3512443"/>
          </a:xfrm>
          <a:prstGeom prst="blockArc">
            <a:avLst>
              <a:gd name="adj1" fmla="val 9840000"/>
              <a:gd name="adj2" fmla="val 13500000"/>
              <a:gd name="adj3" fmla="val 13000"/>
            </a:avLst>
          </a:prstGeom>
          <a:solidFill>
            <a:srgbClr val="9FB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flow-04:arrow"/>
          <p:cNvSpPr/>
          <p:nvPr/>
        </p:nvSpPr>
        <p:spPr>
          <a:xfrm rot="2910000">
            <a:off x="4821079" y="3099522"/>
            <a:ext cx="525110" cy="203835"/>
          </a:xfrm>
          <a:prstGeom prst="triangle">
            <a:avLst/>
          </a:prstGeom>
          <a:solidFill>
            <a:srgbClr val="9FB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flow-04:center"/>
          <p:cNvSpPr/>
          <p:nvPr/>
        </p:nvSpPr>
        <p:spPr>
          <a:xfrm>
            <a:off x="5004393" y="3254111"/>
            <a:ext cx="2183335" cy="2183335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flow-04:center-text"/>
          <p:cNvSpPr txBox="1"/>
          <p:nvPr/>
        </p:nvSpPr>
        <p:spPr>
          <a:xfrm>
            <a:off x="5244559" y="3581611"/>
            <a:ext cx="1703001" cy="152833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700" b="1" spc="-40">
                <a:solidFill>
                  <a:srgbClr val="0F4C6E"/>
                </a:solidFill>
              </a:rPr>
              <a:t>실험과 분석이 서로 다음 질문을 만든다</a:t>
            </a:r>
          </a:p>
        </p:txBody>
      </p:sp>
      <p:sp>
        <p:nvSpPr>
          <p:cNvPr id="13" name="flow-04:marker"/>
          <p:cNvSpPr/>
          <p:nvPr/>
        </p:nvSpPr>
        <p:spPr>
          <a:xfrm>
            <a:off x="5952060" y="1584000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1</a:t>
            </a:r>
          </a:p>
        </p:txBody>
      </p:sp>
      <p:sp>
        <p:nvSpPr>
          <p:cNvPr id="14" name="flow-04:label"/>
          <p:cNvSpPr txBox="1"/>
          <p:nvPr/>
        </p:nvSpPr>
        <p:spPr>
          <a:xfrm>
            <a:off x="3282030" y="1908000"/>
            <a:ext cx="5628060" cy="5735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가설</a:t>
            </a:r>
          </a:p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조절 유전자 후보 선정</a:t>
            </a:r>
          </a:p>
        </p:txBody>
      </p:sp>
      <p:sp>
        <p:nvSpPr>
          <p:cNvPr id="15" name="flow-04:marker"/>
          <p:cNvSpPr/>
          <p:nvPr/>
        </p:nvSpPr>
        <p:spPr>
          <a:xfrm>
            <a:off x="8068282" y="355971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2</a:t>
            </a:r>
          </a:p>
        </p:txBody>
      </p:sp>
      <p:sp>
        <p:nvSpPr>
          <p:cNvPr id="16" name="flow-04:label"/>
          <p:cNvSpPr txBox="1"/>
          <p:nvPr/>
        </p:nvSpPr>
        <p:spPr>
          <a:xfrm>
            <a:off x="8446282" y="3559714"/>
            <a:ext cx="3169838" cy="5735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CRISPR 교란 실험</a:t>
            </a:r>
          </a:p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후보 유전자 녹아웃 풀</a:t>
            </a:r>
          </a:p>
        </p:txBody>
      </p:sp>
      <p:sp>
        <p:nvSpPr>
          <p:cNvPr id="17" name="flow-04:marker"/>
          <p:cNvSpPr/>
          <p:nvPr/>
        </p:nvSpPr>
        <p:spPr>
          <a:xfrm>
            <a:off x="8068282" y="5366148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3</a:t>
            </a:r>
          </a:p>
        </p:txBody>
      </p:sp>
      <p:sp>
        <p:nvSpPr>
          <p:cNvPr id="18" name="flow-04:label"/>
          <p:cNvSpPr txBox="1"/>
          <p:nvPr/>
        </p:nvSpPr>
        <p:spPr>
          <a:xfrm>
            <a:off x="8446282" y="5366148"/>
            <a:ext cx="3169838" cy="5735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단일세포 시퀀싱</a:t>
            </a:r>
          </a:p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교란별 전사체 측정</a:t>
            </a:r>
          </a:p>
        </p:txBody>
      </p:sp>
      <p:sp>
        <p:nvSpPr>
          <p:cNvPr id="19" name="flow-04:marker"/>
          <p:cNvSpPr/>
          <p:nvPr/>
        </p:nvSpPr>
        <p:spPr>
          <a:xfrm>
            <a:off x="3835838" y="5366148"/>
            <a:ext cx="288000" cy="288000"/>
          </a:xfrm>
          <a:prstGeom prst="ellipse">
            <a:avLst/>
          </a:prstGeom>
          <a:solidFill>
            <a:srgbClr val="0F4C6E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flow-04:label"/>
          <p:cNvSpPr txBox="1"/>
          <p:nvPr/>
        </p:nvSpPr>
        <p:spPr>
          <a:xfrm>
            <a:off x="576000" y="5366148"/>
            <a:ext cx="3169838" cy="5735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600" b="1" spc="-40">
                <a:solidFill>
                  <a:srgbClr val="0F4C6E"/>
                </a:solidFill>
              </a:rPr>
              <a:t>계산 분석</a:t>
            </a:r>
          </a:p>
          <a:p>
            <a:pPr algn="r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교란 효과 · 경로 추정</a:t>
            </a:r>
          </a:p>
        </p:txBody>
      </p:sp>
      <p:sp>
        <p:nvSpPr>
          <p:cNvPr id="21" name="flow-04:marker"/>
          <p:cNvSpPr/>
          <p:nvPr/>
        </p:nvSpPr>
        <p:spPr>
          <a:xfrm>
            <a:off x="3835838" y="355971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5</a:t>
            </a:r>
          </a:p>
        </p:txBody>
      </p:sp>
      <p:sp>
        <p:nvSpPr>
          <p:cNvPr id="22" name="flow-04:label"/>
          <p:cNvSpPr txBox="1"/>
          <p:nvPr/>
        </p:nvSpPr>
        <p:spPr>
          <a:xfrm>
            <a:off x="576000" y="3559714"/>
            <a:ext cx="3169838" cy="5735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가설 수정</a:t>
            </a:r>
          </a:p>
          <a:p>
            <a:pPr algn="r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다음 후보 유전자 선정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방식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실험과 분석을 번갈아 돌려요</a:t>
            </a:r>
          </a:p>
        </p:txBody>
      </p:sp>
      <p:sp>
        <p:nvSpPr>
          <p:cNvPr id="5" name="flow-04:segment"/>
          <p:cNvSpPr/>
          <p:nvPr/>
        </p:nvSpPr>
        <p:spPr>
          <a:xfrm>
            <a:off x="4116060" y="1770000"/>
            <a:ext cx="3960000" cy="3960000"/>
          </a:xfrm>
          <a:prstGeom prst="blockArc">
            <a:avLst>
              <a:gd name="adj1" fmla="val 16320000"/>
              <a:gd name="adj2" fmla="val 21480000"/>
              <a:gd name="adj3" fmla="val 13000"/>
            </a:avLst>
          </a:prstGeom>
          <a:solidFill>
            <a:srgbClr val="9FB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4:segment"/>
          <p:cNvSpPr/>
          <p:nvPr/>
        </p:nvSpPr>
        <p:spPr>
          <a:xfrm>
            <a:off x="4116060" y="1770000"/>
            <a:ext cx="3960000" cy="3960000"/>
          </a:xfrm>
          <a:prstGeom prst="blockArc">
            <a:avLst>
              <a:gd name="adj1" fmla="val 120000"/>
              <a:gd name="adj2" fmla="val 5280000"/>
              <a:gd name="adj3" fmla="val 13000"/>
            </a:avLst>
          </a:prstGeom>
          <a:solidFill>
            <a:srgbClr val="9FB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flow-04:segment"/>
          <p:cNvSpPr/>
          <p:nvPr/>
        </p:nvSpPr>
        <p:spPr>
          <a:xfrm>
            <a:off x="4116060" y="1770000"/>
            <a:ext cx="3960000" cy="3960000"/>
          </a:xfrm>
          <a:prstGeom prst="blockArc">
            <a:avLst>
              <a:gd name="adj1" fmla="val 5520000"/>
              <a:gd name="adj2" fmla="val 10680000"/>
              <a:gd name="adj3" fmla="val 13000"/>
            </a:avLst>
          </a:prstGeom>
          <a:solidFill>
            <a:srgbClr val="9FB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flow-04:segment"/>
          <p:cNvSpPr/>
          <p:nvPr/>
        </p:nvSpPr>
        <p:spPr>
          <a:xfrm>
            <a:off x="4116060" y="1770000"/>
            <a:ext cx="3960000" cy="3960000"/>
          </a:xfrm>
          <a:prstGeom prst="blockArc">
            <a:avLst>
              <a:gd name="adj1" fmla="val 10920000"/>
              <a:gd name="adj2" fmla="val 15660000"/>
              <a:gd name="adj3" fmla="val 13000"/>
            </a:avLst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flow-04:arrow"/>
          <p:cNvSpPr/>
          <p:nvPr/>
        </p:nvSpPr>
        <p:spPr>
          <a:xfrm rot="5070000">
            <a:off x="5634946" y="1920427"/>
            <a:ext cx="592020" cy="229808"/>
          </a:xfrm>
          <a:prstGeom prst="triangle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flow-04:center"/>
          <p:cNvSpPr/>
          <p:nvPr/>
        </p:nvSpPr>
        <p:spPr>
          <a:xfrm>
            <a:off x="4865292" y="2519232"/>
            <a:ext cx="2461536" cy="2461536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flow-04:center-text"/>
          <p:cNvSpPr txBox="1"/>
          <p:nvPr/>
        </p:nvSpPr>
        <p:spPr>
          <a:xfrm>
            <a:off x="5136061" y="2888462"/>
            <a:ext cx="1919998" cy="172307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700" b="1" spc="-40">
                <a:solidFill>
                  <a:srgbClr val="0F4C6E"/>
                </a:solidFill>
              </a:rPr>
              <a:t>실험과 분석이 서로 다음 질문을 만든다</a:t>
            </a:r>
          </a:p>
        </p:txBody>
      </p:sp>
      <p:sp>
        <p:nvSpPr>
          <p:cNvPr id="12" name="flow-04:marker"/>
          <p:cNvSpPr/>
          <p:nvPr/>
        </p:nvSpPr>
        <p:spPr>
          <a:xfrm>
            <a:off x="8292060" y="2175156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1</a:t>
            </a:r>
          </a:p>
        </p:txBody>
      </p:sp>
      <p:sp>
        <p:nvSpPr>
          <p:cNvPr id="13" name="flow-04:label"/>
          <p:cNvSpPr txBox="1"/>
          <p:nvPr/>
        </p:nvSpPr>
        <p:spPr>
          <a:xfrm>
            <a:off x="8670060" y="2175156"/>
            <a:ext cx="2946060" cy="5735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가설</a:t>
            </a:r>
          </a:p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조절 유전자 후보 선정</a:t>
            </a:r>
          </a:p>
        </p:txBody>
      </p:sp>
      <p:sp>
        <p:nvSpPr>
          <p:cNvPr id="14" name="flow-04:marker"/>
          <p:cNvSpPr/>
          <p:nvPr/>
        </p:nvSpPr>
        <p:spPr>
          <a:xfrm>
            <a:off x="8292060" y="475128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2</a:t>
            </a:r>
          </a:p>
        </p:txBody>
      </p:sp>
      <p:sp>
        <p:nvSpPr>
          <p:cNvPr id="15" name="flow-04:label"/>
          <p:cNvSpPr txBox="1"/>
          <p:nvPr/>
        </p:nvSpPr>
        <p:spPr>
          <a:xfrm>
            <a:off x="8670060" y="4751287"/>
            <a:ext cx="2946060" cy="5735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CRISPR 교란 실험</a:t>
            </a:r>
          </a:p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후보 유전자 녹아웃 풀</a:t>
            </a:r>
          </a:p>
        </p:txBody>
      </p:sp>
      <p:sp>
        <p:nvSpPr>
          <p:cNvPr id="16" name="flow-04:marker"/>
          <p:cNvSpPr/>
          <p:nvPr/>
        </p:nvSpPr>
        <p:spPr>
          <a:xfrm>
            <a:off x="3612060" y="475128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3</a:t>
            </a:r>
          </a:p>
        </p:txBody>
      </p:sp>
      <p:sp>
        <p:nvSpPr>
          <p:cNvPr id="17" name="flow-04:label"/>
          <p:cNvSpPr txBox="1"/>
          <p:nvPr/>
        </p:nvSpPr>
        <p:spPr>
          <a:xfrm>
            <a:off x="576000" y="4751287"/>
            <a:ext cx="2946060" cy="5735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단일세포 시퀀싱</a:t>
            </a:r>
          </a:p>
          <a:p>
            <a:pPr algn="r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교란별 전사체 측정</a:t>
            </a:r>
          </a:p>
        </p:txBody>
      </p:sp>
      <p:sp>
        <p:nvSpPr>
          <p:cNvPr id="18" name="flow-04:marker"/>
          <p:cNvSpPr/>
          <p:nvPr/>
        </p:nvSpPr>
        <p:spPr>
          <a:xfrm>
            <a:off x="3612060" y="2175156"/>
            <a:ext cx="288000" cy="288000"/>
          </a:xfrm>
          <a:prstGeom prst="ellipse">
            <a:avLst/>
          </a:prstGeom>
          <a:solidFill>
            <a:srgbClr val="0F4C6E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flow-04:label"/>
          <p:cNvSpPr txBox="1"/>
          <p:nvPr/>
        </p:nvSpPr>
        <p:spPr>
          <a:xfrm>
            <a:off x="576000" y="2175156"/>
            <a:ext cx="2946060" cy="5735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600" b="1" spc="-40">
                <a:solidFill>
                  <a:srgbClr val="0F4C6E"/>
                </a:solidFill>
              </a:rPr>
              <a:t>계산 분석</a:t>
            </a:r>
          </a:p>
          <a:p>
            <a:pPr algn="r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교란 효과 · 경로 추정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방식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실험과 분석을 번갈아 돌려요</a:t>
            </a:r>
          </a:p>
        </p:txBody>
      </p:sp>
      <p:sp>
        <p:nvSpPr>
          <p:cNvPr id="5" name="flow-04:segment"/>
          <p:cNvSpPr/>
          <p:nvPr/>
        </p:nvSpPr>
        <p:spPr>
          <a:xfrm>
            <a:off x="4339838" y="2589557"/>
            <a:ext cx="3512443" cy="3512443"/>
          </a:xfrm>
          <a:prstGeom prst="blockArc">
            <a:avLst>
              <a:gd name="adj1" fmla="val 14160000"/>
              <a:gd name="adj2" fmla="val 18240000"/>
              <a:gd name="adj3" fmla="val 13000"/>
            </a:avLst>
          </a:prstGeom>
          <a:solidFill>
            <a:srgbClr val="DD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4:segment"/>
          <p:cNvSpPr/>
          <p:nvPr/>
        </p:nvSpPr>
        <p:spPr>
          <a:xfrm>
            <a:off x="4339838" y="2589557"/>
            <a:ext cx="3512443" cy="3512443"/>
          </a:xfrm>
          <a:prstGeom prst="blockArc">
            <a:avLst>
              <a:gd name="adj1" fmla="val 18480000"/>
              <a:gd name="adj2" fmla="val 960000"/>
              <a:gd name="adj3" fmla="val 13000"/>
            </a:avLst>
          </a:prstGeom>
          <a:solidFill>
            <a:srgbClr val="CB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flow-04:segment"/>
          <p:cNvSpPr/>
          <p:nvPr/>
        </p:nvSpPr>
        <p:spPr>
          <a:xfrm>
            <a:off x="4339838" y="2589557"/>
            <a:ext cx="3512443" cy="3512443"/>
          </a:xfrm>
          <a:prstGeom prst="blockArc">
            <a:avLst>
              <a:gd name="adj1" fmla="val 1200000"/>
              <a:gd name="adj2" fmla="val 5280000"/>
              <a:gd name="adj3" fmla="val 13000"/>
            </a:avLst>
          </a:prstGeom>
          <a:solidFill>
            <a:srgbClr val="B9C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flow-04:segment"/>
          <p:cNvSpPr/>
          <p:nvPr/>
        </p:nvSpPr>
        <p:spPr>
          <a:xfrm>
            <a:off x="4339838" y="2589557"/>
            <a:ext cx="3512443" cy="3512443"/>
          </a:xfrm>
          <a:prstGeom prst="blockArc">
            <a:avLst>
              <a:gd name="adj1" fmla="val 5520000"/>
              <a:gd name="adj2" fmla="val 9600000"/>
              <a:gd name="adj3" fmla="val 13000"/>
            </a:avLst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flow-04:segment"/>
          <p:cNvSpPr/>
          <p:nvPr/>
        </p:nvSpPr>
        <p:spPr>
          <a:xfrm>
            <a:off x="4339838" y="2589557"/>
            <a:ext cx="3512443" cy="3512443"/>
          </a:xfrm>
          <a:prstGeom prst="blockArc">
            <a:avLst>
              <a:gd name="adj1" fmla="val 9840000"/>
              <a:gd name="adj2" fmla="val 13500000"/>
              <a:gd name="adj3" fmla="val 13000"/>
            </a:avLst>
          </a:prstGeom>
          <a:solidFill>
            <a:srgbClr val="95B0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flow-04:arrow"/>
          <p:cNvSpPr/>
          <p:nvPr/>
        </p:nvSpPr>
        <p:spPr>
          <a:xfrm rot="2910000">
            <a:off x="4821079" y="3099522"/>
            <a:ext cx="525110" cy="203835"/>
          </a:xfrm>
          <a:prstGeom prst="triangle">
            <a:avLst/>
          </a:prstGeom>
          <a:solidFill>
            <a:srgbClr val="95B0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flow-04:center"/>
          <p:cNvSpPr/>
          <p:nvPr/>
        </p:nvSpPr>
        <p:spPr>
          <a:xfrm>
            <a:off x="5004393" y="3254111"/>
            <a:ext cx="2183335" cy="2183335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flow-04:center-text"/>
          <p:cNvSpPr txBox="1"/>
          <p:nvPr/>
        </p:nvSpPr>
        <p:spPr>
          <a:xfrm>
            <a:off x="5244559" y="3581611"/>
            <a:ext cx="1703001" cy="152833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700" b="1" spc="-40">
                <a:solidFill>
                  <a:srgbClr val="0F4C6E"/>
                </a:solidFill>
              </a:rPr>
              <a:t>실험과 분석이 서로 다음 질문을 만든다</a:t>
            </a:r>
          </a:p>
        </p:txBody>
      </p:sp>
      <p:sp>
        <p:nvSpPr>
          <p:cNvPr id="13" name="flow-04:marker"/>
          <p:cNvSpPr/>
          <p:nvPr/>
        </p:nvSpPr>
        <p:spPr>
          <a:xfrm>
            <a:off x="5952060" y="1584000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1</a:t>
            </a:r>
          </a:p>
        </p:txBody>
      </p:sp>
      <p:sp>
        <p:nvSpPr>
          <p:cNvPr id="14" name="flow-04:label"/>
          <p:cNvSpPr txBox="1"/>
          <p:nvPr/>
        </p:nvSpPr>
        <p:spPr>
          <a:xfrm>
            <a:off x="3282030" y="1908000"/>
            <a:ext cx="5628060" cy="5735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가설</a:t>
            </a:r>
          </a:p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조절 유전자 후보 선정</a:t>
            </a:r>
          </a:p>
        </p:txBody>
      </p:sp>
      <p:sp>
        <p:nvSpPr>
          <p:cNvPr id="15" name="flow-04:marker"/>
          <p:cNvSpPr/>
          <p:nvPr/>
        </p:nvSpPr>
        <p:spPr>
          <a:xfrm>
            <a:off x="8068282" y="355971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2</a:t>
            </a:r>
          </a:p>
        </p:txBody>
      </p:sp>
      <p:sp>
        <p:nvSpPr>
          <p:cNvPr id="16" name="flow-04:label"/>
          <p:cNvSpPr txBox="1"/>
          <p:nvPr/>
        </p:nvSpPr>
        <p:spPr>
          <a:xfrm>
            <a:off x="8446282" y="3559714"/>
            <a:ext cx="3169838" cy="5735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CRISPR 교란 실험</a:t>
            </a:r>
          </a:p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후보 유전자 녹아웃 풀</a:t>
            </a:r>
          </a:p>
        </p:txBody>
      </p:sp>
      <p:sp>
        <p:nvSpPr>
          <p:cNvPr id="17" name="flow-04:marker"/>
          <p:cNvSpPr/>
          <p:nvPr/>
        </p:nvSpPr>
        <p:spPr>
          <a:xfrm>
            <a:off x="8068282" y="5366148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3</a:t>
            </a:r>
          </a:p>
        </p:txBody>
      </p:sp>
      <p:sp>
        <p:nvSpPr>
          <p:cNvPr id="18" name="flow-04:label"/>
          <p:cNvSpPr txBox="1"/>
          <p:nvPr/>
        </p:nvSpPr>
        <p:spPr>
          <a:xfrm>
            <a:off x="8446282" y="5366148"/>
            <a:ext cx="3169838" cy="5735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단일세포 시퀀싱</a:t>
            </a:r>
          </a:p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교란별 전사체 측정</a:t>
            </a:r>
          </a:p>
        </p:txBody>
      </p:sp>
      <p:sp>
        <p:nvSpPr>
          <p:cNvPr id="19" name="flow-04:marker"/>
          <p:cNvSpPr/>
          <p:nvPr/>
        </p:nvSpPr>
        <p:spPr>
          <a:xfrm>
            <a:off x="3835838" y="5366148"/>
            <a:ext cx="288000" cy="288000"/>
          </a:xfrm>
          <a:prstGeom prst="ellipse">
            <a:avLst/>
          </a:prstGeom>
          <a:solidFill>
            <a:srgbClr val="0F4C6E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flow-04:label"/>
          <p:cNvSpPr txBox="1"/>
          <p:nvPr/>
        </p:nvSpPr>
        <p:spPr>
          <a:xfrm>
            <a:off x="576000" y="5366148"/>
            <a:ext cx="3169838" cy="5735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600" b="1" spc="-40">
                <a:solidFill>
                  <a:srgbClr val="0F4C6E"/>
                </a:solidFill>
              </a:rPr>
              <a:t>계산 분석</a:t>
            </a:r>
          </a:p>
          <a:p>
            <a:pPr algn="r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교란 효과 · 경로 추정</a:t>
            </a:r>
          </a:p>
        </p:txBody>
      </p:sp>
      <p:sp>
        <p:nvSpPr>
          <p:cNvPr id="21" name="flow-04:marker"/>
          <p:cNvSpPr/>
          <p:nvPr/>
        </p:nvSpPr>
        <p:spPr>
          <a:xfrm>
            <a:off x="3835838" y="355971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5</a:t>
            </a:r>
          </a:p>
        </p:txBody>
      </p:sp>
      <p:sp>
        <p:nvSpPr>
          <p:cNvPr id="22" name="flow-04:label"/>
          <p:cNvSpPr txBox="1"/>
          <p:nvPr/>
        </p:nvSpPr>
        <p:spPr>
          <a:xfrm>
            <a:off x="576000" y="3559714"/>
            <a:ext cx="3169838" cy="5735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가설 수정</a:t>
            </a:r>
          </a:p>
          <a:p>
            <a:pPr algn="r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다음 후보 유전자 선정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틸 클린 16:9">
  <a:themeElements>
    <a:clrScheme name="HaLab 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F4C6E"/>
      </a:accent1>
      <a:accent2>
        <a:srgbClr val="1E9E86"/>
      </a:accent2>
      <a:accent3>
        <a:srgbClr val="3DB5C2"/>
      </a:accent3>
      <a:accent4>
        <a:srgbClr val="E5484D"/>
      </a:accent4>
      <a:accent5>
        <a:srgbClr val="9FB7C5"/>
      </a:accent5>
      <a:accent6>
        <a:srgbClr val="E2E5EA"/>
      </a:accent6>
      <a:hlink>
        <a:srgbClr val="0F4C6E"/>
      </a:hlink>
      <a:folHlink>
        <a:srgbClr val="3DB5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