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(data-04-a).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(data-04-b).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시간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발표마다 쓸 수 있는 시간이 달라요</a:t>
            </a:r>
          </a:p>
        </p:txBody>
      </p:sp>
      <p:sp>
        <p:nvSpPr>
          <p:cNvPr id="5" name="data-04:value"/>
          <p:cNvSpPr txBox="1"/>
          <p:nvPr/>
        </p:nvSpPr>
        <p:spPr>
          <a:xfrm>
            <a:off x="468000" y="1947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30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6" name="data-04:bar"/>
          <p:cNvSpPr/>
          <p:nvPr/>
        </p:nvSpPr>
        <p:spPr>
          <a:xfrm>
            <a:off x="2124000" y="2145468"/>
            <a:ext cx="4502448" cy="252000"/>
          </a:xfrm>
          <a:prstGeom prst="roundRect">
            <a:avLst>
              <a:gd name="adj" fmla="val 50000"/>
            </a:avLst>
          </a:prstGeom>
          <a:solidFill>
            <a:srgbClr val="638B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data-04:label"/>
          <p:cNvSpPr txBox="1"/>
          <p:nvPr/>
        </p:nvSpPr>
        <p:spPr>
          <a:xfrm>
            <a:off x="6950448" y="2001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Journal club</a:t>
            </a:r>
          </a:p>
        </p:txBody>
      </p:sp>
      <p:sp>
        <p:nvSpPr>
          <p:cNvPr id="8" name="data-04:desc"/>
          <p:cNvSpPr txBox="1"/>
          <p:nvPr/>
        </p:nvSpPr>
        <p:spPr>
          <a:xfrm>
            <a:off x="6950448" y="2289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논문 한 편을 같이 공부</a:t>
            </a:r>
          </a:p>
        </p:txBody>
      </p:sp>
      <p:cxnSp>
        <p:nvCxnSpPr>
          <p:cNvPr id="9" name="data-04:line"/>
          <p:cNvCxnSpPr/>
          <p:nvPr/>
        </p:nvCxnSpPr>
        <p:spPr>
          <a:xfrm>
            <a:off x="468000" y="2748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ata-04:value"/>
          <p:cNvSpPr txBox="1"/>
          <p:nvPr/>
        </p:nvSpPr>
        <p:spPr>
          <a:xfrm>
            <a:off x="468000" y="2901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15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11" name="data-04:bar"/>
          <p:cNvSpPr/>
          <p:nvPr/>
        </p:nvSpPr>
        <p:spPr>
          <a:xfrm>
            <a:off x="2124000" y="3099468"/>
            <a:ext cx="2251224" cy="252000"/>
          </a:xfrm>
          <a:prstGeom prst="roundRect">
            <a:avLst>
              <a:gd name="adj" fmla="val 50000"/>
            </a:avLst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data-04:label"/>
          <p:cNvSpPr txBox="1"/>
          <p:nvPr/>
        </p:nvSpPr>
        <p:spPr>
          <a:xfrm>
            <a:off x="6950448" y="2955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Progress report</a:t>
            </a:r>
          </a:p>
        </p:txBody>
      </p:sp>
      <p:sp>
        <p:nvSpPr>
          <p:cNvPr id="13" name="data-04:desc"/>
          <p:cNvSpPr txBox="1"/>
          <p:nvPr/>
        </p:nvSpPr>
        <p:spPr>
          <a:xfrm>
            <a:off x="6950448" y="3243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지난 결과와 다음 계획</a:t>
            </a:r>
          </a:p>
        </p:txBody>
      </p:sp>
      <p:cxnSp>
        <p:nvCxnSpPr>
          <p:cNvPr id="14" name="data-04:line"/>
          <p:cNvCxnSpPr/>
          <p:nvPr/>
        </p:nvCxnSpPr>
        <p:spPr>
          <a:xfrm>
            <a:off x="468000" y="3702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ata-04:value"/>
          <p:cNvSpPr txBox="1"/>
          <p:nvPr/>
        </p:nvSpPr>
        <p:spPr>
          <a:xfrm>
            <a:off x="468000" y="3855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12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16" name="data-04:bar"/>
          <p:cNvSpPr/>
          <p:nvPr/>
        </p:nvSpPr>
        <p:spPr>
          <a:xfrm>
            <a:off x="2124000" y="4053468"/>
            <a:ext cx="1800979" cy="252000"/>
          </a:xfrm>
          <a:prstGeom prst="roundRect">
            <a:avLst>
              <a:gd name="adj" fmla="val 50000"/>
            </a:avLst>
          </a:prstGeom>
          <a:solidFill>
            <a:srgbClr val="9FB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data-04:label"/>
          <p:cNvSpPr txBox="1"/>
          <p:nvPr/>
        </p:nvSpPr>
        <p:spPr>
          <a:xfrm>
            <a:off x="6950448" y="3909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구두 발표</a:t>
            </a:r>
          </a:p>
        </p:txBody>
      </p:sp>
      <p:sp>
        <p:nvSpPr>
          <p:cNvPr id="18" name="data-04:desc"/>
          <p:cNvSpPr txBox="1"/>
          <p:nvPr/>
        </p:nvSpPr>
        <p:spPr>
          <a:xfrm>
            <a:off x="6950448" y="4197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질의응답은 따로</a:t>
            </a:r>
          </a:p>
        </p:txBody>
      </p:sp>
      <p:cxnSp>
        <p:nvCxnSpPr>
          <p:cNvPr id="19" name="conclusion:line"/>
          <p:cNvCxnSpPr/>
          <p:nvPr/>
        </p:nvCxnSpPr>
        <p:spPr>
          <a:xfrm>
            <a:off x="468000" y="4872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nclusion:text"/>
          <p:cNvSpPr txBox="1"/>
          <p:nvPr/>
        </p:nvSpPr>
        <p:spPr>
          <a:xfrm>
            <a:off x="468000" y="5070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Progress report 15분</a:t>
            </a:r>
            <a:r>
              <a:rPr sz="1400" b="0" spc="-40">
                <a:solidFill>
                  <a:srgbClr val="6B7280"/>
                </a:solidFill>
              </a:rPr>
              <a:t>이면 12–15장, 데이터 장은 장마다 1.5–2분이에요.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시간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발표마다 쓸 수 있는 시간이 달라요</a:t>
            </a:r>
          </a:p>
        </p:txBody>
      </p:sp>
      <p:sp>
        <p:nvSpPr>
          <p:cNvPr id="5" name="data-04:value"/>
          <p:cNvSpPr txBox="1"/>
          <p:nvPr/>
        </p:nvSpPr>
        <p:spPr>
          <a:xfrm>
            <a:off x="468000" y="2154000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30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6" name="data-04:bar"/>
          <p:cNvSpPr/>
          <p:nvPr/>
        </p:nvSpPr>
        <p:spPr>
          <a:xfrm>
            <a:off x="2124000" y="2352000"/>
            <a:ext cx="4502448" cy="252000"/>
          </a:xfrm>
          <a:prstGeom prst="roundRect">
            <a:avLst>
              <a:gd name="adj" fmla="val 50000"/>
            </a:avLst>
          </a:prstGeom>
          <a:solidFill>
            <a:srgbClr val="638B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data-04:label"/>
          <p:cNvSpPr txBox="1"/>
          <p:nvPr/>
        </p:nvSpPr>
        <p:spPr>
          <a:xfrm>
            <a:off x="6950448" y="2208000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Journal club</a:t>
            </a:r>
          </a:p>
        </p:txBody>
      </p:sp>
      <p:sp>
        <p:nvSpPr>
          <p:cNvPr id="8" name="data-04:desc"/>
          <p:cNvSpPr txBox="1"/>
          <p:nvPr/>
        </p:nvSpPr>
        <p:spPr>
          <a:xfrm>
            <a:off x="6950448" y="2496000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논문 한 편을 같이 공부</a:t>
            </a:r>
          </a:p>
        </p:txBody>
      </p:sp>
      <p:cxnSp>
        <p:nvCxnSpPr>
          <p:cNvPr id="9" name="data-04:line"/>
          <p:cNvCxnSpPr/>
          <p:nvPr/>
        </p:nvCxnSpPr>
        <p:spPr>
          <a:xfrm>
            <a:off x="468000" y="3018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ata-04:value"/>
          <p:cNvSpPr txBox="1"/>
          <p:nvPr/>
        </p:nvSpPr>
        <p:spPr>
          <a:xfrm>
            <a:off x="468000" y="3234000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15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11" name="data-04:bar"/>
          <p:cNvSpPr/>
          <p:nvPr/>
        </p:nvSpPr>
        <p:spPr>
          <a:xfrm>
            <a:off x="2124000" y="3432000"/>
            <a:ext cx="2251224" cy="252000"/>
          </a:xfrm>
          <a:prstGeom prst="roundRect">
            <a:avLst>
              <a:gd name="adj" fmla="val 50000"/>
            </a:avLst>
          </a:prstGeom>
          <a:solidFill>
            <a:srgbClr val="81A1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data-04:label"/>
          <p:cNvSpPr txBox="1"/>
          <p:nvPr/>
        </p:nvSpPr>
        <p:spPr>
          <a:xfrm>
            <a:off x="6950448" y="3288000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Progress report</a:t>
            </a:r>
          </a:p>
        </p:txBody>
      </p:sp>
      <p:sp>
        <p:nvSpPr>
          <p:cNvPr id="13" name="data-04:desc"/>
          <p:cNvSpPr txBox="1"/>
          <p:nvPr/>
        </p:nvSpPr>
        <p:spPr>
          <a:xfrm>
            <a:off x="6950448" y="3576000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지난 결과와 다음 계획</a:t>
            </a:r>
          </a:p>
        </p:txBody>
      </p:sp>
      <p:cxnSp>
        <p:nvCxnSpPr>
          <p:cNvPr id="14" name="data-04:line"/>
          <p:cNvCxnSpPr/>
          <p:nvPr/>
        </p:nvCxnSpPr>
        <p:spPr>
          <a:xfrm>
            <a:off x="468000" y="4098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ata-04:value"/>
          <p:cNvSpPr txBox="1"/>
          <p:nvPr/>
        </p:nvSpPr>
        <p:spPr>
          <a:xfrm>
            <a:off x="468000" y="4314000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12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16" name="data-04:bar"/>
          <p:cNvSpPr/>
          <p:nvPr/>
        </p:nvSpPr>
        <p:spPr>
          <a:xfrm>
            <a:off x="2124000" y="4512000"/>
            <a:ext cx="1800979" cy="252000"/>
          </a:xfrm>
          <a:prstGeom prst="roundRect">
            <a:avLst>
              <a:gd name="adj" fmla="val 50000"/>
            </a:avLst>
          </a:prstGeom>
          <a:solidFill>
            <a:srgbClr val="9FB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data-04:label"/>
          <p:cNvSpPr txBox="1"/>
          <p:nvPr/>
        </p:nvSpPr>
        <p:spPr>
          <a:xfrm>
            <a:off x="6950448" y="4368000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구두 발표</a:t>
            </a:r>
          </a:p>
        </p:txBody>
      </p:sp>
      <p:sp>
        <p:nvSpPr>
          <p:cNvPr id="18" name="data-04:desc"/>
          <p:cNvSpPr txBox="1"/>
          <p:nvPr/>
        </p:nvSpPr>
        <p:spPr>
          <a:xfrm>
            <a:off x="6950448" y="4656000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질의응답은 따로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틸 클린 16:9">
  <a:themeElements>
    <a:clrScheme name="HaLab 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F4C6E"/>
      </a:accent1>
      <a:accent2>
        <a:srgbClr val="1E9E86"/>
      </a:accent2>
      <a:accent3>
        <a:srgbClr val="3DB5C2"/>
      </a:accent3>
      <a:accent4>
        <a:srgbClr val="E5484D"/>
      </a:accent4>
      <a:accent5>
        <a:srgbClr val="9FB7C5"/>
      </a:accent5>
      <a:accent6>
        <a:srgbClr val="E2E5EA"/>
      </a:accent6>
      <a:hlink>
        <a:srgbClr val="0F4C6E"/>
      </a:hlink>
      <a:folHlink>
        <a:srgbClr val="3DB5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