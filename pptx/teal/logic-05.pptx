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암 유전체 분석 기술은 진단 현장의 비용을 가장 크게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896468"/>
            <a:ext cx="11256120" cy="521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684000" y="1896468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암 환자 유전체 변이를 하루 안에 판독하는 분석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417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57965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59400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59400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59400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새 변이 판독 기준을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59400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59400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59400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1804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1804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1804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진단키트 업체에 판독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1804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1804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1804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기술이전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2741654"/>
            <a:ext cx="3608040" cy="2016815"/>
          </a:xfrm>
          <a:prstGeom prst="rect">
            <a:avLst/>
          </a:prstGeom>
          <a:solidFill>
            <a:srgbClr val="E7EDF0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4208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4208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4208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표적치료 대상 환자를 더 빨리 찾음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4208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4208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0F4C6E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4208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환자당 검사비 절감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3년 안에 지역 거점병원 4곳의 표준 검사로 넣는 것이 최종 목표다.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파급 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 아틀라스는 학술보다 연구 인프라로 더 멀리 퍼진다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923174"/>
            <a:ext cx="11256120" cy="818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1923174"/>
            <a:ext cx="10694520" cy="818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0F4C6E"/>
                </a:solidFill>
              </a:rPr>
              <a:t>핵심 성과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800" b="1" spc="-40">
                <a:solidFill>
                  <a:srgbClr val="262B33"/>
                </a:solidFill>
              </a:rPr>
              <a:t>한국인 대장암 공간 전사체 아틀라스 (환자 120명, 절편 480장)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742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904118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종양 미세환경의 공간 구조를 새로 정의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후속 연구의 참조 지도로 인용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8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 (IF 10 이상 3편)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66118"/>
            <a:ext cx="3608040" cy="2357535"/>
          </a:xfrm>
          <a:prstGeom prst="rect">
            <a:avLst/>
          </a:prstGeom>
          <a:solidFill>
            <a:srgbClr val="E7EDF0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229918"/>
            <a:ext cx="990814" cy="3042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229918"/>
            <a:ext cx="990814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연구 인프라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공개 포털로 누구나 내려받아 재분석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국내 연구실 공동 분석 표준으로 사용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0F4C6E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곳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활용 연구실 (3년 누적)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인력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전사체 분석 인력을 직접 길러냄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대학원생 실습 교재로 활용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석·박사 배출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오가노이드 모델은 신약 후보 선별 기간을 절반으로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004426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004426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 약물 반응 플랫폼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579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3228030" y="2741612"/>
            <a:ext cx="573606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322803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896409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5:area"/>
          <p:cNvSpPr/>
          <p:nvPr/>
        </p:nvSpPr>
        <p:spPr>
          <a:xfrm>
            <a:off x="468000" y="2903612"/>
            <a:ext cx="5520060" cy="2357535"/>
          </a:xfrm>
          <a:prstGeom prst="rect">
            <a:avLst/>
          </a:prstGeom>
          <a:solidFill>
            <a:srgbClr val="E7EDF0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5:label"/>
          <p:cNvSpPr/>
          <p:nvPr/>
        </p:nvSpPr>
        <p:spPr>
          <a:xfrm>
            <a:off x="63180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-text"/>
          <p:cNvSpPr txBox="1"/>
          <p:nvPr/>
        </p:nvSpPr>
        <p:spPr>
          <a:xfrm>
            <a:off x="63180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학술</a:t>
            </a:r>
          </a:p>
        </p:txBody>
      </p:sp>
      <p:sp>
        <p:nvSpPr>
          <p:cNvPr id="14" name="logic-05:effects"/>
          <p:cNvSpPr txBox="1"/>
          <p:nvPr/>
        </p:nvSpPr>
        <p:spPr>
          <a:xfrm>
            <a:off x="63180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환자별 약물 반응 차이의 원인 유전자를 밝힘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공개 데이터셋으로 후속 연구에 제공</a:t>
            </a:r>
          </a:p>
        </p:txBody>
      </p:sp>
      <p:cxnSp>
        <p:nvCxnSpPr>
          <p:cNvPr id="15" name="logic-05:rule"/>
          <p:cNvCxnSpPr/>
          <p:nvPr/>
        </p:nvCxnSpPr>
        <p:spPr>
          <a:xfrm>
            <a:off x="63180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5:value"/>
          <p:cNvSpPr txBox="1"/>
          <p:nvPr/>
        </p:nvSpPr>
        <p:spPr>
          <a:xfrm>
            <a:off x="63180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0F4C6E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7" name="logic-05:metric"/>
          <p:cNvSpPr txBox="1"/>
          <p:nvPr/>
        </p:nvSpPr>
        <p:spPr>
          <a:xfrm>
            <a:off x="63180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</a:t>
            </a:r>
          </a:p>
        </p:txBody>
      </p:sp>
      <p:sp>
        <p:nvSpPr>
          <p:cNvPr id="18" name="logic-05:area"/>
          <p:cNvSpPr/>
          <p:nvPr/>
        </p:nvSpPr>
        <p:spPr>
          <a:xfrm>
            <a:off x="6204060" y="2903612"/>
            <a:ext cx="552006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logic-05:label"/>
          <p:cNvSpPr/>
          <p:nvPr/>
        </p:nvSpPr>
        <p:spPr>
          <a:xfrm>
            <a:off x="636786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-text"/>
          <p:cNvSpPr txBox="1"/>
          <p:nvPr/>
        </p:nvSpPr>
        <p:spPr>
          <a:xfrm>
            <a:off x="636786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산업</a:t>
            </a:r>
          </a:p>
        </p:txBody>
      </p:sp>
      <p:sp>
        <p:nvSpPr>
          <p:cNvPr id="21" name="logic-05:effects"/>
          <p:cNvSpPr txBox="1"/>
          <p:nvPr/>
        </p:nvSpPr>
        <p:spPr>
          <a:xfrm>
            <a:off x="636786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제약사 신약 후보 선별에 위탁 시험으로 활용</a:t>
            </a:r>
          </a:p>
        </p:txBody>
      </p:sp>
      <p:cxnSp>
        <p:nvCxnSpPr>
          <p:cNvPr id="22" name="logic-05:rule"/>
          <p:cNvCxnSpPr/>
          <p:nvPr/>
        </p:nvCxnSpPr>
        <p:spPr>
          <a:xfrm>
            <a:off x="636786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ogic-05:value"/>
          <p:cNvSpPr txBox="1"/>
          <p:nvPr/>
        </p:nvSpPr>
        <p:spPr>
          <a:xfrm>
            <a:off x="636786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개월</a:t>
            </a:r>
          </a:p>
        </p:txBody>
      </p:sp>
      <p:sp>
        <p:nvSpPr>
          <p:cNvPr id="24" name="logic-05:metric"/>
          <p:cNvSpPr txBox="1"/>
          <p:nvPr/>
        </p:nvSpPr>
        <p:spPr>
          <a:xfrm>
            <a:off x="636786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후보 선별 기간 (기존 12개월)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