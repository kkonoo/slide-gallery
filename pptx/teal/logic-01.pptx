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8"/>
  </p:sldIdLst>
  <p:sldSz cx="12192000" cy="6858000"/>
  <p:notesSz cx="6858000" cy="9144000"/>
  <p:defaultTextStyle>
    <a:defPPr marL="0" indent="0" algn="l">
      <a:lnSpc>
        <a:spcPct val="100000"/>
      </a:lnSpc>
      <a:spcBef>
        <a:spcPts val="0"/>
      </a:spcBef>
      <a:buNone/>
      <a:defRPr lang="ko-KR" sz="1800" b="0" kern="0" spc="-40">
        <a:solidFill>
          <a:schemeClr val="tx1"/>
        </a:solidFill>
        <a:latin typeface="+mn-lt"/>
        <a:ea typeface="+mn-ea"/>
      </a:defRPr>
    </a:defPPr>
  </p:defaultTextStyle>
  <p:extLst>
    <p:ext uri="{EFAFB233-063F-42B5-8137-9DF3F51BA10A}">
      <p15:sldGuideLst xmlns:p15="http://schemas.microsoft.com/office/powerpoint/2012/main">
        <p15:guide id="1" pos="295">
          <p15:clr>
            <a:srgbClr val="F26B43"/>
          </p15:clr>
        </p15:guide>
        <p15:guide id="2" pos="7385">
          <p15:clr>
            <a:srgbClr val="F26B43"/>
          </p15:clr>
        </p15:guide>
        <p15:guide id="3" orient="horz" pos="295">
          <p15:clr>
            <a:srgbClr val="F26B43"/>
          </p15:clr>
        </p15:guide>
        <p15:guide id="4" orient="horz" pos="4025">
          <p15:clr>
            <a:srgbClr val="F26B43"/>
          </p15:clr>
        </p15:guide>
        <p15:guide id="5" orient="horz" pos="862">
          <p15:clr>
            <a:srgbClr val="F26B43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3C2E1A5B-7D4F-4B8E-9A61-2F0C5D8E7B14}">
  <a:tblStyle styleId="{3C2E1A5B-7D4F-4B8E-9A61-2F0C5D8E7B14}" styleName="HaLab 가로선 표">
    <a:wholeTbl>
      <a:tcTxStyle>
        <a:fontRef idx="minor"/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6350">
              <a:solidFill>
                <a:schemeClr val="accent6"/>
              </a:solidFill>
            </a:ln>
          </a:top>
          <a:bottom>
            <a:ln w="6350">
              <a:solidFill>
                <a:schemeClr val="accent6"/>
              </a:solidFill>
            </a:ln>
          </a:bottom>
          <a:insideH>
            <a:ln w="6350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firstRow>
      <a:tcTxStyle b="on">
        <a:fontRef idx="minor"/>
        <a:schemeClr val="tx1"/>
      </a:tcTxStyle>
      <a:tcStyle>
        <a:tcBdr>
          <a:top>
            <a:ln w="12700">
              <a:solidFill>
                <a:schemeClr val="tx1"/>
              </a:solidFill>
            </a:ln>
          </a:top>
          <a:bottom>
            <a:ln w="9525">
              <a:solidFill>
                <a:schemeClr val="tx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(logic-01-a).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(logic-01-b).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L1 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발표 구분"/>
          <p:cNvSpPr>
            <a:spLocks noGrp="1"/>
          </p:cNvSpPr>
          <p:nvPr>
            <p:ph type="body" idx="13"/>
          </p:nvPr>
        </p:nvSpPr>
        <p:spPr>
          <a:xfrm>
            <a:off x="468000" y="1714500"/>
            <a:ext cx="7879284" cy="324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발표 구분 (예: 2026 글로컬랩 발표평가)</a:t>
            </a:r>
          </a:p>
        </p:txBody>
      </p:sp>
      <p:sp>
        <p:nvSpPr>
          <p:cNvPr id="4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과제명 (2줄 이내)</a:t>
            </a:r>
          </a:p>
        </p:txBody>
      </p:sp>
      <p:sp>
        <p:nvSpPr>
          <p:cNvPr id="5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부제 또는 영문 과제명</a:t>
            </a:r>
          </a:p>
        </p:txBody>
      </p:sp>
      <p:sp>
        <p:nvSpPr>
          <p:cNvPr id="6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소속</a:t>
            </a:r>
          </a:p>
        </p:txBody>
      </p:sp>
      <p:sp>
        <p:nvSpPr>
          <p:cNvPr id="7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2 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목차 제목"/>
          <p:cNvSpPr>
            <a:spLocks noGrp="1"/>
          </p:cNvSpPr>
          <p:nvPr>
            <p:ph type="title"/>
          </p:nvPr>
        </p:nvSpPr>
        <p:spPr>
          <a:xfrm>
            <a:off x="468000" y="2468880"/>
            <a:ext cx="3240000" cy="720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2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목차</a:t>
            </a:r>
          </a:p>
        </p:txBody>
      </p:sp>
      <p:sp>
        <p:nvSpPr>
          <p:cNvPr id="3" name="번호 1"/>
          <p:cNvSpPr>
            <a:spLocks noGrp="1"/>
          </p:cNvSpPr>
          <p:nvPr>
            <p:ph type="body" idx="20"/>
          </p:nvPr>
        </p:nvSpPr>
        <p:spPr>
          <a:xfrm>
            <a:off x="4511084" y="1436143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4" name="항목 1"/>
          <p:cNvSpPr>
            <a:spLocks noGrp="1"/>
          </p:cNvSpPr>
          <p:nvPr>
            <p:ph type="body" idx="30"/>
          </p:nvPr>
        </p:nvSpPr>
        <p:spPr>
          <a:xfrm>
            <a:off x="5087084" y="1296000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5" name="번호 2"/>
          <p:cNvSpPr>
            <a:spLocks noGrp="1"/>
          </p:cNvSpPr>
          <p:nvPr>
            <p:ph type="body" idx="21"/>
          </p:nvPr>
        </p:nvSpPr>
        <p:spPr>
          <a:xfrm>
            <a:off x="4511084" y="2076429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</a:t>
            </a:r>
          </a:p>
        </p:txBody>
      </p:sp>
      <p:sp>
        <p:nvSpPr>
          <p:cNvPr id="6" name="항목 2"/>
          <p:cNvSpPr>
            <a:spLocks noGrp="1"/>
          </p:cNvSpPr>
          <p:nvPr>
            <p:ph type="body" idx="31"/>
          </p:nvPr>
        </p:nvSpPr>
        <p:spPr>
          <a:xfrm>
            <a:off x="5087084" y="1936286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7" name="번호 3"/>
          <p:cNvSpPr>
            <a:spLocks noGrp="1"/>
          </p:cNvSpPr>
          <p:nvPr>
            <p:ph type="body" idx="22"/>
          </p:nvPr>
        </p:nvSpPr>
        <p:spPr>
          <a:xfrm>
            <a:off x="4511084" y="2716714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III</a:t>
            </a:r>
          </a:p>
        </p:txBody>
      </p:sp>
      <p:sp>
        <p:nvSpPr>
          <p:cNvPr id="8" name="항목 3"/>
          <p:cNvSpPr>
            <a:spLocks noGrp="1"/>
          </p:cNvSpPr>
          <p:nvPr>
            <p:ph type="body" idx="32"/>
          </p:nvPr>
        </p:nvSpPr>
        <p:spPr>
          <a:xfrm>
            <a:off x="5087084" y="2576571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9" name="번호 4"/>
          <p:cNvSpPr>
            <a:spLocks noGrp="1"/>
          </p:cNvSpPr>
          <p:nvPr>
            <p:ph type="body" idx="23"/>
          </p:nvPr>
        </p:nvSpPr>
        <p:spPr>
          <a:xfrm>
            <a:off x="4511084" y="3357000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IV</a:t>
            </a:r>
          </a:p>
        </p:txBody>
      </p:sp>
      <p:sp>
        <p:nvSpPr>
          <p:cNvPr id="10" name="항목 4"/>
          <p:cNvSpPr>
            <a:spLocks noGrp="1"/>
          </p:cNvSpPr>
          <p:nvPr>
            <p:ph type="body" idx="33"/>
          </p:nvPr>
        </p:nvSpPr>
        <p:spPr>
          <a:xfrm>
            <a:off x="5087084" y="3216857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1" name="번호 5"/>
          <p:cNvSpPr>
            <a:spLocks noGrp="1"/>
          </p:cNvSpPr>
          <p:nvPr>
            <p:ph type="body" idx="24"/>
          </p:nvPr>
        </p:nvSpPr>
        <p:spPr>
          <a:xfrm>
            <a:off x="4511084" y="3997286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</a:t>
            </a:r>
          </a:p>
        </p:txBody>
      </p:sp>
      <p:sp>
        <p:nvSpPr>
          <p:cNvPr id="12" name="항목 5"/>
          <p:cNvSpPr>
            <a:spLocks noGrp="1"/>
          </p:cNvSpPr>
          <p:nvPr>
            <p:ph type="body" idx="34"/>
          </p:nvPr>
        </p:nvSpPr>
        <p:spPr>
          <a:xfrm>
            <a:off x="5087084" y="3857143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3" name="번호 6"/>
          <p:cNvSpPr>
            <a:spLocks noGrp="1"/>
          </p:cNvSpPr>
          <p:nvPr>
            <p:ph type="body" idx="25"/>
          </p:nvPr>
        </p:nvSpPr>
        <p:spPr>
          <a:xfrm>
            <a:off x="4511084" y="4637571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</a:t>
            </a:r>
          </a:p>
        </p:txBody>
      </p:sp>
      <p:sp>
        <p:nvSpPr>
          <p:cNvPr id="14" name="항목 6"/>
          <p:cNvSpPr>
            <a:spLocks noGrp="1"/>
          </p:cNvSpPr>
          <p:nvPr>
            <p:ph type="body" idx="35"/>
          </p:nvPr>
        </p:nvSpPr>
        <p:spPr>
          <a:xfrm>
            <a:off x="5087084" y="4497429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5" name="번호 7"/>
          <p:cNvSpPr>
            <a:spLocks noGrp="1"/>
          </p:cNvSpPr>
          <p:nvPr>
            <p:ph type="body" idx="26"/>
          </p:nvPr>
        </p:nvSpPr>
        <p:spPr>
          <a:xfrm>
            <a:off x="4511084" y="5277857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VII</a:t>
            </a:r>
          </a:p>
        </p:txBody>
      </p:sp>
      <p:sp>
        <p:nvSpPr>
          <p:cNvPr id="16" name="항목 7"/>
          <p:cNvSpPr>
            <a:spLocks noGrp="1"/>
          </p:cNvSpPr>
          <p:nvPr>
            <p:ph type="body" idx="36"/>
          </p:nvPr>
        </p:nvSpPr>
        <p:spPr>
          <a:xfrm>
            <a:off x="5087084" y="5137714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L3 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번호"/>
          <p:cNvSpPr>
            <a:spLocks noGrp="1"/>
          </p:cNvSpPr>
          <p:nvPr>
            <p:ph type="body" idx="13"/>
          </p:nvPr>
        </p:nvSpPr>
        <p:spPr>
          <a:xfrm>
            <a:off x="468000" y="2880360"/>
            <a:ext cx="792000" cy="79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30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3" name="섹션 이름"/>
          <p:cNvSpPr>
            <a:spLocks noGrp="1"/>
          </p:cNvSpPr>
          <p:nvPr>
            <p:ph type="title"/>
          </p:nvPr>
        </p:nvSpPr>
        <p:spPr>
          <a:xfrm>
            <a:off x="1512000" y="2736360"/>
            <a:ext cx="10212120" cy="10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6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섹션 이름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L4 헤더 + 빈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L5 2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왼쪽 소제목"/>
          <p:cNvSpPr>
            <a:spLocks noGrp="1"/>
          </p:cNvSpPr>
          <p:nvPr>
            <p:ph type="body" idx="15"/>
          </p:nvPr>
        </p:nvSpPr>
        <p:spPr>
          <a:xfrm>
            <a:off x="468000" y="1368000"/>
            <a:ext cx="5448060" cy="360000"/>
          </a:xfrm>
          <a:prstGeom prst="rect">
            <a:avLst/>
          </a:prstGeom>
          <a:solidFill>
            <a:srgbClr val="D4DFE5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왼쪽 소제목</a:t>
            </a:r>
          </a:p>
        </p:txBody>
      </p:sp>
      <p:sp>
        <p:nvSpPr>
          <p:cNvPr id="7" name="왼쪽 내용"/>
          <p:cNvSpPr>
            <a:spLocks noGrp="1"/>
          </p:cNvSpPr>
          <p:nvPr>
            <p:ph idx="16"/>
          </p:nvPr>
        </p:nvSpPr>
        <p:spPr>
          <a:xfrm>
            <a:off x="46800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8" name="오른쪽 소제목"/>
          <p:cNvSpPr>
            <a:spLocks noGrp="1"/>
          </p:cNvSpPr>
          <p:nvPr>
            <p:ph type="body" idx="17"/>
          </p:nvPr>
        </p:nvSpPr>
        <p:spPr>
          <a:xfrm>
            <a:off x="6276060" y="1368000"/>
            <a:ext cx="5448060" cy="360000"/>
          </a:xfrm>
          <a:prstGeom prst="rect">
            <a:avLst/>
          </a:prstGeom>
          <a:solidFill>
            <a:srgbClr val="D4DFE5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오른쪽 소제목</a:t>
            </a:r>
          </a:p>
        </p:txBody>
      </p:sp>
      <p:sp>
        <p:nvSpPr>
          <p:cNvPr id="9" name="오른쪽 내용"/>
          <p:cNvSpPr>
            <a:spLocks noGrp="1"/>
          </p:cNvSpPr>
          <p:nvPr>
            <p:ph idx="18"/>
          </p:nvPr>
        </p:nvSpPr>
        <p:spPr>
          <a:xfrm>
            <a:off x="627606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10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6 마무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감사합니다</a:t>
            </a:r>
          </a:p>
        </p:txBody>
      </p:sp>
      <p:sp>
        <p:nvSpPr>
          <p:cNvPr id="4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과제명 한 줄</a:t>
            </a:r>
          </a:p>
        </p:txBody>
      </p:sp>
      <p:sp>
        <p:nvSpPr>
          <p:cNvPr id="5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연락처</a:t>
            </a:r>
          </a:p>
        </p:txBody>
      </p:sp>
      <p:sp>
        <p:nvSpPr>
          <p:cNvPr id="6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마스터 제목 스타일 편집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8000" y="1368000"/>
            <a:ext cx="11256120" cy="5022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마스터 텍스트 스타일을 편집합니다</a:t>
            </a:r>
          </a:p>
          <a:p>
            <a:r>
              <a:rPr lang="ko-KR"/>
              <a:t>둘째 수준</a:t>
            </a:r>
          </a:p>
          <a:p>
            <a:r>
              <a:rPr lang="ko-KR"/>
              <a:t>셋째 수준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marL="0" indent="0" algn="l">
        <a:lnSpc>
          <a:spcPct val="100000"/>
        </a:lnSpc>
        <a:spcBef>
          <a:spcPts val="0"/>
        </a:spcBef>
        <a:buNone/>
        <a:defRPr lang="ko-KR" sz="2800" b="1" kern="0" spc="-60">
          <a:solidFill>
            <a:schemeClr val="tx1"/>
          </a:solidFill>
          <a:latin typeface="+mj-lt"/>
          <a:ea typeface="+mj-ea"/>
        </a:defRPr>
      </a:lvl1pPr>
    </p:titleStyle>
    <p:bodyStyle>
      <a:lvl1pPr marL="0" indent="0" algn="l">
        <a:lnSpc>
          <a:spcPct val="120000"/>
        </a:lnSpc>
        <a:spcBef>
          <a:spcPts val="56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lvl1pPr>
      <a:lvl2pPr marL="16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–"/>
        <a:defRPr lang="ko-KR" sz="1400" b="0" kern="0" spc="-40">
          <a:solidFill>
            <a:schemeClr val="tx2"/>
          </a:solidFill>
          <a:latin typeface="+mn-lt"/>
          <a:ea typeface="+mn-ea"/>
        </a:defRPr>
      </a:lvl2pPr>
      <a:lvl3pPr marL="30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3pPr>
      <a:lvl4pPr marL="45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4pPr>
      <a:lvl5pPr marL="594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5pPr>
      <a:lvl6pPr marL="738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6pPr>
      <a:lvl7pPr marL="88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7pPr>
      <a:lvl8pPr marL="102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8pPr>
      <a:lvl9pPr marL="117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9pPr>
    </p:bodyStyle>
    <p:otherStyle>
      <a:defPPr marL="0" indent="0" algn="l">
        <a:lnSpc>
          <a:spcPct val="100000"/>
        </a:lnSpc>
        <a:spcBef>
          <a:spcPts val="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def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세포 유형 주석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클러스터 3은 어떤 세포일까요?</a:t>
            </a:r>
          </a:p>
        </p:txBody>
      </p:sp>
      <p:sp>
        <p:nvSpPr>
          <p:cNvPr id="5" name="logic-01:factor"/>
          <p:cNvSpPr/>
          <p:nvPr/>
        </p:nvSpPr>
        <p:spPr>
          <a:xfrm>
            <a:off x="468000" y="2053178"/>
            <a:ext cx="3608040" cy="1692881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logic-01:marker"/>
          <p:cNvSpPr/>
          <p:nvPr/>
        </p:nvSpPr>
        <p:spPr>
          <a:xfrm>
            <a:off x="608400" y="2240378"/>
            <a:ext cx="351000" cy="351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0F4C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0F4C6E"/>
                </a:solidFill>
              </a:rPr>
              <a:t>1</a:t>
            </a:r>
          </a:p>
        </p:txBody>
      </p:sp>
      <p:sp>
        <p:nvSpPr>
          <p:cNvPr id="7" name="logic-01:factor-text"/>
          <p:cNvSpPr txBox="1"/>
          <p:nvPr/>
        </p:nvSpPr>
        <p:spPr>
          <a:xfrm>
            <a:off x="608400" y="2708378"/>
            <a:ext cx="3327240" cy="8504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600" b="1" spc="-40">
                <a:solidFill>
                  <a:srgbClr val="262B33"/>
                </a:solidFill>
              </a:rPr>
              <a:t>FOXP3 발현 상위 5%</a:t>
            </a:r>
          </a:p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클러스터 3 세포의 FOXP3 발현이 전체 세포 중 상위 5%</a:t>
            </a:r>
          </a:p>
        </p:txBody>
      </p:sp>
      <p:sp>
        <p:nvSpPr>
          <p:cNvPr id="8" name="logic-01:factor"/>
          <p:cNvSpPr/>
          <p:nvPr/>
        </p:nvSpPr>
        <p:spPr>
          <a:xfrm>
            <a:off x="4292040" y="2053178"/>
            <a:ext cx="3608040" cy="1692881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logic-01:marker"/>
          <p:cNvSpPr/>
          <p:nvPr/>
        </p:nvSpPr>
        <p:spPr>
          <a:xfrm>
            <a:off x="4432440" y="2240378"/>
            <a:ext cx="351000" cy="351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0F4C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0F4C6E"/>
                </a:solidFill>
              </a:rPr>
              <a:t>2</a:t>
            </a:r>
          </a:p>
        </p:txBody>
      </p:sp>
      <p:sp>
        <p:nvSpPr>
          <p:cNvPr id="10" name="logic-01:factor-text"/>
          <p:cNvSpPr txBox="1"/>
          <p:nvPr/>
        </p:nvSpPr>
        <p:spPr>
          <a:xfrm>
            <a:off x="4432440" y="2708378"/>
            <a:ext cx="3327240" cy="8504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600" b="1" spc="-40">
                <a:solidFill>
                  <a:srgbClr val="262B33"/>
                </a:solidFill>
              </a:rPr>
              <a:t>Treg 표지 점수 0.8 이상</a:t>
            </a:r>
          </a:p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조절 T세포 표지 유전자 세트 점수</a:t>
            </a:r>
          </a:p>
        </p:txBody>
      </p:sp>
      <p:sp>
        <p:nvSpPr>
          <p:cNvPr id="11" name="logic-01:factor"/>
          <p:cNvSpPr/>
          <p:nvPr/>
        </p:nvSpPr>
        <p:spPr>
          <a:xfrm>
            <a:off x="8116080" y="2053178"/>
            <a:ext cx="3608040" cy="1692881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logic-01:marker"/>
          <p:cNvSpPr/>
          <p:nvPr/>
        </p:nvSpPr>
        <p:spPr>
          <a:xfrm>
            <a:off x="8256480" y="2240378"/>
            <a:ext cx="351000" cy="351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0F4C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0F4C6E"/>
                </a:solidFill>
              </a:rPr>
              <a:t>3</a:t>
            </a:r>
          </a:p>
        </p:txBody>
      </p:sp>
      <p:sp>
        <p:nvSpPr>
          <p:cNvPr id="13" name="logic-01:factor-text"/>
          <p:cNvSpPr txBox="1"/>
          <p:nvPr/>
        </p:nvSpPr>
        <p:spPr>
          <a:xfrm>
            <a:off x="8256480" y="2708378"/>
            <a:ext cx="3327240" cy="8504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600" b="1" spc="-40">
                <a:solidFill>
                  <a:srgbClr val="262B33"/>
                </a:solidFill>
              </a:rPr>
              <a:t>자동 주석 일치율 92%</a:t>
            </a:r>
          </a:p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참조 데이터 기반 세포 유형 주석과 비교</a:t>
            </a:r>
          </a:p>
        </p:txBody>
      </p:sp>
      <p:cxnSp>
        <p:nvCxnSpPr>
          <p:cNvPr id="14" name="logic-01:link"/>
          <p:cNvCxnSpPr/>
          <p:nvPr/>
        </p:nvCxnSpPr>
        <p:spPr>
          <a:xfrm>
            <a:off x="2272020" y="3746059"/>
            <a:ext cx="0" cy="3276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logic-01:link"/>
          <p:cNvCxnSpPr/>
          <p:nvPr/>
        </p:nvCxnSpPr>
        <p:spPr>
          <a:xfrm>
            <a:off x="6096060" y="3746059"/>
            <a:ext cx="0" cy="3276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logic-01:link"/>
          <p:cNvCxnSpPr/>
          <p:nvPr/>
        </p:nvCxnSpPr>
        <p:spPr>
          <a:xfrm>
            <a:off x="9920100" y="3746059"/>
            <a:ext cx="0" cy="3276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logic-01:link"/>
          <p:cNvCxnSpPr/>
          <p:nvPr/>
        </p:nvCxnSpPr>
        <p:spPr>
          <a:xfrm>
            <a:off x="2272020" y="4073659"/>
            <a:ext cx="764808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logic-01:link"/>
          <p:cNvCxnSpPr/>
          <p:nvPr/>
        </p:nvCxnSpPr>
        <p:spPr>
          <a:xfrm>
            <a:off x="6096060" y="4073659"/>
            <a:ext cx="0" cy="32760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logic-01:conclusion"/>
          <p:cNvSpPr/>
          <p:nvPr/>
        </p:nvSpPr>
        <p:spPr>
          <a:xfrm>
            <a:off x="2380020" y="4401259"/>
            <a:ext cx="7432080" cy="762386"/>
          </a:xfrm>
          <a:prstGeom prst="rect">
            <a:avLst/>
          </a:prstGeom>
          <a:solidFill>
            <a:srgbClr val="0F4C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logic-01:conclusion-text"/>
          <p:cNvSpPr txBox="1"/>
          <p:nvPr/>
        </p:nvSpPr>
        <p:spPr>
          <a:xfrm>
            <a:off x="2660820" y="4401259"/>
            <a:ext cx="6870480" cy="76238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800" b="1" spc="-40">
                <a:solidFill>
                  <a:srgbClr val="FFFFFF"/>
                </a:solidFill>
              </a:rPr>
              <a:t>클러스터 3은 면역 억제 조절 T세포다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1</a:t>
            </a:fld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세포 유형 주석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클러스터 3은 어떤 세포일까요?</a:t>
            </a:r>
          </a:p>
        </p:txBody>
      </p:sp>
      <p:sp>
        <p:nvSpPr>
          <p:cNvPr id="5" name="logic-01:conclusion"/>
          <p:cNvSpPr/>
          <p:nvPr/>
        </p:nvSpPr>
        <p:spPr>
          <a:xfrm>
            <a:off x="7407666" y="2070987"/>
            <a:ext cx="4316454" cy="3057040"/>
          </a:xfrm>
          <a:prstGeom prst="rect">
            <a:avLst/>
          </a:prstGeom>
          <a:solidFill>
            <a:srgbClr val="0F4C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logic-01:conclusion-text"/>
          <p:cNvSpPr txBox="1"/>
          <p:nvPr/>
        </p:nvSpPr>
        <p:spPr>
          <a:xfrm>
            <a:off x="7688466" y="2070987"/>
            <a:ext cx="3754854" cy="30570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30000"/>
              </a:lnSpc>
            </a:pPr>
            <a:r>
              <a:rPr sz="2000" b="1" spc="-40">
                <a:solidFill>
                  <a:srgbClr val="FFFFFF"/>
                </a:solidFill>
              </a:rPr>
              <a:t>클러스터 3은 면역 억제 조절 T세포다</a:t>
            </a:r>
          </a:p>
        </p:txBody>
      </p:sp>
      <p:sp>
        <p:nvSpPr>
          <p:cNvPr id="7" name="logic-01:factor"/>
          <p:cNvSpPr/>
          <p:nvPr/>
        </p:nvSpPr>
        <p:spPr>
          <a:xfrm>
            <a:off x="468000" y="2070987"/>
            <a:ext cx="6190866" cy="875013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logic-01:marker"/>
          <p:cNvSpPr/>
          <p:nvPr/>
        </p:nvSpPr>
        <p:spPr>
          <a:xfrm>
            <a:off x="608400" y="2332994"/>
            <a:ext cx="351000" cy="351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0F4C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0F4C6E"/>
                </a:solidFill>
              </a:rPr>
              <a:t>1</a:t>
            </a:r>
          </a:p>
        </p:txBody>
      </p:sp>
      <p:sp>
        <p:nvSpPr>
          <p:cNvPr id="9" name="logic-01:factor-text"/>
          <p:cNvSpPr txBox="1"/>
          <p:nvPr/>
        </p:nvSpPr>
        <p:spPr>
          <a:xfrm>
            <a:off x="1099800" y="2070987"/>
            <a:ext cx="5418666" cy="875013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600" b="1" spc="-40">
                <a:solidFill>
                  <a:srgbClr val="262B33"/>
                </a:solidFill>
              </a:rPr>
              <a:t>FOXP3 발현 상위 5%</a:t>
            </a:r>
          </a:p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클러스터 3 세포의 FOXP3 발현이 전체 세포 중 상위 5%</a:t>
            </a:r>
          </a:p>
        </p:txBody>
      </p:sp>
      <p:cxnSp>
        <p:nvCxnSpPr>
          <p:cNvPr id="10" name="logic-01:link"/>
          <p:cNvCxnSpPr/>
          <p:nvPr/>
        </p:nvCxnSpPr>
        <p:spPr>
          <a:xfrm>
            <a:off x="6658866" y="2508494"/>
            <a:ext cx="37440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logic-01:factor"/>
          <p:cNvSpPr/>
          <p:nvPr/>
        </p:nvSpPr>
        <p:spPr>
          <a:xfrm>
            <a:off x="468000" y="3162000"/>
            <a:ext cx="6190866" cy="875013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logic-01:marker"/>
          <p:cNvSpPr/>
          <p:nvPr/>
        </p:nvSpPr>
        <p:spPr>
          <a:xfrm>
            <a:off x="608400" y="3424007"/>
            <a:ext cx="351000" cy="351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0F4C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0F4C6E"/>
                </a:solidFill>
              </a:rPr>
              <a:t>2</a:t>
            </a:r>
          </a:p>
        </p:txBody>
      </p:sp>
      <p:sp>
        <p:nvSpPr>
          <p:cNvPr id="13" name="logic-01:factor-text"/>
          <p:cNvSpPr txBox="1"/>
          <p:nvPr/>
        </p:nvSpPr>
        <p:spPr>
          <a:xfrm>
            <a:off x="1099800" y="3162000"/>
            <a:ext cx="5418666" cy="875013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600" b="1" spc="-40">
                <a:solidFill>
                  <a:srgbClr val="262B33"/>
                </a:solidFill>
              </a:rPr>
              <a:t>Treg 표지 점수 0.8 이상</a:t>
            </a:r>
          </a:p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조절 T세포 표지 유전자 세트 점수</a:t>
            </a:r>
          </a:p>
        </p:txBody>
      </p:sp>
      <p:cxnSp>
        <p:nvCxnSpPr>
          <p:cNvPr id="14" name="logic-01:link"/>
          <p:cNvCxnSpPr/>
          <p:nvPr/>
        </p:nvCxnSpPr>
        <p:spPr>
          <a:xfrm>
            <a:off x="6658866" y="3599507"/>
            <a:ext cx="37440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logic-01:factor"/>
          <p:cNvSpPr/>
          <p:nvPr/>
        </p:nvSpPr>
        <p:spPr>
          <a:xfrm>
            <a:off x="468000" y="4253013"/>
            <a:ext cx="6190866" cy="875013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logic-01:marker"/>
          <p:cNvSpPr/>
          <p:nvPr/>
        </p:nvSpPr>
        <p:spPr>
          <a:xfrm>
            <a:off x="608400" y="4515020"/>
            <a:ext cx="351000" cy="351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0F4C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0F4C6E"/>
                </a:solidFill>
              </a:rPr>
              <a:t>3</a:t>
            </a:r>
          </a:p>
        </p:txBody>
      </p:sp>
      <p:sp>
        <p:nvSpPr>
          <p:cNvPr id="17" name="logic-01:factor-text"/>
          <p:cNvSpPr txBox="1"/>
          <p:nvPr/>
        </p:nvSpPr>
        <p:spPr>
          <a:xfrm>
            <a:off x="1099800" y="4253013"/>
            <a:ext cx="5418666" cy="875013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600" b="1" spc="-40">
                <a:solidFill>
                  <a:srgbClr val="262B33"/>
                </a:solidFill>
              </a:rPr>
              <a:t>자동 주석 일치율 92%</a:t>
            </a:r>
          </a:p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참조 데이터 기반 세포 유형 주석과 비교</a:t>
            </a:r>
          </a:p>
        </p:txBody>
      </p:sp>
      <p:cxnSp>
        <p:nvCxnSpPr>
          <p:cNvPr id="18" name="logic-01:link"/>
          <p:cNvCxnSpPr/>
          <p:nvPr/>
        </p:nvCxnSpPr>
        <p:spPr>
          <a:xfrm>
            <a:off x="6658866" y="4690520"/>
            <a:ext cx="37440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logic-01:link"/>
          <p:cNvCxnSpPr/>
          <p:nvPr/>
        </p:nvCxnSpPr>
        <p:spPr>
          <a:xfrm>
            <a:off x="7033266" y="2508494"/>
            <a:ext cx="0" cy="2182026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logic-01:link"/>
          <p:cNvCxnSpPr/>
          <p:nvPr/>
        </p:nvCxnSpPr>
        <p:spPr>
          <a:xfrm>
            <a:off x="7033266" y="3599507"/>
            <a:ext cx="374400" cy="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2</a:t>
            </a:fld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aLab 틸 클린 16:9">
  <a:themeElements>
    <a:clrScheme name="HaLab 틸 클린 16:9">
      <a:dk1>
        <a:srgbClr val="262B33"/>
      </a:dk1>
      <a:lt1>
        <a:srgbClr val="FFFFFF"/>
      </a:lt1>
      <a:dk2>
        <a:srgbClr val="6B7280"/>
      </a:dk2>
      <a:lt2>
        <a:srgbClr val="FBFBFB"/>
      </a:lt2>
      <a:accent1>
        <a:srgbClr val="0F4C6E"/>
      </a:accent1>
      <a:accent2>
        <a:srgbClr val="1E9E86"/>
      </a:accent2>
      <a:accent3>
        <a:srgbClr val="3DB5C2"/>
      </a:accent3>
      <a:accent4>
        <a:srgbClr val="E5484D"/>
      </a:accent4>
      <a:accent5>
        <a:srgbClr val="9FB7C5"/>
      </a:accent5>
      <a:accent6>
        <a:srgbClr val="E2E5EA"/>
      </a:accent6>
      <a:hlink>
        <a:srgbClr val="0F4C6E"/>
      </a:hlink>
      <a:folHlink>
        <a:srgbClr val="3DB5C2"/>
      </a:folHlink>
    </a:clrScheme>
    <a:fontScheme name="Pretendard">
      <a:majorFont>
        <a:latin typeface="Pretendard"/>
        <a:ea typeface="Pretendard"/>
        <a:cs typeface=""/>
        <a:font script="Hang" typeface="Pretendard"/>
      </a:majorFont>
      <a:minorFont>
        <a:latin typeface="Pretendard"/>
        <a:ea typeface="Pretendard"/>
        <a:cs typeface=""/>
        <a:font script="Hang" typeface="Pretendard"/>
      </a:minorFont>
    </a:fontScheme>
    <a:fmtScheme name="HaLab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9525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accent6"/>
          </a:solidFill>
        </a:ln>
      </a:spPr>
      <a:bodyPr rtlCol="0" anchor="ctr"/>
      <a:lstStyle>
        <a:defPPr algn="ctr">
          <a:defRPr lang="ko-KR"/>
        </a:defPPr>
      </a:lstStyle>
      <a:style>
        <a:lnRef idx="0">
          <a:schemeClr val="accent6"/>
        </a:lnRef>
        <a:fillRef idx="0">
          <a:schemeClr val="bg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9525">
          <a:solidFill>
            <a:schemeClr val="tx2"/>
          </a:solidFill>
        </a:ln>
      </a:spPr>
      <a:bodyPr/>
      <a:lstStyle/>
      <a:style>
        <a:lnRef idx="0">
          <a:schemeClr val="tx2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lnSpc>
            <a:spcPct val="120000"/>
          </a:lnSpc>
          <a:defRPr lang="ko-KR" spc="-4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Microsoft Office PowerPoint</Application>
  <Slides>0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HaLab 틸 클린 16:9</dc:title>
  <dc:creator>HaLab</dc:creator>
</cp:coreProperties>
</file>