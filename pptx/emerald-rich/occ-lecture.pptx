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0B6E5A"/>
            </a:gs>
            <a:gs pos="100000">
              <a:srgbClr val="11A688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0B6E5A"/>
            </a:gs>
            <a:gs pos="100000">
              <a:srgbClr val="11A688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0B6E5A"/>
            </a:gs>
            <a:gs pos="100000">
              <a:srgbClr val="11A688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세미나 · 분석 입문 3회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RNA-seq 분석 첫걸음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count 행렬에서 세포 유형까지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2026. 10. 20.</a:t>
            </a:r>
          </a:p>
          <a:p>
            <a:r>
              <a:t>HaLab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오늘 배울 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단일세포 데이터는 무엇이 다를까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분석 다섯 단계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직접 해 보기 (R)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정리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1. 개념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단일세포 데이터는 무엇이 다를까?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6B7280"/>
                </a:solidFill>
              </a:rPr>
              <a:t>bulk RNA-seq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0B6E5A"/>
                </a:solidFill>
              </a:rPr>
              <a:t>단일세포 RNA-seq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324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조직 평균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324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한 번에 보는 것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세포 하나하나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116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조건 간 차이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116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알 수 있는 것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세포 유형 · 상태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3908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× 시료 수십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390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행렬 크기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유전자 × 세포 수만</a:t>
            </a:r>
          </a:p>
        </p:txBody>
      </p:sp>
      <p:cxnSp>
        <p:nvCxnSpPr>
          <p:cNvPr id="19" name="comp-02:row-rule"/>
          <p:cNvCxnSpPr/>
          <p:nvPr/>
        </p:nvCxnSpPr>
        <p:spPr>
          <a:xfrm>
            <a:off x="468000" y="470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mp-02:value"/>
          <p:cNvSpPr txBox="1"/>
          <p:nvPr/>
        </p:nvSpPr>
        <p:spPr>
          <a:xfrm>
            <a:off x="612000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낮음</a:t>
            </a:r>
          </a:p>
        </p:txBody>
      </p:sp>
      <p:sp>
        <p:nvSpPr>
          <p:cNvPr id="21" name="comp-02:item"/>
          <p:cNvSpPr txBox="1"/>
          <p:nvPr/>
        </p:nvSpPr>
        <p:spPr>
          <a:xfrm>
            <a:off x="5042448" y="470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0 의 비율</a:t>
            </a:r>
          </a:p>
        </p:txBody>
      </p:sp>
      <p:sp>
        <p:nvSpPr>
          <p:cNvPr id="22" name="comp-02:value"/>
          <p:cNvSpPr txBox="1"/>
          <p:nvPr/>
        </p:nvSpPr>
        <p:spPr>
          <a:xfrm>
            <a:off x="7365672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90% 이상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 다섯 단계</a:t>
            </a:r>
          </a:p>
        </p:txBody>
      </p:sp>
      <p:sp>
        <p:nvSpPr>
          <p:cNvPr id="4" name="L3:subtitle"/>
          <p:cNvSpPr txBox="1"/>
          <p:nvPr/>
        </p:nvSpPr>
        <p:spPr>
          <a:xfrm>
            <a:off x="1512000" y="3852360"/>
            <a:ext cx="8986666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spc="-40">
                <a:solidFill>
                  <a:srgbClr val="C9DFDB"/>
                </a:solidFill>
                <a:latin typeface="Pretendard Medium"/>
                <a:ea typeface="Pretendard Medium"/>
                <a:cs typeface="Pretendard Medium"/>
              </a:rPr>
              <a:t>품질관리에서 세포 유형 주석까지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2. 분석 단계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분석은 다섯 단계로 나뉘어요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901463"/>
            <a:ext cx="9004896" cy="0"/>
          </a:xfrm>
          <a:prstGeom prst="line">
            <a:avLst/>
          </a:prstGeom>
          <a:ln w="15875">
            <a:solidFill>
              <a:srgbClr val="9DC5B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667463"/>
            <a:ext cx="468000" cy="468000"/>
          </a:xfrm>
          <a:prstGeom prst="ellipse">
            <a:avLst/>
          </a:prstGeom>
          <a:solidFill>
            <a:srgbClr val="0B6E5A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0B6E5A"/>
                </a:solidFill>
              </a:rPr>
              <a:t>품질관리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정규화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깊이 차이 맞추기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차원 축소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PCA → UMAP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세포끼리 묶기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주석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표지 유전자로 이름 붙이기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2-1. 품질관리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품질관리에서는 세 가지 숫자를 봐요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7613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lead"/>
          <p:cNvSpPr txBox="1"/>
          <p:nvPr/>
        </p:nvSpPr>
        <p:spPr>
          <a:xfrm>
            <a:off x="648000" y="1976808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0B6E5A"/>
                </a:solidFill>
                <a:latin typeface="Pretendard Medium"/>
                <a:ea typeface="Pretendard Medium"/>
                <a:cs typeface="Pretendard Medium"/>
              </a:rPr>
              <a:t>nFeature</a:t>
            </a:r>
          </a:p>
        </p:txBody>
      </p:sp>
      <p:sp>
        <p:nvSpPr>
          <p:cNvPr id="7" name="list-01:marker"/>
          <p:cNvSpPr/>
          <p:nvPr/>
        </p:nvSpPr>
        <p:spPr>
          <a:xfrm>
            <a:off x="1951403" y="1996577"/>
            <a:ext cx="288000" cy="288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list-01:title"/>
          <p:cNvSpPr txBox="1"/>
          <p:nvPr/>
        </p:nvSpPr>
        <p:spPr>
          <a:xfrm>
            <a:off x="2419403" y="1995005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세포마다 검출된 유전자 수</a:t>
            </a:r>
          </a:p>
        </p:txBody>
      </p:sp>
      <p:sp>
        <p:nvSpPr>
          <p:cNvPr id="9" name="list-01:desc"/>
          <p:cNvSpPr txBox="1"/>
          <p:nvPr/>
        </p:nvSpPr>
        <p:spPr>
          <a:xfrm>
            <a:off x="2419403" y="2340150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너무 적으면 빈 방울, 너무 많으면 이중 세포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468000" y="431725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lead"/>
          <p:cNvSpPr txBox="1"/>
          <p:nvPr/>
        </p:nvSpPr>
        <p:spPr>
          <a:xfrm>
            <a:off x="648000" y="3317935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0B6E5A"/>
                </a:solidFill>
                <a:latin typeface="Pretendard Medium"/>
                <a:ea typeface="Pretendard Medium"/>
                <a:cs typeface="Pretendard Medium"/>
              </a:rPr>
              <a:t>nCount</a:t>
            </a:r>
          </a:p>
        </p:txBody>
      </p:sp>
      <p:sp>
        <p:nvSpPr>
          <p:cNvPr id="12" name="list-01:marker"/>
          <p:cNvSpPr/>
          <p:nvPr/>
        </p:nvSpPr>
        <p:spPr>
          <a:xfrm>
            <a:off x="1951403" y="3337704"/>
            <a:ext cx="288000" cy="288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list-01:title"/>
          <p:cNvSpPr txBox="1"/>
          <p:nvPr/>
        </p:nvSpPr>
        <p:spPr>
          <a:xfrm>
            <a:off x="2419403" y="3336131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세포마다 읽힌 분자 수</a:t>
            </a:r>
          </a:p>
        </p:txBody>
      </p:sp>
      <p:sp>
        <p:nvSpPr>
          <p:cNvPr id="14" name="list-01:desc"/>
          <p:cNvSpPr txBox="1"/>
          <p:nvPr/>
        </p:nvSpPr>
        <p:spPr>
          <a:xfrm>
            <a:off x="2419403" y="3681276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수와 함께 봐요</a:t>
            </a:r>
          </a:p>
        </p:txBody>
      </p:sp>
      <p:sp>
        <p:nvSpPr>
          <p:cNvPr id="15" name="list-01:lead"/>
          <p:cNvSpPr txBox="1"/>
          <p:nvPr/>
        </p:nvSpPr>
        <p:spPr>
          <a:xfrm>
            <a:off x="648000" y="4659061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0B6E5A"/>
                </a:solidFill>
                <a:latin typeface="Pretendard Medium"/>
                <a:ea typeface="Pretendard Medium"/>
                <a:cs typeface="Pretendard Medium"/>
              </a:rPr>
              <a:t>percent.mt</a:t>
            </a:r>
          </a:p>
        </p:txBody>
      </p:sp>
      <p:sp>
        <p:nvSpPr>
          <p:cNvPr id="16" name="list-01:marker"/>
          <p:cNvSpPr/>
          <p:nvPr/>
        </p:nvSpPr>
        <p:spPr>
          <a:xfrm>
            <a:off x="1951403" y="4678830"/>
            <a:ext cx="288000" cy="288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list-01:title"/>
          <p:cNvSpPr txBox="1"/>
          <p:nvPr/>
        </p:nvSpPr>
        <p:spPr>
          <a:xfrm>
            <a:off x="2419403" y="4677257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미토콘드리아 유전자 비율</a:t>
            </a:r>
          </a:p>
        </p:txBody>
      </p:sp>
      <p:sp>
        <p:nvSpPr>
          <p:cNvPr id="18" name="list-01:desc"/>
          <p:cNvSpPr txBox="1"/>
          <p:nvPr/>
        </p:nvSpPr>
        <p:spPr>
          <a:xfrm>
            <a:off x="2419403" y="5022402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높으면 죽어 가는 세포 (보통 10–20% 위를 뺌)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직접 해 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Seurat 으로 품질관리는 세 줄이면 돼요</a:t>
            </a:r>
          </a:p>
        </p:txBody>
      </p:sp>
      <p:sp>
        <p:nvSpPr>
          <p:cNvPr id="5" name="code-01:heading"/>
          <p:cNvSpPr txBox="1"/>
          <p:nvPr/>
        </p:nvSpPr>
        <p:spPr>
          <a:xfrm>
            <a:off x="468000" y="2390234"/>
            <a:ext cx="10176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품질관리</a:t>
            </a:r>
          </a:p>
        </p:txBody>
      </p:sp>
      <p:sp>
        <p:nvSpPr>
          <p:cNvPr id="6" name="code-01:lang"/>
          <p:cNvSpPr txBox="1"/>
          <p:nvPr/>
        </p:nvSpPr>
        <p:spPr>
          <a:xfrm>
            <a:off x="10716120" y="2390234"/>
            <a:ext cx="100800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R</a:t>
            </a:r>
          </a:p>
        </p:txBody>
      </p:sp>
      <p:sp>
        <p:nvSpPr>
          <p:cNvPr id="7" name="code-01:bg"/>
          <p:cNvSpPr/>
          <p:nvPr/>
        </p:nvSpPr>
        <p:spPr>
          <a:xfrm>
            <a:off x="468000" y="2771379"/>
            <a:ext cx="11256120" cy="999556"/>
          </a:xfrm>
          <a:prstGeom prst="rect">
            <a:avLst/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code-01:code"/>
          <p:cNvSpPr txBox="1"/>
          <p:nvPr/>
        </p:nvSpPr>
        <p:spPr>
          <a:xfrm>
            <a:off x="648000" y="2915379"/>
            <a:ext cx="10896120" cy="7115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obj[["percent.mt"]] &lt;- PercentageFeatureSet(obj, pattern = "^MT-")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VlnPlot(obj, features = c("nFeature_RNA", "nCount_RNA", "percent.mt"))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obj &lt;- subset(obj, nFeature_RNA &gt; 200 &amp; nFeature_RNA &lt; 6000 &amp; percent.mt &lt; 15)</a:t>
            </a:r>
            <a:endParaRPr sz="1400">
              <a:latin typeface="D2Coding"/>
              <a:ea typeface="D2Coding"/>
              <a:cs typeface="D2Coding"/>
            </a:endParaRPr>
          </a:p>
        </p:txBody>
      </p:sp>
      <p:cxnSp>
        <p:nvCxnSpPr>
          <p:cNvPr id="9" name="conclusion:line"/>
          <p:cNvCxnSpPr/>
          <p:nvPr/>
        </p:nvCxnSpPr>
        <p:spPr>
          <a:xfrm>
            <a:off x="468000" y="3986935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clusion:text"/>
          <p:cNvSpPr txBox="1"/>
          <p:nvPr/>
        </p:nvSpPr>
        <p:spPr>
          <a:xfrm>
            <a:off x="468000" y="4184935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기준값은 데이터마다 달라요. </a:t>
            </a:r>
            <a:r>
              <a:rPr sz="1400" b="1" spc="-40">
                <a:solidFill>
                  <a:srgbClr val="262B33"/>
                </a:solidFill>
              </a:rPr>
              <a:t>VlnPlot 을 먼저 보고</a:t>
            </a:r>
            <a:r>
              <a:rPr sz="1400" b="0" spc="-40">
                <a:solidFill>
                  <a:srgbClr val="6B7280"/>
                </a:solidFill>
              </a:rPr>
              <a:t> 정해요.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도구 고르기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주석 도구는 쉽고 해석하기 좋은 것부터 써 봐요</a:t>
            </a:r>
          </a:p>
        </p:txBody>
      </p:sp>
      <p:sp>
        <p:nvSpPr>
          <p:cNvPr id="5" name="struct-07:quadrant"/>
          <p:cNvSpPr/>
          <p:nvPr/>
        </p:nvSpPr>
        <p:spPr>
          <a:xfrm>
            <a:off x="1512000" y="1908000"/>
            <a:ext cx="4998060" cy="1440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7:name"/>
          <p:cNvSpPr txBox="1"/>
          <p:nvPr/>
        </p:nvSpPr>
        <p:spPr>
          <a:xfrm>
            <a:off x="1656000" y="2052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먼저 써 볼 도구</a:t>
            </a:r>
          </a:p>
        </p:txBody>
      </p:sp>
      <p:sp>
        <p:nvSpPr>
          <p:cNvPr id="7" name="struct-07:item"/>
          <p:cNvSpPr/>
          <p:nvPr/>
        </p:nvSpPr>
        <p:spPr>
          <a:xfrm>
            <a:off x="1656000" y="2451145"/>
            <a:ext cx="839853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7:item-text"/>
          <p:cNvSpPr txBox="1"/>
          <p:nvPr/>
        </p:nvSpPr>
        <p:spPr>
          <a:xfrm>
            <a:off x="1656000" y="2451145"/>
            <a:ext cx="839853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0B6E5A"/>
                </a:solidFill>
              </a:rPr>
              <a:t>SingleR</a:t>
            </a:r>
          </a:p>
        </p:txBody>
      </p:sp>
      <p:sp>
        <p:nvSpPr>
          <p:cNvPr id="9" name="struct-07:item"/>
          <p:cNvSpPr/>
          <p:nvPr/>
        </p:nvSpPr>
        <p:spPr>
          <a:xfrm>
            <a:off x="2585853" y="2451145"/>
            <a:ext cx="1048409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truct-07:item-text"/>
          <p:cNvSpPr txBox="1"/>
          <p:nvPr/>
        </p:nvSpPr>
        <p:spPr>
          <a:xfrm>
            <a:off x="2585853" y="2451145"/>
            <a:ext cx="1048409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0B6E5A"/>
                </a:solidFill>
              </a:rPr>
              <a:t>표지 유전자</a:t>
            </a:r>
          </a:p>
        </p:txBody>
      </p:sp>
      <p:sp>
        <p:nvSpPr>
          <p:cNvPr id="11" name="struct-07:quadrant"/>
          <p:cNvSpPr/>
          <p:nvPr/>
        </p:nvSpPr>
        <p:spPr>
          <a:xfrm>
            <a:off x="6726060" y="1908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truct-07:name"/>
          <p:cNvSpPr txBox="1"/>
          <p:nvPr/>
        </p:nvSpPr>
        <p:spPr>
          <a:xfrm>
            <a:off x="6870060" y="2052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익숙해지면</a:t>
            </a:r>
          </a:p>
        </p:txBody>
      </p:sp>
      <p:sp>
        <p:nvSpPr>
          <p:cNvPr id="13" name="struct-07:item"/>
          <p:cNvSpPr/>
          <p:nvPr/>
        </p:nvSpPr>
        <p:spPr>
          <a:xfrm>
            <a:off x="6870060" y="2451145"/>
            <a:ext cx="998742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7:item-text"/>
          <p:cNvSpPr txBox="1"/>
          <p:nvPr/>
        </p:nvSpPr>
        <p:spPr>
          <a:xfrm>
            <a:off x="6870060" y="2451145"/>
            <a:ext cx="998742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CellTypist</a:t>
            </a:r>
          </a:p>
        </p:txBody>
      </p:sp>
      <p:sp>
        <p:nvSpPr>
          <p:cNvPr id="15" name="struct-07:quadrant"/>
          <p:cNvSpPr/>
          <p:nvPr/>
        </p:nvSpPr>
        <p:spPr>
          <a:xfrm>
            <a:off x="151200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7:name"/>
          <p:cNvSpPr txBox="1"/>
          <p:nvPr/>
        </p:nvSpPr>
        <p:spPr>
          <a:xfrm>
            <a:off x="1656000" y="3708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참고만</a:t>
            </a:r>
          </a:p>
        </p:txBody>
      </p:sp>
      <p:sp>
        <p:nvSpPr>
          <p:cNvPr id="17" name="struct-07:item"/>
          <p:cNvSpPr/>
          <p:nvPr/>
        </p:nvSpPr>
        <p:spPr>
          <a:xfrm>
            <a:off x="1656000" y="4107145"/>
            <a:ext cx="1084766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truct-07:item-text"/>
          <p:cNvSpPr txBox="1"/>
          <p:nvPr/>
        </p:nvSpPr>
        <p:spPr>
          <a:xfrm>
            <a:off x="1656000" y="4107145"/>
            <a:ext cx="1084766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자동 주석 웹</a:t>
            </a:r>
          </a:p>
        </p:txBody>
      </p:sp>
      <p:sp>
        <p:nvSpPr>
          <p:cNvPr id="19" name="struct-07:quadrant"/>
          <p:cNvSpPr/>
          <p:nvPr/>
        </p:nvSpPr>
        <p:spPr>
          <a:xfrm>
            <a:off x="672606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7:name"/>
          <p:cNvSpPr txBox="1"/>
          <p:nvPr/>
        </p:nvSpPr>
        <p:spPr>
          <a:xfrm>
            <a:off x="6870060" y="3708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이번엔 제외</a:t>
            </a:r>
          </a:p>
        </p:txBody>
      </p:sp>
      <p:sp>
        <p:nvSpPr>
          <p:cNvPr id="21" name="struct-07:item"/>
          <p:cNvSpPr/>
          <p:nvPr/>
        </p:nvSpPr>
        <p:spPr>
          <a:xfrm>
            <a:off x="6870060" y="4107145"/>
            <a:ext cx="834775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struct-07:item-text"/>
          <p:cNvSpPr txBox="1"/>
          <p:nvPr/>
        </p:nvSpPr>
        <p:spPr>
          <a:xfrm>
            <a:off x="6870060" y="4107145"/>
            <a:ext cx="834775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scANVI</a:t>
            </a:r>
          </a:p>
        </p:txBody>
      </p:sp>
      <p:cxnSp>
        <p:nvCxnSpPr>
          <p:cNvPr id="23" name="struct-07:axis"/>
          <p:cNvCxnSpPr/>
          <p:nvPr/>
        </p:nvCxnSpPr>
        <p:spPr>
          <a:xfrm flipV="1">
            <a:off x="1422000" y="1908000"/>
            <a:ext cx="0" cy="31860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uct-07:axis"/>
          <p:cNvCxnSpPr/>
          <p:nvPr/>
        </p:nvCxnSpPr>
        <p:spPr>
          <a:xfrm>
            <a:off x="1422000" y="5094000"/>
            <a:ext cx="1030212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struct-07:y-high"/>
          <p:cNvSpPr txBox="1"/>
          <p:nvPr/>
        </p:nvSpPr>
        <p:spPr>
          <a:xfrm>
            <a:off x="468000" y="190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26" name="struct-07:y-low"/>
          <p:cNvSpPr txBox="1"/>
          <p:nvPr/>
        </p:nvSpPr>
        <p:spPr>
          <a:xfrm>
            <a:off x="468000" y="478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27" name="struct-07:y-title"/>
          <p:cNvSpPr txBox="1"/>
          <p:nvPr/>
        </p:nvSpPr>
        <p:spPr>
          <a:xfrm>
            <a:off x="468000" y="3337722"/>
            <a:ext cx="756000" cy="254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결과 해석</a:t>
            </a:r>
          </a:p>
        </p:txBody>
      </p:sp>
      <p:sp>
        <p:nvSpPr>
          <p:cNvPr id="28" name="struct-07:x-low"/>
          <p:cNvSpPr txBox="1"/>
          <p:nvPr/>
        </p:nvSpPr>
        <p:spPr>
          <a:xfrm>
            <a:off x="1512000" y="5202000"/>
            <a:ext cx="361268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29" name="struct-07:x-high"/>
          <p:cNvSpPr txBox="1"/>
          <p:nvPr/>
        </p:nvSpPr>
        <p:spPr>
          <a:xfrm>
            <a:off x="11236218" y="5202000"/>
            <a:ext cx="487902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30" name="struct-07:x-title"/>
          <p:cNvSpPr txBox="1"/>
          <p:nvPr/>
        </p:nvSpPr>
        <p:spPr>
          <a:xfrm>
            <a:off x="6339645" y="5202000"/>
            <a:ext cx="556831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배우기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정리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이것만 기억하세요</a:t>
            </a:r>
          </a:p>
        </p:txBody>
      </p:sp>
      <p:sp>
        <p:nvSpPr>
          <p:cNvPr id="5" name="text-02:bg"/>
          <p:cNvSpPr/>
          <p:nvPr/>
        </p:nvSpPr>
        <p:spPr>
          <a:xfrm>
            <a:off x="468000" y="2388842"/>
            <a:ext cx="11256120" cy="2103475"/>
          </a:xfrm>
          <a:prstGeom prst="rect">
            <a:avLst/>
          </a:prstGeom>
          <a:solidFill>
            <a:srgbClr val="E7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-02:title"/>
          <p:cNvSpPr txBox="1"/>
          <p:nvPr/>
        </p:nvSpPr>
        <p:spPr>
          <a:xfrm>
            <a:off x="720000" y="2640842"/>
            <a:ext cx="1075212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오늘의 한 줄</a:t>
            </a:r>
          </a:p>
        </p:txBody>
      </p:sp>
      <p:cxnSp>
        <p:nvCxnSpPr>
          <p:cNvPr id="7" name="text-02:line"/>
          <p:cNvCxnSpPr/>
          <p:nvPr/>
        </p:nvCxnSpPr>
        <p:spPr>
          <a:xfrm>
            <a:off x="720000" y="3058380"/>
            <a:ext cx="10752120" cy="0"/>
          </a:xfrm>
          <a:prstGeom prst="line">
            <a:avLst/>
          </a:prstGeom>
          <a:ln w="12700">
            <a:solidFill>
              <a:srgbClr val="0B6E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-02:key"/>
          <p:cNvSpPr txBox="1"/>
          <p:nvPr/>
        </p:nvSpPr>
        <p:spPr>
          <a:xfrm>
            <a:off x="720000" y="3166380"/>
            <a:ext cx="10752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0B6E5A"/>
                </a:solidFill>
              </a:rPr>
              <a:t>품질관리 → 정규화 → 차원 축소 → 군집 → 주석</a:t>
            </a:r>
          </a:p>
        </p:txBody>
      </p:sp>
      <p:sp>
        <p:nvSpPr>
          <p:cNvPr id="9" name="text-02:lines"/>
          <p:cNvSpPr txBox="1"/>
          <p:nvPr/>
        </p:nvSpPr>
        <p:spPr>
          <a:xfrm>
            <a:off x="720000" y="3565525"/>
            <a:ext cx="10752120" cy="674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기준값은 그림을 보고 정해요.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0" spc="-40">
                <a:solidFill>
                  <a:srgbClr val="6B7280"/>
                </a:solidFill>
              </a:rPr>
              <a:t>주석은 표지 유전자 두세 개로 확인해요.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단일세포 RNA-seq 분석 첫걸음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다음 시간: 군 간 비교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에메랄드 리치 16:9">
  <a:themeElements>
    <a:clrScheme name="HaLab 에메랄드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B6E5A"/>
      </a:accent1>
      <a:accent2>
        <a:srgbClr val="60A194"/>
      </a:accent2>
      <a:accent3>
        <a:srgbClr val="9DC5BD"/>
      </a:accent3>
      <a:accent4>
        <a:srgbClr val="7B4FE0"/>
      </a:accent4>
      <a:accent5>
        <a:srgbClr val="9DC5BD"/>
      </a:accent5>
      <a:accent6>
        <a:srgbClr val="E2E5EA"/>
      </a:accent6>
      <a:hlink>
        <a:srgbClr val="0B6E5A"/>
      </a:hlink>
      <a:folHlink>
        <a:srgbClr val="9DC5BD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