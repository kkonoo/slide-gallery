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4B2C7F"/>
            </a:gs>
            <a:gs pos="50000">
              <a:srgbClr val="2F5BC8"/>
            </a:gs>
            <a:gs pos="100000">
              <a:srgbClr val="0C7E7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4B2C7F"/>
            </a:gs>
            <a:gs pos="50000">
              <a:srgbClr val="2F5BC8"/>
            </a:gs>
            <a:gs pos="100000">
              <a:srgbClr val="0C7E7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4B2C7F"/>
            </a:gs>
            <a:gs pos="50000">
              <a:srgbClr val="2F5BC8"/>
            </a:gs>
            <a:gs pos="100000">
              <a:srgbClr val="0C7E7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세미나 · 분석 입문 3회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 행렬에서 세포 유형까지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배울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단일세포 데이터는 무엇이 다를까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직접 해 보기 (R)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개념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데이터는 무엇이 다를까?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bulk RNA-seq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4B2C7F"/>
                </a:solidFill>
              </a:rPr>
              <a:t>단일세포 RNA-seq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평균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한 번에 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하나하나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조건 간 차이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알 수 있는 것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유형 · 상태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× 시료 수십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행렬 크기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유전자 × 세포 수만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 의 비율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90% 이상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D7D1E3"/>
                </a:solidFill>
                <a:latin typeface="Pretendard Medium"/>
                <a:ea typeface="Pretendard Medium"/>
                <a:cs typeface="Pretendard Medium"/>
              </a:rPr>
              <a:t>품질관리에서 세포 유형 주석까지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분석 단계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분석은 다섯 단계로 나뉘어요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901463"/>
            <a:ext cx="9004896" cy="0"/>
          </a:xfrm>
          <a:prstGeom prst="line">
            <a:avLst/>
          </a:prstGeom>
          <a:ln w="15875">
            <a:solidFill>
              <a:srgbClr val="B7AB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667463"/>
            <a:ext cx="468000" cy="468000"/>
          </a:xfrm>
          <a:prstGeom prst="ellipse">
            <a:avLst/>
          </a:prstGeom>
          <a:solidFill>
            <a:srgbClr val="4B2C7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4B2C7F"/>
                </a:solidFill>
              </a:rPr>
              <a:t>품질관리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정규화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깊이 차이 맞추기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차원 축소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PCA → UMAP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세포끼리 묶기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주석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표지 유전자로 이름 붙이기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2-1. 품질관리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품질관리에서는 세 가지 숫자를 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7613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976808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nFeature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951403" y="1996577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2419403" y="1995005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검출된 유전자 수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419403" y="2340150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너무 적으면 빈 방울, 너무 많으면 이중 세포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31725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3317935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nCount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951403" y="3337704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2419403" y="3336131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읽힌 분자 수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419403" y="3681276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수와 함께 봐요</a:t>
            </a:r>
          </a:p>
        </p:txBody>
      </p:sp>
      <p:sp>
        <p:nvSpPr>
          <p:cNvPr id="15" name="list-01:lead"/>
          <p:cNvSpPr txBox="1"/>
          <p:nvPr/>
        </p:nvSpPr>
        <p:spPr>
          <a:xfrm>
            <a:off x="648000" y="4659061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percent.mt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1951403" y="4678830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2419403" y="4677257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미토콘드리아 유전자 비율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2419403" y="5022402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높으면 죽어 가는 세포 (보통 10–20% 위를 뺌)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직접 해 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Seurat 으로 품질관리는 세 줄이면 돼요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390234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품질관리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390234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771379"/>
            <a:ext cx="11256120" cy="999556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915379"/>
            <a:ext cx="10896120" cy="711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obj[["percent.mt"]] &lt;- PercentageFeatureSet(obj, pattern = "^MT-")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VlnPlot(obj, features = c("nFeature_RNA", "nCount_RNA", "percent.mt"))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 &lt;- subset(obj, nFeature_RNA &gt; 200 &amp; nFeature_RNA &lt; 6000 &amp; percent.mt &lt; 15)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398693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418493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데이터마다 달라요. </a:t>
            </a:r>
            <a:r>
              <a:rPr sz="1400" b="1" spc="-40">
                <a:solidFill>
                  <a:srgbClr val="262B33"/>
                </a:solidFill>
              </a:rPr>
              <a:t>VlnPlot 을 먼저 보고</a:t>
            </a:r>
            <a:r>
              <a:rPr sz="1400" b="0" spc="-40">
                <a:solidFill>
                  <a:srgbClr val="6B7280"/>
                </a:solidFill>
              </a:rPr>
              <a:t> 정해요.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주석 도구는 쉽고 해석하기 좋은 것부터 써 봐요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써 볼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51145"/>
            <a:ext cx="839853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51145"/>
            <a:ext cx="839853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4B2C7F"/>
                </a:solidFill>
              </a:rPr>
              <a:t>SingleR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585853" y="2451145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585853" y="2451145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4B2C7F"/>
                </a:solidFill>
              </a:rPr>
              <a:t>표지 유전자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익숙해지면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51145"/>
            <a:ext cx="9987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51145"/>
            <a:ext cx="9987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CellTypist</a:t>
            </a:r>
          </a:p>
        </p:txBody>
      </p:sp>
      <p:sp>
        <p:nvSpPr>
          <p:cNvPr id="15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name"/>
          <p:cNvSpPr txBox="1"/>
          <p:nvPr/>
        </p:nvSpPr>
        <p:spPr>
          <a:xfrm>
            <a:off x="165600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참고만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1656000" y="4107145"/>
            <a:ext cx="10847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1656000" y="4107145"/>
            <a:ext cx="108476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자동 주석 웹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687006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이번엔 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6870060" y="4107145"/>
            <a:ext cx="83477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6870060" y="4107145"/>
            <a:ext cx="83477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scANVI</a:t>
            </a:r>
          </a:p>
        </p:txBody>
      </p:sp>
      <p:cxnSp>
        <p:nvCxnSpPr>
          <p:cNvPr id="23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6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7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28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9" name="struct-07:x-high"/>
          <p:cNvSpPr txBox="1"/>
          <p:nvPr/>
        </p:nvSpPr>
        <p:spPr>
          <a:xfrm>
            <a:off x="11236218" y="5202000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0" name="struct-07:x-title"/>
          <p:cNvSpPr txBox="1"/>
          <p:nvPr/>
        </p:nvSpPr>
        <p:spPr>
          <a:xfrm>
            <a:off x="6339645" y="5202000"/>
            <a:ext cx="55683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배우기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이것만 기억하세요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88842"/>
            <a:ext cx="11256120" cy="2103475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0842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오늘의 한 줄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58380"/>
            <a:ext cx="10752120" cy="0"/>
          </a:xfrm>
          <a:prstGeom prst="line">
            <a:avLst/>
          </a:prstGeom>
          <a:ln w="12700">
            <a:solidFill>
              <a:srgbClr val="4B2C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3166380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B2C7F"/>
                </a:solidFill>
              </a:rPr>
              <a:t>품질관리 → 정규화 → 차원 축소 → 군집 → 주석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565525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그림을 보고 정해요.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주석은 표지 유전자 두세 개로 확인해요.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다음 시간: 군 간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리치 16:9">
  <a:themeElements>
    <a:clrScheme name="HaLab 바이올렛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