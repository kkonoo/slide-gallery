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정확도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3"/>
            <c:spPr>
              <a:solidFill>
                <a:srgbClr val="4B2C7F"/>
              </a:solidFill>
            </c:spPr>
          </c:dPt>
          <c:dLbls>
            <c:dLbl>
              <c:idx val="3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4B2C7F"/>
                        </a:solidFill>
                        <a:latin typeface="Pretendard"/>
                      </a:rPr>
                      <a:t>0.86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SPOTlight</c:v>
                </c:pt>
                <c:pt idx="1">
                  <c:v>RCTD</c:v>
                </c:pt>
                <c:pt idx="2">
                  <c:v>cell2location</c:v>
                </c:pt>
                <c:pt idx="3">
                  <c:v>새 방법</c:v>
                </c:pt>
              </c:strCache>
            </c:strRef>
          </c:cat>
          <c:val>
            <c:numRef>
              <c:f>Sheet1!$B$2:$B$5</c:f>
              <c:numCache>
                <c:formatCode>0.00</c:formatCode>
                <c:ptCount val="4"/>
                <c:pt idx="0">
                  <c:v>0.62</c:v>
                </c:pt>
                <c:pt idx="1">
                  <c:v>0.71</c:v>
                </c:pt>
                <c:pt idx="2">
                  <c:v>0.74</c:v>
                </c:pt>
                <c:pt idx="3">
                  <c:v>0.86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b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Pearson r (합성 스팟 2,000개)</a:t>
                </a:r>
              </a:p>
            </c:rich>
          </c:tx>
          <c:layout/>
          <c:overlay val="0"/>
        </c:title>
        <c:numFmt formatCode="0.0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4B2C7F"/>
            </a:gs>
            <a:gs pos="50000">
              <a:srgbClr val="2F5BC8"/>
            </a:gs>
            <a:gs pos="100000">
              <a:srgbClr val="0C7E7E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4B2C7F"/>
            </a:gs>
            <a:gs pos="50000">
              <a:srgbClr val="2F5BC8"/>
            </a:gs>
            <a:gs pos="100000">
              <a:srgbClr val="0C7E7E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4B2C7F"/>
            </a:gs>
            <a:gs pos="50000">
              <a:srgbClr val="2F5BC8"/>
            </a:gs>
            <a:gs pos="100000">
              <a:srgbClr val="0C7E7E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Journal club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스팟을 세포 상태로 나누는 새 방법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예시 논문 (가상) · 2026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2026. 10. 16.</a:t>
            </a:r>
          </a:p>
          <a:p>
            <a:r>
              <a:t>박사과정 발표자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배경 · 질문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스팟 하나에 세포 여러 개가 섞인다는 게 출발점이에요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Visium 스팟(55μm)에는 세포가 5–10개 섞여 있다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기존 디컨볼루션은 참조에 없는 세포 상태를 놓친다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질문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참조 없이도 세포 상태를 나눌 수 있을까?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배경 · 질문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기존 두 방법은 참조가 있어야만 돌아가요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cell2location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RCTD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588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단일세포 필요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58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참조 데이터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단일세포 필요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38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찾지 못함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38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새 세포 상태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찾지 못함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4172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약 2시간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4172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속도 (스팟 4천 개)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약 20분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Study design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공간전사체와 단일세포를 같은 환자에서 얻어 비교했어요</a:t>
            </a:r>
          </a:p>
        </p:txBody>
      </p:sp>
      <p:sp>
        <p:nvSpPr>
          <p:cNvPr id="5" name="res-01:marker"/>
          <p:cNvSpPr/>
          <p:nvPr/>
        </p:nvSpPr>
        <p:spPr>
          <a:xfrm>
            <a:off x="46800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1</a:t>
            </a:r>
          </a:p>
        </p:txBody>
      </p:sp>
      <p:sp>
        <p:nvSpPr>
          <p:cNvPr id="6" name="res-01:title"/>
          <p:cNvSpPr txBox="1"/>
          <p:nvPr/>
        </p:nvSpPr>
        <p:spPr>
          <a:xfrm>
            <a:off x="95940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대상</a:t>
            </a:r>
          </a:p>
        </p:txBody>
      </p:sp>
      <p:sp>
        <p:nvSpPr>
          <p:cNvPr id="7" name="res-01:column"/>
          <p:cNvSpPr/>
          <p:nvPr/>
        </p:nvSpPr>
        <p:spPr>
          <a:xfrm>
            <a:off x="46800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1:text"/>
          <p:cNvSpPr txBox="1"/>
          <p:nvPr/>
        </p:nvSpPr>
        <p:spPr>
          <a:xfrm>
            <a:off x="65520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대장암 환자 8명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수술 조직 · 같은 블록</a:t>
            </a:r>
          </a:p>
        </p:txBody>
      </p:sp>
      <p:sp>
        <p:nvSpPr>
          <p:cNvPr id="9" name="res-01:evidence"/>
          <p:cNvSpPr txBox="1"/>
          <p:nvPr/>
        </p:nvSpPr>
        <p:spPr>
          <a:xfrm>
            <a:off x="46800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n = 8 · 절편 16장</a:t>
            </a:r>
          </a:p>
        </p:txBody>
      </p:sp>
      <p:cxnSp>
        <p:nvCxnSpPr>
          <p:cNvPr id="10" name="res-01:link"/>
          <p:cNvCxnSpPr/>
          <p:nvPr/>
        </p:nvCxnSpPr>
        <p:spPr>
          <a:xfrm>
            <a:off x="302823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s-01:marker"/>
          <p:cNvSpPr/>
          <p:nvPr/>
        </p:nvSpPr>
        <p:spPr>
          <a:xfrm>
            <a:off x="339003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2</a:t>
            </a:r>
          </a:p>
        </p:txBody>
      </p:sp>
      <p:sp>
        <p:nvSpPr>
          <p:cNvPr id="12" name="res-01:title"/>
          <p:cNvSpPr txBox="1"/>
          <p:nvPr/>
        </p:nvSpPr>
        <p:spPr>
          <a:xfrm>
            <a:off x="388143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비교</a:t>
            </a:r>
          </a:p>
        </p:txBody>
      </p:sp>
      <p:sp>
        <p:nvSpPr>
          <p:cNvPr id="13" name="res-01:column"/>
          <p:cNvSpPr/>
          <p:nvPr/>
        </p:nvSpPr>
        <p:spPr>
          <a:xfrm>
            <a:off x="339003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1:group"/>
          <p:cNvSpPr/>
          <p:nvPr/>
        </p:nvSpPr>
        <p:spPr>
          <a:xfrm>
            <a:off x="3577230" y="2887107"/>
            <a:ext cx="2115630" cy="673011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1:group-text"/>
          <p:cNvSpPr txBox="1"/>
          <p:nvPr/>
        </p:nvSpPr>
        <p:spPr>
          <a:xfrm>
            <a:off x="3670830" y="2887107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Visium 공간전사체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절편 16장</a:t>
            </a:r>
          </a:p>
        </p:txBody>
      </p:sp>
      <p:sp>
        <p:nvSpPr>
          <p:cNvPr id="16" name="res-01:group"/>
          <p:cNvSpPr/>
          <p:nvPr/>
        </p:nvSpPr>
        <p:spPr>
          <a:xfrm>
            <a:off x="3577230" y="3653718"/>
            <a:ext cx="2115630" cy="673011"/>
          </a:xfrm>
          <a:prstGeom prst="rect">
            <a:avLst/>
          </a:prstGeom>
          <a:solidFill>
            <a:srgbClr val="E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s-01:group-text"/>
          <p:cNvSpPr txBox="1"/>
          <p:nvPr/>
        </p:nvSpPr>
        <p:spPr>
          <a:xfrm>
            <a:off x="3670830" y="3653718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6B7280"/>
                </a:solidFill>
              </a:rPr>
              <a:t>scRNA-seq 참조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세포 6만 개</a:t>
            </a:r>
          </a:p>
        </p:txBody>
      </p:sp>
      <p:sp>
        <p:nvSpPr>
          <p:cNvPr id="18" name="res-01:evidence"/>
          <p:cNvSpPr txBox="1"/>
          <p:nvPr/>
        </p:nvSpPr>
        <p:spPr>
          <a:xfrm>
            <a:off x="339003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같은 조직에서 두 방법</a:t>
            </a:r>
          </a:p>
        </p:txBody>
      </p:sp>
      <p:cxnSp>
        <p:nvCxnSpPr>
          <p:cNvPr id="19" name="res-01:link"/>
          <p:cNvCxnSpPr/>
          <p:nvPr/>
        </p:nvCxnSpPr>
        <p:spPr>
          <a:xfrm>
            <a:off x="595026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s-01:marker"/>
          <p:cNvSpPr/>
          <p:nvPr/>
        </p:nvSpPr>
        <p:spPr>
          <a:xfrm>
            <a:off x="631206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3</a:t>
            </a:r>
          </a:p>
        </p:txBody>
      </p:sp>
      <p:sp>
        <p:nvSpPr>
          <p:cNvPr id="21" name="res-01:title"/>
          <p:cNvSpPr txBox="1"/>
          <p:nvPr/>
        </p:nvSpPr>
        <p:spPr>
          <a:xfrm>
            <a:off x="680346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측정</a:t>
            </a:r>
          </a:p>
        </p:txBody>
      </p:sp>
      <p:sp>
        <p:nvSpPr>
          <p:cNvPr id="22" name="res-01:column"/>
          <p:cNvSpPr/>
          <p:nvPr/>
        </p:nvSpPr>
        <p:spPr>
          <a:xfrm>
            <a:off x="631206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s-01:text"/>
          <p:cNvSpPr txBox="1"/>
          <p:nvPr/>
        </p:nvSpPr>
        <p:spPr>
          <a:xfrm>
            <a:off x="649926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세포 상태 비율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스팟마다 상태 8개</a:t>
            </a:r>
          </a:p>
        </p:txBody>
      </p:sp>
      <p:sp>
        <p:nvSpPr>
          <p:cNvPr id="24" name="res-01:evidence"/>
          <p:cNvSpPr txBox="1"/>
          <p:nvPr/>
        </p:nvSpPr>
        <p:spPr>
          <a:xfrm>
            <a:off x="631206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스팟 약 3만 개</a:t>
            </a:r>
          </a:p>
        </p:txBody>
      </p:sp>
      <p:cxnSp>
        <p:nvCxnSpPr>
          <p:cNvPr id="25" name="res-01:link"/>
          <p:cNvCxnSpPr/>
          <p:nvPr/>
        </p:nvCxnSpPr>
        <p:spPr>
          <a:xfrm>
            <a:off x="887229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s-01:marker"/>
          <p:cNvSpPr/>
          <p:nvPr/>
        </p:nvSpPr>
        <p:spPr>
          <a:xfrm>
            <a:off x="923409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4</a:t>
            </a:r>
          </a:p>
        </p:txBody>
      </p:sp>
      <p:sp>
        <p:nvSpPr>
          <p:cNvPr id="27" name="res-01:title"/>
          <p:cNvSpPr txBox="1"/>
          <p:nvPr/>
        </p:nvSpPr>
        <p:spPr>
          <a:xfrm>
            <a:off x="972549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분석</a:t>
            </a:r>
          </a:p>
        </p:txBody>
      </p:sp>
      <p:sp>
        <p:nvSpPr>
          <p:cNvPr id="28" name="res-01:column"/>
          <p:cNvSpPr/>
          <p:nvPr/>
        </p:nvSpPr>
        <p:spPr>
          <a:xfrm>
            <a:off x="923409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s-01:text"/>
          <p:cNvSpPr txBox="1"/>
          <p:nvPr/>
        </p:nvSpPr>
        <p:spPr>
          <a:xfrm>
            <a:off x="942129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벤치마크 · 생물학 해석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합성 스팟 · 실제 조직</a:t>
            </a:r>
          </a:p>
        </p:txBody>
      </p:sp>
      <p:sp>
        <p:nvSpPr>
          <p:cNvPr id="30" name="res-01:evidence"/>
          <p:cNvSpPr txBox="1"/>
          <p:nvPr/>
        </p:nvSpPr>
        <p:spPr>
          <a:xfrm>
            <a:off x="923409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방법 4개와 비교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1 · 방법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이웃 정보를 더해 스팟을 세포 상태로 나눠요</a:t>
            </a:r>
          </a:p>
        </p:txBody>
      </p:sp>
      <p:sp>
        <p:nvSpPr>
          <p:cNvPr id="5" name="res-03:bg"/>
          <p:cNvSpPr/>
          <p:nvPr/>
        </p:nvSpPr>
        <p:spPr>
          <a:xfrm>
            <a:off x="468000" y="2140783"/>
            <a:ext cx="2652030" cy="2847650"/>
          </a:xfrm>
          <a:prstGeom prst="rect">
            <a:avLst/>
          </a:prstGeom>
          <a:solidFill>
            <a:srgbClr val="ED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3:step"/>
          <p:cNvSpPr txBox="1"/>
          <p:nvPr/>
        </p:nvSpPr>
        <p:spPr>
          <a:xfrm>
            <a:off x="46800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1단계</a:t>
            </a:r>
          </a:p>
        </p:txBody>
      </p:sp>
      <p:sp>
        <p:nvSpPr>
          <p:cNvPr id="7" name="res-03:pill"/>
          <p:cNvSpPr/>
          <p:nvPr/>
        </p:nvSpPr>
        <p:spPr>
          <a:xfrm>
            <a:off x="79200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3:name"/>
          <p:cNvSpPr txBox="1"/>
          <p:nvPr/>
        </p:nvSpPr>
        <p:spPr>
          <a:xfrm>
            <a:off x="79200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4B2C7F"/>
                </a:solidFill>
              </a:rPr>
              <a:t>스팟 발현</a:t>
            </a:r>
          </a:p>
        </p:txBody>
      </p:sp>
      <p:sp>
        <p:nvSpPr>
          <p:cNvPr id="9" name="res-03:lines"/>
          <p:cNvSpPr txBox="1"/>
          <p:nvPr/>
        </p:nvSpPr>
        <p:spPr>
          <a:xfrm>
            <a:off x="64800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Visium count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정규화 발현</a:t>
            </a:r>
          </a:p>
        </p:txBody>
      </p:sp>
      <p:sp>
        <p:nvSpPr>
          <p:cNvPr id="10" name="res-03:sep"/>
          <p:cNvSpPr txBox="1"/>
          <p:nvPr/>
        </p:nvSpPr>
        <p:spPr>
          <a:xfrm>
            <a:off x="308403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B7ABCC"/>
                </a:solidFill>
              </a:rPr>
              <a:t>›</a:t>
            </a:r>
          </a:p>
        </p:txBody>
      </p:sp>
      <p:sp>
        <p:nvSpPr>
          <p:cNvPr id="11" name="res-03:bg"/>
          <p:cNvSpPr/>
          <p:nvPr/>
        </p:nvSpPr>
        <p:spPr>
          <a:xfrm>
            <a:off x="3336030" y="2140783"/>
            <a:ext cx="2652030" cy="2847650"/>
          </a:xfrm>
          <a:prstGeom prst="rect">
            <a:avLst/>
          </a:prstGeom>
          <a:solidFill>
            <a:srgbClr val="ED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3:step"/>
          <p:cNvSpPr txBox="1"/>
          <p:nvPr/>
        </p:nvSpPr>
        <p:spPr>
          <a:xfrm>
            <a:off x="333603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2단계</a:t>
            </a:r>
          </a:p>
        </p:txBody>
      </p:sp>
      <p:sp>
        <p:nvSpPr>
          <p:cNvPr id="13" name="res-03:pill"/>
          <p:cNvSpPr/>
          <p:nvPr/>
        </p:nvSpPr>
        <p:spPr>
          <a:xfrm>
            <a:off x="366003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3:name"/>
          <p:cNvSpPr txBox="1"/>
          <p:nvPr/>
        </p:nvSpPr>
        <p:spPr>
          <a:xfrm>
            <a:off x="366003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4B2C7F"/>
                </a:solidFill>
              </a:rPr>
              <a:t>이웃 그래프</a:t>
            </a:r>
          </a:p>
        </p:txBody>
      </p:sp>
      <p:sp>
        <p:nvSpPr>
          <p:cNvPr id="15" name="res-03:lines"/>
          <p:cNvSpPr txBox="1"/>
          <p:nvPr/>
        </p:nvSpPr>
        <p:spPr>
          <a:xfrm>
            <a:off x="351603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인접 스팟 6개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공간 그래프</a:t>
            </a:r>
          </a:p>
        </p:txBody>
      </p:sp>
      <p:sp>
        <p:nvSpPr>
          <p:cNvPr id="16" name="res-03:sep"/>
          <p:cNvSpPr txBox="1"/>
          <p:nvPr/>
        </p:nvSpPr>
        <p:spPr>
          <a:xfrm>
            <a:off x="595206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B7ABCC"/>
                </a:solidFill>
              </a:rPr>
              <a:t>›</a:t>
            </a:r>
          </a:p>
        </p:txBody>
      </p:sp>
      <p:sp>
        <p:nvSpPr>
          <p:cNvPr id="17" name="res-03:bg"/>
          <p:cNvSpPr/>
          <p:nvPr/>
        </p:nvSpPr>
        <p:spPr>
          <a:xfrm>
            <a:off x="6204060" y="2140783"/>
            <a:ext cx="2652030" cy="2847650"/>
          </a:xfrm>
          <a:prstGeom prst="rect">
            <a:avLst/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3:step"/>
          <p:cNvSpPr txBox="1"/>
          <p:nvPr/>
        </p:nvSpPr>
        <p:spPr>
          <a:xfrm>
            <a:off x="620406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3단계</a:t>
            </a:r>
          </a:p>
        </p:txBody>
      </p:sp>
      <p:sp>
        <p:nvSpPr>
          <p:cNvPr id="19" name="res-03:pill"/>
          <p:cNvSpPr/>
          <p:nvPr/>
        </p:nvSpPr>
        <p:spPr>
          <a:xfrm>
            <a:off x="652806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4B2C7F"/>
          </a:solidFill>
          <a:ln w="12700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3:name"/>
          <p:cNvSpPr txBox="1"/>
          <p:nvPr/>
        </p:nvSpPr>
        <p:spPr>
          <a:xfrm>
            <a:off x="652806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FFFFFF"/>
                </a:solidFill>
              </a:rPr>
              <a:t>상태 분해</a:t>
            </a:r>
          </a:p>
        </p:txBody>
      </p:sp>
      <p:sp>
        <p:nvSpPr>
          <p:cNvPr id="21" name="res-03:lines"/>
          <p:cNvSpPr txBox="1"/>
          <p:nvPr/>
        </p:nvSpPr>
        <p:spPr>
          <a:xfrm>
            <a:off x="638406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그래프 정규화 NMF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스팟별 상태 비율</a:t>
            </a:r>
          </a:p>
        </p:txBody>
      </p:sp>
      <p:sp>
        <p:nvSpPr>
          <p:cNvPr id="22" name="res-03:sep"/>
          <p:cNvSpPr txBox="1"/>
          <p:nvPr/>
        </p:nvSpPr>
        <p:spPr>
          <a:xfrm>
            <a:off x="882009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B7ABCC"/>
                </a:solidFill>
              </a:rPr>
              <a:t>›</a:t>
            </a:r>
          </a:p>
        </p:txBody>
      </p:sp>
      <p:sp>
        <p:nvSpPr>
          <p:cNvPr id="23" name="res-03:bg"/>
          <p:cNvSpPr/>
          <p:nvPr/>
        </p:nvSpPr>
        <p:spPr>
          <a:xfrm>
            <a:off x="9072090" y="2140783"/>
            <a:ext cx="2652030" cy="2847650"/>
          </a:xfrm>
          <a:prstGeom prst="rect">
            <a:avLst/>
          </a:prstGeom>
          <a:solidFill>
            <a:srgbClr val="ED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3:step"/>
          <p:cNvSpPr txBox="1"/>
          <p:nvPr/>
        </p:nvSpPr>
        <p:spPr>
          <a:xfrm>
            <a:off x="907209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4단계</a:t>
            </a:r>
          </a:p>
        </p:txBody>
      </p:sp>
      <p:sp>
        <p:nvSpPr>
          <p:cNvPr id="25" name="res-03:pill"/>
          <p:cNvSpPr/>
          <p:nvPr/>
        </p:nvSpPr>
        <p:spPr>
          <a:xfrm>
            <a:off x="939609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3:name"/>
          <p:cNvSpPr txBox="1"/>
          <p:nvPr/>
        </p:nvSpPr>
        <p:spPr>
          <a:xfrm>
            <a:off x="939609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4B2C7F"/>
                </a:solidFill>
              </a:rPr>
              <a:t>주석</a:t>
            </a:r>
          </a:p>
        </p:txBody>
      </p:sp>
      <p:sp>
        <p:nvSpPr>
          <p:cNvPr id="27" name="res-03:lines"/>
          <p:cNvSpPr txBox="1"/>
          <p:nvPr/>
        </p:nvSpPr>
        <p:spPr>
          <a:xfrm>
            <a:off x="925209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표지 유전자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상태 이름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3 · 벤치마크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합성 데이터에서 새 방법의 정확도가 가장 높아요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논문 Figure 3B 를 다시 그림 (예시 값).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4 · 실제 조직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새 상태 하나가 종양 경계를 따라 띠처럼 나타나요</a:t>
            </a:r>
          </a:p>
        </p:txBody>
      </p:sp>
      <p:pic>
        <p:nvPicPr>
          <p:cNvPr id="5" name="res-04:figur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60" y="1878647"/>
            <a:ext cx="3524400" cy="2643300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res-04:mark"/>
          <p:cNvSpPr/>
          <p:nvPr/>
        </p:nvSpPr>
        <p:spPr>
          <a:xfrm>
            <a:off x="5461668" y="3332462"/>
            <a:ext cx="1057320" cy="792990"/>
          </a:xfrm>
          <a:prstGeom prst="rect">
            <a:avLst/>
          </a:prstGeom>
          <a:noFill/>
          <a:ln w="19050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s-04:mark-label"/>
          <p:cNvSpPr txBox="1"/>
          <p:nvPr/>
        </p:nvSpPr>
        <p:spPr>
          <a:xfrm>
            <a:off x="5461668" y="3066062"/>
            <a:ext cx="553779" cy="223200"/>
          </a:xfrm>
          <a:prstGeom prst="rect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spc="-40">
                <a:solidFill>
                  <a:srgbClr val="4B2C7F"/>
                </a:solidFill>
              </a:rPr>
              <a:t>상태 5</a:t>
            </a:r>
          </a:p>
        </p:txBody>
      </p:sp>
      <p:sp>
        <p:nvSpPr>
          <p:cNvPr id="8" name="res-04:caption"/>
          <p:cNvSpPr txBox="1"/>
          <p:nvPr/>
        </p:nvSpPr>
        <p:spPr>
          <a:xfrm>
            <a:off x="4333860" y="4593947"/>
            <a:ext cx="7390260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Fig. 4B · 대장암 절편 2, 스팟 1,492개 (예시 그림)</a:t>
            </a: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501010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520810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참조에 없던 상태 5가 </a:t>
            </a:r>
            <a:r>
              <a:rPr sz="1400" b="1" spc="-40">
                <a:solidFill>
                  <a:srgbClr val="262B33"/>
                </a:solidFill>
              </a:rPr>
              <a:t>경계부에만</a:t>
            </a:r>
            <a:r>
              <a:rPr sz="1400" b="0" spc="-40">
                <a:solidFill>
                  <a:srgbClr val="6B7280"/>
                </a:solidFill>
              </a:rPr>
              <a:t> 나타나요. 기존 방법은 이걸 섬유아세포로 뭉뚱그렸어요.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한계 · 열린 질문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새 상태가 실제 세포인지는 아직 확인되지 않았어요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검증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새로 찾은 상태 3개는 면역염색으로 확인하지 않았다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해상도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Visium HD 처럼 작은 스팟에서는 시험하지 않았다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계산 비용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스팟 2만 개를 넘으면 메모리가 64GB 넘게 든다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우리 연구와 연결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우리 대장암 Visium 데이터에 먼저 써 볼 만해요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>
          <a:xfrm>
            <a:off x="468000" y="2484404"/>
            <a:ext cx="5448060" cy="360000"/>
          </a:xfrm>
        </p:spPr>
        <p:txBody>
          <a:bodyPr/>
          <a:lstStyle/>
          <a:p>
            <a:r>
              <a:t>가져올 점</a:t>
            </a:r>
            <a:r>
              <a:rPr sz="1300" b="0" spc="-40">
                <a:solidFill>
                  <a:srgbClr val="4B2C7F"/>
                </a:solidFill>
                <a:latin typeface="Pretendard Medium"/>
                <a:ea typeface="Pretendard Medium"/>
                <a:cs typeface="Pretendard Medium"/>
              </a:rPr>
              <a:t>   우리 데이터에 바로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/>
          </p:nvPr>
        </p:nvSpPr>
        <p:spPr>
          <a:xfrm>
            <a:off x="468000" y="3060404"/>
            <a:ext cx="5448060" cy="332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경계부 스팟을 상태로 나누기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참조 없는 섹션 3·4 에 시험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이웃 그래프는 그대로 재사용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>
          <a:xfrm>
            <a:off x="6276060" y="2484404"/>
            <a:ext cx="5448060" cy="360000"/>
          </a:xfrm>
        </p:spPr>
        <p:txBody>
          <a:bodyPr/>
          <a:lstStyle/>
          <a:p>
            <a:r>
              <a:t>토론 질문</a:t>
            </a:r>
            <a:r>
              <a:rPr sz="1300" b="0" spc="-40">
                <a:solidFill>
                  <a:srgbClr val="4B2C7F"/>
                </a:solidFill>
                <a:latin typeface="Pretendard Medium"/>
                <a:ea typeface="Pretendard Medium"/>
                <a:cs typeface="Pretendard Medium"/>
              </a:rPr>
              <a:t>   같이 이야기할 것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8"/>
          </p:nvPr>
        </p:nvSpPr>
        <p:spPr>
          <a:xfrm>
            <a:off x="6276060" y="3060404"/>
            <a:ext cx="5448060" cy="332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새 상태를 어떻게 검증할까?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스팟 크기가 작아지면 필요할까?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우리 GPU 서버로 돌릴 수 있을까?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바이올렛 리치 16:9">
  <a:themeElements>
    <a:clrScheme name="HaLab 바이올렛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B2C7F"/>
      </a:accent1>
      <a:accent2>
        <a:srgbClr val="8A76AC"/>
      </a:accent2>
      <a:accent3>
        <a:srgbClr val="B7ABCC"/>
      </a:accent3>
      <a:accent4>
        <a:srgbClr val="FFC93D"/>
      </a:accent4>
      <a:accent5>
        <a:srgbClr val="B7ABCC"/>
      </a:accent5>
      <a:accent6>
        <a:srgbClr val="E2E5EA"/>
      </a:accent6>
      <a:hlink>
        <a:srgbClr val="4B2C7F"/>
      </a:hlink>
      <a:folHlink>
        <a:srgbClr val="B7ABC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