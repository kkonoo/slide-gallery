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(res-01-a).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(res-01-b).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(res-01-c).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방법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다유전자 위험점수 상·하위군의 신기능 변화를 1년간 비교한다</a:t>
            </a:r>
          </a:p>
        </p:txBody>
      </p:sp>
      <p:sp>
        <p:nvSpPr>
          <p:cNvPr id="5" name="res-01:marker"/>
          <p:cNvSpPr/>
          <p:nvPr/>
        </p:nvSpPr>
        <p:spPr>
          <a:xfrm>
            <a:off x="468000" y="1951575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1</a:t>
            </a:r>
          </a:p>
        </p:txBody>
      </p:sp>
      <p:sp>
        <p:nvSpPr>
          <p:cNvPr id="6" name="res-01:title"/>
          <p:cNvSpPr txBox="1"/>
          <p:nvPr/>
        </p:nvSpPr>
        <p:spPr>
          <a:xfrm>
            <a:off x="959400" y="1951575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대상</a:t>
            </a:r>
          </a:p>
        </p:txBody>
      </p:sp>
      <p:sp>
        <p:nvSpPr>
          <p:cNvPr id="7" name="res-01:column"/>
          <p:cNvSpPr/>
          <p:nvPr/>
        </p:nvSpPr>
        <p:spPr>
          <a:xfrm>
            <a:off x="468000" y="2466375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1:text"/>
          <p:cNvSpPr txBox="1"/>
          <p:nvPr/>
        </p:nvSpPr>
        <p:spPr>
          <a:xfrm>
            <a:off x="655200" y="3089481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만성신질환 환자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eGFR 30–60 성인 코호트</a:t>
            </a:r>
          </a:p>
        </p:txBody>
      </p:sp>
      <p:sp>
        <p:nvSpPr>
          <p:cNvPr id="9" name="res-01:evidence"/>
          <p:cNvSpPr txBox="1"/>
          <p:nvPr/>
        </p:nvSpPr>
        <p:spPr>
          <a:xfrm>
            <a:off x="468000" y="4420796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n = 1,200 · 3개 병원</a:t>
            </a:r>
          </a:p>
        </p:txBody>
      </p:sp>
      <p:cxnSp>
        <p:nvCxnSpPr>
          <p:cNvPr id="10" name="res-01:link"/>
          <p:cNvCxnSpPr/>
          <p:nvPr/>
        </p:nvCxnSpPr>
        <p:spPr>
          <a:xfrm>
            <a:off x="3028230" y="3373386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s-01:marker"/>
          <p:cNvSpPr/>
          <p:nvPr/>
        </p:nvSpPr>
        <p:spPr>
          <a:xfrm>
            <a:off x="3390030" y="1951575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2</a:t>
            </a:r>
          </a:p>
        </p:txBody>
      </p:sp>
      <p:sp>
        <p:nvSpPr>
          <p:cNvPr id="12" name="res-01:title"/>
          <p:cNvSpPr txBox="1"/>
          <p:nvPr/>
        </p:nvSpPr>
        <p:spPr>
          <a:xfrm>
            <a:off x="3881430" y="1951575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비교</a:t>
            </a:r>
          </a:p>
        </p:txBody>
      </p:sp>
      <p:sp>
        <p:nvSpPr>
          <p:cNvPr id="13" name="res-01:column"/>
          <p:cNvSpPr/>
          <p:nvPr/>
        </p:nvSpPr>
        <p:spPr>
          <a:xfrm>
            <a:off x="3390030" y="2466375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1:group"/>
          <p:cNvSpPr/>
          <p:nvPr/>
        </p:nvSpPr>
        <p:spPr>
          <a:xfrm>
            <a:off x="3577230" y="2653575"/>
            <a:ext cx="2115630" cy="673011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s-01:group-text"/>
          <p:cNvSpPr txBox="1"/>
          <p:nvPr/>
        </p:nvSpPr>
        <p:spPr>
          <a:xfrm>
            <a:off x="3670830" y="2653575"/>
            <a:ext cx="1928430" cy="6730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위험점수 상위 20%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n = 240</a:t>
            </a:r>
          </a:p>
        </p:txBody>
      </p:sp>
      <p:sp>
        <p:nvSpPr>
          <p:cNvPr id="16" name="res-01:group"/>
          <p:cNvSpPr/>
          <p:nvPr/>
        </p:nvSpPr>
        <p:spPr>
          <a:xfrm>
            <a:off x="3577230" y="3420186"/>
            <a:ext cx="2115630" cy="673011"/>
          </a:xfrm>
          <a:prstGeom prst="rect">
            <a:avLst/>
          </a:prstGeom>
          <a:solidFill>
            <a:srgbClr val="ED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s-01:group-text"/>
          <p:cNvSpPr txBox="1"/>
          <p:nvPr/>
        </p:nvSpPr>
        <p:spPr>
          <a:xfrm>
            <a:off x="3670830" y="3420186"/>
            <a:ext cx="1928430" cy="6730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6B7280"/>
                </a:solidFill>
              </a:rPr>
              <a:t>위험점수 하위 20%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n = 240</a:t>
            </a:r>
          </a:p>
        </p:txBody>
      </p:sp>
      <p:sp>
        <p:nvSpPr>
          <p:cNvPr id="18" name="res-01:evidence"/>
          <p:cNvSpPr txBox="1"/>
          <p:nvPr/>
        </p:nvSpPr>
        <p:spPr>
          <a:xfrm>
            <a:off x="3390030" y="4420796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다유전자 위험점수(PRS) 기준</a:t>
            </a:r>
          </a:p>
        </p:txBody>
      </p:sp>
      <p:cxnSp>
        <p:nvCxnSpPr>
          <p:cNvPr id="19" name="res-01:link"/>
          <p:cNvCxnSpPr/>
          <p:nvPr/>
        </p:nvCxnSpPr>
        <p:spPr>
          <a:xfrm>
            <a:off x="5950260" y="3373386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s-01:marker"/>
          <p:cNvSpPr/>
          <p:nvPr/>
        </p:nvSpPr>
        <p:spPr>
          <a:xfrm>
            <a:off x="6312060" y="1951575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3</a:t>
            </a:r>
          </a:p>
        </p:txBody>
      </p:sp>
      <p:sp>
        <p:nvSpPr>
          <p:cNvPr id="21" name="res-01:title"/>
          <p:cNvSpPr txBox="1"/>
          <p:nvPr/>
        </p:nvSpPr>
        <p:spPr>
          <a:xfrm>
            <a:off x="6803460" y="1951575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측정</a:t>
            </a:r>
          </a:p>
        </p:txBody>
      </p:sp>
      <p:sp>
        <p:nvSpPr>
          <p:cNvPr id="22" name="res-01:column"/>
          <p:cNvSpPr/>
          <p:nvPr/>
        </p:nvSpPr>
        <p:spPr>
          <a:xfrm>
            <a:off x="6312060" y="2466375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s-01:text"/>
          <p:cNvSpPr txBox="1"/>
          <p:nvPr/>
        </p:nvSpPr>
        <p:spPr>
          <a:xfrm>
            <a:off x="6499260" y="3089481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12개월 eGFR 변화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3개월마다 혈액검사</a:t>
            </a:r>
          </a:p>
        </p:txBody>
      </p:sp>
      <p:sp>
        <p:nvSpPr>
          <p:cNvPr id="24" name="res-01:evidence"/>
          <p:cNvSpPr txBox="1"/>
          <p:nvPr/>
        </p:nvSpPr>
        <p:spPr>
          <a:xfrm>
            <a:off x="6312060" y="4420796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추적 12개월 · 5회 측정</a:t>
            </a:r>
          </a:p>
        </p:txBody>
      </p:sp>
      <p:cxnSp>
        <p:nvCxnSpPr>
          <p:cNvPr id="25" name="res-01:link"/>
          <p:cNvCxnSpPr/>
          <p:nvPr/>
        </p:nvCxnSpPr>
        <p:spPr>
          <a:xfrm>
            <a:off x="8872290" y="3373386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s-01:marker"/>
          <p:cNvSpPr/>
          <p:nvPr/>
        </p:nvSpPr>
        <p:spPr>
          <a:xfrm>
            <a:off x="9234090" y="1951575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4</a:t>
            </a:r>
          </a:p>
        </p:txBody>
      </p:sp>
      <p:sp>
        <p:nvSpPr>
          <p:cNvPr id="27" name="res-01:title"/>
          <p:cNvSpPr txBox="1"/>
          <p:nvPr/>
        </p:nvSpPr>
        <p:spPr>
          <a:xfrm>
            <a:off x="9725490" y="1951575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분석</a:t>
            </a:r>
          </a:p>
        </p:txBody>
      </p:sp>
      <p:sp>
        <p:nvSpPr>
          <p:cNvPr id="28" name="res-01:column"/>
          <p:cNvSpPr/>
          <p:nvPr/>
        </p:nvSpPr>
        <p:spPr>
          <a:xfrm>
            <a:off x="9234090" y="2466375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s-01:text"/>
          <p:cNvSpPr txBox="1"/>
          <p:nvPr/>
        </p:nvSpPr>
        <p:spPr>
          <a:xfrm>
            <a:off x="9421290" y="3089481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혼합효과모형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나이 · 성별 · 당뇨 보정</a:t>
            </a:r>
          </a:p>
        </p:txBody>
      </p:sp>
      <p:sp>
        <p:nvSpPr>
          <p:cNvPr id="30" name="res-01:evidence"/>
          <p:cNvSpPr txBox="1"/>
          <p:nvPr/>
        </p:nvSpPr>
        <p:spPr>
          <a:xfrm>
            <a:off x="9234090" y="4420796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R lme4 · 유의수준 0.05</a:t>
            </a:r>
          </a:p>
        </p:txBody>
      </p:sp>
      <p:cxnSp>
        <p:nvCxnSpPr>
          <p:cNvPr id="31" name="conclusion:line"/>
          <p:cNvCxnSpPr/>
          <p:nvPr/>
        </p:nvCxnSpPr>
        <p:spPr>
          <a:xfrm>
            <a:off x="468000" y="4864253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conclusion:text"/>
          <p:cNvSpPr txBox="1"/>
          <p:nvPr/>
        </p:nvSpPr>
        <p:spPr>
          <a:xfrm>
            <a:off x="468000" y="5062253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상위 20% 군은 eGFR 감소가 연 3 mL/min 더 빠를 것으로 기대한다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임상시험 설계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운동과 인지훈련을 함께 한 군의 효과를 24주에 확인한다</a:t>
            </a:r>
          </a:p>
        </p:txBody>
      </p:sp>
      <p:sp>
        <p:nvSpPr>
          <p:cNvPr id="5" name="res-01:marker"/>
          <p:cNvSpPr/>
          <p:nvPr/>
        </p:nvSpPr>
        <p:spPr>
          <a:xfrm>
            <a:off x="468000" y="1832838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1</a:t>
            </a:r>
          </a:p>
        </p:txBody>
      </p:sp>
      <p:sp>
        <p:nvSpPr>
          <p:cNvPr id="6" name="res-01:title"/>
          <p:cNvSpPr txBox="1"/>
          <p:nvPr/>
        </p:nvSpPr>
        <p:spPr>
          <a:xfrm>
            <a:off x="846000" y="1832838"/>
            <a:ext cx="2112030" cy="28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대상</a:t>
            </a:r>
          </a:p>
        </p:txBody>
      </p:sp>
      <p:sp>
        <p:nvSpPr>
          <p:cNvPr id="7" name="res-01:column"/>
          <p:cNvSpPr/>
          <p:nvPr/>
        </p:nvSpPr>
        <p:spPr>
          <a:xfrm>
            <a:off x="468000" y="2228838"/>
            <a:ext cx="2490030" cy="23214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1:text"/>
          <p:cNvSpPr txBox="1"/>
          <p:nvPr/>
        </p:nvSpPr>
        <p:spPr>
          <a:xfrm>
            <a:off x="612000" y="3105649"/>
            <a:ext cx="22020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경도인지장애 노인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65–80세 · MoCA 18–25</a:t>
            </a:r>
          </a:p>
        </p:txBody>
      </p:sp>
      <p:sp>
        <p:nvSpPr>
          <p:cNvPr id="9" name="res-01:evidence"/>
          <p:cNvSpPr txBox="1"/>
          <p:nvPr/>
        </p:nvSpPr>
        <p:spPr>
          <a:xfrm>
            <a:off x="468000" y="4658270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n = 150 · 무작위 배정</a:t>
            </a:r>
          </a:p>
        </p:txBody>
      </p:sp>
      <p:cxnSp>
        <p:nvCxnSpPr>
          <p:cNvPr id="10" name="res-01:link"/>
          <p:cNvCxnSpPr/>
          <p:nvPr/>
        </p:nvCxnSpPr>
        <p:spPr>
          <a:xfrm>
            <a:off x="3012030" y="3389554"/>
            <a:ext cx="324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s-01:marker"/>
          <p:cNvSpPr/>
          <p:nvPr/>
        </p:nvSpPr>
        <p:spPr>
          <a:xfrm>
            <a:off x="3390030" y="1832838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2</a:t>
            </a:r>
          </a:p>
        </p:txBody>
      </p:sp>
      <p:sp>
        <p:nvSpPr>
          <p:cNvPr id="12" name="res-01:title"/>
          <p:cNvSpPr txBox="1"/>
          <p:nvPr/>
        </p:nvSpPr>
        <p:spPr>
          <a:xfrm>
            <a:off x="3768030" y="1832838"/>
            <a:ext cx="2112030" cy="28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개입</a:t>
            </a:r>
          </a:p>
        </p:txBody>
      </p:sp>
      <p:sp>
        <p:nvSpPr>
          <p:cNvPr id="13" name="res-01:column"/>
          <p:cNvSpPr/>
          <p:nvPr/>
        </p:nvSpPr>
        <p:spPr>
          <a:xfrm>
            <a:off x="3390030" y="2228838"/>
            <a:ext cx="2490030" cy="23214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1:group"/>
          <p:cNvSpPr/>
          <p:nvPr/>
        </p:nvSpPr>
        <p:spPr>
          <a:xfrm>
            <a:off x="3534030" y="2372838"/>
            <a:ext cx="2202030" cy="629811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s-01:group-text"/>
          <p:cNvSpPr txBox="1"/>
          <p:nvPr/>
        </p:nvSpPr>
        <p:spPr>
          <a:xfrm>
            <a:off x="3606030" y="2372838"/>
            <a:ext cx="2058030" cy="6298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운동 + 인지훈련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n = 50</a:t>
            </a:r>
          </a:p>
        </p:txBody>
      </p:sp>
      <p:sp>
        <p:nvSpPr>
          <p:cNvPr id="16" name="res-01:group"/>
          <p:cNvSpPr/>
          <p:nvPr/>
        </p:nvSpPr>
        <p:spPr>
          <a:xfrm>
            <a:off x="3534030" y="3074649"/>
            <a:ext cx="2202030" cy="62981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s-01:group-text"/>
          <p:cNvSpPr txBox="1"/>
          <p:nvPr/>
        </p:nvSpPr>
        <p:spPr>
          <a:xfrm>
            <a:off x="3606030" y="3074649"/>
            <a:ext cx="2058030" cy="6298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운동만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n = 50</a:t>
            </a:r>
          </a:p>
        </p:txBody>
      </p:sp>
      <p:sp>
        <p:nvSpPr>
          <p:cNvPr id="18" name="res-01:group"/>
          <p:cNvSpPr/>
          <p:nvPr/>
        </p:nvSpPr>
        <p:spPr>
          <a:xfrm>
            <a:off x="3534030" y="3776459"/>
            <a:ext cx="2202030" cy="629811"/>
          </a:xfrm>
          <a:prstGeom prst="rect">
            <a:avLst/>
          </a:prstGeom>
          <a:solidFill>
            <a:srgbClr val="ED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s-01:group-text"/>
          <p:cNvSpPr txBox="1"/>
          <p:nvPr/>
        </p:nvSpPr>
        <p:spPr>
          <a:xfrm>
            <a:off x="3606030" y="3776459"/>
            <a:ext cx="2058030" cy="6298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6B7280"/>
                </a:solidFill>
              </a:rPr>
              <a:t>일반 관리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n = 50</a:t>
            </a:r>
          </a:p>
        </p:txBody>
      </p:sp>
      <p:sp>
        <p:nvSpPr>
          <p:cNvPr id="20" name="res-01:evidence"/>
          <p:cNvSpPr txBox="1"/>
          <p:nvPr/>
        </p:nvSpPr>
        <p:spPr>
          <a:xfrm>
            <a:off x="3390030" y="4658270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주 3회 · 24주</a:t>
            </a:r>
          </a:p>
        </p:txBody>
      </p:sp>
      <p:cxnSp>
        <p:nvCxnSpPr>
          <p:cNvPr id="21" name="res-01:link"/>
          <p:cNvCxnSpPr/>
          <p:nvPr/>
        </p:nvCxnSpPr>
        <p:spPr>
          <a:xfrm>
            <a:off x="5934060" y="3389554"/>
            <a:ext cx="324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s-01:marker"/>
          <p:cNvSpPr/>
          <p:nvPr/>
        </p:nvSpPr>
        <p:spPr>
          <a:xfrm>
            <a:off x="6312060" y="1832838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3</a:t>
            </a:r>
          </a:p>
        </p:txBody>
      </p:sp>
      <p:sp>
        <p:nvSpPr>
          <p:cNvPr id="23" name="res-01:title"/>
          <p:cNvSpPr txBox="1"/>
          <p:nvPr/>
        </p:nvSpPr>
        <p:spPr>
          <a:xfrm>
            <a:off x="6690060" y="1832838"/>
            <a:ext cx="2112030" cy="28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측정</a:t>
            </a:r>
          </a:p>
        </p:txBody>
      </p:sp>
      <p:sp>
        <p:nvSpPr>
          <p:cNvPr id="24" name="res-01:column"/>
          <p:cNvSpPr/>
          <p:nvPr/>
        </p:nvSpPr>
        <p:spPr>
          <a:xfrm>
            <a:off x="6312060" y="2228838"/>
            <a:ext cx="2490030" cy="23214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s-01:text"/>
          <p:cNvSpPr txBox="1"/>
          <p:nvPr/>
        </p:nvSpPr>
        <p:spPr>
          <a:xfrm>
            <a:off x="6456060" y="3105649"/>
            <a:ext cx="22020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인지 점수 변화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MoCA · 기억력 검사</a:t>
            </a:r>
          </a:p>
        </p:txBody>
      </p:sp>
      <p:sp>
        <p:nvSpPr>
          <p:cNvPr id="26" name="res-01:evidence"/>
          <p:cNvSpPr txBox="1"/>
          <p:nvPr/>
        </p:nvSpPr>
        <p:spPr>
          <a:xfrm>
            <a:off x="6312060" y="4658270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기저 · 12주 · 24주</a:t>
            </a:r>
          </a:p>
        </p:txBody>
      </p:sp>
      <p:cxnSp>
        <p:nvCxnSpPr>
          <p:cNvPr id="27" name="res-01:link"/>
          <p:cNvCxnSpPr/>
          <p:nvPr/>
        </p:nvCxnSpPr>
        <p:spPr>
          <a:xfrm>
            <a:off x="8856090" y="3389554"/>
            <a:ext cx="324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s-01:marker"/>
          <p:cNvSpPr/>
          <p:nvPr/>
        </p:nvSpPr>
        <p:spPr>
          <a:xfrm>
            <a:off x="9234090" y="1832838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4</a:t>
            </a:r>
          </a:p>
        </p:txBody>
      </p:sp>
      <p:sp>
        <p:nvSpPr>
          <p:cNvPr id="29" name="res-01:title"/>
          <p:cNvSpPr txBox="1"/>
          <p:nvPr/>
        </p:nvSpPr>
        <p:spPr>
          <a:xfrm>
            <a:off x="9612090" y="1832838"/>
            <a:ext cx="2112030" cy="28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분석</a:t>
            </a:r>
          </a:p>
        </p:txBody>
      </p:sp>
      <p:sp>
        <p:nvSpPr>
          <p:cNvPr id="30" name="res-01:column"/>
          <p:cNvSpPr/>
          <p:nvPr/>
        </p:nvSpPr>
        <p:spPr>
          <a:xfrm>
            <a:off x="9234090" y="2228838"/>
            <a:ext cx="2490030" cy="23214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s-01:text"/>
          <p:cNvSpPr txBox="1"/>
          <p:nvPr/>
        </p:nvSpPr>
        <p:spPr>
          <a:xfrm>
            <a:off x="9378090" y="3105649"/>
            <a:ext cx="22020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공분산분석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기저 점수 보정</a:t>
            </a:r>
          </a:p>
        </p:txBody>
      </p:sp>
      <p:sp>
        <p:nvSpPr>
          <p:cNvPr id="32" name="res-01:evidence"/>
          <p:cNvSpPr txBox="1"/>
          <p:nvPr/>
        </p:nvSpPr>
        <p:spPr>
          <a:xfrm>
            <a:off x="9234090" y="4658270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ITT 분석</a:t>
            </a:r>
          </a:p>
        </p:txBody>
      </p:sp>
      <p:cxnSp>
        <p:nvCxnSpPr>
          <p:cNvPr id="33" name="conclusion:line"/>
          <p:cNvCxnSpPr/>
          <p:nvPr/>
        </p:nvCxnSpPr>
        <p:spPr>
          <a:xfrm>
            <a:off x="468000" y="510172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conclusion:text"/>
          <p:cNvSpPr txBox="1"/>
          <p:nvPr/>
        </p:nvSpPr>
        <p:spPr>
          <a:xfrm>
            <a:off x="468000" y="5299727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병행군의 MoCA 점수가 대조군보다 2점 이상 높으면 2차 연도 다기관 시험으로 넓힌다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동물 실험 설계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고지방식 16주 뒤 간세포 유형별 발현 변화를 본다</a:t>
            </a:r>
          </a:p>
        </p:txBody>
      </p:sp>
      <p:sp>
        <p:nvSpPr>
          <p:cNvPr id="5" name="res-01:marker"/>
          <p:cNvSpPr/>
          <p:nvPr/>
        </p:nvSpPr>
        <p:spPr>
          <a:xfrm>
            <a:off x="468000" y="2047442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1</a:t>
            </a:r>
          </a:p>
        </p:txBody>
      </p:sp>
      <p:sp>
        <p:nvSpPr>
          <p:cNvPr id="6" name="res-01:title"/>
          <p:cNvSpPr txBox="1"/>
          <p:nvPr/>
        </p:nvSpPr>
        <p:spPr>
          <a:xfrm>
            <a:off x="959400" y="2047442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대상</a:t>
            </a:r>
          </a:p>
        </p:txBody>
      </p:sp>
      <p:sp>
        <p:nvSpPr>
          <p:cNvPr id="7" name="res-01:column"/>
          <p:cNvSpPr/>
          <p:nvPr/>
        </p:nvSpPr>
        <p:spPr>
          <a:xfrm>
            <a:off x="468000" y="2562242"/>
            <a:ext cx="2490030" cy="222701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1:text"/>
          <p:cNvSpPr txBox="1"/>
          <p:nvPr/>
        </p:nvSpPr>
        <p:spPr>
          <a:xfrm>
            <a:off x="655200" y="3391847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C57BL/6 수컷 마우스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8주령</a:t>
            </a:r>
          </a:p>
        </p:txBody>
      </p:sp>
      <p:sp>
        <p:nvSpPr>
          <p:cNvPr id="9" name="res-01:evidence"/>
          <p:cNvSpPr txBox="1"/>
          <p:nvPr/>
        </p:nvSpPr>
        <p:spPr>
          <a:xfrm>
            <a:off x="468000" y="4929660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n = 30</a:t>
            </a:r>
          </a:p>
        </p:txBody>
      </p:sp>
      <p:cxnSp>
        <p:nvCxnSpPr>
          <p:cNvPr id="10" name="res-01:link"/>
          <p:cNvCxnSpPr/>
          <p:nvPr/>
        </p:nvCxnSpPr>
        <p:spPr>
          <a:xfrm>
            <a:off x="3028230" y="3675751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s-01:marker"/>
          <p:cNvSpPr/>
          <p:nvPr/>
        </p:nvSpPr>
        <p:spPr>
          <a:xfrm>
            <a:off x="3390030" y="2047442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2</a:t>
            </a:r>
          </a:p>
        </p:txBody>
      </p:sp>
      <p:sp>
        <p:nvSpPr>
          <p:cNvPr id="12" name="res-01:title"/>
          <p:cNvSpPr txBox="1"/>
          <p:nvPr/>
        </p:nvSpPr>
        <p:spPr>
          <a:xfrm>
            <a:off x="3881430" y="2047442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비교</a:t>
            </a:r>
          </a:p>
        </p:txBody>
      </p:sp>
      <p:sp>
        <p:nvSpPr>
          <p:cNvPr id="13" name="res-01:column"/>
          <p:cNvSpPr/>
          <p:nvPr/>
        </p:nvSpPr>
        <p:spPr>
          <a:xfrm>
            <a:off x="3390030" y="2562242"/>
            <a:ext cx="2490030" cy="222701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1:text"/>
          <p:cNvSpPr txBox="1"/>
          <p:nvPr/>
        </p:nvSpPr>
        <p:spPr>
          <a:xfrm>
            <a:off x="3577230" y="2749442"/>
            <a:ext cx="2115630" cy="31399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식이 16주</a:t>
            </a:r>
          </a:p>
        </p:txBody>
      </p:sp>
      <p:sp>
        <p:nvSpPr>
          <p:cNvPr id="15" name="res-01:group"/>
          <p:cNvSpPr/>
          <p:nvPr/>
        </p:nvSpPr>
        <p:spPr>
          <a:xfrm>
            <a:off x="3577230" y="3162439"/>
            <a:ext cx="2115630" cy="673011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s-01:group-text"/>
          <p:cNvSpPr txBox="1"/>
          <p:nvPr/>
        </p:nvSpPr>
        <p:spPr>
          <a:xfrm>
            <a:off x="3670830" y="3162439"/>
            <a:ext cx="1928430" cy="6730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고지방식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n = 15</a:t>
            </a:r>
          </a:p>
        </p:txBody>
      </p:sp>
      <p:sp>
        <p:nvSpPr>
          <p:cNvPr id="17" name="res-01:group"/>
          <p:cNvSpPr/>
          <p:nvPr/>
        </p:nvSpPr>
        <p:spPr>
          <a:xfrm>
            <a:off x="3577230" y="3929050"/>
            <a:ext cx="2115630" cy="673011"/>
          </a:xfrm>
          <a:prstGeom prst="rect">
            <a:avLst/>
          </a:prstGeom>
          <a:solidFill>
            <a:srgbClr val="ED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s-01:group-text"/>
          <p:cNvSpPr txBox="1"/>
          <p:nvPr/>
        </p:nvSpPr>
        <p:spPr>
          <a:xfrm>
            <a:off x="3670830" y="3929050"/>
            <a:ext cx="1928430" cy="6730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6B7280"/>
                </a:solidFill>
              </a:rPr>
              <a:t>일반식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n = 15</a:t>
            </a:r>
          </a:p>
        </p:txBody>
      </p:sp>
      <p:sp>
        <p:nvSpPr>
          <p:cNvPr id="19" name="res-01:evidence"/>
          <p:cNvSpPr txBox="1"/>
          <p:nvPr/>
        </p:nvSpPr>
        <p:spPr>
          <a:xfrm>
            <a:off x="3390030" y="4929660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체중 · 혈당 매주 기록</a:t>
            </a:r>
          </a:p>
        </p:txBody>
      </p:sp>
      <p:cxnSp>
        <p:nvCxnSpPr>
          <p:cNvPr id="20" name="res-01:link"/>
          <p:cNvCxnSpPr/>
          <p:nvPr/>
        </p:nvCxnSpPr>
        <p:spPr>
          <a:xfrm>
            <a:off x="5950260" y="3675751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s-01:marker"/>
          <p:cNvSpPr/>
          <p:nvPr/>
        </p:nvSpPr>
        <p:spPr>
          <a:xfrm>
            <a:off x="6312060" y="2047442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3</a:t>
            </a:r>
          </a:p>
        </p:txBody>
      </p:sp>
      <p:sp>
        <p:nvSpPr>
          <p:cNvPr id="22" name="res-01:title"/>
          <p:cNvSpPr txBox="1"/>
          <p:nvPr/>
        </p:nvSpPr>
        <p:spPr>
          <a:xfrm>
            <a:off x="6803460" y="2047442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측정</a:t>
            </a:r>
          </a:p>
        </p:txBody>
      </p:sp>
      <p:sp>
        <p:nvSpPr>
          <p:cNvPr id="23" name="res-01:column"/>
          <p:cNvSpPr/>
          <p:nvPr/>
        </p:nvSpPr>
        <p:spPr>
          <a:xfrm>
            <a:off x="6312060" y="2562242"/>
            <a:ext cx="2490030" cy="222701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s-01:text"/>
          <p:cNvSpPr txBox="1"/>
          <p:nvPr/>
        </p:nvSpPr>
        <p:spPr>
          <a:xfrm>
            <a:off x="6499260" y="3391847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간 단일핵 RNA-seq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군당 4마리</a:t>
            </a:r>
          </a:p>
        </p:txBody>
      </p:sp>
      <p:sp>
        <p:nvSpPr>
          <p:cNvPr id="25" name="res-01:evidence"/>
          <p:cNvSpPr txBox="1"/>
          <p:nvPr/>
        </p:nvSpPr>
        <p:spPr>
          <a:xfrm>
            <a:off x="6312060" y="4929660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핵 약 4만 개</a:t>
            </a:r>
          </a:p>
        </p:txBody>
      </p:sp>
      <p:cxnSp>
        <p:nvCxnSpPr>
          <p:cNvPr id="26" name="res-01:link"/>
          <p:cNvCxnSpPr/>
          <p:nvPr/>
        </p:nvCxnSpPr>
        <p:spPr>
          <a:xfrm>
            <a:off x="8872290" y="3675751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s-01:marker"/>
          <p:cNvSpPr/>
          <p:nvPr/>
        </p:nvSpPr>
        <p:spPr>
          <a:xfrm>
            <a:off x="9234090" y="2047442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4</a:t>
            </a:r>
          </a:p>
        </p:txBody>
      </p:sp>
      <p:sp>
        <p:nvSpPr>
          <p:cNvPr id="28" name="res-01:title"/>
          <p:cNvSpPr txBox="1"/>
          <p:nvPr/>
        </p:nvSpPr>
        <p:spPr>
          <a:xfrm>
            <a:off x="9725490" y="2047442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분석</a:t>
            </a:r>
          </a:p>
        </p:txBody>
      </p:sp>
      <p:sp>
        <p:nvSpPr>
          <p:cNvPr id="29" name="res-01:column"/>
          <p:cNvSpPr/>
          <p:nvPr/>
        </p:nvSpPr>
        <p:spPr>
          <a:xfrm>
            <a:off x="9234090" y="2562242"/>
            <a:ext cx="2490030" cy="222701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s-01:text"/>
          <p:cNvSpPr txBox="1"/>
          <p:nvPr/>
        </p:nvSpPr>
        <p:spPr>
          <a:xfrm>
            <a:off x="9421290" y="3391847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세포 유형별 차등발현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pseudobulk DESeq2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그래파이트 클린 16:9">
  <a:themeElements>
    <a:clrScheme name="HaLab 그래파이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A4F57"/>
      </a:accent1>
      <a:accent2>
        <a:srgbClr val="898D92"/>
      </a:accent2>
      <a:accent3>
        <a:srgbClr val="B7B9BC"/>
      </a:accent3>
      <a:accent4>
        <a:srgbClr val="FFD43B"/>
      </a:accent4>
      <a:accent5>
        <a:srgbClr val="B7B9BC"/>
      </a:accent5>
      <a:accent6>
        <a:srgbClr val="E2E5EA"/>
      </a:accent6>
      <a:hlink>
        <a:srgbClr val="4A4F57"/>
      </a:hlink>
      <a:folHlink>
        <a:srgbClr val="B7B9B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