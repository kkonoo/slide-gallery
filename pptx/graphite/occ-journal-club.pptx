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3"/>
            <c:spPr>
              <a:solidFill>
                <a:srgbClr val="4A4F57"/>
              </a:solidFill>
            </c:spPr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4A4F57"/>
                        </a:solidFill>
                        <a:latin typeface="Pretendard"/>
                      </a:rPr>
                      <a:t>0.86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SPOTlight</c:v>
                </c:pt>
                <c:pt idx="1">
                  <c:v>RCTD</c:v>
                </c:pt>
                <c:pt idx="2">
                  <c:v>cell2location</c:v>
                </c:pt>
                <c:pt idx="3">
                  <c:v>New method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0.62</c:v>
                </c:pt>
                <c:pt idx="1">
                  <c:v>0.71</c:v>
                </c:pt>
                <c:pt idx="2">
                  <c:v>0.74</c:v>
                </c:pt>
                <c:pt idx="3">
                  <c:v>0.86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Pearson r (2,000 synthetic spots)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Journal club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Reference-free spot deconvolution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Example paper (fictional) ·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PhD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Each spot mixes several cells, and that is the starting point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A Visium spot (55 μm) mixes 5–10 cells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Current deconvolution misses cell states that are not in the reference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Can we separate cell states without a reference?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Both existing methods work only with a reference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cell2location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RCTD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Reference data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New cell states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 h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Speed (4,000 spots)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20 min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Study design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Spatial and single-cell data come from the same patients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Cohort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175014"/>
            <a:ext cx="2115630" cy="8818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8 colorectal cancer patients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Surgical tissue · same block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8 · 16 sections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Comparison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887107"/>
            <a:ext cx="2115630" cy="673011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887107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Visium spatial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16 sections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653718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653718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scRNA-seq reference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60,000 cells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Both methods on the same tissue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Measure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Cell-state proportions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 states per spot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About 30,000 spots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Analysis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Benchmark · biology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Synthetic spots · real tissue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Compared with 4 methods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1 · Method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Adding spatial neighbors splits spots into cell states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140783"/>
            <a:ext cx="2652030" cy="2847650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1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A4F57"/>
                </a:solidFill>
              </a:rPr>
              <a:t>Spot expression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Visium counts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normalized expression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308403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B9BC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3336030" y="2140783"/>
            <a:ext cx="2652030" cy="2847650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333603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2</a:t>
            </a:r>
          </a:p>
        </p:txBody>
      </p:sp>
      <p:sp>
        <p:nvSpPr>
          <p:cNvPr id="13" name="res-03:pill"/>
          <p:cNvSpPr/>
          <p:nvPr/>
        </p:nvSpPr>
        <p:spPr>
          <a:xfrm>
            <a:off x="366003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66003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A4F57"/>
                </a:solidFill>
              </a:rPr>
              <a:t>Neighbor graph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351603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6 adjacent spots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spatial graph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595206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B9BC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6204060" y="2140783"/>
            <a:ext cx="2652030" cy="2847650"/>
          </a:xfrm>
          <a:prstGeom prst="rect">
            <a:avLst/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620406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3</a:t>
            </a:r>
          </a:p>
        </p:txBody>
      </p:sp>
      <p:sp>
        <p:nvSpPr>
          <p:cNvPr id="19" name="res-03:pill"/>
          <p:cNvSpPr/>
          <p:nvPr/>
        </p:nvSpPr>
        <p:spPr>
          <a:xfrm>
            <a:off x="6469316" y="2554783"/>
            <a:ext cx="2121519" cy="3960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6469316" y="2554783"/>
            <a:ext cx="2121519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State decomposition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638406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Graph-regularized NMF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proportions per spot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882009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B9BC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9072090" y="2140783"/>
            <a:ext cx="2652030" cy="2847650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907209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4</a:t>
            </a:r>
          </a:p>
        </p:txBody>
      </p:sp>
      <p:sp>
        <p:nvSpPr>
          <p:cNvPr id="25" name="res-03:pill"/>
          <p:cNvSpPr/>
          <p:nvPr/>
        </p:nvSpPr>
        <p:spPr>
          <a:xfrm>
            <a:off x="939609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939609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A4F57"/>
                </a:solidFill>
              </a:rPr>
              <a:t>Annotation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925209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Marker genes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names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3 · Benchmark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new method is the most accurate on synthetic data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Redrawn from Figure 3B (example values).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4 · Real tissue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new state runs as a band along the tumor border</a:t>
            </a:r>
          </a:p>
        </p:txBody>
      </p:sp>
      <p:pic>
        <p:nvPicPr>
          <p:cNvPr id="5" name="res-04:figur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0" y="1878647"/>
            <a:ext cx="35244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5461668" y="3332462"/>
            <a:ext cx="1057320" cy="792990"/>
          </a:xfrm>
          <a:prstGeom prst="rect">
            <a:avLst/>
          </a:prstGeom>
          <a:noFill/>
          <a:ln w="1905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5461668" y="3066062"/>
            <a:ext cx="655594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4A4F57"/>
                </a:solidFill>
              </a:rPr>
              <a:t>State 5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333860" y="4593947"/>
            <a:ext cx="73902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4B · colorectal cancer section 2, 1,492 spots (example image)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State 5, absent from the reference, appears </a:t>
            </a:r>
            <a:r>
              <a:rPr sz="1400" b="1" spc="-40">
                <a:solidFill>
                  <a:srgbClr val="262B33"/>
                </a:solidFill>
              </a:rPr>
              <a:t>only at the border</a:t>
            </a:r>
            <a:r>
              <a:rPr sz="1400" b="0" spc="-40">
                <a:solidFill>
                  <a:srgbClr val="6B7280"/>
                </a:solidFill>
              </a:rPr>
              <a:t>. Existing methods lumped it in with fibroblasts.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Limitations · Open questions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do not yet know whether the new states are real cells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3 new states were not checked by immunostaining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Resolution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Not tested on small spots such as Visium HD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Compute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Over 20,000 spots needs more than 64 GB of memory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Link to our research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Worth trying first on our colorectal Visium data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484404"/>
            <a:ext cx="5448060" cy="360000"/>
          </a:xfrm>
        </p:spPr>
        <p:txBody>
          <a:bodyPr/>
          <a:lstStyle/>
          <a:p>
            <a:r>
              <a:t>What to borrow</a:t>
            </a:r>
            <a:r>
              <a:rPr sz="13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   For our data now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Split border spots into states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Test on sections 3 · 4, which have no reference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Reuse the neighbor graph as is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484404"/>
            <a:ext cx="5448060" cy="360000"/>
          </a:xfrm>
        </p:spPr>
        <p:txBody>
          <a:bodyPr/>
          <a:lstStyle/>
          <a:p>
            <a:r>
              <a:t>Discussion</a:t>
            </a:r>
            <a:r>
              <a:rPr sz="13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   To talk about together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How would we validate the new states?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Is it still needed with smaller spots?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Can our GPU server run it?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