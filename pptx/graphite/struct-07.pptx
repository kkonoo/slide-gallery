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(struct-07-a).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(struct-07-b).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(struct-07-c).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실습 도구 고르기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배우기 쉽고 해석도 쉬운 도구부터 실습한다</a:t>
            </a:r>
          </a:p>
        </p:txBody>
      </p:sp>
      <p:sp>
        <p:nvSpPr>
          <p:cNvPr id="5" name="struct-07:quadrant"/>
          <p:cNvSpPr/>
          <p:nvPr/>
        </p:nvSpPr>
        <p:spPr>
          <a:xfrm>
            <a:off x="1512000" y="1896468"/>
            <a:ext cx="4998060" cy="1143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7:name"/>
          <p:cNvSpPr txBox="1"/>
          <p:nvPr/>
        </p:nvSpPr>
        <p:spPr>
          <a:xfrm>
            <a:off x="1656000" y="2040468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먼저 배울 도구</a:t>
            </a:r>
          </a:p>
        </p:txBody>
      </p:sp>
      <p:sp>
        <p:nvSpPr>
          <p:cNvPr id="7" name="struct-07:item"/>
          <p:cNvSpPr/>
          <p:nvPr/>
        </p:nvSpPr>
        <p:spPr>
          <a:xfrm>
            <a:off x="1656000" y="2439613"/>
            <a:ext cx="56906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7:item-text"/>
          <p:cNvSpPr txBox="1"/>
          <p:nvPr/>
        </p:nvSpPr>
        <p:spPr>
          <a:xfrm>
            <a:off x="1656000" y="2439613"/>
            <a:ext cx="56906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4A4F57"/>
                </a:solidFill>
              </a:rPr>
              <a:t>IGV</a:t>
            </a:r>
          </a:p>
        </p:txBody>
      </p:sp>
      <p:sp>
        <p:nvSpPr>
          <p:cNvPr id="9" name="struct-07:item"/>
          <p:cNvSpPr/>
          <p:nvPr/>
        </p:nvSpPr>
        <p:spPr>
          <a:xfrm>
            <a:off x="2315069" y="2439613"/>
            <a:ext cx="1336442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7:item-text"/>
          <p:cNvSpPr txBox="1"/>
          <p:nvPr/>
        </p:nvSpPr>
        <p:spPr>
          <a:xfrm>
            <a:off x="2315069" y="2439613"/>
            <a:ext cx="1336442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4A4F57"/>
                </a:solidFill>
              </a:rPr>
              <a:t>UCSC 브라우저</a:t>
            </a:r>
          </a:p>
        </p:txBody>
      </p:sp>
      <p:sp>
        <p:nvSpPr>
          <p:cNvPr id="11" name="struct-07:quadrant"/>
          <p:cNvSpPr/>
          <p:nvPr/>
        </p:nvSpPr>
        <p:spPr>
          <a:xfrm>
            <a:off x="6726060" y="1896468"/>
            <a:ext cx="499806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7:name"/>
          <p:cNvSpPr txBox="1"/>
          <p:nvPr/>
        </p:nvSpPr>
        <p:spPr>
          <a:xfrm>
            <a:off x="6870060" y="2040468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시간 들여 배울 도구</a:t>
            </a:r>
          </a:p>
        </p:txBody>
      </p:sp>
      <p:sp>
        <p:nvSpPr>
          <p:cNvPr id="13" name="struct-07:item"/>
          <p:cNvSpPr/>
          <p:nvPr/>
        </p:nvSpPr>
        <p:spPr>
          <a:xfrm>
            <a:off x="6870060" y="2439613"/>
            <a:ext cx="884434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7:item-text"/>
          <p:cNvSpPr txBox="1"/>
          <p:nvPr/>
        </p:nvSpPr>
        <p:spPr>
          <a:xfrm>
            <a:off x="6870060" y="2439613"/>
            <a:ext cx="884434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DESeq2</a:t>
            </a:r>
          </a:p>
        </p:txBody>
      </p:sp>
      <p:sp>
        <p:nvSpPr>
          <p:cNvPr id="15" name="struct-07:item"/>
          <p:cNvSpPr/>
          <p:nvPr/>
        </p:nvSpPr>
        <p:spPr>
          <a:xfrm>
            <a:off x="7844494" y="2439613"/>
            <a:ext cx="72126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7:item-text"/>
          <p:cNvSpPr txBox="1"/>
          <p:nvPr/>
        </p:nvSpPr>
        <p:spPr>
          <a:xfrm>
            <a:off x="7844494" y="2439613"/>
            <a:ext cx="72126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GSEA</a:t>
            </a:r>
          </a:p>
        </p:txBody>
      </p:sp>
      <p:sp>
        <p:nvSpPr>
          <p:cNvPr id="17" name="struct-07:quadrant"/>
          <p:cNvSpPr/>
          <p:nvPr/>
        </p:nvSpPr>
        <p:spPr>
          <a:xfrm>
            <a:off x="1512000" y="3255468"/>
            <a:ext cx="499806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7:name"/>
          <p:cNvSpPr txBox="1"/>
          <p:nvPr/>
        </p:nvSpPr>
        <p:spPr>
          <a:xfrm>
            <a:off x="1656000" y="3399468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결과만 참고할 도구</a:t>
            </a:r>
          </a:p>
        </p:txBody>
      </p:sp>
      <p:sp>
        <p:nvSpPr>
          <p:cNvPr id="19" name="struct-07:item"/>
          <p:cNvSpPr/>
          <p:nvPr/>
        </p:nvSpPr>
        <p:spPr>
          <a:xfrm>
            <a:off x="1656000" y="3798613"/>
            <a:ext cx="803656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7:item-text"/>
          <p:cNvSpPr txBox="1"/>
          <p:nvPr/>
        </p:nvSpPr>
        <p:spPr>
          <a:xfrm>
            <a:off x="1656000" y="3798613"/>
            <a:ext cx="803656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BLAST</a:t>
            </a:r>
          </a:p>
        </p:txBody>
      </p:sp>
      <p:sp>
        <p:nvSpPr>
          <p:cNvPr id="21" name="struct-07:quadrant"/>
          <p:cNvSpPr/>
          <p:nvPr/>
        </p:nvSpPr>
        <p:spPr>
          <a:xfrm>
            <a:off x="6726060" y="3255468"/>
            <a:ext cx="499806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7:name"/>
          <p:cNvSpPr txBox="1"/>
          <p:nvPr/>
        </p:nvSpPr>
        <p:spPr>
          <a:xfrm>
            <a:off x="6870060" y="3399468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이번 학기 제외</a:t>
            </a:r>
          </a:p>
        </p:txBody>
      </p:sp>
      <p:sp>
        <p:nvSpPr>
          <p:cNvPr id="23" name="struct-07:item"/>
          <p:cNvSpPr/>
          <p:nvPr/>
        </p:nvSpPr>
        <p:spPr>
          <a:xfrm>
            <a:off x="6870060" y="3798613"/>
            <a:ext cx="1401577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struct-07:item-text"/>
          <p:cNvSpPr txBox="1"/>
          <p:nvPr/>
        </p:nvSpPr>
        <p:spPr>
          <a:xfrm>
            <a:off x="6870060" y="3798613"/>
            <a:ext cx="1401577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Seurat 통합 분석</a:t>
            </a:r>
          </a:p>
        </p:txBody>
      </p:sp>
      <p:cxnSp>
        <p:nvCxnSpPr>
          <p:cNvPr id="25" name="struct-07:axis"/>
          <p:cNvCxnSpPr/>
          <p:nvPr/>
        </p:nvCxnSpPr>
        <p:spPr>
          <a:xfrm flipV="1">
            <a:off x="1422000" y="1896468"/>
            <a:ext cx="0" cy="2592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uct-07:axis"/>
          <p:cNvCxnSpPr/>
          <p:nvPr/>
        </p:nvCxnSpPr>
        <p:spPr>
          <a:xfrm>
            <a:off x="1422000" y="4488468"/>
            <a:ext cx="1030212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struct-07:y-high"/>
          <p:cNvSpPr txBox="1"/>
          <p:nvPr/>
        </p:nvSpPr>
        <p:spPr>
          <a:xfrm>
            <a:off x="468000" y="1896468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8" name="struct-07:y-low"/>
          <p:cNvSpPr txBox="1"/>
          <p:nvPr/>
        </p:nvSpPr>
        <p:spPr>
          <a:xfrm>
            <a:off x="468000" y="4182468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29" name="struct-07:y-title"/>
          <p:cNvSpPr txBox="1"/>
          <p:nvPr/>
        </p:nvSpPr>
        <p:spPr>
          <a:xfrm>
            <a:off x="468000" y="3029190"/>
            <a:ext cx="756000" cy="254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결과 해석</a:t>
            </a:r>
          </a:p>
        </p:txBody>
      </p:sp>
      <p:sp>
        <p:nvSpPr>
          <p:cNvPr id="30" name="struct-07:x-low"/>
          <p:cNvSpPr txBox="1"/>
          <p:nvPr/>
        </p:nvSpPr>
        <p:spPr>
          <a:xfrm>
            <a:off x="1512000" y="4596468"/>
            <a:ext cx="361268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31" name="struct-07:x-high"/>
          <p:cNvSpPr txBox="1"/>
          <p:nvPr/>
        </p:nvSpPr>
        <p:spPr>
          <a:xfrm>
            <a:off x="11236218" y="4596468"/>
            <a:ext cx="487902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32" name="struct-07:x-title"/>
          <p:cNvSpPr txBox="1"/>
          <p:nvPr/>
        </p:nvSpPr>
        <p:spPr>
          <a:xfrm>
            <a:off x="6185549" y="4596468"/>
            <a:ext cx="865022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학습 난이도</a:t>
            </a:r>
          </a:p>
        </p:txBody>
      </p:sp>
      <p:cxnSp>
        <p:nvCxnSpPr>
          <p:cNvPr id="33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실습 1–4주는 왼쪽 위 칸 도구로만 진행하고, 5주부터 오른쪽 위 칸으로 넘어간다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후속 연구 우선순위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효과가 크지만 어려운 과제에 인력을 먼저 배정한다</a:t>
            </a:r>
          </a:p>
        </p:txBody>
      </p:sp>
      <p:sp>
        <p:nvSpPr>
          <p:cNvPr id="5" name="struct-07:quadrant"/>
          <p:cNvSpPr/>
          <p:nvPr/>
        </p:nvSpPr>
        <p:spPr>
          <a:xfrm>
            <a:off x="1512000" y="1908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7:name"/>
          <p:cNvSpPr txBox="1"/>
          <p:nvPr/>
        </p:nvSpPr>
        <p:spPr>
          <a:xfrm>
            <a:off x="1656000" y="2052000"/>
            <a:ext cx="4710060" cy="5750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바로 할 일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이번 분기 안에 끝낸다</a:t>
            </a:r>
          </a:p>
        </p:txBody>
      </p:sp>
      <p:sp>
        <p:nvSpPr>
          <p:cNvPr id="7" name="struct-07:item"/>
          <p:cNvSpPr/>
          <p:nvPr/>
        </p:nvSpPr>
        <p:spPr>
          <a:xfrm>
            <a:off x="1656000" y="2717043"/>
            <a:ext cx="997457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7:item-text"/>
          <p:cNvSpPr txBox="1"/>
          <p:nvPr/>
        </p:nvSpPr>
        <p:spPr>
          <a:xfrm>
            <a:off x="1656000" y="2717043"/>
            <a:ext cx="997457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QC 자동화</a:t>
            </a:r>
          </a:p>
        </p:txBody>
      </p:sp>
      <p:sp>
        <p:nvSpPr>
          <p:cNvPr id="9" name="struct-07:item"/>
          <p:cNvSpPr/>
          <p:nvPr/>
        </p:nvSpPr>
        <p:spPr>
          <a:xfrm>
            <a:off x="2743457" y="2717043"/>
            <a:ext cx="132362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7:item-text"/>
          <p:cNvSpPr txBox="1"/>
          <p:nvPr/>
        </p:nvSpPr>
        <p:spPr>
          <a:xfrm>
            <a:off x="2743457" y="2717043"/>
            <a:ext cx="132362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메타데이터 표준</a:t>
            </a:r>
          </a:p>
        </p:txBody>
      </p:sp>
      <p:sp>
        <p:nvSpPr>
          <p:cNvPr id="11" name="struct-07:quadrant"/>
          <p:cNvSpPr/>
          <p:nvPr/>
        </p:nvSpPr>
        <p:spPr>
          <a:xfrm>
            <a:off x="6726060" y="1908000"/>
            <a:ext cx="4998060" cy="1440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7:name"/>
          <p:cNvSpPr txBox="1"/>
          <p:nvPr/>
        </p:nvSpPr>
        <p:spPr>
          <a:xfrm>
            <a:off x="6870060" y="2052000"/>
            <a:ext cx="4710060" cy="5750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핵심 투자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FFFFFF"/>
                </a:solidFill>
              </a:rPr>
              <a:t>박사후연구원 2명 배정</a:t>
            </a:r>
          </a:p>
        </p:txBody>
      </p:sp>
      <p:sp>
        <p:nvSpPr>
          <p:cNvPr id="13" name="struct-07:item"/>
          <p:cNvSpPr/>
          <p:nvPr/>
        </p:nvSpPr>
        <p:spPr>
          <a:xfrm>
            <a:off x="6870060" y="2717043"/>
            <a:ext cx="132362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7:item-text"/>
          <p:cNvSpPr txBox="1"/>
          <p:nvPr/>
        </p:nvSpPr>
        <p:spPr>
          <a:xfrm>
            <a:off x="6870060" y="2717043"/>
            <a:ext cx="132362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4A4F57"/>
                </a:solidFill>
              </a:rPr>
              <a:t>공간전사체 통합</a:t>
            </a:r>
          </a:p>
        </p:txBody>
      </p:sp>
      <p:sp>
        <p:nvSpPr>
          <p:cNvPr id="15" name="struct-07:item"/>
          <p:cNvSpPr/>
          <p:nvPr/>
        </p:nvSpPr>
        <p:spPr>
          <a:xfrm>
            <a:off x="8283689" y="2717043"/>
            <a:ext cx="1222377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7:item-text"/>
          <p:cNvSpPr txBox="1"/>
          <p:nvPr/>
        </p:nvSpPr>
        <p:spPr>
          <a:xfrm>
            <a:off x="8283689" y="2717043"/>
            <a:ext cx="1222377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4A4F57"/>
                </a:solidFill>
              </a:rPr>
              <a:t>예후 모델 검증</a:t>
            </a:r>
          </a:p>
        </p:txBody>
      </p:sp>
      <p:sp>
        <p:nvSpPr>
          <p:cNvPr id="17" name="struct-07:quadrant"/>
          <p:cNvSpPr/>
          <p:nvPr/>
        </p:nvSpPr>
        <p:spPr>
          <a:xfrm>
            <a:off x="151200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7:name"/>
          <p:cNvSpPr txBox="1"/>
          <p:nvPr/>
        </p:nvSpPr>
        <p:spPr>
          <a:xfrm>
            <a:off x="1656000" y="3708000"/>
            <a:ext cx="4710060" cy="5750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틈날 때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학생 연습 과제로</a:t>
            </a:r>
          </a:p>
        </p:txBody>
      </p:sp>
      <p:sp>
        <p:nvSpPr>
          <p:cNvPr id="19" name="struct-07:item"/>
          <p:cNvSpPr/>
          <p:nvPr/>
        </p:nvSpPr>
        <p:spPr>
          <a:xfrm>
            <a:off x="1656000" y="4373043"/>
            <a:ext cx="1222377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7:item-text"/>
          <p:cNvSpPr txBox="1"/>
          <p:nvPr/>
        </p:nvSpPr>
        <p:spPr>
          <a:xfrm>
            <a:off x="1656000" y="4373043"/>
            <a:ext cx="1222377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그림 양식 정리</a:t>
            </a:r>
          </a:p>
        </p:txBody>
      </p:sp>
      <p:sp>
        <p:nvSpPr>
          <p:cNvPr id="21" name="struct-07:quadrant"/>
          <p:cNvSpPr/>
          <p:nvPr/>
        </p:nvSpPr>
        <p:spPr>
          <a:xfrm>
            <a:off x="672606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7:name"/>
          <p:cNvSpPr txBox="1"/>
          <p:nvPr/>
        </p:nvSpPr>
        <p:spPr>
          <a:xfrm>
            <a:off x="6870060" y="3708000"/>
            <a:ext cx="4710060" cy="5750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보류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장비 도입 뒤 다시 검토</a:t>
            </a:r>
          </a:p>
        </p:txBody>
      </p:sp>
      <p:sp>
        <p:nvSpPr>
          <p:cNvPr id="23" name="struct-07:item"/>
          <p:cNvSpPr/>
          <p:nvPr/>
        </p:nvSpPr>
        <p:spPr>
          <a:xfrm>
            <a:off x="6870060" y="4373043"/>
            <a:ext cx="1222377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struct-07:item-text"/>
          <p:cNvSpPr txBox="1"/>
          <p:nvPr/>
        </p:nvSpPr>
        <p:spPr>
          <a:xfrm>
            <a:off x="6870060" y="4373043"/>
            <a:ext cx="1222377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장기 생존 추적</a:t>
            </a:r>
          </a:p>
        </p:txBody>
      </p:sp>
      <p:sp>
        <p:nvSpPr>
          <p:cNvPr id="25" name="struct-07:item"/>
          <p:cNvSpPr/>
          <p:nvPr/>
        </p:nvSpPr>
        <p:spPr>
          <a:xfrm>
            <a:off x="8182437" y="4373043"/>
            <a:ext cx="104840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struct-07:item-text"/>
          <p:cNvSpPr txBox="1"/>
          <p:nvPr/>
        </p:nvSpPr>
        <p:spPr>
          <a:xfrm>
            <a:off x="8182437" y="4373043"/>
            <a:ext cx="104840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단백체 연계</a:t>
            </a:r>
          </a:p>
        </p:txBody>
      </p:sp>
      <p:cxnSp>
        <p:nvCxnSpPr>
          <p:cNvPr id="27" name="struct-07:axis"/>
          <p:cNvCxnSpPr/>
          <p:nvPr/>
        </p:nvCxnSpPr>
        <p:spPr>
          <a:xfrm flipV="1">
            <a:off x="1422000" y="1908000"/>
            <a:ext cx="0" cy="3186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uct-07:axis"/>
          <p:cNvCxnSpPr/>
          <p:nvPr/>
        </p:nvCxnSpPr>
        <p:spPr>
          <a:xfrm>
            <a:off x="1422000" y="5094000"/>
            <a:ext cx="1030212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struct-07:y-high"/>
          <p:cNvSpPr txBox="1"/>
          <p:nvPr/>
        </p:nvSpPr>
        <p:spPr>
          <a:xfrm>
            <a:off x="468000" y="190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높음</a:t>
            </a:r>
          </a:p>
        </p:txBody>
      </p:sp>
      <p:sp>
        <p:nvSpPr>
          <p:cNvPr id="30" name="struct-07:y-low"/>
          <p:cNvSpPr txBox="1"/>
          <p:nvPr/>
        </p:nvSpPr>
        <p:spPr>
          <a:xfrm>
            <a:off x="468000" y="478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낮음</a:t>
            </a:r>
          </a:p>
        </p:txBody>
      </p:sp>
      <p:sp>
        <p:nvSpPr>
          <p:cNvPr id="31" name="struct-07:y-title"/>
          <p:cNvSpPr txBox="1"/>
          <p:nvPr/>
        </p:nvSpPr>
        <p:spPr>
          <a:xfrm>
            <a:off x="468000" y="3337722"/>
            <a:ext cx="756000" cy="254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기대 효과</a:t>
            </a:r>
          </a:p>
        </p:txBody>
      </p:sp>
      <p:sp>
        <p:nvSpPr>
          <p:cNvPr id="32" name="struct-07:x-low"/>
          <p:cNvSpPr txBox="1"/>
          <p:nvPr/>
        </p:nvSpPr>
        <p:spPr>
          <a:xfrm>
            <a:off x="1512000" y="5202000"/>
            <a:ext cx="361268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낮음</a:t>
            </a:r>
          </a:p>
        </p:txBody>
      </p:sp>
      <p:sp>
        <p:nvSpPr>
          <p:cNvPr id="33" name="struct-07:x-high"/>
          <p:cNvSpPr txBox="1"/>
          <p:nvPr/>
        </p:nvSpPr>
        <p:spPr>
          <a:xfrm>
            <a:off x="11362852" y="5202000"/>
            <a:ext cx="361268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높음</a:t>
            </a:r>
          </a:p>
        </p:txBody>
      </p:sp>
      <p:sp>
        <p:nvSpPr>
          <p:cNvPr id="34" name="struct-07:x-title"/>
          <p:cNvSpPr txBox="1"/>
          <p:nvPr/>
        </p:nvSpPr>
        <p:spPr>
          <a:xfrm>
            <a:off x="6185549" y="5202000"/>
            <a:ext cx="865022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구현 난이도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후보 유전자 분류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발현 변화가 크고 생존과도 연관된 유전자 4개를 고른다</a:t>
            </a:r>
          </a:p>
        </p:txBody>
      </p:sp>
      <p:sp>
        <p:nvSpPr>
          <p:cNvPr id="5" name="struct-07:quadrant"/>
          <p:cNvSpPr/>
          <p:nvPr/>
        </p:nvSpPr>
        <p:spPr>
          <a:xfrm>
            <a:off x="1513022" y="1908000"/>
            <a:ext cx="4997549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7:name"/>
          <p:cNvSpPr txBox="1"/>
          <p:nvPr/>
        </p:nvSpPr>
        <p:spPr>
          <a:xfrm>
            <a:off x="1657022" y="2052000"/>
            <a:ext cx="4709549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생존 표지 후보</a:t>
            </a:r>
          </a:p>
        </p:txBody>
      </p:sp>
      <p:sp>
        <p:nvSpPr>
          <p:cNvPr id="7" name="struct-07:item"/>
          <p:cNvSpPr/>
          <p:nvPr/>
        </p:nvSpPr>
        <p:spPr>
          <a:xfrm>
            <a:off x="1657022" y="2451145"/>
            <a:ext cx="945701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7:item-text"/>
          <p:cNvSpPr txBox="1"/>
          <p:nvPr/>
        </p:nvSpPr>
        <p:spPr>
          <a:xfrm>
            <a:off x="1657022" y="2451145"/>
            <a:ext cx="945701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CDKN2A</a:t>
            </a:r>
          </a:p>
        </p:txBody>
      </p:sp>
      <p:sp>
        <p:nvSpPr>
          <p:cNvPr id="9" name="struct-07:item"/>
          <p:cNvSpPr/>
          <p:nvPr/>
        </p:nvSpPr>
        <p:spPr>
          <a:xfrm>
            <a:off x="2692723" y="2451145"/>
            <a:ext cx="704824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7:item-text"/>
          <p:cNvSpPr txBox="1"/>
          <p:nvPr/>
        </p:nvSpPr>
        <p:spPr>
          <a:xfrm>
            <a:off x="2692723" y="2451145"/>
            <a:ext cx="704824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TP53</a:t>
            </a:r>
          </a:p>
        </p:txBody>
      </p:sp>
      <p:sp>
        <p:nvSpPr>
          <p:cNvPr id="11" name="struct-07:quadrant"/>
          <p:cNvSpPr/>
          <p:nvPr/>
        </p:nvSpPr>
        <p:spPr>
          <a:xfrm>
            <a:off x="6726571" y="1908000"/>
            <a:ext cx="4997549" cy="1440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7:name"/>
          <p:cNvSpPr txBox="1"/>
          <p:nvPr/>
        </p:nvSpPr>
        <p:spPr>
          <a:xfrm>
            <a:off x="6870571" y="2052000"/>
            <a:ext cx="4709549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1순위 실험 후보</a:t>
            </a:r>
          </a:p>
        </p:txBody>
      </p:sp>
      <p:sp>
        <p:nvSpPr>
          <p:cNvPr id="13" name="struct-07:item"/>
          <p:cNvSpPr/>
          <p:nvPr/>
        </p:nvSpPr>
        <p:spPr>
          <a:xfrm>
            <a:off x="6870571" y="2451145"/>
            <a:ext cx="786247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7:item-text"/>
          <p:cNvSpPr txBox="1"/>
          <p:nvPr/>
        </p:nvSpPr>
        <p:spPr>
          <a:xfrm>
            <a:off x="6870571" y="2451145"/>
            <a:ext cx="786247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4A4F57"/>
                </a:solidFill>
              </a:rPr>
              <a:t>MMP9</a:t>
            </a:r>
          </a:p>
        </p:txBody>
      </p:sp>
      <p:sp>
        <p:nvSpPr>
          <p:cNvPr id="15" name="struct-07:item"/>
          <p:cNvSpPr/>
          <p:nvPr/>
        </p:nvSpPr>
        <p:spPr>
          <a:xfrm>
            <a:off x="7746817" y="2451145"/>
            <a:ext cx="675965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7:item-text"/>
          <p:cNvSpPr txBox="1"/>
          <p:nvPr/>
        </p:nvSpPr>
        <p:spPr>
          <a:xfrm>
            <a:off x="7746817" y="2451145"/>
            <a:ext cx="675965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4A4F57"/>
                </a:solidFill>
              </a:rPr>
              <a:t>SPP1</a:t>
            </a:r>
          </a:p>
        </p:txBody>
      </p:sp>
      <p:sp>
        <p:nvSpPr>
          <p:cNvPr id="17" name="struct-07:item"/>
          <p:cNvSpPr/>
          <p:nvPr/>
        </p:nvSpPr>
        <p:spPr>
          <a:xfrm>
            <a:off x="8512783" y="2451145"/>
            <a:ext cx="921838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7:item-text"/>
          <p:cNvSpPr txBox="1"/>
          <p:nvPr/>
        </p:nvSpPr>
        <p:spPr>
          <a:xfrm>
            <a:off x="8512783" y="2451145"/>
            <a:ext cx="921838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4A4F57"/>
                </a:solidFill>
              </a:rPr>
              <a:t>COL11A1</a:t>
            </a:r>
          </a:p>
        </p:txBody>
      </p:sp>
      <p:sp>
        <p:nvSpPr>
          <p:cNvPr id="19" name="struct-07:quadrant"/>
          <p:cNvSpPr/>
          <p:nvPr/>
        </p:nvSpPr>
        <p:spPr>
          <a:xfrm>
            <a:off x="1513022" y="3564000"/>
            <a:ext cx="4997549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7:name"/>
          <p:cNvSpPr txBox="1"/>
          <p:nvPr/>
        </p:nvSpPr>
        <p:spPr>
          <a:xfrm>
            <a:off x="1657022" y="3708000"/>
            <a:ext cx="4709549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제외</a:t>
            </a:r>
          </a:p>
        </p:txBody>
      </p:sp>
      <p:sp>
        <p:nvSpPr>
          <p:cNvPr id="21" name="struct-07:item"/>
          <p:cNvSpPr/>
          <p:nvPr/>
        </p:nvSpPr>
        <p:spPr>
          <a:xfrm>
            <a:off x="1657022" y="4107145"/>
            <a:ext cx="722397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7:item-text"/>
          <p:cNvSpPr txBox="1"/>
          <p:nvPr/>
        </p:nvSpPr>
        <p:spPr>
          <a:xfrm>
            <a:off x="1657022" y="4107145"/>
            <a:ext cx="722397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ACTB</a:t>
            </a:r>
          </a:p>
        </p:txBody>
      </p:sp>
      <p:sp>
        <p:nvSpPr>
          <p:cNvPr id="23" name="struct-07:quadrant"/>
          <p:cNvSpPr/>
          <p:nvPr/>
        </p:nvSpPr>
        <p:spPr>
          <a:xfrm>
            <a:off x="6726571" y="3564000"/>
            <a:ext cx="4997549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struct-07:name"/>
          <p:cNvSpPr txBox="1"/>
          <p:nvPr/>
        </p:nvSpPr>
        <p:spPr>
          <a:xfrm>
            <a:off x="6870571" y="3708000"/>
            <a:ext cx="4709549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기전 확인 후보</a:t>
            </a:r>
          </a:p>
        </p:txBody>
      </p:sp>
      <p:sp>
        <p:nvSpPr>
          <p:cNvPr id="25" name="struct-07:item"/>
          <p:cNvSpPr/>
          <p:nvPr/>
        </p:nvSpPr>
        <p:spPr>
          <a:xfrm>
            <a:off x="6870571" y="4107145"/>
            <a:ext cx="838080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struct-07:item-text"/>
          <p:cNvSpPr txBox="1"/>
          <p:nvPr/>
        </p:nvSpPr>
        <p:spPr>
          <a:xfrm>
            <a:off x="6870571" y="4107145"/>
            <a:ext cx="83808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POSTN</a:t>
            </a:r>
          </a:p>
        </p:txBody>
      </p:sp>
      <p:sp>
        <p:nvSpPr>
          <p:cNvPr id="27" name="struct-07:item"/>
          <p:cNvSpPr/>
          <p:nvPr/>
        </p:nvSpPr>
        <p:spPr>
          <a:xfrm>
            <a:off x="7798651" y="4107145"/>
            <a:ext cx="591561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struct-07:item-text"/>
          <p:cNvSpPr txBox="1"/>
          <p:nvPr/>
        </p:nvSpPr>
        <p:spPr>
          <a:xfrm>
            <a:off x="7798651" y="4107145"/>
            <a:ext cx="591561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FN1</a:t>
            </a:r>
          </a:p>
        </p:txBody>
      </p:sp>
      <p:cxnSp>
        <p:nvCxnSpPr>
          <p:cNvPr id="29" name="struct-07:axis"/>
          <p:cNvCxnSpPr/>
          <p:nvPr/>
        </p:nvCxnSpPr>
        <p:spPr>
          <a:xfrm flipV="1">
            <a:off x="1423022" y="1908000"/>
            <a:ext cx="0" cy="3186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uct-07:axis"/>
          <p:cNvCxnSpPr/>
          <p:nvPr/>
        </p:nvCxnSpPr>
        <p:spPr>
          <a:xfrm>
            <a:off x="1423022" y="5094000"/>
            <a:ext cx="10301098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struct-07:y-high"/>
          <p:cNvSpPr txBox="1"/>
          <p:nvPr/>
        </p:nvSpPr>
        <p:spPr>
          <a:xfrm>
            <a:off x="468000" y="1908000"/>
            <a:ext cx="757022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있음</a:t>
            </a:r>
          </a:p>
        </p:txBody>
      </p:sp>
      <p:sp>
        <p:nvSpPr>
          <p:cNvPr id="32" name="struct-07:y-low"/>
          <p:cNvSpPr txBox="1"/>
          <p:nvPr/>
        </p:nvSpPr>
        <p:spPr>
          <a:xfrm>
            <a:off x="468000" y="4788000"/>
            <a:ext cx="757022" cy="21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없음</a:t>
            </a:r>
          </a:p>
        </p:txBody>
      </p:sp>
      <p:sp>
        <p:nvSpPr>
          <p:cNvPr id="33" name="struct-07:y-title"/>
          <p:cNvSpPr txBox="1"/>
          <p:nvPr/>
        </p:nvSpPr>
        <p:spPr>
          <a:xfrm>
            <a:off x="468000" y="3337722"/>
            <a:ext cx="757022" cy="254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생존 연관성</a:t>
            </a:r>
          </a:p>
        </p:txBody>
      </p:sp>
      <p:sp>
        <p:nvSpPr>
          <p:cNvPr id="34" name="struct-07:x-low"/>
          <p:cNvSpPr txBox="1"/>
          <p:nvPr/>
        </p:nvSpPr>
        <p:spPr>
          <a:xfrm>
            <a:off x="1513022" y="5202000"/>
            <a:ext cx="361268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작음</a:t>
            </a:r>
          </a:p>
        </p:txBody>
      </p:sp>
      <p:sp>
        <p:nvSpPr>
          <p:cNvPr id="35" name="struct-07:x-high"/>
          <p:cNvSpPr txBox="1"/>
          <p:nvPr/>
        </p:nvSpPr>
        <p:spPr>
          <a:xfrm>
            <a:off x="11489486" y="5202000"/>
            <a:ext cx="23463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큼</a:t>
            </a:r>
          </a:p>
        </p:txBody>
      </p:sp>
      <p:sp>
        <p:nvSpPr>
          <p:cNvPr id="36" name="struct-07:x-title"/>
          <p:cNvSpPr txBox="1"/>
          <p:nvPr/>
        </p:nvSpPr>
        <p:spPr>
          <a:xfrm>
            <a:off x="5917694" y="5202000"/>
            <a:ext cx="1401754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발현 변화 (log2FC)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그래파이트 클린 16:9">
  <a:themeElements>
    <a:clrScheme name="HaLab 그래파이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A4F57"/>
      </a:accent1>
      <a:accent2>
        <a:srgbClr val="898D92"/>
      </a:accent2>
      <a:accent3>
        <a:srgbClr val="B7B9BC"/>
      </a:accent3>
      <a:accent4>
        <a:srgbClr val="FFD43B"/>
      </a:accent4>
      <a:accent5>
        <a:srgbClr val="B7B9BC"/>
      </a:accent5>
      <a:accent6>
        <a:srgbClr val="E2E5EA"/>
      </a:accent6>
      <a:hlink>
        <a:srgbClr val="4A4F57"/>
      </a:hlink>
      <a:folHlink>
        <a:srgbClr val="B7B9B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