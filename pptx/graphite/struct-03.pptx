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(struct-03-b).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(struct-03-c).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슬라이드와 말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슬라이드에는 보여 줄 것만, 말할 것은 노트에</a:t>
            </a:r>
          </a:p>
        </p:txBody>
      </p:sp>
      <p:sp>
        <p:nvSpPr>
          <p:cNvPr id="5" name="struct-03:center"/>
          <p:cNvSpPr/>
          <p:nvPr/>
        </p:nvSpPr>
        <p:spPr>
          <a:xfrm>
            <a:off x="4632764" y="2131544"/>
            <a:ext cx="2926591" cy="1440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3:center-title"/>
          <p:cNvSpPr txBox="1"/>
          <p:nvPr/>
        </p:nvSpPr>
        <p:spPr>
          <a:xfrm>
            <a:off x="4632764" y="2527544"/>
            <a:ext cx="2926591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0" b="1" spc="-40">
                <a:solidFill>
                  <a:srgbClr val="FFFFFF"/>
                </a:solidFill>
              </a:rPr>
              <a:t>한 장 = 한 메시지</a:t>
            </a:r>
          </a:p>
        </p:txBody>
      </p:sp>
      <p:sp>
        <p:nvSpPr>
          <p:cNvPr id="7" name="struct-03:center-desc"/>
          <p:cNvSpPr txBox="1"/>
          <p:nvPr/>
        </p:nvSpPr>
        <p:spPr>
          <a:xfrm>
            <a:off x="4632764" y="2923544"/>
            <a:ext cx="2926591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E4E5E6"/>
                </a:solidFill>
              </a:rPr>
              <a:t>제목에 결론 문장</a:t>
            </a:r>
          </a:p>
        </p:txBody>
      </p:sp>
      <p:sp>
        <p:nvSpPr>
          <p:cNvPr id="8" name="struct-03:label"/>
          <p:cNvSpPr txBox="1"/>
          <p:nvPr/>
        </p:nvSpPr>
        <p:spPr>
          <a:xfrm>
            <a:off x="468000" y="2095544"/>
            <a:ext cx="3660764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보여 줄 것</a:t>
            </a:r>
          </a:p>
        </p:txBody>
      </p:sp>
      <p:sp>
        <p:nvSpPr>
          <p:cNvPr id="9" name="struct-03:title"/>
          <p:cNvSpPr txBox="1"/>
          <p:nvPr/>
        </p:nvSpPr>
        <p:spPr>
          <a:xfrm>
            <a:off x="468000" y="2318744"/>
            <a:ext cx="3660764" cy="41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 spc="-40">
                <a:solidFill>
                  <a:srgbClr val="262B33"/>
                </a:solidFill>
              </a:rPr>
              <a:t>슬라이드에</a:t>
            </a:r>
          </a:p>
        </p:txBody>
      </p:sp>
      <p:cxnSp>
        <p:nvCxnSpPr>
          <p:cNvPr id="10" name="struct-03:rule"/>
          <p:cNvCxnSpPr/>
          <p:nvPr/>
        </p:nvCxnSpPr>
        <p:spPr>
          <a:xfrm>
            <a:off x="468000" y="2761544"/>
            <a:ext cx="3660764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truct-03:items"/>
          <p:cNvSpPr txBox="1"/>
          <p:nvPr/>
        </p:nvSpPr>
        <p:spPr>
          <a:xfrm>
            <a:off x="468000" y="2869544"/>
            <a:ext cx="3660764" cy="9475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결론 한 문장 (제목)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 spc="-40">
                <a:solidFill>
                  <a:srgbClr val="262B33"/>
                </a:solidFill>
              </a:rPr>
              <a:t>그래프 하나를 크게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 spc="-40">
                <a:solidFill>
                  <a:srgbClr val="262B33"/>
                </a:solidFill>
              </a:rPr>
              <a:t>봐야 할 곳 표시</a:t>
            </a:r>
          </a:p>
        </p:txBody>
      </p:sp>
      <p:sp>
        <p:nvSpPr>
          <p:cNvPr id="12" name="struct-03:label"/>
          <p:cNvSpPr txBox="1"/>
          <p:nvPr/>
        </p:nvSpPr>
        <p:spPr>
          <a:xfrm>
            <a:off x="8063356" y="2095544"/>
            <a:ext cx="3660764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말할 것</a:t>
            </a:r>
          </a:p>
        </p:txBody>
      </p:sp>
      <p:sp>
        <p:nvSpPr>
          <p:cNvPr id="13" name="struct-03:title"/>
          <p:cNvSpPr txBox="1"/>
          <p:nvPr/>
        </p:nvSpPr>
        <p:spPr>
          <a:xfrm>
            <a:off x="8063356" y="2318744"/>
            <a:ext cx="3660764" cy="41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 spc="-40">
                <a:solidFill>
                  <a:srgbClr val="262B33"/>
                </a:solidFill>
              </a:rPr>
              <a:t>발표자 노트에</a:t>
            </a:r>
          </a:p>
        </p:txBody>
      </p:sp>
      <p:cxnSp>
        <p:nvCxnSpPr>
          <p:cNvPr id="14" name="struct-03:rule"/>
          <p:cNvCxnSpPr/>
          <p:nvPr/>
        </p:nvCxnSpPr>
        <p:spPr>
          <a:xfrm>
            <a:off x="8063356" y="2761544"/>
            <a:ext cx="3660764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ruct-03:items"/>
          <p:cNvSpPr txBox="1"/>
          <p:nvPr/>
        </p:nvSpPr>
        <p:spPr>
          <a:xfrm>
            <a:off x="8063356" y="2869544"/>
            <a:ext cx="3660764" cy="9475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왜 이 분석을 했는지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 spc="-40">
                <a:solidFill>
                  <a:srgbClr val="262B33"/>
                </a:solidFill>
              </a:rPr>
              <a:t>방법의 세부 설정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 spc="-40">
                <a:solidFill>
                  <a:srgbClr val="262B33"/>
                </a:solidFill>
              </a:rPr>
              <a:t>예상 질문과 답</a:t>
            </a:r>
          </a:p>
        </p:txBody>
      </p:sp>
      <p:cxnSp>
        <p:nvCxnSpPr>
          <p:cNvPr id="16" name="struct-03:link"/>
          <p:cNvCxnSpPr/>
          <p:nvPr/>
        </p:nvCxnSpPr>
        <p:spPr>
          <a:xfrm>
            <a:off x="4128764" y="2851544"/>
            <a:ext cx="504000" cy="0"/>
          </a:xfrm>
          <a:prstGeom prst="line">
            <a:avLst/>
          </a:prstGeom>
          <a:ln w="19050">
            <a:solidFill>
              <a:srgbClr val="4A4F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uct-03:link"/>
          <p:cNvCxnSpPr/>
          <p:nvPr/>
        </p:nvCxnSpPr>
        <p:spPr>
          <a:xfrm>
            <a:off x="7559356" y="2851544"/>
            <a:ext cx="504000" cy="0"/>
          </a:xfrm>
          <a:prstGeom prst="line">
            <a:avLst/>
          </a:prstGeom>
          <a:ln w="19050">
            <a:solidFill>
              <a:srgbClr val="4A4F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clusion:line"/>
          <p:cNvCxnSpPr/>
          <p:nvPr/>
        </p:nvCxnSpPr>
        <p:spPr>
          <a:xfrm>
            <a:off x="468000" y="457631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onclusion:text"/>
          <p:cNvSpPr txBox="1"/>
          <p:nvPr/>
        </p:nvSpPr>
        <p:spPr>
          <a:xfrm>
            <a:off x="468000" y="4774316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슬라이드의 글을 그대로 읽게 되면, 그 글은 노트로 옮길 때예요.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종양 미세환경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대장암 미세환경은 여덟 가지 세포로 이뤄져요</a:t>
            </a:r>
          </a:p>
        </p:txBody>
      </p:sp>
      <p:cxnSp>
        <p:nvCxnSpPr>
          <p:cNvPr id="5" name="struct-03:spoke"/>
          <p:cNvCxnSpPr/>
          <p:nvPr/>
        </p:nvCxnSpPr>
        <p:spPr>
          <a:xfrm flipV="1">
            <a:off x="6096060" y="2282602"/>
            <a:ext cx="0" cy="180000"/>
          </a:xfrm>
          <a:prstGeom prst="line">
            <a:avLst/>
          </a:prstGeom>
          <a:ln w="9525">
            <a:solidFill>
              <a:srgbClr val="B7B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uct-03:spoke"/>
          <p:cNvCxnSpPr/>
          <p:nvPr/>
        </p:nvCxnSpPr>
        <p:spPr>
          <a:xfrm flipV="1">
            <a:off x="7365729" y="2841940"/>
            <a:ext cx="1076672" cy="459359"/>
          </a:xfrm>
          <a:prstGeom prst="line">
            <a:avLst/>
          </a:prstGeom>
          <a:ln w="9525">
            <a:solidFill>
              <a:srgbClr val="B7B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uct-03:spoke"/>
          <p:cNvCxnSpPr/>
          <p:nvPr/>
        </p:nvCxnSpPr>
        <p:spPr>
          <a:xfrm>
            <a:off x="7476458" y="3843000"/>
            <a:ext cx="1943662" cy="0"/>
          </a:xfrm>
          <a:prstGeom prst="line">
            <a:avLst/>
          </a:prstGeom>
          <a:ln w="9525">
            <a:solidFill>
              <a:srgbClr val="B7B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uct-03:spoke"/>
          <p:cNvCxnSpPr/>
          <p:nvPr/>
        </p:nvCxnSpPr>
        <p:spPr>
          <a:xfrm>
            <a:off x="7365729" y="4384701"/>
            <a:ext cx="1076672" cy="459359"/>
          </a:xfrm>
          <a:prstGeom prst="line">
            <a:avLst/>
          </a:prstGeom>
          <a:ln w="9525">
            <a:solidFill>
              <a:srgbClr val="B7B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uct-03:spoke"/>
          <p:cNvCxnSpPr/>
          <p:nvPr/>
        </p:nvCxnSpPr>
        <p:spPr>
          <a:xfrm>
            <a:off x="6096060" y="5223398"/>
            <a:ext cx="0" cy="180000"/>
          </a:xfrm>
          <a:prstGeom prst="line">
            <a:avLst/>
          </a:prstGeom>
          <a:ln w="9525">
            <a:solidFill>
              <a:srgbClr val="B7B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uct-03:spoke"/>
          <p:cNvCxnSpPr/>
          <p:nvPr/>
        </p:nvCxnSpPr>
        <p:spPr>
          <a:xfrm flipH="1">
            <a:off x="3749719" y="4384701"/>
            <a:ext cx="1076672" cy="459359"/>
          </a:xfrm>
          <a:prstGeom prst="line">
            <a:avLst/>
          </a:prstGeom>
          <a:ln w="9525">
            <a:solidFill>
              <a:srgbClr val="B7B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uct-03:spoke"/>
          <p:cNvCxnSpPr/>
          <p:nvPr/>
        </p:nvCxnSpPr>
        <p:spPr>
          <a:xfrm flipH="1">
            <a:off x="2772000" y="3843000"/>
            <a:ext cx="1943662" cy="0"/>
          </a:xfrm>
          <a:prstGeom prst="line">
            <a:avLst/>
          </a:prstGeom>
          <a:ln w="9525">
            <a:solidFill>
              <a:srgbClr val="B7B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uct-03:spoke"/>
          <p:cNvCxnSpPr/>
          <p:nvPr/>
        </p:nvCxnSpPr>
        <p:spPr>
          <a:xfrm flipH="1" flipV="1">
            <a:off x="3749719" y="2841940"/>
            <a:ext cx="1076672" cy="459359"/>
          </a:xfrm>
          <a:prstGeom prst="line">
            <a:avLst/>
          </a:prstGeom>
          <a:ln w="9525">
            <a:solidFill>
              <a:srgbClr val="B7B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3:center"/>
          <p:cNvSpPr/>
          <p:nvPr/>
        </p:nvSpPr>
        <p:spPr>
          <a:xfrm>
            <a:off x="4715662" y="2462602"/>
            <a:ext cx="2760796" cy="2760796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3:center-title"/>
          <p:cNvSpPr txBox="1"/>
          <p:nvPr/>
        </p:nvSpPr>
        <p:spPr>
          <a:xfrm>
            <a:off x="5060761" y="2876721"/>
            <a:ext cx="2070597" cy="193255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FFFFFF"/>
                </a:solidFill>
              </a:rPr>
              <a:t>대장암 종양 미세환경</a:t>
            </a:r>
          </a:p>
        </p:txBody>
      </p:sp>
      <p:sp>
        <p:nvSpPr>
          <p:cNvPr id="15" name="struct-03:box"/>
          <p:cNvSpPr/>
          <p:nvPr/>
        </p:nvSpPr>
        <p:spPr>
          <a:xfrm>
            <a:off x="4944060" y="1584000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3:marker"/>
          <p:cNvSpPr/>
          <p:nvPr/>
        </p:nvSpPr>
        <p:spPr>
          <a:xfrm>
            <a:off x="5052060" y="1816301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4A4F57"/>
                </a:solidFill>
              </a:rPr>
              <a:t>1</a:t>
            </a:r>
          </a:p>
        </p:txBody>
      </p:sp>
      <p:sp>
        <p:nvSpPr>
          <p:cNvPr id="17" name="struct-03:box-text"/>
          <p:cNvSpPr txBox="1"/>
          <p:nvPr/>
        </p:nvSpPr>
        <p:spPr>
          <a:xfrm>
            <a:off x="5358060" y="1584000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종양세포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상피 유래 암세포</a:t>
            </a:r>
          </a:p>
        </p:txBody>
      </p:sp>
      <p:sp>
        <p:nvSpPr>
          <p:cNvPr id="18" name="struct-03:box"/>
          <p:cNvSpPr/>
          <p:nvPr/>
        </p:nvSpPr>
        <p:spPr>
          <a:xfrm>
            <a:off x="8109112" y="2143338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struct-03:marker"/>
          <p:cNvSpPr/>
          <p:nvPr/>
        </p:nvSpPr>
        <p:spPr>
          <a:xfrm>
            <a:off x="8217112" y="2375639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4A4F57"/>
                </a:solidFill>
              </a:rPr>
              <a:t>2</a:t>
            </a:r>
          </a:p>
        </p:txBody>
      </p:sp>
      <p:sp>
        <p:nvSpPr>
          <p:cNvPr id="20" name="struct-03:box-text"/>
          <p:cNvSpPr txBox="1"/>
          <p:nvPr/>
        </p:nvSpPr>
        <p:spPr>
          <a:xfrm>
            <a:off x="8523112" y="2143338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세포독성 · 조절 T세포</a:t>
            </a:r>
          </a:p>
        </p:txBody>
      </p:sp>
      <p:sp>
        <p:nvSpPr>
          <p:cNvPr id="21" name="struct-03:box"/>
          <p:cNvSpPr/>
          <p:nvPr/>
        </p:nvSpPr>
        <p:spPr>
          <a:xfrm>
            <a:off x="9420120" y="3493699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3:marker"/>
          <p:cNvSpPr/>
          <p:nvPr/>
        </p:nvSpPr>
        <p:spPr>
          <a:xfrm>
            <a:off x="9528120" y="3726000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4A4F57"/>
                </a:solidFill>
              </a:rPr>
              <a:t>3</a:t>
            </a:r>
          </a:p>
        </p:txBody>
      </p:sp>
      <p:sp>
        <p:nvSpPr>
          <p:cNvPr id="23" name="struct-03:box-text"/>
          <p:cNvSpPr txBox="1"/>
          <p:nvPr/>
        </p:nvSpPr>
        <p:spPr>
          <a:xfrm>
            <a:off x="9834120" y="3493699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항체 생산 · 3차 림프 구조</a:t>
            </a:r>
          </a:p>
        </p:txBody>
      </p:sp>
      <p:sp>
        <p:nvSpPr>
          <p:cNvPr id="24" name="struct-03:box"/>
          <p:cNvSpPr/>
          <p:nvPr/>
        </p:nvSpPr>
        <p:spPr>
          <a:xfrm>
            <a:off x="8109112" y="4844060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struct-03:marker"/>
          <p:cNvSpPr/>
          <p:nvPr/>
        </p:nvSpPr>
        <p:spPr>
          <a:xfrm>
            <a:off x="8217112" y="5076361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4A4F57"/>
                </a:solidFill>
              </a:rPr>
              <a:t>4</a:t>
            </a:r>
          </a:p>
        </p:txBody>
      </p:sp>
      <p:sp>
        <p:nvSpPr>
          <p:cNvPr id="26" name="struct-03:box-text"/>
          <p:cNvSpPr txBox="1"/>
          <p:nvPr/>
        </p:nvSpPr>
        <p:spPr>
          <a:xfrm>
            <a:off x="8523112" y="4844060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NK세포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선천 면역 세포독성</a:t>
            </a:r>
          </a:p>
        </p:txBody>
      </p:sp>
      <p:sp>
        <p:nvSpPr>
          <p:cNvPr id="27" name="struct-03:box"/>
          <p:cNvSpPr/>
          <p:nvPr/>
        </p:nvSpPr>
        <p:spPr>
          <a:xfrm>
            <a:off x="4944060" y="5403398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struct-03:marker"/>
          <p:cNvSpPr/>
          <p:nvPr/>
        </p:nvSpPr>
        <p:spPr>
          <a:xfrm>
            <a:off x="5052060" y="5635699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4A4F57"/>
                </a:solidFill>
              </a:rPr>
              <a:t>5</a:t>
            </a:r>
          </a:p>
        </p:txBody>
      </p:sp>
      <p:sp>
        <p:nvSpPr>
          <p:cNvPr id="29" name="struct-03:box-text"/>
          <p:cNvSpPr txBox="1"/>
          <p:nvPr/>
        </p:nvSpPr>
        <p:spPr>
          <a:xfrm>
            <a:off x="5358060" y="5403398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대식세포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M1 · M2 극성화</a:t>
            </a:r>
          </a:p>
        </p:txBody>
      </p:sp>
      <p:sp>
        <p:nvSpPr>
          <p:cNvPr id="30" name="struct-03:box"/>
          <p:cNvSpPr/>
          <p:nvPr/>
        </p:nvSpPr>
        <p:spPr>
          <a:xfrm>
            <a:off x="1779008" y="4844060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struct-03:marker"/>
          <p:cNvSpPr/>
          <p:nvPr/>
        </p:nvSpPr>
        <p:spPr>
          <a:xfrm>
            <a:off x="1887008" y="5076361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4A4F57"/>
                </a:solidFill>
              </a:rPr>
              <a:t>6</a:t>
            </a:r>
          </a:p>
        </p:txBody>
      </p:sp>
      <p:sp>
        <p:nvSpPr>
          <p:cNvPr id="32" name="struct-03:box-text"/>
          <p:cNvSpPr txBox="1"/>
          <p:nvPr/>
        </p:nvSpPr>
        <p:spPr>
          <a:xfrm>
            <a:off x="2193008" y="4844060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수지상세포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항원 제시</a:t>
            </a:r>
          </a:p>
        </p:txBody>
      </p:sp>
      <p:sp>
        <p:nvSpPr>
          <p:cNvPr id="33" name="struct-03:box"/>
          <p:cNvSpPr/>
          <p:nvPr/>
        </p:nvSpPr>
        <p:spPr>
          <a:xfrm>
            <a:off x="468000" y="3493699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struct-03:marker"/>
          <p:cNvSpPr/>
          <p:nvPr/>
        </p:nvSpPr>
        <p:spPr>
          <a:xfrm>
            <a:off x="576000" y="3726000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4A4F57"/>
                </a:solidFill>
              </a:rPr>
              <a:t>7</a:t>
            </a:r>
          </a:p>
        </p:txBody>
      </p:sp>
      <p:sp>
        <p:nvSpPr>
          <p:cNvPr id="35" name="struct-03:box-text"/>
          <p:cNvSpPr txBox="1"/>
          <p:nvPr/>
        </p:nvSpPr>
        <p:spPr>
          <a:xfrm>
            <a:off x="882000" y="3493699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섬유아세포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암 연관 섬유아세포 (CAF)</a:t>
            </a:r>
          </a:p>
        </p:txBody>
      </p:sp>
      <p:sp>
        <p:nvSpPr>
          <p:cNvPr id="36" name="struct-03:box"/>
          <p:cNvSpPr/>
          <p:nvPr/>
        </p:nvSpPr>
        <p:spPr>
          <a:xfrm>
            <a:off x="1779008" y="2143338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struct-03:marker"/>
          <p:cNvSpPr/>
          <p:nvPr/>
        </p:nvSpPr>
        <p:spPr>
          <a:xfrm>
            <a:off x="1887008" y="2375639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4A4F57"/>
                </a:solidFill>
              </a:rPr>
              <a:t>8</a:t>
            </a:r>
          </a:p>
        </p:txBody>
      </p:sp>
      <p:sp>
        <p:nvSpPr>
          <p:cNvPr id="38" name="struct-03:box-text"/>
          <p:cNvSpPr txBox="1"/>
          <p:nvPr/>
        </p:nvSpPr>
        <p:spPr>
          <a:xfrm>
            <a:off x="2193008" y="2143338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내피세포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종양 혈관 형성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종양 미세환경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대장암 미세환경의 주요 세포 여섯 가지</a:t>
            </a:r>
          </a:p>
        </p:txBody>
      </p:sp>
      <p:cxnSp>
        <p:nvCxnSpPr>
          <p:cNvPr id="5" name="struct-03:spoke"/>
          <p:cNvCxnSpPr/>
          <p:nvPr/>
        </p:nvCxnSpPr>
        <p:spPr>
          <a:xfrm flipV="1">
            <a:off x="6096060" y="2282602"/>
            <a:ext cx="0" cy="180000"/>
          </a:xfrm>
          <a:prstGeom prst="line">
            <a:avLst/>
          </a:prstGeom>
          <a:ln w="9525">
            <a:solidFill>
              <a:srgbClr val="B7B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uct-03:spoke"/>
          <p:cNvCxnSpPr/>
          <p:nvPr/>
        </p:nvCxnSpPr>
        <p:spPr>
          <a:xfrm flipV="1">
            <a:off x="7436394" y="3171917"/>
            <a:ext cx="1384048" cy="340925"/>
          </a:xfrm>
          <a:prstGeom prst="line">
            <a:avLst/>
          </a:prstGeom>
          <a:ln w="9525">
            <a:solidFill>
              <a:srgbClr val="B7B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uct-03:spoke"/>
          <p:cNvCxnSpPr/>
          <p:nvPr/>
        </p:nvCxnSpPr>
        <p:spPr>
          <a:xfrm>
            <a:off x="7436394" y="4173158"/>
            <a:ext cx="1384048" cy="340925"/>
          </a:xfrm>
          <a:prstGeom prst="line">
            <a:avLst/>
          </a:prstGeom>
          <a:ln w="9525">
            <a:solidFill>
              <a:srgbClr val="B7B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uct-03:spoke"/>
          <p:cNvCxnSpPr/>
          <p:nvPr/>
        </p:nvCxnSpPr>
        <p:spPr>
          <a:xfrm>
            <a:off x="6096060" y="5223398"/>
            <a:ext cx="0" cy="180000"/>
          </a:xfrm>
          <a:prstGeom prst="line">
            <a:avLst/>
          </a:prstGeom>
          <a:ln w="9525">
            <a:solidFill>
              <a:srgbClr val="B7B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uct-03:spoke"/>
          <p:cNvCxnSpPr/>
          <p:nvPr/>
        </p:nvCxnSpPr>
        <p:spPr>
          <a:xfrm flipH="1">
            <a:off x="3371678" y="4173158"/>
            <a:ext cx="1384048" cy="340925"/>
          </a:xfrm>
          <a:prstGeom prst="line">
            <a:avLst/>
          </a:prstGeom>
          <a:ln w="9525">
            <a:solidFill>
              <a:srgbClr val="B7B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uct-03:spoke"/>
          <p:cNvCxnSpPr/>
          <p:nvPr/>
        </p:nvCxnSpPr>
        <p:spPr>
          <a:xfrm flipH="1" flipV="1">
            <a:off x="3371678" y="3171917"/>
            <a:ext cx="1384048" cy="340925"/>
          </a:xfrm>
          <a:prstGeom prst="line">
            <a:avLst/>
          </a:prstGeom>
          <a:ln w="9525">
            <a:solidFill>
              <a:srgbClr val="B7B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truct-03:center"/>
          <p:cNvSpPr/>
          <p:nvPr/>
        </p:nvSpPr>
        <p:spPr>
          <a:xfrm>
            <a:off x="4715662" y="2462602"/>
            <a:ext cx="2760796" cy="2760796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3:center-title"/>
          <p:cNvSpPr txBox="1"/>
          <p:nvPr/>
        </p:nvSpPr>
        <p:spPr>
          <a:xfrm>
            <a:off x="5060761" y="2876721"/>
            <a:ext cx="2070597" cy="193255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FFFFFF"/>
                </a:solidFill>
              </a:rPr>
              <a:t>대장암 종양 미세환경</a:t>
            </a:r>
          </a:p>
        </p:txBody>
      </p:sp>
      <p:sp>
        <p:nvSpPr>
          <p:cNvPr id="13" name="struct-03:box"/>
          <p:cNvSpPr/>
          <p:nvPr/>
        </p:nvSpPr>
        <p:spPr>
          <a:xfrm>
            <a:off x="4944060" y="1584000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3:marker"/>
          <p:cNvSpPr/>
          <p:nvPr/>
        </p:nvSpPr>
        <p:spPr>
          <a:xfrm>
            <a:off x="5052060" y="1816301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4A4F57"/>
                </a:solidFill>
              </a:rPr>
              <a:t>1</a:t>
            </a:r>
          </a:p>
        </p:txBody>
      </p:sp>
      <p:sp>
        <p:nvSpPr>
          <p:cNvPr id="15" name="struct-03:box-text"/>
          <p:cNvSpPr txBox="1"/>
          <p:nvPr/>
        </p:nvSpPr>
        <p:spPr>
          <a:xfrm>
            <a:off x="5358060" y="1584000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종양세포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상피 유래 암세포</a:t>
            </a:r>
          </a:p>
        </p:txBody>
      </p:sp>
      <p:sp>
        <p:nvSpPr>
          <p:cNvPr id="16" name="struct-03:box"/>
          <p:cNvSpPr/>
          <p:nvPr/>
        </p:nvSpPr>
        <p:spPr>
          <a:xfrm>
            <a:off x="8820442" y="2538850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struct-03:marker"/>
          <p:cNvSpPr/>
          <p:nvPr/>
        </p:nvSpPr>
        <p:spPr>
          <a:xfrm>
            <a:off x="8928442" y="2771150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4A4F57"/>
                </a:solidFill>
              </a:rPr>
              <a:t>2</a:t>
            </a:r>
          </a:p>
        </p:txBody>
      </p:sp>
      <p:sp>
        <p:nvSpPr>
          <p:cNvPr id="18" name="struct-03:box-text"/>
          <p:cNvSpPr txBox="1"/>
          <p:nvPr/>
        </p:nvSpPr>
        <p:spPr>
          <a:xfrm>
            <a:off x="9234442" y="2538850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세포독성 · 조절 T세포</a:t>
            </a:r>
          </a:p>
        </p:txBody>
      </p:sp>
      <p:sp>
        <p:nvSpPr>
          <p:cNvPr id="19" name="struct-03:box"/>
          <p:cNvSpPr/>
          <p:nvPr/>
        </p:nvSpPr>
        <p:spPr>
          <a:xfrm>
            <a:off x="8820442" y="4448549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3:marker"/>
          <p:cNvSpPr/>
          <p:nvPr/>
        </p:nvSpPr>
        <p:spPr>
          <a:xfrm>
            <a:off x="8928442" y="4680850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4A4F57"/>
                </a:solidFill>
              </a:rPr>
              <a:t>3</a:t>
            </a:r>
          </a:p>
        </p:txBody>
      </p:sp>
      <p:sp>
        <p:nvSpPr>
          <p:cNvPr id="21" name="struct-03:box-text"/>
          <p:cNvSpPr txBox="1"/>
          <p:nvPr/>
        </p:nvSpPr>
        <p:spPr>
          <a:xfrm>
            <a:off x="9234442" y="4448549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대식세포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M1 · M2 극성화</a:t>
            </a:r>
          </a:p>
        </p:txBody>
      </p:sp>
      <p:sp>
        <p:nvSpPr>
          <p:cNvPr id="22" name="struct-03:box"/>
          <p:cNvSpPr/>
          <p:nvPr/>
        </p:nvSpPr>
        <p:spPr>
          <a:xfrm>
            <a:off x="4944060" y="5403398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struct-03:marker"/>
          <p:cNvSpPr/>
          <p:nvPr/>
        </p:nvSpPr>
        <p:spPr>
          <a:xfrm>
            <a:off x="5052060" y="5635699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4A4F57"/>
                </a:solidFill>
              </a:rPr>
              <a:t>4</a:t>
            </a:r>
          </a:p>
        </p:txBody>
      </p:sp>
      <p:sp>
        <p:nvSpPr>
          <p:cNvPr id="24" name="struct-03:box-text"/>
          <p:cNvSpPr txBox="1"/>
          <p:nvPr/>
        </p:nvSpPr>
        <p:spPr>
          <a:xfrm>
            <a:off x="5358060" y="5403398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수지상세포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항원 제시</a:t>
            </a:r>
          </a:p>
        </p:txBody>
      </p:sp>
      <p:sp>
        <p:nvSpPr>
          <p:cNvPr id="25" name="struct-03:box"/>
          <p:cNvSpPr/>
          <p:nvPr/>
        </p:nvSpPr>
        <p:spPr>
          <a:xfrm>
            <a:off x="1067678" y="4448549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struct-03:marker"/>
          <p:cNvSpPr/>
          <p:nvPr/>
        </p:nvSpPr>
        <p:spPr>
          <a:xfrm>
            <a:off x="1175678" y="4680850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4A4F57"/>
                </a:solidFill>
              </a:rPr>
              <a:t>5</a:t>
            </a:r>
          </a:p>
        </p:txBody>
      </p:sp>
      <p:sp>
        <p:nvSpPr>
          <p:cNvPr id="27" name="struct-03:box-text"/>
          <p:cNvSpPr txBox="1"/>
          <p:nvPr/>
        </p:nvSpPr>
        <p:spPr>
          <a:xfrm>
            <a:off x="1481678" y="4448549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섬유아세포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암 연관 섬유아세포 (CAF)</a:t>
            </a:r>
          </a:p>
        </p:txBody>
      </p:sp>
      <p:sp>
        <p:nvSpPr>
          <p:cNvPr id="28" name="struct-03:box"/>
          <p:cNvSpPr/>
          <p:nvPr/>
        </p:nvSpPr>
        <p:spPr>
          <a:xfrm>
            <a:off x="1067678" y="2538850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struct-03:marker"/>
          <p:cNvSpPr/>
          <p:nvPr/>
        </p:nvSpPr>
        <p:spPr>
          <a:xfrm>
            <a:off x="1175678" y="2771150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4A4F57"/>
                </a:solidFill>
              </a:rPr>
              <a:t>6</a:t>
            </a:r>
          </a:p>
        </p:txBody>
      </p:sp>
      <p:sp>
        <p:nvSpPr>
          <p:cNvPr id="30" name="struct-03:box-text"/>
          <p:cNvSpPr txBox="1"/>
          <p:nvPr/>
        </p:nvSpPr>
        <p:spPr>
          <a:xfrm>
            <a:off x="1481678" y="2538850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내피세포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종양 혈관 형성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그래파이트 클린 16:9">
  <a:themeElements>
    <a:clrScheme name="HaLab 그래파이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