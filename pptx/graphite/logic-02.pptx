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(logic-02-a).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(logic-02-b).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(logic-02-c).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EDF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EDF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 방법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공간 전사체의 세 가지 한계를 분석 단계마다 하나씩 푼다</a:t>
            </a:r>
          </a:p>
        </p:txBody>
      </p:sp>
      <p:sp>
        <p:nvSpPr>
          <p:cNvPr id="5" name="logic-02:head"/>
          <p:cNvSpPr txBox="1"/>
          <p:nvPr/>
        </p:nvSpPr>
        <p:spPr>
          <a:xfrm>
            <a:off x="468000" y="2061852"/>
            <a:ext cx="4202928" cy="29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6B7280"/>
                </a:solidFill>
              </a:rPr>
              <a:t>기존 공간 전사체의 한계</a:t>
            </a:r>
          </a:p>
        </p:txBody>
      </p:sp>
      <p:sp>
        <p:nvSpPr>
          <p:cNvPr id="6" name="logic-02:head"/>
          <p:cNvSpPr txBox="1"/>
          <p:nvPr/>
        </p:nvSpPr>
        <p:spPr>
          <a:xfrm>
            <a:off x="5419728" y="2061852"/>
            <a:ext cx="6304392" cy="29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이 연구의 해결</a:t>
            </a:r>
          </a:p>
        </p:txBody>
      </p:sp>
      <p:sp>
        <p:nvSpPr>
          <p:cNvPr id="7" name="logic-02:marker"/>
          <p:cNvSpPr/>
          <p:nvPr/>
        </p:nvSpPr>
        <p:spPr>
          <a:xfrm>
            <a:off x="468000" y="2688047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6B7280"/>
                </a:solidFill>
              </a:rPr>
              <a:t>1</a:t>
            </a:r>
          </a:p>
        </p:txBody>
      </p:sp>
      <p:sp>
        <p:nvSpPr>
          <p:cNvPr id="8" name="logic-02:problem-text"/>
          <p:cNvSpPr txBox="1"/>
          <p:nvPr/>
        </p:nvSpPr>
        <p:spPr>
          <a:xfrm>
            <a:off x="982800" y="2493397"/>
            <a:ext cx="3547728" cy="740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스팟 하나에 여러 세포가 섞임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55 µm 스팟에 1–10개 세포</a:t>
            </a:r>
          </a:p>
        </p:txBody>
      </p:sp>
      <p:sp>
        <p:nvSpPr>
          <p:cNvPr id="9" name="logic-02:solution"/>
          <p:cNvSpPr/>
          <p:nvPr/>
        </p:nvSpPr>
        <p:spPr>
          <a:xfrm>
            <a:off x="5419728" y="2493397"/>
            <a:ext cx="6304392" cy="740300"/>
          </a:xfrm>
          <a:prstGeom prst="rect">
            <a:avLst/>
          </a:prstGeom>
          <a:solidFill>
            <a:srgbClr val="EDEDEE"/>
          </a:solidFill>
          <a:ln w="12700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logic-02:marker"/>
          <p:cNvSpPr/>
          <p:nvPr/>
        </p:nvSpPr>
        <p:spPr>
          <a:xfrm>
            <a:off x="5653728" y="2688047"/>
            <a:ext cx="351000" cy="351000"/>
          </a:xfrm>
          <a:prstGeom prst="ellipse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logic-02:solution-text"/>
          <p:cNvSpPr txBox="1"/>
          <p:nvPr/>
        </p:nvSpPr>
        <p:spPr>
          <a:xfrm>
            <a:off x="6168528" y="2493397"/>
            <a:ext cx="5321592" cy="740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scRNA-seq 참조로 디컨볼루션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같은 조직의 단일세포 지도로 스팟마다 세포 유형 비율을 추정</a:t>
            </a:r>
          </a:p>
        </p:txBody>
      </p:sp>
      <p:cxnSp>
        <p:nvCxnSpPr>
          <p:cNvPr id="12" name="logic-02:link"/>
          <p:cNvCxnSpPr/>
          <p:nvPr/>
        </p:nvCxnSpPr>
        <p:spPr>
          <a:xfrm>
            <a:off x="4741128" y="2863547"/>
            <a:ext cx="6084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logic-02:row-rule"/>
          <p:cNvCxnSpPr/>
          <p:nvPr/>
        </p:nvCxnSpPr>
        <p:spPr>
          <a:xfrm>
            <a:off x="468000" y="3341697"/>
            <a:ext cx="4202928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logic-02:marker"/>
          <p:cNvSpPr/>
          <p:nvPr/>
        </p:nvSpPr>
        <p:spPr>
          <a:xfrm>
            <a:off x="468000" y="3644347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6B7280"/>
                </a:solidFill>
              </a:rPr>
              <a:t>2</a:t>
            </a:r>
          </a:p>
        </p:txBody>
      </p:sp>
      <p:sp>
        <p:nvSpPr>
          <p:cNvPr id="15" name="logic-02:problem-text"/>
          <p:cNvSpPr txBox="1"/>
          <p:nvPr/>
        </p:nvSpPr>
        <p:spPr>
          <a:xfrm>
            <a:off x="982800" y="3449697"/>
            <a:ext cx="3547728" cy="740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절편마다 배치 효과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같은 환자도 절편끼리 군집이 갈림</a:t>
            </a:r>
          </a:p>
        </p:txBody>
      </p:sp>
      <p:sp>
        <p:nvSpPr>
          <p:cNvPr id="16" name="logic-02:solution"/>
          <p:cNvSpPr/>
          <p:nvPr/>
        </p:nvSpPr>
        <p:spPr>
          <a:xfrm>
            <a:off x="5419728" y="3449697"/>
            <a:ext cx="6304392" cy="7403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logic-02:marker"/>
          <p:cNvSpPr/>
          <p:nvPr/>
        </p:nvSpPr>
        <p:spPr>
          <a:xfrm>
            <a:off x="5653728" y="3644347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4F57"/>
                </a:solidFill>
              </a:rPr>
              <a:t>2</a:t>
            </a:r>
          </a:p>
        </p:txBody>
      </p:sp>
      <p:sp>
        <p:nvSpPr>
          <p:cNvPr id="18" name="logic-02:solution-text"/>
          <p:cNvSpPr txBox="1"/>
          <p:nvPr/>
        </p:nvSpPr>
        <p:spPr>
          <a:xfrm>
            <a:off x="6168528" y="3449697"/>
            <a:ext cx="5321592" cy="740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절편 통합 후 공간 군집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절편 12장을 한 공간에 맞춘 뒤 이웃 정보로 영역을 나눈다</a:t>
            </a:r>
          </a:p>
        </p:txBody>
      </p:sp>
      <p:cxnSp>
        <p:nvCxnSpPr>
          <p:cNvPr id="19" name="logic-02:link"/>
          <p:cNvCxnSpPr/>
          <p:nvPr/>
        </p:nvCxnSpPr>
        <p:spPr>
          <a:xfrm>
            <a:off x="4741128" y="3819847"/>
            <a:ext cx="6084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logic-02:row-rule"/>
          <p:cNvCxnSpPr/>
          <p:nvPr/>
        </p:nvCxnSpPr>
        <p:spPr>
          <a:xfrm>
            <a:off x="468000" y="4297997"/>
            <a:ext cx="4202928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logic-02:marker"/>
          <p:cNvSpPr/>
          <p:nvPr/>
        </p:nvSpPr>
        <p:spPr>
          <a:xfrm>
            <a:off x="468000" y="4600648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6B7280"/>
                </a:solidFill>
              </a:rPr>
              <a:t>3</a:t>
            </a:r>
          </a:p>
        </p:txBody>
      </p:sp>
      <p:sp>
        <p:nvSpPr>
          <p:cNvPr id="22" name="logic-02:problem-text"/>
          <p:cNvSpPr txBox="1"/>
          <p:nvPr/>
        </p:nvSpPr>
        <p:spPr>
          <a:xfrm>
            <a:off x="982800" y="4405997"/>
            <a:ext cx="3547728" cy="740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세포 간 상호작용을 직접 못 봄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발현만으로는 누가 누구와 맞닿는지 모른다</a:t>
            </a:r>
          </a:p>
        </p:txBody>
      </p:sp>
      <p:sp>
        <p:nvSpPr>
          <p:cNvPr id="23" name="logic-02:solution"/>
          <p:cNvSpPr/>
          <p:nvPr/>
        </p:nvSpPr>
        <p:spPr>
          <a:xfrm>
            <a:off x="5419728" y="4405997"/>
            <a:ext cx="6304392" cy="7403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logic-02:marker"/>
          <p:cNvSpPr/>
          <p:nvPr/>
        </p:nvSpPr>
        <p:spPr>
          <a:xfrm>
            <a:off x="5653728" y="4600648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4F57"/>
                </a:solidFill>
              </a:rPr>
              <a:t>3</a:t>
            </a:r>
          </a:p>
        </p:txBody>
      </p:sp>
      <p:sp>
        <p:nvSpPr>
          <p:cNvPr id="25" name="logic-02:solution-text"/>
          <p:cNvSpPr txBox="1"/>
          <p:nvPr/>
        </p:nvSpPr>
        <p:spPr>
          <a:xfrm>
            <a:off x="6168528" y="4405997"/>
            <a:ext cx="5321592" cy="740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인접 스팟 리간드-수용체 분석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맞닿은 스팟 쌍에서만 리간드와 수용체 발현을 짝짓는다</a:t>
            </a:r>
          </a:p>
        </p:txBody>
      </p:sp>
      <p:cxnSp>
        <p:nvCxnSpPr>
          <p:cNvPr id="26" name="logic-02:link"/>
          <p:cNvCxnSpPr/>
          <p:nvPr/>
        </p:nvCxnSpPr>
        <p:spPr>
          <a:xfrm>
            <a:off x="4741128" y="4776148"/>
            <a:ext cx="6084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코호트 설계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작은 단일기관 코호트의 두 한계를 다기관 설계로 푼다</a:t>
            </a:r>
          </a:p>
        </p:txBody>
      </p:sp>
      <p:sp>
        <p:nvSpPr>
          <p:cNvPr id="5" name="logic-02:marker"/>
          <p:cNvSpPr/>
          <p:nvPr/>
        </p:nvSpPr>
        <p:spPr>
          <a:xfrm>
            <a:off x="468000" y="2513268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6B7280"/>
                </a:solidFill>
              </a:rPr>
              <a:t>1</a:t>
            </a:r>
          </a:p>
        </p:txBody>
      </p:sp>
      <p:sp>
        <p:nvSpPr>
          <p:cNvPr id="6" name="logic-02:problem-text"/>
          <p:cNvSpPr txBox="1"/>
          <p:nvPr/>
        </p:nvSpPr>
        <p:spPr>
          <a:xfrm>
            <a:off x="982800" y="2419668"/>
            <a:ext cx="3547728" cy="538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표본 수 부족 (n = 48)</a:t>
            </a:r>
          </a:p>
        </p:txBody>
      </p:sp>
      <p:sp>
        <p:nvSpPr>
          <p:cNvPr id="7" name="logic-02:solution"/>
          <p:cNvSpPr/>
          <p:nvPr/>
        </p:nvSpPr>
        <p:spPr>
          <a:xfrm>
            <a:off x="5419728" y="2419668"/>
            <a:ext cx="6304392" cy="538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logic-02:marker"/>
          <p:cNvSpPr/>
          <p:nvPr/>
        </p:nvSpPr>
        <p:spPr>
          <a:xfrm>
            <a:off x="5653728" y="2513268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4F57"/>
                </a:solidFill>
              </a:rPr>
              <a:t>1</a:t>
            </a:r>
          </a:p>
        </p:txBody>
      </p:sp>
      <p:sp>
        <p:nvSpPr>
          <p:cNvPr id="9" name="logic-02:solution-text"/>
          <p:cNvSpPr txBox="1"/>
          <p:nvPr/>
        </p:nvSpPr>
        <p:spPr>
          <a:xfrm>
            <a:off x="6168528" y="2419668"/>
            <a:ext cx="5321592" cy="538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3개 기관 공동 모집으로 n = 300</a:t>
            </a:r>
          </a:p>
        </p:txBody>
      </p:sp>
      <p:cxnSp>
        <p:nvCxnSpPr>
          <p:cNvPr id="10" name="logic-02:link"/>
          <p:cNvCxnSpPr/>
          <p:nvPr/>
        </p:nvCxnSpPr>
        <p:spPr>
          <a:xfrm>
            <a:off x="4741128" y="2688768"/>
            <a:ext cx="6084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logic-02:row-rule"/>
          <p:cNvCxnSpPr/>
          <p:nvPr/>
        </p:nvCxnSpPr>
        <p:spPr>
          <a:xfrm>
            <a:off x="468000" y="3065868"/>
            <a:ext cx="4202928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logic-02:marker"/>
          <p:cNvSpPr/>
          <p:nvPr/>
        </p:nvSpPr>
        <p:spPr>
          <a:xfrm>
            <a:off x="468000" y="3267468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6B7280"/>
                </a:solidFill>
              </a:rPr>
              <a:t>2</a:t>
            </a:r>
          </a:p>
        </p:txBody>
      </p:sp>
      <p:sp>
        <p:nvSpPr>
          <p:cNvPr id="13" name="logic-02:problem-text"/>
          <p:cNvSpPr txBox="1"/>
          <p:nvPr/>
        </p:nvSpPr>
        <p:spPr>
          <a:xfrm>
            <a:off x="982800" y="3173868"/>
            <a:ext cx="3547728" cy="538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외부 검증 없음</a:t>
            </a:r>
          </a:p>
        </p:txBody>
      </p:sp>
      <p:sp>
        <p:nvSpPr>
          <p:cNvPr id="14" name="logic-02:solution"/>
          <p:cNvSpPr/>
          <p:nvPr/>
        </p:nvSpPr>
        <p:spPr>
          <a:xfrm>
            <a:off x="5419728" y="3173868"/>
            <a:ext cx="6304392" cy="538200"/>
          </a:xfrm>
          <a:prstGeom prst="rect">
            <a:avLst/>
          </a:prstGeom>
          <a:solidFill>
            <a:srgbClr val="EDEDEE"/>
          </a:solidFill>
          <a:ln w="12700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logic-02:marker"/>
          <p:cNvSpPr/>
          <p:nvPr/>
        </p:nvSpPr>
        <p:spPr>
          <a:xfrm>
            <a:off x="5653728" y="3267468"/>
            <a:ext cx="351000" cy="351000"/>
          </a:xfrm>
          <a:prstGeom prst="ellipse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logic-02:solution-text"/>
          <p:cNvSpPr txBox="1"/>
          <p:nvPr/>
        </p:nvSpPr>
        <p:spPr>
          <a:xfrm>
            <a:off x="6168528" y="3173868"/>
            <a:ext cx="5321592" cy="538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기관 하나를 통째로 검증 코호트로</a:t>
            </a:r>
          </a:p>
        </p:txBody>
      </p:sp>
      <p:cxnSp>
        <p:nvCxnSpPr>
          <p:cNvPr id="17" name="logic-02:link"/>
          <p:cNvCxnSpPr/>
          <p:nvPr/>
        </p:nvCxnSpPr>
        <p:spPr>
          <a:xfrm>
            <a:off x="4741128" y="3442968"/>
            <a:ext cx="6084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clusion:line"/>
          <p:cNvCxnSpPr/>
          <p:nvPr/>
        </p:nvCxnSpPr>
        <p:spPr>
          <a:xfrm>
            <a:off x="468000" y="39280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conclusion:text"/>
          <p:cNvSpPr txBox="1"/>
          <p:nvPr/>
        </p:nvSpPr>
        <p:spPr>
          <a:xfrm>
            <a:off x="468000" y="41260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모집 기간은 18개월에서 24개월로 늘지만, 결과를 다른 기관에 그대로 적용할 수 있다.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이미징 분석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칼슘 이미징 분석의 병목 세 곳을 자동화로 줄였다</a:t>
            </a:r>
          </a:p>
        </p:txBody>
      </p:sp>
      <p:sp>
        <p:nvSpPr>
          <p:cNvPr id="5" name="logic-02:marker"/>
          <p:cNvSpPr/>
          <p:nvPr/>
        </p:nvSpPr>
        <p:spPr>
          <a:xfrm>
            <a:off x="468000" y="2400350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6B7280"/>
                </a:solidFill>
              </a:rPr>
              <a:t>1</a:t>
            </a:r>
          </a:p>
        </p:txBody>
      </p:sp>
      <p:sp>
        <p:nvSpPr>
          <p:cNvPr id="6" name="logic-02:problem-text"/>
          <p:cNvSpPr txBox="1"/>
          <p:nvPr/>
        </p:nvSpPr>
        <p:spPr>
          <a:xfrm>
            <a:off x="982800" y="2205700"/>
            <a:ext cx="3547728" cy="740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움직임 보정을 손으로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영상 하나에 30분</a:t>
            </a:r>
          </a:p>
        </p:txBody>
      </p:sp>
      <p:sp>
        <p:nvSpPr>
          <p:cNvPr id="7" name="logic-02:solution"/>
          <p:cNvSpPr/>
          <p:nvPr/>
        </p:nvSpPr>
        <p:spPr>
          <a:xfrm>
            <a:off x="5419728" y="2205700"/>
            <a:ext cx="6304392" cy="7403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logic-02:marker"/>
          <p:cNvSpPr/>
          <p:nvPr/>
        </p:nvSpPr>
        <p:spPr>
          <a:xfrm>
            <a:off x="5653728" y="2400350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4F57"/>
                </a:solidFill>
              </a:rPr>
              <a:t>1</a:t>
            </a:r>
          </a:p>
        </p:txBody>
      </p:sp>
      <p:sp>
        <p:nvSpPr>
          <p:cNvPr id="9" name="logic-02:solution-text"/>
          <p:cNvSpPr txBox="1"/>
          <p:nvPr/>
        </p:nvSpPr>
        <p:spPr>
          <a:xfrm>
            <a:off x="6168528" y="2205700"/>
            <a:ext cx="5321592" cy="740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NoRMCorre 자동 보정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영상 하나에 2분, 결과를 사람이 확인만 한다</a:t>
            </a:r>
          </a:p>
        </p:txBody>
      </p:sp>
      <p:cxnSp>
        <p:nvCxnSpPr>
          <p:cNvPr id="10" name="logic-02:link"/>
          <p:cNvCxnSpPr/>
          <p:nvPr/>
        </p:nvCxnSpPr>
        <p:spPr>
          <a:xfrm>
            <a:off x="4741128" y="2575850"/>
            <a:ext cx="6084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logic-02:row-rule"/>
          <p:cNvCxnSpPr/>
          <p:nvPr/>
        </p:nvCxnSpPr>
        <p:spPr>
          <a:xfrm>
            <a:off x="468000" y="3054000"/>
            <a:ext cx="4202928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logic-02:marker"/>
          <p:cNvSpPr/>
          <p:nvPr/>
        </p:nvSpPr>
        <p:spPr>
          <a:xfrm>
            <a:off x="468000" y="3356650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6B7280"/>
                </a:solidFill>
              </a:rPr>
              <a:t>2</a:t>
            </a:r>
          </a:p>
        </p:txBody>
      </p:sp>
      <p:sp>
        <p:nvSpPr>
          <p:cNvPr id="13" name="logic-02:problem-text"/>
          <p:cNvSpPr txBox="1"/>
          <p:nvPr/>
        </p:nvSpPr>
        <p:spPr>
          <a:xfrm>
            <a:off x="982800" y="3162000"/>
            <a:ext cx="3547728" cy="740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세포 윤곽을 손으로 그림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사람마다 결과가 다르다</a:t>
            </a:r>
          </a:p>
        </p:txBody>
      </p:sp>
      <p:sp>
        <p:nvSpPr>
          <p:cNvPr id="14" name="logic-02:solution"/>
          <p:cNvSpPr/>
          <p:nvPr/>
        </p:nvSpPr>
        <p:spPr>
          <a:xfrm>
            <a:off x="5419728" y="3162000"/>
            <a:ext cx="6304392" cy="7403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logic-02:marker"/>
          <p:cNvSpPr/>
          <p:nvPr/>
        </p:nvSpPr>
        <p:spPr>
          <a:xfrm>
            <a:off x="5653728" y="3356650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4F57"/>
                </a:solidFill>
              </a:rPr>
              <a:t>2</a:t>
            </a:r>
          </a:p>
        </p:txBody>
      </p:sp>
      <p:sp>
        <p:nvSpPr>
          <p:cNvPr id="16" name="logic-02:solution-text"/>
          <p:cNvSpPr txBox="1"/>
          <p:nvPr/>
        </p:nvSpPr>
        <p:spPr>
          <a:xfrm>
            <a:off x="6168528" y="3162000"/>
            <a:ext cx="5321592" cy="740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Suite2p 로 세포 검출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같은 설정이면 누가 돌려도 같은 세포가 나온다</a:t>
            </a:r>
          </a:p>
        </p:txBody>
      </p:sp>
      <p:cxnSp>
        <p:nvCxnSpPr>
          <p:cNvPr id="17" name="logic-02:link"/>
          <p:cNvCxnSpPr/>
          <p:nvPr/>
        </p:nvCxnSpPr>
        <p:spPr>
          <a:xfrm>
            <a:off x="4741128" y="3532150"/>
            <a:ext cx="6084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logic-02:row-rule"/>
          <p:cNvCxnSpPr/>
          <p:nvPr/>
        </p:nvCxnSpPr>
        <p:spPr>
          <a:xfrm>
            <a:off x="468000" y="4010300"/>
            <a:ext cx="4202928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logic-02:marker"/>
          <p:cNvSpPr/>
          <p:nvPr/>
        </p:nvSpPr>
        <p:spPr>
          <a:xfrm>
            <a:off x="468000" y="4312951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6B7280"/>
                </a:solidFill>
              </a:rPr>
              <a:t>3</a:t>
            </a:r>
          </a:p>
        </p:txBody>
      </p:sp>
      <p:sp>
        <p:nvSpPr>
          <p:cNvPr id="20" name="logic-02:problem-text"/>
          <p:cNvSpPr txBox="1"/>
          <p:nvPr/>
        </p:nvSpPr>
        <p:spPr>
          <a:xfrm>
            <a:off x="982800" y="4118300"/>
            <a:ext cx="3547728" cy="740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신호 해석 기준이 제각각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ΔF/F 기준선을 매번 다르게 잡음</a:t>
            </a:r>
          </a:p>
        </p:txBody>
      </p:sp>
      <p:sp>
        <p:nvSpPr>
          <p:cNvPr id="21" name="logic-02:solution"/>
          <p:cNvSpPr/>
          <p:nvPr/>
        </p:nvSpPr>
        <p:spPr>
          <a:xfrm>
            <a:off x="5419728" y="4118300"/>
            <a:ext cx="6304392" cy="7403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logic-02:marker"/>
          <p:cNvSpPr/>
          <p:nvPr/>
        </p:nvSpPr>
        <p:spPr>
          <a:xfrm>
            <a:off x="5653728" y="4312951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4F57"/>
                </a:solidFill>
              </a:rPr>
              <a:t>3</a:t>
            </a:r>
          </a:p>
        </p:txBody>
      </p:sp>
      <p:sp>
        <p:nvSpPr>
          <p:cNvPr id="23" name="logic-02:solution-text"/>
          <p:cNvSpPr txBox="1"/>
          <p:nvPr/>
        </p:nvSpPr>
        <p:spPr>
          <a:xfrm>
            <a:off x="6168528" y="4118300"/>
            <a:ext cx="5321592" cy="740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기준선 계산을 한 함수로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랩 공용 패키지에 넣어 모두 같은 기준을 쓴다</a:t>
            </a:r>
          </a:p>
        </p:txBody>
      </p:sp>
      <p:cxnSp>
        <p:nvCxnSpPr>
          <p:cNvPr id="24" name="logic-02:link"/>
          <p:cNvCxnSpPr/>
          <p:nvPr/>
        </p:nvCxnSpPr>
        <p:spPr>
          <a:xfrm>
            <a:off x="4741128" y="4488451"/>
            <a:ext cx="6084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그래파이트 클린 16:9">
  <a:themeElements>
    <a:clrScheme name="HaLab 그래파이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4A4F57"/>
      </a:accent1>
      <a:accent2>
        <a:srgbClr val="898D92"/>
      </a:accent2>
      <a:accent3>
        <a:srgbClr val="B7B9BC"/>
      </a:accent3>
      <a:accent4>
        <a:srgbClr val="FFD43B"/>
      </a:accent4>
      <a:accent5>
        <a:srgbClr val="B7B9BC"/>
      </a:accent5>
      <a:accent6>
        <a:srgbClr val="E2E5EA"/>
      </a:accent6>
      <a:hlink>
        <a:srgbClr val="4A4F57"/>
      </a:hlink>
      <a:folHlink>
        <a:srgbClr val="B7B9BC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