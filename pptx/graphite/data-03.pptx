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(data-03-b).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(data-03-c).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장내 미생물 구성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환자군 장내 균총의 절반은 Firmicutes 였다</a:t>
            </a:r>
          </a:p>
        </p:txBody>
      </p:sp>
      <p:sp>
        <p:nvSpPr>
          <p:cNvPr id="5" name="data-03:bubble"/>
          <p:cNvSpPr/>
          <p:nvPr/>
        </p:nvSpPr>
        <p:spPr>
          <a:xfrm>
            <a:off x="2217552" y="1898944"/>
            <a:ext cx="2448000" cy="2448000"/>
          </a:xfrm>
          <a:prstGeom prst="ellipse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data-03:value"/>
          <p:cNvSpPr txBox="1"/>
          <p:nvPr/>
        </p:nvSpPr>
        <p:spPr>
          <a:xfrm>
            <a:off x="2217552" y="2956142"/>
            <a:ext cx="2448000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FFFFFF"/>
                </a:solidFill>
              </a:rPr>
              <a:t>52%</a:t>
            </a:r>
          </a:p>
        </p:txBody>
      </p:sp>
      <p:sp>
        <p:nvSpPr>
          <p:cNvPr id="7" name="data-03:label"/>
          <p:cNvSpPr txBox="1"/>
          <p:nvPr/>
        </p:nvSpPr>
        <p:spPr>
          <a:xfrm>
            <a:off x="2013506" y="4454944"/>
            <a:ext cx="2856092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Firmicutes</a:t>
            </a:r>
          </a:p>
        </p:txBody>
      </p:sp>
      <p:sp>
        <p:nvSpPr>
          <p:cNvPr id="8" name="data-03:bubble"/>
          <p:cNvSpPr/>
          <p:nvPr/>
        </p:nvSpPr>
        <p:spPr>
          <a:xfrm>
            <a:off x="5145644" y="2456818"/>
            <a:ext cx="1890125" cy="1890125"/>
          </a:xfrm>
          <a:prstGeom prst="ellipse">
            <a:avLst/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data-03:value"/>
          <p:cNvSpPr txBox="1"/>
          <p:nvPr/>
        </p:nvSpPr>
        <p:spPr>
          <a:xfrm>
            <a:off x="5145644" y="3235079"/>
            <a:ext cx="1890125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31%</a:t>
            </a:r>
          </a:p>
        </p:txBody>
      </p:sp>
      <p:sp>
        <p:nvSpPr>
          <p:cNvPr id="10" name="data-03:label"/>
          <p:cNvSpPr txBox="1"/>
          <p:nvPr/>
        </p:nvSpPr>
        <p:spPr>
          <a:xfrm>
            <a:off x="4941598" y="4454944"/>
            <a:ext cx="2298218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Bacteroidetes</a:t>
            </a:r>
          </a:p>
        </p:txBody>
      </p:sp>
      <p:sp>
        <p:nvSpPr>
          <p:cNvPr id="11" name="data-03:bubble"/>
          <p:cNvSpPr/>
          <p:nvPr/>
        </p:nvSpPr>
        <p:spPr>
          <a:xfrm>
            <a:off x="7515862" y="3328514"/>
            <a:ext cx="1018430" cy="1018430"/>
          </a:xfrm>
          <a:prstGeom prst="ellipse">
            <a:avLst/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data-03:value"/>
          <p:cNvSpPr txBox="1"/>
          <p:nvPr/>
        </p:nvSpPr>
        <p:spPr>
          <a:xfrm>
            <a:off x="7515862" y="3670927"/>
            <a:ext cx="1018430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9%</a:t>
            </a:r>
          </a:p>
        </p:txBody>
      </p:sp>
      <p:sp>
        <p:nvSpPr>
          <p:cNvPr id="13" name="data-03:label"/>
          <p:cNvSpPr txBox="1"/>
          <p:nvPr/>
        </p:nvSpPr>
        <p:spPr>
          <a:xfrm>
            <a:off x="7311816" y="4454944"/>
            <a:ext cx="1426522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Proteobacteria</a:t>
            </a:r>
          </a:p>
        </p:txBody>
      </p:sp>
      <p:sp>
        <p:nvSpPr>
          <p:cNvPr id="14" name="data-03:bubble"/>
          <p:cNvSpPr/>
          <p:nvPr/>
        </p:nvSpPr>
        <p:spPr>
          <a:xfrm>
            <a:off x="9014384" y="3386759"/>
            <a:ext cx="960185" cy="960185"/>
          </a:xfrm>
          <a:prstGeom prst="ellipse">
            <a:avLst/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data-03:value"/>
          <p:cNvSpPr txBox="1"/>
          <p:nvPr/>
        </p:nvSpPr>
        <p:spPr>
          <a:xfrm>
            <a:off x="9014384" y="3700049"/>
            <a:ext cx="960185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8%</a:t>
            </a:r>
          </a:p>
        </p:txBody>
      </p:sp>
      <p:sp>
        <p:nvSpPr>
          <p:cNvPr id="16" name="data-03:label"/>
          <p:cNvSpPr txBox="1"/>
          <p:nvPr/>
        </p:nvSpPr>
        <p:spPr>
          <a:xfrm>
            <a:off x="8810337" y="4454944"/>
            <a:ext cx="136827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기타</a:t>
            </a:r>
          </a:p>
        </p:txBody>
      </p:sp>
      <p:cxnSp>
        <p:nvCxnSpPr>
          <p:cNvPr id="17" name="conclusion:line"/>
          <p:cNvCxnSpPr/>
          <p:nvPr/>
        </p:nvCxnSpPr>
        <p:spPr>
          <a:xfrm>
            <a:off x="468000" y="496951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onclusion:text"/>
          <p:cNvSpPr txBox="1"/>
          <p:nvPr/>
        </p:nvSpPr>
        <p:spPr>
          <a:xfrm>
            <a:off x="468000" y="5167516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Firmicutes/Bacteroidetes 비는 1.7로 건강 대조군(0.9)의 두 배 가까이 높았다.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종양 미세환경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면역세포 가운데 대식세포가 T세포 다음으로 많았다</a:t>
            </a:r>
          </a:p>
        </p:txBody>
      </p:sp>
      <p:sp>
        <p:nvSpPr>
          <p:cNvPr id="5" name="data-03:bubble"/>
          <p:cNvSpPr/>
          <p:nvPr/>
        </p:nvSpPr>
        <p:spPr>
          <a:xfrm>
            <a:off x="757330" y="2164262"/>
            <a:ext cx="2378069" cy="2378069"/>
          </a:xfrm>
          <a:prstGeom prst="ellipse">
            <a:avLst/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data-03:value"/>
          <p:cNvSpPr txBox="1"/>
          <p:nvPr/>
        </p:nvSpPr>
        <p:spPr>
          <a:xfrm>
            <a:off x="757330" y="3186495"/>
            <a:ext cx="2378069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38%</a:t>
            </a:r>
          </a:p>
        </p:txBody>
      </p:sp>
      <p:sp>
        <p:nvSpPr>
          <p:cNvPr id="7" name="data-03:label"/>
          <p:cNvSpPr txBox="1"/>
          <p:nvPr/>
        </p:nvSpPr>
        <p:spPr>
          <a:xfrm>
            <a:off x="504000" y="4650331"/>
            <a:ext cx="288473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T세포</a:t>
            </a:r>
          </a:p>
        </p:txBody>
      </p:sp>
      <p:sp>
        <p:nvSpPr>
          <p:cNvPr id="8" name="data-03:bubble"/>
          <p:cNvSpPr/>
          <p:nvPr/>
        </p:nvSpPr>
        <p:spPr>
          <a:xfrm>
            <a:off x="3714060" y="2652433"/>
            <a:ext cx="1889898" cy="1889898"/>
          </a:xfrm>
          <a:prstGeom prst="ellipse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data-03:value"/>
          <p:cNvSpPr txBox="1"/>
          <p:nvPr/>
        </p:nvSpPr>
        <p:spPr>
          <a:xfrm>
            <a:off x="3714060" y="3430581"/>
            <a:ext cx="1889898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FFFFFF"/>
                </a:solidFill>
              </a:rPr>
              <a:t>24%</a:t>
            </a:r>
          </a:p>
        </p:txBody>
      </p:sp>
      <p:sp>
        <p:nvSpPr>
          <p:cNvPr id="10" name="data-03:label"/>
          <p:cNvSpPr txBox="1"/>
          <p:nvPr/>
        </p:nvSpPr>
        <p:spPr>
          <a:xfrm>
            <a:off x="3460730" y="4650331"/>
            <a:ext cx="2396558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대식세포</a:t>
            </a:r>
          </a:p>
        </p:txBody>
      </p:sp>
      <p:sp>
        <p:nvSpPr>
          <p:cNvPr id="11" name="data-03:bubble"/>
          <p:cNvSpPr/>
          <p:nvPr/>
        </p:nvSpPr>
        <p:spPr>
          <a:xfrm>
            <a:off x="6182619" y="3048236"/>
            <a:ext cx="1494095" cy="1494095"/>
          </a:xfrm>
          <a:prstGeom prst="ellipse">
            <a:avLst/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data-03:value"/>
          <p:cNvSpPr txBox="1"/>
          <p:nvPr/>
        </p:nvSpPr>
        <p:spPr>
          <a:xfrm>
            <a:off x="6182619" y="3628482"/>
            <a:ext cx="1494095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15%</a:t>
            </a:r>
          </a:p>
        </p:txBody>
      </p:sp>
      <p:sp>
        <p:nvSpPr>
          <p:cNvPr id="13" name="data-03:label"/>
          <p:cNvSpPr txBox="1"/>
          <p:nvPr/>
        </p:nvSpPr>
        <p:spPr>
          <a:xfrm>
            <a:off x="5929288" y="4650331"/>
            <a:ext cx="2000756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B세포</a:t>
            </a:r>
          </a:p>
        </p:txBody>
      </p:sp>
      <p:sp>
        <p:nvSpPr>
          <p:cNvPr id="14" name="data-03:bubble"/>
          <p:cNvSpPr/>
          <p:nvPr/>
        </p:nvSpPr>
        <p:spPr>
          <a:xfrm>
            <a:off x="8255375" y="3098898"/>
            <a:ext cx="1443433" cy="1443433"/>
          </a:xfrm>
          <a:prstGeom prst="ellipse">
            <a:avLst/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data-03:value"/>
          <p:cNvSpPr txBox="1"/>
          <p:nvPr/>
        </p:nvSpPr>
        <p:spPr>
          <a:xfrm>
            <a:off x="8255375" y="3653813"/>
            <a:ext cx="1443433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14%</a:t>
            </a:r>
          </a:p>
        </p:txBody>
      </p:sp>
      <p:sp>
        <p:nvSpPr>
          <p:cNvPr id="16" name="data-03:label"/>
          <p:cNvSpPr txBox="1"/>
          <p:nvPr/>
        </p:nvSpPr>
        <p:spPr>
          <a:xfrm>
            <a:off x="8002044" y="4650331"/>
            <a:ext cx="195009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수지상세포</a:t>
            </a:r>
          </a:p>
        </p:txBody>
      </p:sp>
      <p:sp>
        <p:nvSpPr>
          <p:cNvPr id="17" name="data-03:bubble"/>
          <p:cNvSpPr/>
          <p:nvPr/>
        </p:nvSpPr>
        <p:spPr>
          <a:xfrm>
            <a:off x="10277468" y="3385010"/>
            <a:ext cx="1157321" cy="1157321"/>
          </a:xfrm>
          <a:prstGeom prst="ellipse">
            <a:avLst/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data-03:value"/>
          <p:cNvSpPr txBox="1"/>
          <p:nvPr/>
        </p:nvSpPr>
        <p:spPr>
          <a:xfrm>
            <a:off x="10277468" y="3796869"/>
            <a:ext cx="1157321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9%</a:t>
            </a:r>
          </a:p>
        </p:txBody>
      </p:sp>
      <p:sp>
        <p:nvSpPr>
          <p:cNvPr id="19" name="data-03:label"/>
          <p:cNvSpPr txBox="1"/>
          <p:nvPr/>
        </p:nvSpPr>
        <p:spPr>
          <a:xfrm>
            <a:off x="10024138" y="4650331"/>
            <a:ext cx="1663982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NK세포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규모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우리 코호트는 기존 연구 평균의 네 배 크기다</a:t>
            </a:r>
          </a:p>
        </p:txBody>
      </p:sp>
      <p:sp>
        <p:nvSpPr>
          <p:cNvPr id="5" name="data-03:bubble"/>
          <p:cNvSpPr/>
          <p:nvPr/>
        </p:nvSpPr>
        <p:spPr>
          <a:xfrm>
            <a:off x="4078024" y="2026020"/>
            <a:ext cx="1782000" cy="1782000"/>
          </a:xfrm>
          <a:prstGeom prst="ellipse">
            <a:avLst/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data-03:value"/>
          <p:cNvSpPr txBox="1"/>
          <p:nvPr/>
        </p:nvSpPr>
        <p:spPr>
          <a:xfrm>
            <a:off x="4078024" y="2750218"/>
            <a:ext cx="1782000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120만</a:t>
            </a:r>
          </a:p>
        </p:txBody>
      </p:sp>
      <p:sp>
        <p:nvSpPr>
          <p:cNvPr id="7" name="data-03:label"/>
          <p:cNvSpPr txBox="1"/>
          <p:nvPr/>
        </p:nvSpPr>
        <p:spPr>
          <a:xfrm>
            <a:off x="3973145" y="3916020"/>
            <a:ext cx="1991759" cy="5822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공개 아틀라스</a:t>
            </a:r>
          </a:p>
        </p:txBody>
      </p:sp>
      <p:sp>
        <p:nvSpPr>
          <p:cNvPr id="8" name="data-03:bubble"/>
          <p:cNvSpPr/>
          <p:nvPr/>
        </p:nvSpPr>
        <p:spPr>
          <a:xfrm>
            <a:off x="6141783" y="2680984"/>
            <a:ext cx="1127036" cy="1127036"/>
          </a:xfrm>
          <a:prstGeom prst="ellipse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data-03:value"/>
          <p:cNvSpPr txBox="1"/>
          <p:nvPr/>
        </p:nvSpPr>
        <p:spPr>
          <a:xfrm>
            <a:off x="6141783" y="3077700"/>
            <a:ext cx="1127036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FFFFFF"/>
                </a:solidFill>
              </a:rPr>
              <a:t>48만</a:t>
            </a:r>
          </a:p>
        </p:txBody>
      </p:sp>
      <p:sp>
        <p:nvSpPr>
          <p:cNvPr id="10" name="data-03:label"/>
          <p:cNvSpPr txBox="1"/>
          <p:nvPr/>
        </p:nvSpPr>
        <p:spPr>
          <a:xfrm>
            <a:off x="6036904" y="3916020"/>
            <a:ext cx="1336795" cy="5822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우리 코호트</a:t>
            </a:r>
          </a:p>
        </p:txBody>
      </p:sp>
      <p:sp>
        <p:nvSpPr>
          <p:cNvPr id="11" name="data-03:bubble"/>
          <p:cNvSpPr/>
          <p:nvPr/>
        </p:nvSpPr>
        <p:spPr>
          <a:xfrm>
            <a:off x="7550578" y="3244502"/>
            <a:ext cx="563518" cy="563518"/>
          </a:xfrm>
          <a:prstGeom prst="ellipse">
            <a:avLst/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data-03:value"/>
          <p:cNvSpPr txBox="1"/>
          <p:nvPr/>
        </p:nvSpPr>
        <p:spPr>
          <a:xfrm>
            <a:off x="7445698" y="2874898"/>
            <a:ext cx="773277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12만</a:t>
            </a:r>
          </a:p>
        </p:txBody>
      </p:sp>
      <p:sp>
        <p:nvSpPr>
          <p:cNvPr id="13" name="data-03:label"/>
          <p:cNvSpPr txBox="1"/>
          <p:nvPr/>
        </p:nvSpPr>
        <p:spPr>
          <a:xfrm>
            <a:off x="7445698" y="3916020"/>
            <a:ext cx="773277" cy="5822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기존 연구 평균</a:t>
            </a:r>
          </a:p>
        </p:txBody>
      </p:sp>
      <p:cxnSp>
        <p:nvCxnSpPr>
          <p:cNvPr id="14" name="conclusion:line"/>
          <p:cNvCxnSpPr/>
          <p:nvPr/>
        </p:nvCxnSpPr>
        <p:spPr>
          <a:xfrm>
            <a:off x="468000" y="4715363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onclusion:text"/>
          <p:cNvSpPr txBox="1"/>
          <p:nvPr/>
        </p:nvSpPr>
        <p:spPr>
          <a:xfrm>
            <a:off x="468000" y="4913363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공개 아틀라스와 합치면 168만 세포로, 드문 세포 군집(전체의 0.1% 미만)도 따로 분석할 수 있다.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그래파이트 클린 16:9">
  <a:themeElements>
    <a:clrScheme name="HaLab 그래파이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A4F57"/>
      </a:accent1>
      <a:accent2>
        <a:srgbClr val="898D92"/>
      </a:accent2>
      <a:accent3>
        <a:srgbClr val="B7B9BC"/>
      </a:accent3>
      <a:accent4>
        <a:srgbClr val="FFD43B"/>
      </a:accent4>
      <a:accent5>
        <a:srgbClr val="B7B9BC"/>
      </a:accent5>
      <a:accent6>
        <a:srgbClr val="E2E5EA"/>
      </a:accent6>
      <a:hlink>
        <a:srgbClr val="4A4F57"/>
      </a:hlink>
      <a:folHlink>
        <a:srgbClr val="B7B9B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