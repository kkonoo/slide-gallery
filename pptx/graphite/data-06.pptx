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(data-06-a).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(data-06-b).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(data-06-c).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데이터 자산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연구실 단일세포 데이터가 2년 만에 일곱 배로 늘었다</a:t>
            </a:r>
          </a:p>
        </p:txBody>
      </p:sp>
      <p:cxnSp>
        <p:nvCxnSpPr>
          <p:cNvPr id="5" name="data-06:base"/>
          <p:cNvCxnSpPr/>
          <p:nvPr/>
        </p:nvCxnSpPr>
        <p:spPr>
          <a:xfrm>
            <a:off x="1078263" y="4370205"/>
            <a:ext cx="6447696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ata-06:link"/>
          <p:cNvSpPr/>
          <p:nvPr/>
        </p:nvSpPr>
        <p:spPr>
          <a:xfrm>
            <a:off x="1774963" y="3134049"/>
            <a:ext cx="4282606" cy="771689"/>
          </a:xfrm>
          <a:custGeom>
            <a:avLst/>
            <a:gdLst/>
            <a:ahLst/>
            <a:cxnLst/>
            <a:rect l="l" t="t" r="r" b="b"/>
            <a:pathLst>
              <a:path w="4282606" h="771689">
                <a:moveTo>
                  <a:pt x="0" y="771689"/>
                </a:moveTo>
                <a:lnTo>
                  <a:pt x="1755458" y="409631"/>
                </a:lnTo>
                <a:lnTo>
                  <a:pt x="4282606" y="0"/>
                </a:lnTo>
              </a:path>
            </a:pathLst>
          </a:custGeom>
          <a:noFill/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ata-06:circle"/>
          <p:cNvSpPr/>
          <p:nvPr/>
        </p:nvSpPr>
        <p:spPr>
          <a:xfrm>
            <a:off x="1310496" y="3441272"/>
            <a:ext cx="928933" cy="928933"/>
          </a:xfrm>
          <a:prstGeom prst="ellipse">
            <a:avLst/>
          </a:prstGeom>
          <a:solidFill>
            <a:srgbClr val="E4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data-06:value"/>
          <p:cNvSpPr txBox="1"/>
          <p:nvPr/>
        </p:nvSpPr>
        <p:spPr>
          <a:xfrm>
            <a:off x="1310496" y="3723773"/>
            <a:ext cx="928933" cy="363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400" b="1" spc="-40">
                <a:solidFill>
                  <a:srgbClr val="262B33"/>
                </a:solidFill>
              </a:rPr>
              <a:t>12만</a:t>
            </a:r>
          </a:p>
        </p:txBody>
      </p:sp>
      <p:sp>
        <p:nvSpPr>
          <p:cNvPr id="9" name="data-06:label"/>
          <p:cNvSpPr txBox="1"/>
          <p:nvPr/>
        </p:nvSpPr>
        <p:spPr>
          <a:xfrm>
            <a:off x="1114263" y="4460205"/>
            <a:ext cx="132140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0" spc="-40">
                <a:solidFill>
                  <a:srgbClr val="6B7280"/>
                </a:solidFill>
              </a:rPr>
              <a:t>2023</a:t>
            </a:r>
          </a:p>
        </p:txBody>
      </p:sp>
      <p:sp>
        <p:nvSpPr>
          <p:cNvPr id="10" name="data-06:circle"/>
          <p:cNvSpPr/>
          <p:nvPr/>
        </p:nvSpPr>
        <p:spPr>
          <a:xfrm>
            <a:off x="2703896" y="2717156"/>
            <a:ext cx="1653049" cy="1653049"/>
          </a:xfrm>
          <a:prstGeom prst="ellipse">
            <a:avLst/>
          </a:prstGeom>
          <a:solidFill>
            <a:srgbClr val="B7B9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data-06:value"/>
          <p:cNvSpPr txBox="1"/>
          <p:nvPr/>
        </p:nvSpPr>
        <p:spPr>
          <a:xfrm>
            <a:off x="2703896" y="3361715"/>
            <a:ext cx="1653049" cy="363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400" b="1" spc="-40">
                <a:solidFill>
                  <a:srgbClr val="262B33"/>
                </a:solidFill>
              </a:rPr>
              <a:t>38만</a:t>
            </a:r>
          </a:p>
        </p:txBody>
      </p:sp>
      <p:sp>
        <p:nvSpPr>
          <p:cNvPr id="12" name="data-06:label"/>
          <p:cNvSpPr txBox="1"/>
          <p:nvPr/>
        </p:nvSpPr>
        <p:spPr>
          <a:xfrm>
            <a:off x="2507663" y="4460205"/>
            <a:ext cx="2045516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0" spc="-40">
                <a:solidFill>
                  <a:srgbClr val="6B7280"/>
                </a:solidFill>
              </a:rPr>
              <a:t>2024</a:t>
            </a:r>
          </a:p>
        </p:txBody>
      </p:sp>
      <p:sp>
        <p:nvSpPr>
          <p:cNvPr id="13" name="data-06:circle"/>
          <p:cNvSpPr/>
          <p:nvPr/>
        </p:nvSpPr>
        <p:spPr>
          <a:xfrm>
            <a:off x="4821412" y="1897892"/>
            <a:ext cx="2472313" cy="2472313"/>
          </a:xfrm>
          <a:prstGeom prst="ellipse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data-06:label"/>
          <p:cNvSpPr txBox="1"/>
          <p:nvPr/>
        </p:nvSpPr>
        <p:spPr>
          <a:xfrm>
            <a:off x="4625179" y="4460205"/>
            <a:ext cx="286478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2025</a:t>
            </a:r>
          </a:p>
        </p:txBody>
      </p:sp>
      <p:sp>
        <p:nvSpPr>
          <p:cNvPr id="15" name="data-06:big"/>
          <p:cNvSpPr txBox="1"/>
          <p:nvPr/>
        </p:nvSpPr>
        <p:spPr>
          <a:xfrm>
            <a:off x="7741959" y="2564943"/>
            <a:ext cx="3371899" cy="8188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5400" b="1" spc="-40">
                <a:solidFill>
                  <a:srgbClr val="4A4F57"/>
                </a:solidFill>
              </a:rPr>
              <a:t>85만 세포</a:t>
            </a:r>
          </a:p>
        </p:txBody>
      </p:sp>
      <p:sp>
        <p:nvSpPr>
          <p:cNvPr id="16" name="data-06:note"/>
          <p:cNvSpPr txBox="1"/>
          <p:nvPr/>
        </p:nvSpPr>
        <p:spPr>
          <a:xfrm>
            <a:off x="7741959" y="3437788"/>
            <a:ext cx="3371899" cy="265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spc="-40">
                <a:solidFill>
                  <a:srgbClr val="6B7280"/>
                </a:solidFill>
              </a:rPr>
              <a:t>2023년 대비 </a:t>
            </a:r>
            <a:r>
              <a:rPr sz="1400" b="1" spc="-40">
                <a:solidFill>
                  <a:srgbClr val="262B33"/>
                </a:solidFill>
              </a:rPr>
              <a:t>7.1배</a:t>
            </a:r>
          </a:p>
        </p:txBody>
      </p:sp>
      <p:cxnSp>
        <p:nvCxnSpPr>
          <p:cNvPr id="17" name="conclusion:line"/>
          <p:cNvCxnSpPr/>
          <p:nvPr/>
        </p:nvCxnSpPr>
        <p:spPr>
          <a:xfrm>
            <a:off x="468000" y="4971621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onclusion:text"/>
          <p:cNvSpPr txBox="1"/>
          <p:nvPr/>
        </p:nvSpPr>
        <p:spPr>
          <a:xfrm>
            <a:off x="468000" y="5169621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늘어난 세포의 70%는 환자 조직이라, 드문 면역세포 아형까지 따로 비교할 수 있게 됐다.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공개 데이터 활용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공개한 아틀라스 내려받기가 3년 만에 여덟 배가 됐다</a:t>
            </a:r>
          </a:p>
        </p:txBody>
      </p:sp>
      <p:cxnSp>
        <p:nvCxnSpPr>
          <p:cNvPr id="5" name="data-06:base"/>
          <p:cNvCxnSpPr/>
          <p:nvPr/>
        </p:nvCxnSpPr>
        <p:spPr>
          <a:xfrm>
            <a:off x="1741534" y="5002952"/>
            <a:ext cx="5201554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ata-06:link"/>
          <p:cNvSpPr/>
          <p:nvPr/>
        </p:nvSpPr>
        <p:spPr>
          <a:xfrm>
            <a:off x="2544616" y="3472952"/>
            <a:ext cx="2600777" cy="994612"/>
          </a:xfrm>
          <a:custGeom>
            <a:avLst/>
            <a:gdLst/>
            <a:ahLst/>
            <a:cxnLst/>
            <a:rect l="l" t="t" r="r" b="b"/>
            <a:pathLst>
              <a:path w="2600777" h="994612">
                <a:moveTo>
                  <a:pt x="0" y="994612"/>
                </a:moveTo>
                <a:lnTo>
                  <a:pt x="2600777" y="0"/>
                </a:lnTo>
              </a:path>
            </a:pathLst>
          </a:custGeom>
          <a:noFill/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ata-06:circle"/>
          <p:cNvSpPr/>
          <p:nvPr/>
        </p:nvSpPr>
        <p:spPr>
          <a:xfrm>
            <a:off x="2009228" y="3932175"/>
            <a:ext cx="1070777" cy="1070777"/>
          </a:xfrm>
          <a:prstGeom prst="ellipse">
            <a:avLst/>
          </a:prstGeom>
          <a:solidFill>
            <a:srgbClr val="E4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data-06:value"/>
          <p:cNvSpPr txBox="1"/>
          <p:nvPr/>
        </p:nvSpPr>
        <p:spPr>
          <a:xfrm>
            <a:off x="1777534" y="3532244"/>
            <a:ext cx="1534165" cy="363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400" b="1" spc="-40">
                <a:solidFill>
                  <a:srgbClr val="262B33"/>
                </a:solidFill>
              </a:rPr>
              <a:t>1,200회</a:t>
            </a:r>
          </a:p>
        </p:txBody>
      </p:sp>
      <p:sp>
        <p:nvSpPr>
          <p:cNvPr id="9" name="data-06:label"/>
          <p:cNvSpPr txBox="1"/>
          <p:nvPr/>
        </p:nvSpPr>
        <p:spPr>
          <a:xfrm>
            <a:off x="1777534" y="5092952"/>
            <a:ext cx="1534165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0" spc="-40">
                <a:solidFill>
                  <a:srgbClr val="6B7280"/>
                </a:solidFill>
              </a:rPr>
              <a:t>2022</a:t>
            </a:r>
          </a:p>
        </p:txBody>
      </p:sp>
      <p:sp>
        <p:nvSpPr>
          <p:cNvPr id="10" name="data-06:circle"/>
          <p:cNvSpPr/>
          <p:nvPr/>
        </p:nvSpPr>
        <p:spPr>
          <a:xfrm>
            <a:off x="3615393" y="1942952"/>
            <a:ext cx="3060000" cy="3060000"/>
          </a:xfrm>
          <a:prstGeom prst="ellipse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data-06:label"/>
          <p:cNvSpPr txBox="1"/>
          <p:nvPr/>
        </p:nvSpPr>
        <p:spPr>
          <a:xfrm>
            <a:off x="3383699" y="5092952"/>
            <a:ext cx="3523388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2025</a:t>
            </a:r>
          </a:p>
        </p:txBody>
      </p:sp>
      <p:sp>
        <p:nvSpPr>
          <p:cNvPr id="12" name="data-06:big"/>
          <p:cNvSpPr txBox="1"/>
          <p:nvPr/>
        </p:nvSpPr>
        <p:spPr>
          <a:xfrm>
            <a:off x="7159088" y="2873519"/>
            <a:ext cx="3291499" cy="879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5800" b="1" spc="-40">
                <a:solidFill>
                  <a:srgbClr val="4A4F57"/>
                </a:solidFill>
              </a:rPr>
              <a:t>9,800회</a:t>
            </a:r>
          </a:p>
        </p:txBody>
      </p:sp>
      <p:sp>
        <p:nvSpPr>
          <p:cNvPr id="13" name="data-06:note"/>
          <p:cNvSpPr txBox="1"/>
          <p:nvPr/>
        </p:nvSpPr>
        <p:spPr>
          <a:xfrm>
            <a:off x="7159088" y="3807019"/>
            <a:ext cx="3291499" cy="265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spc="-40">
                <a:solidFill>
                  <a:srgbClr val="6B7280"/>
                </a:solidFill>
              </a:rPr>
              <a:t>3년 만에 </a:t>
            </a:r>
            <a:r>
              <a:rPr sz="1400" b="1" spc="-40">
                <a:solidFill>
                  <a:srgbClr val="262B33"/>
                </a:solidFill>
              </a:rPr>
              <a:t>8.2배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코호트 등록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등록 환자는 해마다 늘어 1,204명에 이르렀다</a:t>
            </a:r>
          </a:p>
        </p:txBody>
      </p:sp>
      <p:cxnSp>
        <p:nvCxnSpPr>
          <p:cNvPr id="5" name="data-06:base"/>
          <p:cNvCxnSpPr/>
          <p:nvPr/>
        </p:nvCxnSpPr>
        <p:spPr>
          <a:xfrm>
            <a:off x="778897" y="4085732"/>
            <a:ext cx="7072411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ata-06:link"/>
          <p:cNvSpPr/>
          <p:nvPr/>
        </p:nvSpPr>
        <p:spPr>
          <a:xfrm>
            <a:off x="1320882" y="3062052"/>
            <a:ext cx="5326085" cy="662356"/>
          </a:xfrm>
          <a:custGeom>
            <a:avLst/>
            <a:gdLst/>
            <a:ahLst/>
            <a:cxnLst/>
            <a:rect l="l" t="t" r="r" b="b"/>
            <a:pathLst>
              <a:path w="5326085" h="662356">
                <a:moveTo>
                  <a:pt x="0" y="662356"/>
                </a:moveTo>
                <a:lnTo>
                  <a:pt x="1327258" y="419070"/>
                </a:lnTo>
                <a:lnTo>
                  <a:pt x="3117137" y="199735"/>
                </a:lnTo>
                <a:lnTo>
                  <a:pt x="5326085" y="0"/>
                </a:lnTo>
              </a:path>
            </a:pathLst>
          </a:custGeom>
          <a:noFill/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ata-06:circle"/>
          <p:cNvSpPr/>
          <p:nvPr/>
        </p:nvSpPr>
        <p:spPr>
          <a:xfrm>
            <a:off x="959558" y="3363084"/>
            <a:ext cx="722647" cy="722647"/>
          </a:xfrm>
          <a:prstGeom prst="ellipse">
            <a:avLst/>
          </a:prstGeom>
          <a:solidFill>
            <a:srgbClr val="E4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data-06:value"/>
          <p:cNvSpPr txBox="1"/>
          <p:nvPr/>
        </p:nvSpPr>
        <p:spPr>
          <a:xfrm>
            <a:off x="814897" y="2963153"/>
            <a:ext cx="1011971" cy="363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400" b="1" spc="-40">
                <a:solidFill>
                  <a:srgbClr val="262B33"/>
                </a:solidFill>
              </a:rPr>
              <a:t>150명</a:t>
            </a:r>
          </a:p>
        </p:txBody>
      </p:sp>
      <p:sp>
        <p:nvSpPr>
          <p:cNvPr id="9" name="data-06:label"/>
          <p:cNvSpPr txBox="1"/>
          <p:nvPr/>
        </p:nvSpPr>
        <p:spPr>
          <a:xfrm>
            <a:off x="814897" y="4175732"/>
            <a:ext cx="1011971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0" spc="-40">
                <a:solidFill>
                  <a:srgbClr val="6B7280"/>
                </a:solidFill>
              </a:rPr>
              <a:t>2022</a:t>
            </a:r>
          </a:p>
        </p:txBody>
      </p:sp>
      <p:sp>
        <p:nvSpPr>
          <p:cNvPr id="10" name="data-06:circle"/>
          <p:cNvSpPr/>
          <p:nvPr/>
        </p:nvSpPr>
        <p:spPr>
          <a:xfrm>
            <a:off x="2043530" y="2876511"/>
            <a:ext cx="1209220" cy="1209220"/>
          </a:xfrm>
          <a:prstGeom prst="ellipse">
            <a:avLst/>
          </a:prstGeom>
          <a:solidFill>
            <a:srgbClr val="CDC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data-06:value"/>
          <p:cNvSpPr txBox="1"/>
          <p:nvPr/>
        </p:nvSpPr>
        <p:spPr>
          <a:xfrm>
            <a:off x="2043530" y="3299156"/>
            <a:ext cx="1209220" cy="363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400" b="1" spc="-40">
                <a:solidFill>
                  <a:srgbClr val="262B33"/>
                </a:solidFill>
              </a:rPr>
              <a:t>420명</a:t>
            </a:r>
          </a:p>
        </p:txBody>
      </p:sp>
      <p:sp>
        <p:nvSpPr>
          <p:cNvPr id="12" name="data-06:label"/>
          <p:cNvSpPr txBox="1"/>
          <p:nvPr/>
        </p:nvSpPr>
        <p:spPr>
          <a:xfrm>
            <a:off x="1898868" y="4175732"/>
            <a:ext cx="1498544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0" spc="-40">
                <a:solidFill>
                  <a:srgbClr val="6B7280"/>
                </a:solidFill>
              </a:rPr>
              <a:t>2023</a:t>
            </a:r>
          </a:p>
        </p:txBody>
      </p:sp>
      <p:sp>
        <p:nvSpPr>
          <p:cNvPr id="13" name="data-06:circle"/>
          <p:cNvSpPr/>
          <p:nvPr/>
        </p:nvSpPr>
        <p:spPr>
          <a:xfrm>
            <a:off x="3614074" y="2437842"/>
            <a:ext cx="1647890" cy="1647890"/>
          </a:xfrm>
          <a:prstGeom prst="ellipse">
            <a:avLst/>
          </a:prstGeom>
          <a:solidFill>
            <a:srgbClr val="B7B9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data-06:value"/>
          <p:cNvSpPr txBox="1"/>
          <p:nvPr/>
        </p:nvSpPr>
        <p:spPr>
          <a:xfrm>
            <a:off x="3614074" y="3079821"/>
            <a:ext cx="1647890" cy="363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400" b="1" spc="-40">
                <a:solidFill>
                  <a:srgbClr val="262B33"/>
                </a:solidFill>
              </a:rPr>
              <a:t>780명</a:t>
            </a:r>
          </a:p>
        </p:txBody>
      </p:sp>
      <p:sp>
        <p:nvSpPr>
          <p:cNvPr id="15" name="data-06:label"/>
          <p:cNvSpPr txBox="1"/>
          <p:nvPr/>
        </p:nvSpPr>
        <p:spPr>
          <a:xfrm>
            <a:off x="3469412" y="4175732"/>
            <a:ext cx="1937213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0" spc="-40">
                <a:solidFill>
                  <a:srgbClr val="6B7280"/>
                </a:solidFill>
              </a:rPr>
              <a:t>2024</a:t>
            </a:r>
          </a:p>
        </p:txBody>
      </p:sp>
      <p:sp>
        <p:nvSpPr>
          <p:cNvPr id="16" name="data-06:circle"/>
          <p:cNvSpPr/>
          <p:nvPr/>
        </p:nvSpPr>
        <p:spPr>
          <a:xfrm>
            <a:off x="5623287" y="2038372"/>
            <a:ext cx="2047359" cy="2047359"/>
          </a:xfrm>
          <a:prstGeom prst="ellipse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data-06:label"/>
          <p:cNvSpPr txBox="1"/>
          <p:nvPr/>
        </p:nvSpPr>
        <p:spPr>
          <a:xfrm>
            <a:off x="5478625" y="4175732"/>
            <a:ext cx="2336683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2025</a:t>
            </a:r>
          </a:p>
        </p:txBody>
      </p:sp>
      <p:sp>
        <p:nvSpPr>
          <p:cNvPr id="18" name="data-06:big"/>
          <p:cNvSpPr txBox="1"/>
          <p:nvPr/>
        </p:nvSpPr>
        <p:spPr>
          <a:xfrm>
            <a:off x="8067308" y="2591974"/>
            <a:ext cx="3345915" cy="9401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200" b="1" spc="-40">
                <a:solidFill>
                  <a:srgbClr val="4A4F57"/>
                </a:solidFill>
              </a:rPr>
              <a:t>1,204명</a:t>
            </a:r>
          </a:p>
        </p:txBody>
      </p:sp>
      <p:cxnSp>
        <p:nvCxnSpPr>
          <p:cNvPr id="19" name="conclusion:line"/>
          <p:cNvCxnSpPr/>
          <p:nvPr/>
        </p:nvCxnSpPr>
        <p:spPr>
          <a:xfrm>
            <a:off x="468000" y="46906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onclusion:text"/>
          <p:cNvSpPr txBox="1"/>
          <p:nvPr/>
        </p:nvSpPr>
        <p:spPr>
          <a:xfrm>
            <a:off x="468000" y="4888659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3개 병원이 새로 참여한 2024년부터 등록 속도가 두 배로 빨라졌다.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그래파이트 클린 16:9">
  <a:themeElements>
    <a:clrScheme name="HaLab 그래파이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A4F57"/>
      </a:accent1>
      <a:accent2>
        <a:srgbClr val="898D92"/>
      </a:accent2>
      <a:accent3>
        <a:srgbClr val="B7B9BC"/>
      </a:accent3>
      <a:accent4>
        <a:srgbClr val="FFD43B"/>
      </a:accent4>
      <a:accent5>
        <a:srgbClr val="B7B9BC"/>
      </a:accent5>
      <a:accent6>
        <a:srgbClr val="E2E5EA"/>
      </a:accent6>
      <a:hlink>
        <a:srgbClr val="4A4F57"/>
      </a:hlink>
      <a:folHlink>
        <a:srgbClr val="B7B9B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