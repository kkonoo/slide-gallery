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(logic-01-b).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EDF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EDF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세포 유형 주석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클러스터 3은 어떤 세포일까요?</a:t>
            </a:r>
          </a:p>
        </p:txBody>
      </p:sp>
      <p:sp>
        <p:nvSpPr>
          <p:cNvPr id="5" name="logic-01:factor"/>
          <p:cNvSpPr/>
          <p:nvPr/>
        </p:nvSpPr>
        <p:spPr>
          <a:xfrm>
            <a:off x="468000" y="2053178"/>
            <a:ext cx="3608040" cy="169288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1:marker"/>
          <p:cNvSpPr/>
          <p:nvPr/>
        </p:nvSpPr>
        <p:spPr>
          <a:xfrm>
            <a:off x="608400" y="2240378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1</a:t>
            </a:r>
          </a:p>
        </p:txBody>
      </p:sp>
      <p:sp>
        <p:nvSpPr>
          <p:cNvPr id="7" name="logic-01:factor-text"/>
          <p:cNvSpPr txBox="1"/>
          <p:nvPr/>
        </p:nvSpPr>
        <p:spPr>
          <a:xfrm>
            <a:off x="608400" y="2708378"/>
            <a:ext cx="3327240" cy="8504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FOXP3 발현 상위 5%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클러스터 3 세포의 FOXP3 발현이 전체 세포 중 상위 5%</a:t>
            </a:r>
          </a:p>
        </p:txBody>
      </p:sp>
      <p:sp>
        <p:nvSpPr>
          <p:cNvPr id="8" name="logic-01:factor"/>
          <p:cNvSpPr/>
          <p:nvPr/>
        </p:nvSpPr>
        <p:spPr>
          <a:xfrm>
            <a:off x="4292040" y="2053178"/>
            <a:ext cx="3608040" cy="169288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logic-01:marker"/>
          <p:cNvSpPr/>
          <p:nvPr/>
        </p:nvSpPr>
        <p:spPr>
          <a:xfrm>
            <a:off x="4432440" y="2240378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2</a:t>
            </a:r>
          </a:p>
        </p:txBody>
      </p:sp>
      <p:sp>
        <p:nvSpPr>
          <p:cNvPr id="10" name="logic-01:factor-text"/>
          <p:cNvSpPr txBox="1"/>
          <p:nvPr/>
        </p:nvSpPr>
        <p:spPr>
          <a:xfrm>
            <a:off x="4432440" y="2708378"/>
            <a:ext cx="3327240" cy="8504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Treg 표지 점수 0.8 이상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조절 T세포 표지 유전자 세트 점수</a:t>
            </a:r>
          </a:p>
        </p:txBody>
      </p:sp>
      <p:sp>
        <p:nvSpPr>
          <p:cNvPr id="11" name="logic-01:factor"/>
          <p:cNvSpPr/>
          <p:nvPr/>
        </p:nvSpPr>
        <p:spPr>
          <a:xfrm>
            <a:off x="8116080" y="2053178"/>
            <a:ext cx="3608040" cy="169288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logic-01:marker"/>
          <p:cNvSpPr/>
          <p:nvPr/>
        </p:nvSpPr>
        <p:spPr>
          <a:xfrm>
            <a:off x="8256480" y="2240378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3</a:t>
            </a:r>
          </a:p>
        </p:txBody>
      </p:sp>
      <p:sp>
        <p:nvSpPr>
          <p:cNvPr id="13" name="logic-01:factor-text"/>
          <p:cNvSpPr txBox="1"/>
          <p:nvPr/>
        </p:nvSpPr>
        <p:spPr>
          <a:xfrm>
            <a:off x="8256480" y="2708378"/>
            <a:ext cx="3327240" cy="8504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자동 주석 일치율 92%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참조 데이터 기반 세포 유형 주석과 비교</a:t>
            </a:r>
          </a:p>
        </p:txBody>
      </p:sp>
      <p:cxnSp>
        <p:nvCxnSpPr>
          <p:cNvPr id="14" name="logic-01:link"/>
          <p:cNvCxnSpPr/>
          <p:nvPr/>
        </p:nvCxnSpPr>
        <p:spPr>
          <a:xfrm>
            <a:off x="2272020" y="3746059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logic-01:link"/>
          <p:cNvCxnSpPr/>
          <p:nvPr/>
        </p:nvCxnSpPr>
        <p:spPr>
          <a:xfrm>
            <a:off x="6096060" y="3746059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logic-01:link"/>
          <p:cNvCxnSpPr/>
          <p:nvPr/>
        </p:nvCxnSpPr>
        <p:spPr>
          <a:xfrm>
            <a:off x="9920100" y="3746059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logic-01:link"/>
          <p:cNvCxnSpPr/>
          <p:nvPr/>
        </p:nvCxnSpPr>
        <p:spPr>
          <a:xfrm>
            <a:off x="2272020" y="4073659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logic-01:link"/>
          <p:cNvCxnSpPr/>
          <p:nvPr/>
        </p:nvCxnSpPr>
        <p:spPr>
          <a:xfrm>
            <a:off x="6096060" y="4073659"/>
            <a:ext cx="0" cy="3276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logic-01:conclusion"/>
          <p:cNvSpPr/>
          <p:nvPr/>
        </p:nvSpPr>
        <p:spPr>
          <a:xfrm>
            <a:off x="2380020" y="4401259"/>
            <a:ext cx="7432080" cy="762386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logic-01:conclusion-text"/>
          <p:cNvSpPr txBox="1"/>
          <p:nvPr/>
        </p:nvSpPr>
        <p:spPr>
          <a:xfrm>
            <a:off x="2660820" y="4401259"/>
            <a:ext cx="6870480" cy="76238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800" b="1" spc="-40">
                <a:solidFill>
                  <a:srgbClr val="FFFFFF"/>
                </a:solidFill>
              </a:rPr>
              <a:t>클러스터 3은 면역 억제 조절 T세포다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세포 유형 주석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클러스터 3은 어떤 세포일까요?</a:t>
            </a:r>
          </a:p>
        </p:txBody>
      </p:sp>
      <p:sp>
        <p:nvSpPr>
          <p:cNvPr id="5" name="logic-01:conclusion"/>
          <p:cNvSpPr/>
          <p:nvPr/>
        </p:nvSpPr>
        <p:spPr>
          <a:xfrm>
            <a:off x="7407666" y="2070987"/>
            <a:ext cx="4316454" cy="3057040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1:conclusion-text"/>
          <p:cNvSpPr txBox="1"/>
          <p:nvPr/>
        </p:nvSpPr>
        <p:spPr>
          <a:xfrm>
            <a:off x="7688466" y="2070987"/>
            <a:ext cx="3754854" cy="3057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0000"/>
              </a:lnSpc>
            </a:pPr>
            <a:r>
              <a:rPr sz="2000" b="1" spc="-40">
                <a:solidFill>
                  <a:srgbClr val="FFFFFF"/>
                </a:solidFill>
              </a:rPr>
              <a:t>클러스터 3은 면역 억제 조절 T세포다</a:t>
            </a:r>
          </a:p>
        </p:txBody>
      </p:sp>
      <p:sp>
        <p:nvSpPr>
          <p:cNvPr id="7" name="logic-01:factor"/>
          <p:cNvSpPr/>
          <p:nvPr/>
        </p:nvSpPr>
        <p:spPr>
          <a:xfrm>
            <a:off x="468000" y="2070987"/>
            <a:ext cx="6190866" cy="87501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logic-01:marker"/>
          <p:cNvSpPr/>
          <p:nvPr/>
        </p:nvSpPr>
        <p:spPr>
          <a:xfrm>
            <a:off x="608400" y="2332994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1</a:t>
            </a:r>
          </a:p>
        </p:txBody>
      </p:sp>
      <p:sp>
        <p:nvSpPr>
          <p:cNvPr id="9" name="logic-01:factor-text"/>
          <p:cNvSpPr txBox="1"/>
          <p:nvPr/>
        </p:nvSpPr>
        <p:spPr>
          <a:xfrm>
            <a:off x="1099800" y="2070987"/>
            <a:ext cx="5418666" cy="87501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FOXP3 발현 상위 5%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클러스터 3 세포의 FOXP3 발현이 전체 세포 중 상위 5%</a:t>
            </a:r>
          </a:p>
        </p:txBody>
      </p:sp>
      <p:cxnSp>
        <p:nvCxnSpPr>
          <p:cNvPr id="10" name="logic-01:link"/>
          <p:cNvCxnSpPr/>
          <p:nvPr/>
        </p:nvCxnSpPr>
        <p:spPr>
          <a:xfrm>
            <a:off x="6658866" y="2508494"/>
            <a:ext cx="3744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ogic-01:factor"/>
          <p:cNvSpPr/>
          <p:nvPr/>
        </p:nvSpPr>
        <p:spPr>
          <a:xfrm>
            <a:off x="468000" y="3162000"/>
            <a:ext cx="6190866" cy="87501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logic-01:marker"/>
          <p:cNvSpPr/>
          <p:nvPr/>
        </p:nvSpPr>
        <p:spPr>
          <a:xfrm>
            <a:off x="608400" y="3424007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2</a:t>
            </a:r>
          </a:p>
        </p:txBody>
      </p:sp>
      <p:sp>
        <p:nvSpPr>
          <p:cNvPr id="13" name="logic-01:factor-text"/>
          <p:cNvSpPr txBox="1"/>
          <p:nvPr/>
        </p:nvSpPr>
        <p:spPr>
          <a:xfrm>
            <a:off x="1099800" y="3162000"/>
            <a:ext cx="5418666" cy="87501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Treg 표지 점수 0.8 이상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조절 T세포 표지 유전자 세트 점수</a:t>
            </a:r>
          </a:p>
        </p:txBody>
      </p:sp>
      <p:cxnSp>
        <p:nvCxnSpPr>
          <p:cNvPr id="14" name="logic-01:link"/>
          <p:cNvCxnSpPr/>
          <p:nvPr/>
        </p:nvCxnSpPr>
        <p:spPr>
          <a:xfrm>
            <a:off x="6658866" y="3599507"/>
            <a:ext cx="3744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1:factor"/>
          <p:cNvSpPr/>
          <p:nvPr/>
        </p:nvSpPr>
        <p:spPr>
          <a:xfrm>
            <a:off x="468000" y="4253013"/>
            <a:ext cx="6190866" cy="87501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1:marker"/>
          <p:cNvSpPr/>
          <p:nvPr/>
        </p:nvSpPr>
        <p:spPr>
          <a:xfrm>
            <a:off x="608400" y="4515020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3</a:t>
            </a:r>
          </a:p>
        </p:txBody>
      </p:sp>
      <p:sp>
        <p:nvSpPr>
          <p:cNvPr id="17" name="logic-01:factor-text"/>
          <p:cNvSpPr txBox="1"/>
          <p:nvPr/>
        </p:nvSpPr>
        <p:spPr>
          <a:xfrm>
            <a:off x="1099800" y="4253013"/>
            <a:ext cx="5418666" cy="87501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자동 주석 일치율 92%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참조 데이터 기반 세포 유형 주석과 비교</a:t>
            </a:r>
          </a:p>
        </p:txBody>
      </p:sp>
      <p:cxnSp>
        <p:nvCxnSpPr>
          <p:cNvPr id="18" name="logic-01:link"/>
          <p:cNvCxnSpPr/>
          <p:nvPr/>
        </p:nvCxnSpPr>
        <p:spPr>
          <a:xfrm>
            <a:off x="6658866" y="4690520"/>
            <a:ext cx="3744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logic-01:link"/>
          <p:cNvCxnSpPr/>
          <p:nvPr/>
        </p:nvCxnSpPr>
        <p:spPr>
          <a:xfrm>
            <a:off x="7033266" y="2508494"/>
            <a:ext cx="0" cy="2182026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logic-01:link"/>
          <p:cNvCxnSpPr/>
          <p:nvPr/>
        </p:nvCxnSpPr>
        <p:spPr>
          <a:xfrm>
            <a:off x="7033266" y="3599507"/>
            <a:ext cx="3744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그래파이트 클린 16:9">
  <a:themeElements>
    <a:clrScheme name="HaLab 그래파이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4A4F57"/>
      </a:accent1>
      <a:accent2>
        <a:srgbClr val="898D92"/>
      </a:accent2>
      <a:accent3>
        <a:srgbClr val="B7B9BC"/>
      </a:accent3>
      <a:accent4>
        <a:srgbClr val="FFD43B"/>
      </a:accent4>
      <a:accent5>
        <a:srgbClr val="B7B9BC"/>
      </a:accent5>
      <a:accent6>
        <a:srgbClr val="E2E5EA"/>
      </a:accent6>
      <a:hlink>
        <a:srgbClr val="4A4F57"/>
      </a:hlink>
      <a:folHlink>
        <a:srgbClr val="B7B9BC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