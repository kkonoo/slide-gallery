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군집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넣은 분할로 병리 주석과의 일치도가 0.62에서 0.81로 올랐다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발현만 쓴 분할 (Leiden)</a:t>
            </a:r>
          </a:p>
        </p:txBody>
      </p:sp>
      <p:pic>
        <p:nvPicPr>
          <p:cNvPr id="9" name="comp-03:image" descr="comp-03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197" y="2235145"/>
            <a:ext cx="3033666" cy="227397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487223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0.62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487223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18%</a:t>
            </a:r>
          </a:p>
        </p:txBody>
      </p:sp>
      <p:cxnSp>
        <p:nvCxnSpPr>
          <p:cNvPr id="16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mp-03:metric-label"/>
          <p:cNvSpPr txBox="1"/>
          <p:nvPr/>
        </p:nvSpPr>
        <p:spPr>
          <a:xfrm>
            <a:off x="68400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18" name="comp-03:metric-value"/>
          <p:cNvSpPr txBox="1"/>
          <p:nvPr/>
        </p:nvSpPr>
        <p:spPr>
          <a:xfrm>
            <a:off x="487223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7</a:t>
            </a:r>
          </a:p>
        </p:txBody>
      </p:sp>
      <p:sp>
        <p:nvSpPr>
          <p:cNvPr id="19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comp-03:tag"/>
          <p:cNvSpPr/>
          <p:nvPr/>
        </p:nvSpPr>
        <p:spPr>
          <a:xfrm>
            <a:off x="642006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comp-03:tag-text"/>
          <p:cNvSpPr txBox="1"/>
          <p:nvPr/>
        </p:nvSpPr>
        <p:spPr>
          <a:xfrm>
            <a:off x="642006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A4F57"/>
                </a:solidFill>
              </a:rPr>
              <a:t>후</a:t>
            </a:r>
          </a:p>
        </p:txBody>
      </p:sp>
      <p:sp>
        <p:nvSpPr>
          <p:cNvPr id="22" name="comp-03:title"/>
          <p:cNvSpPr txBox="1"/>
          <p:nvPr/>
        </p:nvSpPr>
        <p:spPr>
          <a:xfrm>
            <a:off x="687069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이웃을 반영한 분할</a:t>
            </a:r>
          </a:p>
        </p:txBody>
      </p:sp>
      <p:pic>
        <p:nvPicPr>
          <p:cNvPr id="23" name="comp-03:image" descr="comp-03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257" y="2235145"/>
            <a:ext cx="3033666" cy="2273975"/>
          </a:xfrm>
          <a:prstGeom prst="rect">
            <a:avLst/>
          </a:prstGeom>
        </p:spPr>
      </p:pic>
      <p:cxnSp>
        <p:nvCxnSpPr>
          <p:cNvPr id="24" name="comp-03:metric-rule"/>
          <p:cNvCxnSpPr/>
          <p:nvPr/>
        </p:nvCxnSpPr>
        <p:spPr>
          <a:xfrm>
            <a:off x="642006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60829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4A4F57"/>
                </a:solidFill>
              </a:rPr>
              <a:t>0.81</a:t>
            </a:r>
          </a:p>
        </p:txBody>
      </p:sp>
      <p:cxnSp>
        <p:nvCxnSpPr>
          <p:cNvPr id="27" name="comp-03:metric-rule"/>
          <p:cNvCxnSpPr/>
          <p:nvPr/>
        </p:nvCxnSpPr>
        <p:spPr>
          <a:xfrm>
            <a:off x="642006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3:metric-label"/>
          <p:cNvSpPr txBox="1"/>
          <p:nvPr/>
        </p:nvSpPr>
        <p:spPr>
          <a:xfrm>
            <a:off x="642006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29" name="comp-03:metric-value"/>
          <p:cNvSpPr txBox="1"/>
          <p:nvPr/>
        </p:nvSpPr>
        <p:spPr>
          <a:xfrm>
            <a:off x="1060829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4%</a:t>
            </a:r>
          </a:p>
        </p:txBody>
      </p:sp>
      <p:cxnSp>
        <p:nvCxnSpPr>
          <p:cNvPr id="30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omp-03:metric-label"/>
          <p:cNvSpPr txBox="1"/>
          <p:nvPr/>
        </p:nvSpPr>
        <p:spPr>
          <a:xfrm>
            <a:off x="642006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32" name="comp-03:metric-value"/>
          <p:cNvSpPr txBox="1"/>
          <p:nvPr/>
        </p:nvSpPr>
        <p:spPr>
          <a:xfrm>
            <a:off x="1060829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5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명이 시료 · 실험 · 분석 · 데이터를 나눠 맡아요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9665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4A4F57"/>
                </a:solidFill>
              </a:rPr>
              <a:t>홍길동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794290" cy="198000"/>
          </a:xfrm>
          <a:prstGeom prst="roundRect">
            <a:avLst>
              <a:gd name="adj" fmla="val 50000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79429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연구책임자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교수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 총괄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12년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공간전사체 연구실 운영 (2018–)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956218" cy="956218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763788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337761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337761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763788" y="2163538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763788" y="2499950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188218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3404218"/>
            <a:ext cx="956218" cy="956218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763788" y="3404218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317377" y="3468987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317377" y="3468987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실험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763788" y="3767756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생명과학과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763788" y="4104168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CRISPR 검증</a:t>
            </a:r>
          </a:p>
        </p:txBody>
      </p:sp>
      <p:sp>
        <p:nvSpPr>
          <p:cNvPr id="26" name="people-01:card"/>
          <p:cNvSpPr/>
          <p:nvPr/>
        </p:nvSpPr>
        <p:spPr>
          <a:xfrm>
            <a:off x="5411570" y="4792436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5008436"/>
            <a:ext cx="956218" cy="956218"/>
          </a:xfrm>
          <a:prstGeom prst="rect">
            <a:avLst/>
          </a:prstGeom>
        </p:spPr>
      </p:pic>
      <p:sp>
        <p:nvSpPr>
          <p:cNvPr id="28" name="people-01:name"/>
          <p:cNvSpPr txBox="1"/>
          <p:nvPr/>
        </p:nvSpPr>
        <p:spPr>
          <a:xfrm>
            <a:off x="6763788" y="5008436"/>
            <a:ext cx="1431446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C</a:t>
            </a:r>
          </a:p>
        </p:txBody>
      </p:sp>
      <p:sp>
        <p:nvSpPr>
          <p:cNvPr id="29" name="people-01:role"/>
          <p:cNvSpPr/>
          <p:nvPr/>
        </p:nvSpPr>
        <p:spPr>
          <a:xfrm>
            <a:off x="8339234" y="5073205"/>
            <a:ext cx="823316" cy="198000"/>
          </a:xfrm>
          <a:prstGeom prst="roundRect">
            <a:avLst>
              <a:gd name="adj" fmla="val 50000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people-01:role-text"/>
          <p:cNvSpPr txBox="1"/>
          <p:nvPr/>
        </p:nvSpPr>
        <p:spPr>
          <a:xfrm>
            <a:off x="8339234" y="5073205"/>
            <a:ext cx="823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데이터 관리</a:t>
            </a:r>
          </a:p>
        </p:txBody>
      </p:sp>
      <p:sp>
        <p:nvSpPr>
          <p:cNvPr id="31" name="people-01:affil"/>
          <p:cNvSpPr txBox="1"/>
          <p:nvPr/>
        </p:nvSpPr>
        <p:spPr>
          <a:xfrm>
            <a:off x="6763788" y="5371974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연구교수</a:t>
            </a:r>
          </a:p>
        </p:txBody>
      </p:sp>
      <p:sp>
        <p:nvSpPr>
          <p:cNvPr id="32" name="people-01:bio"/>
          <p:cNvSpPr txBox="1"/>
          <p:nvPr/>
        </p:nvSpPr>
        <p:spPr>
          <a:xfrm>
            <a:off x="6763788" y="5708386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데이터 표준화 · 공개 저장소 등록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유형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3은 어떤 세포일까요?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FOXP3 발현 상위 5%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클러스터 3 세포의 FOXP3 발현이 전체 세포 중 상위 5%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Treg 표지 점수 0.8 이상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조절 T세포 표지 유전자 세트 점수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일치율 92%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참조 데이터 기반 세포 유형 주석과 비교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407365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4073659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401259"/>
            <a:ext cx="7432080" cy="762386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401259"/>
            <a:ext cx="6870480" cy="7623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클러스터 3은 면역 억제 조절 T세포다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