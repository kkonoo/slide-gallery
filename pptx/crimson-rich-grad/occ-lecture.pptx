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(수업 · 세미나).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(수업 · 세미나).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(수업 · 세미나).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(수업 · 세미나).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(수업 · 세미나).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(수업 · 세미나).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(수업 · 세미나).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(수업 · 세미나).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(수업 · 세미나).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(수업 · 세미나).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bg>
      <p:bgPr>
        <a:gradFill rotWithShape="1">
          <a:gsLst>
            <a:gs pos="0">
              <a:srgbClr val="B0283C"/>
            </a:gs>
            <a:gs pos="100000">
              <a:srgbClr val="C2531F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3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lt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lt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6" name="로고 띠"/>
          <p:cNvSpPr/>
          <p:nvPr userDrawn="1"/>
        </p:nvSpPr>
        <p:spPr>
          <a:xfrm>
            <a:off x="0" y="5922000"/>
            <a:ext cx="12192120" cy="936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bg>
      <p:bgPr>
        <a:gradFill rotWithShape="1">
          <a:gsLst>
            <a:gs pos="0">
              <a:srgbClr val="B0283C"/>
            </a:gs>
            <a:gs pos="100000">
              <a:srgbClr val="C2531F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accent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F1D8DC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F1D8DC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bg>
      <p:bgPr>
        <a:gradFill rotWithShape="1">
          <a:gsLst>
            <a:gs pos="0">
              <a:srgbClr val="B0283C"/>
            </a:gs>
            <a:gs pos="100000">
              <a:srgbClr val="C2531F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3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lt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4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lt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5" name="로고 띠"/>
          <p:cNvSpPr/>
          <p:nvPr userDrawn="1"/>
        </p:nvSpPr>
        <p:spPr>
          <a:xfrm>
            <a:off x="0" y="5922000"/>
            <a:ext cx="12192120" cy="936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HaLab 세미나 · 분석 입문 3회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단일세포 RNA-seq 분석 첫걸음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count 행렬에서 세포 유형까지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2026. 10. 20.</a:t>
            </a:r>
          </a:p>
          <a:p>
            <a:r>
              <a:t>HaLab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오늘 배울 것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0"/>
          </p:nvPr>
        </p:nvSpPr>
        <p:spPr/>
        <p:txBody>
          <a:bodyPr/>
          <a:lstStyle/>
          <a:p>
            <a:r>
              <a:t>I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30"/>
          </p:nvPr>
        </p:nvSpPr>
        <p:spPr/>
        <p:txBody>
          <a:bodyPr/>
          <a:lstStyle/>
          <a:p>
            <a:r>
              <a:t>단일세포 데이터는 무엇이 다를까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1"/>
          </p:nvPr>
        </p:nvSpPr>
        <p:spPr/>
        <p:txBody>
          <a:bodyPr/>
          <a:lstStyle/>
          <a:p>
            <a:r>
              <a:t>II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31"/>
          </p:nvPr>
        </p:nvSpPr>
        <p:spPr/>
        <p:txBody>
          <a:bodyPr/>
          <a:lstStyle/>
          <a:p>
            <a:r>
              <a:t>분석 다섯 단계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22"/>
          </p:nvPr>
        </p:nvSpPr>
        <p:spPr/>
        <p:txBody>
          <a:bodyPr/>
          <a:lstStyle/>
          <a:p>
            <a:r>
              <a:t>III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32"/>
          </p:nvPr>
        </p:nvSpPr>
        <p:spPr/>
        <p:txBody>
          <a:bodyPr/>
          <a:lstStyle/>
          <a:p>
            <a:r>
              <a:t>직접 해 보기 (R)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23"/>
          </p:nvPr>
        </p:nvSpPr>
        <p:spPr/>
        <p:txBody>
          <a:bodyPr/>
          <a:lstStyle/>
          <a:p>
            <a:r>
              <a:t>IV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idx="33"/>
          </p:nvPr>
        </p:nvSpPr>
        <p:spPr/>
        <p:txBody>
          <a:bodyPr/>
          <a:lstStyle/>
          <a:p>
            <a:r>
              <a:t>정리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1. 개념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단일세포 데이터는 무엇이 다를까?</a:t>
            </a:r>
          </a:p>
        </p:txBody>
      </p:sp>
      <p:sp>
        <p:nvSpPr>
          <p:cNvPr id="5" name="comp-02:head"/>
          <p:cNvSpPr txBox="1"/>
          <p:nvPr/>
        </p:nvSpPr>
        <p:spPr>
          <a:xfrm>
            <a:off x="468000" y="1888821"/>
            <a:ext cx="4502448" cy="38153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800" b="1" spc="-40">
                <a:solidFill>
                  <a:srgbClr val="6B7280"/>
                </a:solidFill>
              </a:rPr>
              <a:t>bulk RNA-seq</a:t>
            </a:r>
          </a:p>
        </p:txBody>
      </p:sp>
      <p:sp>
        <p:nvSpPr>
          <p:cNvPr id="6" name="comp-02:head"/>
          <p:cNvSpPr txBox="1"/>
          <p:nvPr/>
        </p:nvSpPr>
        <p:spPr>
          <a:xfrm>
            <a:off x="7221672" y="1888821"/>
            <a:ext cx="4502448" cy="38153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800" b="1" spc="-40">
                <a:solidFill>
                  <a:srgbClr val="B0283C"/>
                </a:solidFill>
              </a:rPr>
              <a:t>단일세포 RNA-seq</a:t>
            </a:r>
          </a:p>
        </p:txBody>
      </p:sp>
      <p:cxnSp>
        <p:nvCxnSpPr>
          <p:cNvPr id="7" name="comp-02:head-rule"/>
          <p:cNvCxnSpPr/>
          <p:nvPr/>
        </p:nvCxnSpPr>
        <p:spPr>
          <a:xfrm>
            <a:off x="468000" y="2324359"/>
            <a:ext cx="11256120" cy="0"/>
          </a:xfrm>
          <a:prstGeom prst="line">
            <a:avLst/>
          </a:prstGeom>
          <a:ln w="12700">
            <a:solidFill>
              <a:srgbClr val="262B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comp-02:value"/>
          <p:cNvSpPr txBox="1"/>
          <p:nvPr/>
        </p:nvSpPr>
        <p:spPr>
          <a:xfrm>
            <a:off x="612000" y="2324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조직 평균</a:t>
            </a:r>
          </a:p>
        </p:txBody>
      </p:sp>
      <p:sp>
        <p:nvSpPr>
          <p:cNvPr id="9" name="comp-02:item"/>
          <p:cNvSpPr txBox="1"/>
          <p:nvPr/>
        </p:nvSpPr>
        <p:spPr>
          <a:xfrm>
            <a:off x="5042448" y="2324359"/>
            <a:ext cx="2107224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한 번에 보는 것</a:t>
            </a:r>
          </a:p>
        </p:txBody>
      </p:sp>
      <p:sp>
        <p:nvSpPr>
          <p:cNvPr id="10" name="comp-02:value"/>
          <p:cNvSpPr txBox="1"/>
          <p:nvPr/>
        </p:nvSpPr>
        <p:spPr>
          <a:xfrm>
            <a:off x="7365672" y="2324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262B33"/>
                </a:solidFill>
              </a:rPr>
              <a:t>세포 하나하나</a:t>
            </a:r>
          </a:p>
        </p:txBody>
      </p:sp>
      <p:cxnSp>
        <p:nvCxnSpPr>
          <p:cNvPr id="11" name="comp-02:row-rule"/>
          <p:cNvCxnSpPr/>
          <p:nvPr/>
        </p:nvCxnSpPr>
        <p:spPr>
          <a:xfrm>
            <a:off x="468000" y="3116359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comp-02:value"/>
          <p:cNvSpPr txBox="1"/>
          <p:nvPr/>
        </p:nvSpPr>
        <p:spPr>
          <a:xfrm>
            <a:off x="612000" y="3116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조건 간 차이</a:t>
            </a:r>
          </a:p>
        </p:txBody>
      </p:sp>
      <p:sp>
        <p:nvSpPr>
          <p:cNvPr id="13" name="comp-02:item"/>
          <p:cNvSpPr txBox="1"/>
          <p:nvPr/>
        </p:nvSpPr>
        <p:spPr>
          <a:xfrm>
            <a:off x="5042448" y="3116359"/>
            <a:ext cx="2107224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알 수 있는 것</a:t>
            </a:r>
          </a:p>
        </p:txBody>
      </p:sp>
      <p:sp>
        <p:nvSpPr>
          <p:cNvPr id="14" name="comp-02:value"/>
          <p:cNvSpPr txBox="1"/>
          <p:nvPr/>
        </p:nvSpPr>
        <p:spPr>
          <a:xfrm>
            <a:off x="7365672" y="3116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262B33"/>
                </a:solidFill>
              </a:rPr>
              <a:t>세포 유형 · 상태</a:t>
            </a:r>
          </a:p>
        </p:txBody>
      </p:sp>
      <p:cxnSp>
        <p:nvCxnSpPr>
          <p:cNvPr id="15" name="comp-02:row-rule"/>
          <p:cNvCxnSpPr/>
          <p:nvPr/>
        </p:nvCxnSpPr>
        <p:spPr>
          <a:xfrm>
            <a:off x="468000" y="3908359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comp-02:value"/>
          <p:cNvSpPr txBox="1"/>
          <p:nvPr/>
        </p:nvSpPr>
        <p:spPr>
          <a:xfrm>
            <a:off x="612000" y="3908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유전자 × 시료 수십</a:t>
            </a:r>
          </a:p>
        </p:txBody>
      </p:sp>
      <p:sp>
        <p:nvSpPr>
          <p:cNvPr id="17" name="comp-02:item"/>
          <p:cNvSpPr txBox="1"/>
          <p:nvPr/>
        </p:nvSpPr>
        <p:spPr>
          <a:xfrm>
            <a:off x="5042448" y="3908359"/>
            <a:ext cx="2107224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행렬 크기</a:t>
            </a:r>
          </a:p>
        </p:txBody>
      </p:sp>
      <p:sp>
        <p:nvSpPr>
          <p:cNvPr id="18" name="comp-02:value"/>
          <p:cNvSpPr txBox="1"/>
          <p:nvPr/>
        </p:nvSpPr>
        <p:spPr>
          <a:xfrm>
            <a:off x="7365672" y="3908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262B33"/>
                </a:solidFill>
              </a:rPr>
              <a:t>유전자 × 세포 수만</a:t>
            </a:r>
          </a:p>
        </p:txBody>
      </p:sp>
      <p:cxnSp>
        <p:nvCxnSpPr>
          <p:cNvPr id="19" name="comp-02:row-rule"/>
          <p:cNvCxnSpPr/>
          <p:nvPr/>
        </p:nvCxnSpPr>
        <p:spPr>
          <a:xfrm>
            <a:off x="468000" y="4700359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comp-02:value"/>
          <p:cNvSpPr txBox="1"/>
          <p:nvPr/>
        </p:nvSpPr>
        <p:spPr>
          <a:xfrm>
            <a:off x="612000" y="4700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낮음</a:t>
            </a:r>
          </a:p>
        </p:txBody>
      </p:sp>
      <p:sp>
        <p:nvSpPr>
          <p:cNvPr id="21" name="comp-02:item"/>
          <p:cNvSpPr txBox="1"/>
          <p:nvPr/>
        </p:nvSpPr>
        <p:spPr>
          <a:xfrm>
            <a:off x="5042448" y="4700359"/>
            <a:ext cx="2107224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0 의 비율</a:t>
            </a:r>
          </a:p>
        </p:txBody>
      </p:sp>
      <p:sp>
        <p:nvSpPr>
          <p:cNvPr id="22" name="comp-02:value"/>
          <p:cNvSpPr txBox="1"/>
          <p:nvPr/>
        </p:nvSpPr>
        <p:spPr>
          <a:xfrm>
            <a:off x="7365672" y="4700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262B33"/>
                </a:solidFill>
              </a:rPr>
              <a:t>90% 이상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3</a:t>
            </a:fld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II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분석 다섯 단계</a:t>
            </a:r>
          </a:p>
        </p:txBody>
      </p:sp>
      <p:sp>
        <p:nvSpPr>
          <p:cNvPr id="4" name="L3:subtitle"/>
          <p:cNvSpPr txBox="1"/>
          <p:nvPr/>
        </p:nvSpPr>
        <p:spPr>
          <a:xfrm>
            <a:off x="1512000" y="3852360"/>
            <a:ext cx="8986666" cy="36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0" spc="-40">
                <a:solidFill>
                  <a:srgbClr val="EED0D4"/>
                </a:solidFill>
                <a:latin typeface="Pretendard Medium"/>
                <a:ea typeface="Pretendard Medium"/>
                <a:cs typeface="Pretendard Medium"/>
              </a:rPr>
              <a:t>품질관리에서 세포 유형 주석까지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2. 분석 단계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분석은 다섯 단계로 나뉘어요</a:t>
            </a:r>
          </a:p>
        </p:txBody>
      </p:sp>
      <p:cxnSp>
        <p:nvCxnSpPr>
          <p:cNvPr id="5" name="flow-01:line"/>
          <p:cNvCxnSpPr/>
          <p:nvPr/>
        </p:nvCxnSpPr>
        <p:spPr>
          <a:xfrm>
            <a:off x="702000" y="2901463"/>
            <a:ext cx="9004896" cy="0"/>
          </a:xfrm>
          <a:prstGeom prst="line">
            <a:avLst/>
          </a:prstGeom>
          <a:ln w="15875">
            <a:solidFill>
              <a:srgbClr val="DFA9B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flow-01:marker"/>
          <p:cNvSpPr/>
          <p:nvPr/>
        </p:nvSpPr>
        <p:spPr>
          <a:xfrm>
            <a:off x="468000" y="2667463"/>
            <a:ext cx="468000" cy="468000"/>
          </a:xfrm>
          <a:prstGeom prst="ellipse">
            <a:avLst/>
          </a:prstGeom>
          <a:solidFill>
            <a:srgbClr val="B0283C"/>
          </a:solidFill>
          <a:ln w="9525">
            <a:solidFill>
              <a:srgbClr val="B028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flow-01:title"/>
          <p:cNvSpPr txBox="1"/>
          <p:nvPr/>
        </p:nvSpPr>
        <p:spPr>
          <a:xfrm>
            <a:off x="468000" y="3299263"/>
            <a:ext cx="1970424" cy="30934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 spc="-40">
                <a:solidFill>
                  <a:srgbClr val="B0283C"/>
                </a:solidFill>
              </a:rPr>
              <a:t>품질관리</a:t>
            </a:r>
          </a:p>
        </p:txBody>
      </p:sp>
      <p:sp>
        <p:nvSpPr>
          <p:cNvPr id="8" name="flow-01:desc"/>
          <p:cNvSpPr txBox="1"/>
          <p:nvPr/>
        </p:nvSpPr>
        <p:spPr>
          <a:xfrm>
            <a:off x="468000" y="3678805"/>
            <a:ext cx="1970424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죽은 세포 · 이중 세포 제거</a:t>
            </a:r>
          </a:p>
        </p:txBody>
      </p:sp>
      <p:sp>
        <p:nvSpPr>
          <p:cNvPr id="9" name="flow-01:marker"/>
          <p:cNvSpPr/>
          <p:nvPr/>
        </p:nvSpPr>
        <p:spPr>
          <a:xfrm>
            <a:off x="2719224" y="2667463"/>
            <a:ext cx="468000" cy="46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B028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B0283C"/>
                </a:solidFill>
              </a:rPr>
              <a:t>2</a:t>
            </a:r>
          </a:p>
        </p:txBody>
      </p:sp>
      <p:sp>
        <p:nvSpPr>
          <p:cNvPr id="10" name="flow-01:title"/>
          <p:cNvSpPr txBox="1"/>
          <p:nvPr/>
        </p:nvSpPr>
        <p:spPr>
          <a:xfrm>
            <a:off x="2719224" y="3299263"/>
            <a:ext cx="1970424" cy="30934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 spc="-40">
                <a:solidFill>
                  <a:srgbClr val="262B33"/>
                </a:solidFill>
              </a:rPr>
              <a:t>정규화</a:t>
            </a:r>
          </a:p>
        </p:txBody>
      </p:sp>
      <p:sp>
        <p:nvSpPr>
          <p:cNvPr id="11" name="flow-01:desc"/>
          <p:cNvSpPr txBox="1"/>
          <p:nvPr/>
        </p:nvSpPr>
        <p:spPr>
          <a:xfrm>
            <a:off x="2719224" y="3678805"/>
            <a:ext cx="1970424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세포마다 깊이 차이 맞추기</a:t>
            </a:r>
          </a:p>
        </p:txBody>
      </p:sp>
      <p:sp>
        <p:nvSpPr>
          <p:cNvPr id="12" name="flow-01:marker"/>
          <p:cNvSpPr/>
          <p:nvPr/>
        </p:nvSpPr>
        <p:spPr>
          <a:xfrm>
            <a:off x="4970448" y="2667463"/>
            <a:ext cx="468000" cy="46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B028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B0283C"/>
                </a:solidFill>
              </a:rPr>
              <a:t>3</a:t>
            </a:r>
          </a:p>
        </p:txBody>
      </p:sp>
      <p:sp>
        <p:nvSpPr>
          <p:cNvPr id="13" name="flow-01:title"/>
          <p:cNvSpPr txBox="1"/>
          <p:nvPr/>
        </p:nvSpPr>
        <p:spPr>
          <a:xfrm>
            <a:off x="4970448" y="3299263"/>
            <a:ext cx="1970424" cy="30934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 spc="-40">
                <a:solidFill>
                  <a:srgbClr val="262B33"/>
                </a:solidFill>
              </a:rPr>
              <a:t>차원 축소</a:t>
            </a:r>
          </a:p>
        </p:txBody>
      </p:sp>
      <p:sp>
        <p:nvSpPr>
          <p:cNvPr id="14" name="flow-01:desc"/>
          <p:cNvSpPr txBox="1"/>
          <p:nvPr/>
        </p:nvSpPr>
        <p:spPr>
          <a:xfrm>
            <a:off x="4970448" y="3678805"/>
            <a:ext cx="1970424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PCA → UMAP</a:t>
            </a:r>
          </a:p>
        </p:txBody>
      </p:sp>
      <p:sp>
        <p:nvSpPr>
          <p:cNvPr id="15" name="flow-01:marker"/>
          <p:cNvSpPr/>
          <p:nvPr/>
        </p:nvSpPr>
        <p:spPr>
          <a:xfrm>
            <a:off x="7221672" y="2667463"/>
            <a:ext cx="468000" cy="46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B028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B0283C"/>
                </a:solidFill>
              </a:rPr>
              <a:t>4</a:t>
            </a:r>
          </a:p>
        </p:txBody>
      </p:sp>
      <p:sp>
        <p:nvSpPr>
          <p:cNvPr id="16" name="flow-01:title"/>
          <p:cNvSpPr txBox="1"/>
          <p:nvPr/>
        </p:nvSpPr>
        <p:spPr>
          <a:xfrm>
            <a:off x="7221672" y="3299263"/>
            <a:ext cx="1970424" cy="30934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 spc="-40">
                <a:solidFill>
                  <a:srgbClr val="262B33"/>
                </a:solidFill>
              </a:rPr>
              <a:t>군집</a:t>
            </a:r>
          </a:p>
        </p:txBody>
      </p:sp>
      <p:sp>
        <p:nvSpPr>
          <p:cNvPr id="17" name="flow-01:desc"/>
          <p:cNvSpPr txBox="1"/>
          <p:nvPr/>
        </p:nvSpPr>
        <p:spPr>
          <a:xfrm>
            <a:off x="7221672" y="3678805"/>
            <a:ext cx="1970424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비슷한 세포끼리 묶기</a:t>
            </a:r>
          </a:p>
        </p:txBody>
      </p:sp>
      <p:sp>
        <p:nvSpPr>
          <p:cNvPr id="18" name="flow-01:marker"/>
          <p:cNvSpPr/>
          <p:nvPr/>
        </p:nvSpPr>
        <p:spPr>
          <a:xfrm>
            <a:off x="9472896" y="2667463"/>
            <a:ext cx="468000" cy="46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B028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B0283C"/>
                </a:solidFill>
              </a:rPr>
              <a:t>5</a:t>
            </a:r>
          </a:p>
        </p:txBody>
      </p:sp>
      <p:sp>
        <p:nvSpPr>
          <p:cNvPr id="19" name="flow-01:title"/>
          <p:cNvSpPr txBox="1"/>
          <p:nvPr/>
        </p:nvSpPr>
        <p:spPr>
          <a:xfrm>
            <a:off x="9472896" y="3299263"/>
            <a:ext cx="1970424" cy="30934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 spc="-40">
                <a:solidFill>
                  <a:srgbClr val="262B33"/>
                </a:solidFill>
              </a:rPr>
              <a:t>주석</a:t>
            </a:r>
          </a:p>
        </p:txBody>
      </p:sp>
      <p:sp>
        <p:nvSpPr>
          <p:cNvPr id="20" name="flow-01:desc"/>
          <p:cNvSpPr txBox="1"/>
          <p:nvPr/>
        </p:nvSpPr>
        <p:spPr>
          <a:xfrm>
            <a:off x="9472896" y="3678805"/>
            <a:ext cx="1970424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표지 유전자로 이름 붙이기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5</a:t>
            </a:fld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2-1. 품질관리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품질관리에서는 세 가지 숫자를 봐요</a:t>
            </a:r>
          </a:p>
        </p:txBody>
      </p:sp>
      <p:cxnSp>
        <p:nvCxnSpPr>
          <p:cNvPr id="5" name="list-01:line"/>
          <p:cNvCxnSpPr/>
          <p:nvPr/>
        </p:nvCxnSpPr>
        <p:spPr>
          <a:xfrm>
            <a:off x="468000" y="2976131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list-01:lead"/>
          <p:cNvSpPr txBox="1"/>
          <p:nvPr/>
        </p:nvSpPr>
        <p:spPr>
          <a:xfrm>
            <a:off x="648000" y="1976808"/>
            <a:ext cx="1303403" cy="32753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800" b="0" spc="-40">
                <a:solidFill>
                  <a:srgbClr val="B0283C"/>
                </a:solidFill>
                <a:latin typeface="Pretendard Medium"/>
                <a:ea typeface="Pretendard Medium"/>
                <a:cs typeface="Pretendard Medium"/>
              </a:rPr>
              <a:t>nFeature</a:t>
            </a:r>
          </a:p>
        </p:txBody>
      </p:sp>
      <p:sp>
        <p:nvSpPr>
          <p:cNvPr id="7" name="list-01:marker"/>
          <p:cNvSpPr/>
          <p:nvPr/>
        </p:nvSpPr>
        <p:spPr>
          <a:xfrm>
            <a:off x="1951403" y="1996577"/>
            <a:ext cx="288000" cy="288000"/>
          </a:xfrm>
          <a:prstGeom prst="rect">
            <a:avLst/>
          </a:prstGeom>
          <a:solidFill>
            <a:srgbClr val="B02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" name="list-01:title"/>
          <p:cNvSpPr txBox="1"/>
          <p:nvPr/>
        </p:nvSpPr>
        <p:spPr>
          <a:xfrm>
            <a:off x="2419403" y="1995005"/>
            <a:ext cx="9304717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세포마다 검출된 유전자 수</a:t>
            </a:r>
          </a:p>
        </p:txBody>
      </p:sp>
      <p:sp>
        <p:nvSpPr>
          <p:cNvPr id="9" name="list-01:desc"/>
          <p:cNvSpPr txBox="1"/>
          <p:nvPr/>
        </p:nvSpPr>
        <p:spPr>
          <a:xfrm>
            <a:off x="2419403" y="2340150"/>
            <a:ext cx="9304717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너무 적으면 빈 방울, 너무 많으면 이중 세포</a:t>
            </a:r>
          </a:p>
        </p:txBody>
      </p:sp>
      <p:cxnSp>
        <p:nvCxnSpPr>
          <p:cNvPr id="10" name="list-01:line"/>
          <p:cNvCxnSpPr/>
          <p:nvPr/>
        </p:nvCxnSpPr>
        <p:spPr>
          <a:xfrm>
            <a:off x="468000" y="4317257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list-01:lead"/>
          <p:cNvSpPr txBox="1"/>
          <p:nvPr/>
        </p:nvSpPr>
        <p:spPr>
          <a:xfrm>
            <a:off x="648000" y="3317935"/>
            <a:ext cx="1303403" cy="32753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800" b="0" spc="-40">
                <a:solidFill>
                  <a:srgbClr val="B0283C"/>
                </a:solidFill>
                <a:latin typeface="Pretendard Medium"/>
                <a:ea typeface="Pretendard Medium"/>
                <a:cs typeface="Pretendard Medium"/>
              </a:rPr>
              <a:t>nCount</a:t>
            </a:r>
          </a:p>
        </p:txBody>
      </p:sp>
      <p:sp>
        <p:nvSpPr>
          <p:cNvPr id="12" name="list-01:marker"/>
          <p:cNvSpPr/>
          <p:nvPr/>
        </p:nvSpPr>
        <p:spPr>
          <a:xfrm>
            <a:off x="1951403" y="3337704"/>
            <a:ext cx="288000" cy="288000"/>
          </a:xfrm>
          <a:prstGeom prst="rect">
            <a:avLst/>
          </a:prstGeom>
          <a:solidFill>
            <a:srgbClr val="B02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3" name="list-01:title"/>
          <p:cNvSpPr txBox="1"/>
          <p:nvPr/>
        </p:nvSpPr>
        <p:spPr>
          <a:xfrm>
            <a:off x="2419403" y="3336131"/>
            <a:ext cx="9304717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세포마다 읽힌 분자 수</a:t>
            </a:r>
          </a:p>
        </p:txBody>
      </p:sp>
      <p:sp>
        <p:nvSpPr>
          <p:cNvPr id="14" name="list-01:desc"/>
          <p:cNvSpPr txBox="1"/>
          <p:nvPr/>
        </p:nvSpPr>
        <p:spPr>
          <a:xfrm>
            <a:off x="2419403" y="3681276"/>
            <a:ext cx="9304717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유전자 수와 함께 봐요</a:t>
            </a:r>
          </a:p>
        </p:txBody>
      </p:sp>
      <p:sp>
        <p:nvSpPr>
          <p:cNvPr id="15" name="list-01:lead"/>
          <p:cNvSpPr txBox="1"/>
          <p:nvPr/>
        </p:nvSpPr>
        <p:spPr>
          <a:xfrm>
            <a:off x="648000" y="4659061"/>
            <a:ext cx="1303403" cy="32753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800" b="0" spc="-40">
                <a:solidFill>
                  <a:srgbClr val="B0283C"/>
                </a:solidFill>
                <a:latin typeface="Pretendard Medium"/>
                <a:ea typeface="Pretendard Medium"/>
                <a:cs typeface="Pretendard Medium"/>
              </a:rPr>
              <a:t>percent.mt</a:t>
            </a:r>
          </a:p>
        </p:txBody>
      </p:sp>
      <p:sp>
        <p:nvSpPr>
          <p:cNvPr id="16" name="list-01:marker"/>
          <p:cNvSpPr/>
          <p:nvPr/>
        </p:nvSpPr>
        <p:spPr>
          <a:xfrm>
            <a:off x="1951403" y="4678830"/>
            <a:ext cx="288000" cy="288000"/>
          </a:xfrm>
          <a:prstGeom prst="rect">
            <a:avLst/>
          </a:prstGeom>
          <a:solidFill>
            <a:srgbClr val="B02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7" name="list-01:title"/>
          <p:cNvSpPr txBox="1"/>
          <p:nvPr/>
        </p:nvSpPr>
        <p:spPr>
          <a:xfrm>
            <a:off x="2419403" y="4677257"/>
            <a:ext cx="9304717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미토콘드리아 유전자 비율</a:t>
            </a:r>
          </a:p>
        </p:txBody>
      </p:sp>
      <p:sp>
        <p:nvSpPr>
          <p:cNvPr id="18" name="list-01:desc"/>
          <p:cNvSpPr txBox="1"/>
          <p:nvPr/>
        </p:nvSpPr>
        <p:spPr>
          <a:xfrm>
            <a:off x="2419403" y="5022402"/>
            <a:ext cx="9304717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높으면 죽어 가는 세포 (보통 10–20% 위를 뺌)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6</a:t>
            </a:fld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3. 직접 해 보기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Seurat 으로 품질관리는 세 줄이면 돼요</a:t>
            </a:r>
          </a:p>
        </p:txBody>
      </p:sp>
      <p:sp>
        <p:nvSpPr>
          <p:cNvPr id="5" name="code-01:heading"/>
          <p:cNvSpPr txBox="1"/>
          <p:nvPr/>
        </p:nvSpPr>
        <p:spPr>
          <a:xfrm>
            <a:off x="468000" y="2390234"/>
            <a:ext cx="1017612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품질관리</a:t>
            </a:r>
          </a:p>
        </p:txBody>
      </p:sp>
      <p:sp>
        <p:nvSpPr>
          <p:cNvPr id="6" name="code-01:lang"/>
          <p:cNvSpPr txBox="1"/>
          <p:nvPr/>
        </p:nvSpPr>
        <p:spPr>
          <a:xfrm>
            <a:off x="10716120" y="2390234"/>
            <a:ext cx="1008000" cy="291145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R</a:t>
            </a:r>
          </a:p>
        </p:txBody>
      </p:sp>
      <p:sp>
        <p:nvSpPr>
          <p:cNvPr id="7" name="code-01:bg"/>
          <p:cNvSpPr/>
          <p:nvPr/>
        </p:nvSpPr>
        <p:spPr>
          <a:xfrm>
            <a:off x="468000" y="2771379"/>
            <a:ext cx="11256120" cy="999556"/>
          </a:xfrm>
          <a:prstGeom prst="rect">
            <a:avLst/>
          </a:prstGeom>
          <a:solidFill>
            <a:srgbClr val="F3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code-01:code"/>
          <p:cNvSpPr txBox="1"/>
          <p:nvPr/>
        </p:nvSpPr>
        <p:spPr>
          <a:xfrm>
            <a:off x="648000" y="2915379"/>
            <a:ext cx="10896120" cy="7115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400" b="0" spc="0">
                <a:solidFill>
                  <a:srgbClr val="262B33"/>
                </a:solidFill>
                <a:latin typeface="D2Coding"/>
                <a:ea typeface="D2Coding"/>
                <a:cs typeface="D2Coding"/>
              </a:rPr>
              <a:t>obj[["percent.mt"]] &lt;- PercentageFeatureSet(obj, pattern = "^MT-")</a:t>
            </a:r>
            <a:endParaRPr sz="1400">
              <a:latin typeface="D2Coding"/>
              <a:ea typeface="D2Coding"/>
              <a:cs typeface="D2Coding"/>
            </a:endParaRPr>
          </a:p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400" b="0" spc="0">
                <a:solidFill>
                  <a:srgbClr val="262B33"/>
                </a:solidFill>
                <a:latin typeface="D2Coding"/>
                <a:ea typeface="D2Coding"/>
                <a:cs typeface="D2Coding"/>
              </a:rPr>
              <a:t>VlnPlot(obj, features = c("nFeature_RNA", "nCount_RNA", "percent.mt"))</a:t>
            </a:r>
            <a:endParaRPr sz="1400">
              <a:latin typeface="D2Coding"/>
              <a:ea typeface="D2Coding"/>
              <a:cs typeface="D2Coding"/>
            </a:endParaRPr>
          </a:p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400" b="0" spc="0">
                <a:solidFill>
                  <a:srgbClr val="262B33"/>
                </a:solidFill>
                <a:latin typeface="D2Coding"/>
                <a:ea typeface="D2Coding"/>
                <a:cs typeface="D2Coding"/>
              </a:rPr>
              <a:t>obj &lt;- subset(obj, nFeature_RNA &gt; 200 &amp; nFeature_RNA &lt; 6000 &amp; percent.mt &lt; 15)</a:t>
            </a:r>
            <a:endParaRPr sz="1400">
              <a:latin typeface="D2Coding"/>
              <a:ea typeface="D2Coding"/>
              <a:cs typeface="D2Coding"/>
            </a:endParaRPr>
          </a:p>
        </p:txBody>
      </p:sp>
      <p:cxnSp>
        <p:nvCxnSpPr>
          <p:cNvPr id="9" name="conclusion:line"/>
          <p:cNvCxnSpPr/>
          <p:nvPr/>
        </p:nvCxnSpPr>
        <p:spPr>
          <a:xfrm>
            <a:off x="468000" y="3986935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conclusion:text"/>
          <p:cNvSpPr txBox="1"/>
          <p:nvPr/>
        </p:nvSpPr>
        <p:spPr>
          <a:xfrm>
            <a:off x="468000" y="4184935"/>
            <a:ext cx="11256120" cy="3045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기준값은 데이터마다 달라요. </a:t>
            </a:r>
            <a:r>
              <a:rPr sz="1400" b="1" spc="-40">
                <a:solidFill>
                  <a:srgbClr val="262B33"/>
                </a:solidFill>
              </a:rPr>
              <a:t>VlnPlot 을 먼저 보고</a:t>
            </a:r>
            <a:r>
              <a:rPr sz="1400" b="0" spc="-40">
                <a:solidFill>
                  <a:srgbClr val="6B7280"/>
                </a:solidFill>
              </a:rPr>
              <a:t> 정해요.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7</a:t>
            </a:fld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3. 도구 고르기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주석 도구는 쉽고 해석하기 좋은 것부터 써 봐요</a:t>
            </a:r>
          </a:p>
        </p:txBody>
      </p:sp>
      <p:sp>
        <p:nvSpPr>
          <p:cNvPr id="5" name="struct-07:quadrant"/>
          <p:cNvSpPr/>
          <p:nvPr/>
        </p:nvSpPr>
        <p:spPr>
          <a:xfrm>
            <a:off x="1512000" y="1908000"/>
            <a:ext cx="4998060" cy="1440000"/>
          </a:xfrm>
          <a:prstGeom prst="rect">
            <a:avLst/>
          </a:prstGeom>
          <a:solidFill>
            <a:srgbClr val="B02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struct-07:name"/>
          <p:cNvSpPr txBox="1"/>
          <p:nvPr/>
        </p:nvSpPr>
        <p:spPr>
          <a:xfrm>
            <a:off x="1656000" y="2052000"/>
            <a:ext cx="4710060" cy="309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2000"/>
              </a:lnSpc>
            </a:pPr>
            <a:r>
              <a:rPr sz="1600" b="1" spc="-40">
                <a:solidFill>
                  <a:srgbClr val="FFFFFF"/>
                </a:solidFill>
              </a:rPr>
              <a:t>먼저 써 볼 도구</a:t>
            </a:r>
          </a:p>
        </p:txBody>
      </p:sp>
      <p:sp>
        <p:nvSpPr>
          <p:cNvPr id="7" name="struct-07:item"/>
          <p:cNvSpPr/>
          <p:nvPr/>
        </p:nvSpPr>
        <p:spPr>
          <a:xfrm>
            <a:off x="1656000" y="2451145"/>
            <a:ext cx="839853" cy="259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struct-07:item-text"/>
          <p:cNvSpPr txBox="1"/>
          <p:nvPr/>
        </p:nvSpPr>
        <p:spPr>
          <a:xfrm>
            <a:off x="1656000" y="2451145"/>
            <a:ext cx="839853" cy="259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1" spc="-40">
                <a:solidFill>
                  <a:srgbClr val="B0283C"/>
                </a:solidFill>
              </a:rPr>
              <a:t>SingleR</a:t>
            </a:r>
          </a:p>
        </p:txBody>
      </p:sp>
      <p:sp>
        <p:nvSpPr>
          <p:cNvPr id="9" name="struct-07:item"/>
          <p:cNvSpPr/>
          <p:nvPr/>
        </p:nvSpPr>
        <p:spPr>
          <a:xfrm>
            <a:off x="2585853" y="2451145"/>
            <a:ext cx="1048409" cy="259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struct-07:item-text"/>
          <p:cNvSpPr txBox="1"/>
          <p:nvPr/>
        </p:nvSpPr>
        <p:spPr>
          <a:xfrm>
            <a:off x="2585853" y="2451145"/>
            <a:ext cx="1048409" cy="259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1" spc="-40">
                <a:solidFill>
                  <a:srgbClr val="B0283C"/>
                </a:solidFill>
              </a:rPr>
              <a:t>표지 유전자</a:t>
            </a:r>
          </a:p>
        </p:txBody>
      </p:sp>
      <p:sp>
        <p:nvSpPr>
          <p:cNvPr id="11" name="struct-07:quadrant"/>
          <p:cNvSpPr/>
          <p:nvPr/>
        </p:nvSpPr>
        <p:spPr>
          <a:xfrm>
            <a:off x="6726060" y="1908000"/>
            <a:ext cx="4998060" cy="1440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struct-07:name"/>
          <p:cNvSpPr txBox="1"/>
          <p:nvPr/>
        </p:nvSpPr>
        <p:spPr>
          <a:xfrm>
            <a:off x="6870060" y="2052000"/>
            <a:ext cx="4710060" cy="309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익숙해지면</a:t>
            </a:r>
          </a:p>
        </p:txBody>
      </p:sp>
      <p:sp>
        <p:nvSpPr>
          <p:cNvPr id="13" name="struct-07:item"/>
          <p:cNvSpPr/>
          <p:nvPr/>
        </p:nvSpPr>
        <p:spPr>
          <a:xfrm>
            <a:off x="6870060" y="2451145"/>
            <a:ext cx="998742" cy="259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struct-07:item-text"/>
          <p:cNvSpPr txBox="1"/>
          <p:nvPr/>
        </p:nvSpPr>
        <p:spPr>
          <a:xfrm>
            <a:off x="6870060" y="2451145"/>
            <a:ext cx="998742" cy="259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CellTypist</a:t>
            </a:r>
          </a:p>
        </p:txBody>
      </p:sp>
      <p:sp>
        <p:nvSpPr>
          <p:cNvPr id="15" name="struct-07:quadrant"/>
          <p:cNvSpPr/>
          <p:nvPr/>
        </p:nvSpPr>
        <p:spPr>
          <a:xfrm>
            <a:off x="1512000" y="3564000"/>
            <a:ext cx="4998060" cy="1440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struct-07:name"/>
          <p:cNvSpPr txBox="1"/>
          <p:nvPr/>
        </p:nvSpPr>
        <p:spPr>
          <a:xfrm>
            <a:off x="1656000" y="3708000"/>
            <a:ext cx="4710060" cy="309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참고만</a:t>
            </a:r>
          </a:p>
        </p:txBody>
      </p:sp>
      <p:sp>
        <p:nvSpPr>
          <p:cNvPr id="17" name="struct-07:item"/>
          <p:cNvSpPr/>
          <p:nvPr/>
        </p:nvSpPr>
        <p:spPr>
          <a:xfrm>
            <a:off x="1656000" y="4107145"/>
            <a:ext cx="1084766" cy="259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struct-07:item-text"/>
          <p:cNvSpPr txBox="1"/>
          <p:nvPr/>
        </p:nvSpPr>
        <p:spPr>
          <a:xfrm>
            <a:off x="1656000" y="4107145"/>
            <a:ext cx="1084766" cy="259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자동 주석 웹</a:t>
            </a:r>
          </a:p>
        </p:txBody>
      </p:sp>
      <p:sp>
        <p:nvSpPr>
          <p:cNvPr id="19" name="struct-07:quadrant"/>
          <p:cNvSpPr/>
          <p:nvPr/>
        </p:nvSpPr>
        <p:spPr>
          <a:xfrm>
            <a:off x="6726060" y="3564000"/>
            <a:ext cx="4998060" cy="1440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struct-07:name"/>
          <p:cNvSpPr txBox="1"/>
          <p:nvPr/>
        </p:nvSpPr>
        <p:spPr>
          <a:xfrm>
            <a:off x="6870060" y="3708000"/>
            <a:ext cx="4710060" cy="309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이번엔 제외</a:t>
            </a:r>
          </a:p>
        </p:txBody>
      </p:sp>
      <p:sp>
        <p:nvSpPr>
          <p:cNvPr id="21" name="struct-07:item"/>
          <p:cNvSpPr/>
          <p:nvPr/>
        </p:nvSpPr>
        <p:spPr>
          <a:xfrm>
            <a:off x="6870060" y="4107145"/>
            <a:ext cx="834775" cy="259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struct-07:item-text"/>
          <p:cNvSpPr txBox="1"/>
          <p:nvPr/>
        </p:nvSpPr>
        <p:spPr>
          <a:xfrm>
            <a:off x="6870060" y="4107145"/>
            <a:ext cx="834775" cy="259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scANVI</a:t>
            </a:r>
          </a:p>
        </p:txBody>
      </p:sp>
      <p:cxnSp>
        <p:nvCxnSpPr>
          <p:cNvPr id="23" name="struct-07:axis"/>
          <p:cNvCxnSpPr/>
          <p:nvPr/>
        </p:nvCxnSpPr>
        <p:spPr>
          <a:xfrm flipV="1">
            <a:off x="1422000" y="1908000"/>
            <a:ext cx="0" cy="318600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uct-07:axis"/>
          <p:cNvCxnSpPr/>
          <p:nvPr/>
        </p:nvCxnSpPr>
        <p:spPr>
          <a:xfrm>
            <a:off x="1422000" y="5094000"/>
            <a:ext cx="10302120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struct-07:y-high"/>
          <p:cNvSpPr txBox="1"/>
          <p:nvPr/>
        </p:nvSpPr>
        <p:spPr>
          <a:xfrm>
            <a:off x="468000" y="1908000"/>
            <a:ext cx="756000" cy="21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20000"/>
              </a:lnSpc>
            </a:pPr>
            <a:r>
              <a:rPr sz="1200" b="1" spc="-40">
                <a:solidFill>
                  <a:srgbClr val="6B7280"/>
                </a:solidFill>
              </a:rPr>
              <a:t>쉬움</a:t>
            </a:r>
          </a:p>
        </p:txBody>
      </p:sp>
      <p:sp>
        <p:nvSpPr>
          <p:cNvPr id="26" name="struct-07:y-low"/>
          <p:cNvSpPr txBox="1"/>
          <p:nvPr/>
        </p:nvSpPr>
        <p:spPr>
          <a:xfrm>
            <a:off x="468000" y="4788000"/>
            <a:ext cx="756000" cy="216000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r">
              <a:lnSpc>
                <a:spcPct val="120000"/>
              </a:lnSpc>
            </a:pPr>
            <a:r>
              <a:rPr sz="1200" b="1" spc="-40">
                <a:solidFill>
                  <a:srgbClr val="6B7280"/>
                </a:solidFill>
              </a:rPr>
              <a:t>어려움</a:t>
            </a:r>
          </a:p>
        </p:txBody>
      </p:sp>
      <p:sp>
        <p:nvSpPr>
          <p:cNvPr id="27" name="struct-07:y-title"/>
          <p:cNvSpPr txBox="1"/>
          <p:nvPr/>
        </p:nvSpPr>
        <p:spPr>
          <a:xfrm>
            <a:off x="468000" y="3337722"/>
            <a:ext cx="756000" cy="2545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20000"/>
              </a:lnSpc>
            </a:pPr>
            <a:r>
              <a:rPr sz="1300" b="1" spc="-40">
                <a:solidFill>
                  <a:srgbClr val="262B33"/>
                </a:solidFill>
              </a:rPr>
              <a:t>결과 해석</a:t>
            </a:r>
          </a:p>
        </p:txBody>
      </p:sp>
      <p:sp>
        <p:nvSpPr>
          <p:cNvPr id="28" name="struct-07:x-low"/>
          <p:cNvSpPr txBox="1"/>
          <p:nvPr/>
        </p:nvSpPr>
        <p:spPr>
          <a:xfrm>
            <a:off x="1512000" y="5202000"/>
            <a:ext cx="361268" cy="21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200" b="1" spc="-40">
                <a:solidFill>
                  <a:srgbClr val="6B7280"/>
                </a:solidFill>
              </a:rPr>
              <a:t>쉬움</a:t>
            </a:r>
          </a:p>
        </p:txBody>
      </p:sp>
      <p:sp>
        <p:nvSpPr>
          <p:cNvPr id="29" name="struct-07:x-high"/>
          <p:cNvSpPr txBox="1"/>
          <p:nvPr/>
        </p:nvSpPr>
        <p:spPr>
          <a:xfrm>
            <a:off x="11236218" y="5202000"/>
            <a:ext cx="487902" cy="21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20000"/>
              </a:lnSpc>
            </a:pPr>
            <a:r>
              <a:rPr sz="1200" b="1" spc="-40">
                <a:solidFill>
                  <a:srgbClr val="6B7280"/>
                </a:solidFill>
              </a:rPr>
              <a:t>어려움</a:t>
            </a:r>
          </a:p>
        </p:txBody>
      </p:sp>
      <p:sp>
        <p:nvSpPr>
          <p:cNvPr id="30" name="struct-07:x-title"/>
          <p:cNvSpPr txBox="1"/>
          <p:nvPr/>
        </p:nvSpPr>
        <p:spPr>
          <a:xfrm>
            <a:off x="6339645" y="5202000"/>
            <a:ext cx="556831" cy="252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1" spc="-40">
                <a:solidFill>
                  <a:srgbClr val="262B33"/>
                </a:solidFill>
              </a:rPr>
              <a:t>배우기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8</a:t>
            </a:fld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4. 정리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이것만 기억하세요</a:t>
            </a:r>
          </a:p>
        </p:txBody>
      </p:sp>
      <p:sp>
        <p:nvSpPr>
          <p:cNvPr id="5" name="text-02:bg"/>
          <p:cNvSpPr/>
          <p:nvPr/>
        </p:nvSpPr>
        <p:spPr>
          <a:xfrm>
            <a:off x="468000" y="2388842"/>
            <a:ext cx="11256120" cy="2103475"/>
          </a:xfrm>
          <a:prstGeom prst="rect">
            <a:avLst/>
          </a:prstGeom>
          <a:solidFill>
            <a:srgbClr val="F7EA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-02:title"/>
          <p:cNvSpPr txBox="1"/>
          <p:nvPr/>
        </p:nvSpPr>
        <p:spPr>
          <a:xfrm>
            <a:off x="720000" y="2640842"/>
            <a:ext cx="10752120" cy="32753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800" b="1" spc="-40">
                <a:solidFill>
                  <a:srgbClr val="262B33"/>
                </a:solidFill>
              </a:rPr>
              <a:t>오늘의 한 줄</a:t>
            </a:r>
          </a:p>
        </p:txBody>
      </p:sp>
      <p:cxnSp>
        <p:nvCxnSpPr>
          <p:cNvPr id="7" name="text-02:line"/>
          <p:cNvCxnSpPr/>
          <p:nvPr/>
        </p:nvCxnSpPr>
        <p:spPr>
          <a:xfrm>
            <a:off x="720000" y="3058380"/>
            <a:ext cx="10752120" cy="0"/>
          </a:xfrm>
          <a:prstGeom prst="line">
            <a:avLst/>
          </a:prstGeom>
          <a:ln w="12700">
            <a:solidFill>
              <a:srgbClr val="B028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-02:key"/>
          <p:cNvSpPr txBox="1"/>
          <p:nvPr/>
        </p:nvSpPr>
        <p:spPr>
          <a:xfrm>
            <a:off x="720000" y="3166380"/>
            <a:ext cx="1075212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B0283C"/>
                </a:solidFill>
              </a:rPr>
              <a:t>품질관리 → 정규화 → 차원 축소 → 군집 → 주석</a:t>
            </a:r>
          </a:p>
        </p:txBody>
      </p:sp>
      <p:sp>
        <p:nvSpPr>
          <p:cNvPr id="9" name="text-02:lines"/>
          <p:cNvSpPr txBox="1"/>
          <p:nvPr/>
        </p:nvSpPr>
        <p:spPr>
          <a:xfrm>
            <a:off x="720000" y="3565525"/>
            <a:ext cx="10752120" cy="6747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기준값은 그림을 보고 정해요.</a:t>
            </a:r>
          </a:p>
          <a:p>
            <a:pPr algn="l">
              <a:lnSpc>
                <a:spcPct val="135000"/>
              </a:lnSpc>
              <a:spcBef>
                <a:spcPts val="800"/>
              </a:spcBef>
            </a:pPr>
            <a:r>
              <a:rPr sz="1400" b="0" spc="-40">
                <a:solidFill>
                  <a:srgbClr val="6B7280"/>
                </a:solidFill>
              </a:rPr>
              <a:t>주석은 표지 유전자 두세 개로 확인해요.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9</a:t>
            </a:fld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감사합니다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단일세포 RNA-seq 분석 첫걸음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다음 시간: 군 간 비교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크림슨 리치 16:9">
  <a:themeElements>
    <a:clrScheme name="HaLab 크림슨 리치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B0283C"/>
      </a:accent1>
      <a:accent2>
        <a:srgbClr val="CC7380"/>
      </a:accent2>
      <a:accent3>
        <a:srgbClr val="DFA9B1"/>
      </a:accent3>
      <a:accent4>
        <a:srgbClr val="2E9CCA"/>
      </a:accent4>
      <a:accent5>
        <a:srgbClr val="DFA9B1"/>
      </a:accent5>
      <a:accent6>
        <a:srgbClr val="E2E5EA"/>
      </a:accent6>
      <a:hlink>
        <a:srgbClr val="B0283C"/>
      </a:hlink>
      <a:folHlink>
        <a:srgbClr val="DFA9B1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리치 16:9</dc:title>
  <dc:creator>HaLab</dc:creator>
</cp:coreProperties>
</file>