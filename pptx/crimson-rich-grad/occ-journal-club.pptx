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6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2000" cy="6858000"/>
  <p:notesSz cx="6858000" cy="9144000"/>
  <p:defaultTextStyle>
    <a:defPPr marL="0" indent="0" algn="l">
      <a:lnSpc>
        <a:spcPct val="100000"/>
      </a:lnSpc>
      <a:spcBef>
        <a:spcPts val="0"/>
      </a:spcBef>
      <a:buNone/>
      <a:defRPr lang="ko-KR" sz="1800" b="0" kern="0" spc="-40">
        <a:solidFill>
          <a:schemeClr val="tx1"/>
        </a:solidFill>
        <a:latin typeface="+mn-lt"/>
        <a:ea typeface="+mn-ea"/>
      </a:defRPr>
    </a:defPPr>
  </p:defaultTextStyle>
  <p:extLst>
    <p:ext uri="{EFAFB233-063F-42B5-8137-9DF3F51BA10A}">
      <p15:sldGuideLst xmlns:p15="http://schemas.microsoft.com/office/powerpoint/2012/main">
        <p15:guide id="1" pos="295">
          <p15:clr>
            <a:srgbClr val="F26B43"/>
          </p15:clr>
        </p15:guide>
        <p15:guide id="2" pos="7385">
          <p15:clr>
            <a:srgbClr val="F26B43"/>
          </p15:clr>
        </p15:guide>
        <p15:guide id="3" orient="horz" pos="295">
          <p15:clr>
            <a:srgbClr val="F26B43"/>
          </p15:clr>
        </p15:guide>
        <p15:guide id="4" orient="horz" pos="4025">
          <p15:clr>
            <a:srgbClr val="F26B43"/>
          </p15:clr>
        </p15:guide>
        <p15:guide id="5" orient="horz" pos="862">
          <p15:clr>
            <a:srgbClr val="F26B43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3C2E1A5B-7D4F-4B8E-9A61-2F0C5D8E7B14}">
  <a:tblStyle styleId="{3C2E1A5B-7D4F-4B8E-9A61-2F0C5D8E7B14}" styleName="HaLab 가로선 표">
    <a:wholeTbl>
      <a:tcTxStyle>
        <a:fontRef idx="minor"/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6350">
              <a:solidFill>
                <a:schemeClr val="accent6"/>
              </a:solidFill>
            </a:ln>
          </a:top>
          <a:bottom>
            <a:ln w="6350">
              <a:solidFill>
                <a:schemeClr val="accent6"/>
              </a:solidFill>
            </a:ln>
          </a:bottom>
          <a:insideH>
            <a:ln w="6350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noFill/>
        </a:fill>
      </a:tcStyle>
    </a:wholeTbl>
    <a:firstRow>
      <a:tcTxStyle b="on">
        <a:fontRef idx="minor"/>
        <a:schemeClr val="tx1"/>
      </a:tcTxStyle>
      <a:tcStyle>
        <a:tcBdr>
          <a:top>
            <a:ln w="12700">
              <a:solidFill>
                <a:schemeClr val="tx1"/>
              </a:solidFill>
            </a:ln>
          </a:top>
          <a:bottom>
            <a:ln w="9525">
              <a:solidFill>
                <a:schemeClr val="tx2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정확도</c:v>
                </c:pt>
              </c:strCache>
            </c:strRef>
          </c:tx>
          <c:spPr>
            <a:solidFill>
              <a:srgbClr val="AEB1B9"/>
            </a:solidFill>
            <a:ln>
              <a:noFill/>
            </a:ln>
          </c:spPr>
          <c:dPt>
            <c:idx val="3"/>
            <c:spPr>
              <a:solidFill>
                <a:srgbClr val="B0283C"/>
              </a:solidFill>
            </c:spPr>
          </c:dPt>
          <c:dLbls>
            <c:dLbl>
              <c:idx val="3"/>
              <c:tx>
                <c:rich>
                  <a:bodyPr/>
                  <a:lstStyle/>
                  <a:p>
                    <a:r>
                      <a:rPr sz="2400" b="1">
                        <a:solidFill>
                          <a:srgbClr val="B0283C"/>
                        </a:solidFill>
                        <a:latin typeface="Pretendard"/>
                      </a:rPr>
                      <a:t>0.86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</c:dLbl>
            <c:showLegendKey val="0"/>
            <c:showVal val="0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Sheet1!$A$2:$A$5</c:f>
              <c:strCache>
                <c:ptCount val="4"/>
                <c:pt idx="0">
                  <c:v>SPOTlight</c:v>
                </c:pt>
                <c:pt idx="1">
                  <c:v>RCTD</c:v>
                </c:pt>
                <c:pt idx="2">
                  <c:v>cell2location</c:v>
                </c:pt>
                <c:pt idx="3">
                  <c:v>새 방법</c:v>
                </c:pt>
              </c:strCache>
            </c:strRef>
          </c:cat>
          <c:val>
            <c:numRef>
              <c:f>Sheet1!$B$2:$B$5</c:f>
              <c:numCache>
                <c:formatCode>0.00</c:formatCode>
                <c:ptCount val="4"/>
                <c:pt idx="0">
                  <c:v>0.62</c:v>
                </c:pt>
                <c:pt idx="1">
                  <c:v>0.71</c:v>
                </c:pt>
                <c:pt idx="2">
                  <c:v>0.74</c:v>
                </c:pt>
                <c:pt idx="3">
                  <c:v>0.86</c:v>
                </c:pt>
              </c:numCache>
            </c:numRef>
          </c:val>
        </c:ser>
        <c:gapWidth val="70"/>
        <c:axId val="2068027336"/>
        <c:axId val="2113994440"/>
      </c:barChart>
      <c:catAx>
        <c:axId val="2068027336"/>
        <c:scaling>
          <c:orientation val="minMax"/>
        </c:scaling>
        <c:delete val="0"/>
        <c:axPos val="l"/>
        <c:majorTickMark val="none"/>
        <c:minorTickMark val="none"/>
        <c:tickLblPos val="nextTo"/>
        <c:spPr>
          <a:ln>
            <a:solidFill>
              <a:srgbClr val="E2E5EA"/>
            </a:solidFill>
          </a:ln>
        </c:spPr>
        <c:txPr>
          <a:bodyPr/>
          <a:lstStyle/>
          <a:p>
            <a:pPr>
              <a:defRPr sz="1200" b="0">
                <a:solidFill>
                  <a:srgbClr val="262B33"/>
                </a:solidFill>
                <a:latin typeface="Pretendard"/>
              </a:defRPr>
            </a:pPr>
          </a:p>
        </c:txPr>
        <c:crossAx val="2113994440"/>
        <c:crosses val="autoZero"/>
        <c:auto val="1"/>
        <c:lblAlgn val="ctr"/>
        <c:lblOffset val="100"/>
        <c:noMultiLvlLbl val="0"/>
      </c:catAx>
      <c:valAx>
        <c:axId val="2113994440"/>
        <c:scaling/>
        <c:delete val="0"/>
        <c:axPos val="b"/>
        <c:majorGridlines>
          <c:spPr>
            <a:ln w="6350">
              <a:solidFill>
                <a:srgbClr val="E2E5EA"/>
              </a:solidFill>
            </a:ln>
          </c:spPr>
        </c:majorGridlines>
        <c:title>
          <c:tx>
            <c:rich>
              <a:bodyPr/>
              <a:lstStyle/>
              <a:p>
                <a:r>
                  <a:rPr sz="1200" b="0">
                    <a:solidFill>
                      <a:srgbClr val="6B7280"/>
                    </a:solidFill>
                    <a:latin typeface="Pretendard"/>
                  </a:rPr>
                  <a:t>Pearson r (합성 스팟 2,000개)</a:t>
                </a:r>
              </a:p>
            </c:rich>
          </c:tx>
          <c:layout/>
          <c:overlay val="0"/>
        </c:title>
        <c:numFmt formatCode="0.00" sourceLinked="0"/>
        <c:majorTickMark val="none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200" b="0">
                <a:solidFill>
                  <a:srgbClr val="6B7280"/>
                </a:solidFill>
                <a:latin typeface="Pretendard"/>
              </a:defRPr>
            </a:pPr>
          </a:p>
        </c:txPr>
        <c:crossAx val="2068027336"/>
        <c:crosses val="autoZero"/>
      </c:valAx>
    </c:plotArea>
    <c:dispBlanksAs val="gap"/>
  </c:chart>
  <c:txPr>
    <a:bodyPr/>
    <a:lstStyle/>
    <a:p>
      <a:pPr>
        <a:defRPr sz="1200" b="0">
          <a:solidFill>
            <a:srgbClr val="6B7280"/>
          </a:solidFill>
          <a:latin typeface="Pretendard"/>
        </a:defRPr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덱 (Journal club).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덱 (Journal club).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덱 (Journal club).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덱 (Journal club).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덱 (Journal club).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덱 (Journal club).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덱 (Journal club).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덱 (Journal club).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덱 (Journal club).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L1 표지">
    <p:bg>
      <p:bgPr>
        <a:gradFill rotWithShape="1">
          <a:gsLst>
            <a:gs pos="0">
              <a:srgbClr val="B0283C"/>
            </a:gs>
            <a:gs pos="100000">
              <a:srgbClr val="C2531F"/>
            </a:gs>
          </a:gsLst>
          <a:lin ang="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발표 구분"/>
          <p:cNvSpPr>
            <a:spLocks noGrp="1"/>
          </p:cNvSpPr>
          <p:nvPr>
            <p:ph type="body" idx="13"/>
          </p:nvPr>
        </p:nvSpPr>
        <p:spPr>
          <a:xfrm>
            <a:off x="468000" y="1714500"/>
            <a:ext cx="7879284" cy="324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accent3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발표 구분 (예: 2026 글로컬랩 발표평가)</a:t>
            </a:r>
          </a:p>
        </p:txBody>
      </p:sp>
      <p:sp>
        <p:nvSpPr>
          <p:cNvPr id="3" name="과제명"/>
          <p:cNvSpPr>
            <a:spLocks noGrp="1"/>
          </p:cNvSpPr>
          <p:nvPr>
            <p:ph type="ctrTitle"/>
          </p:nvPr>
        </p:nvSpPr>
        <p:spPr>
          <a:xfrm>
            <a:off x="468000" y="2110500"/>
            <a:ext cx="9004896" cy="1205971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8000"/>
              </a:lnSpc>
              <a:spcBef>
                <a:spcPts val="0"/>
              </a:spcBef>
              <a:buNone/>
              <a:defRPr lang="ko-KR" sz="4000" b="1" kern="0" spc="-80">
                <a:solidFill>
                  <a:schemeClr val="bg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과제명 (2줄 이내)</a:t>
            </a:r>
          </a:p>
        </p:txBody>
      </p:sp>
      <p:sp>
        <p:nvSpPr>
          <p:cNvPr id="4" name="부제"/>
          <p:cNvSpPr>
            <a:spLocks noGrp="1"/>
          </p:cNvSpPr>
          <p:nvPr>
            <p:ph type="subTitle" idx="1"/>
          </p:nvPr>
        </p:nvSpPr>
        <p:spPr>
          <a:xfrm>
            <a:off x="468000" y="3568471"/>
            <a:ext cx="9004896" cy="504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lt2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부제 또는 영문 과제명</a:t>
            </a:r>
          </a:p>
        </p:txBody>
      </p:sp>
      <p:sp>
        <p:nvSpPr>
          <p:cNvPr id="5" name="발표자"/>
          <p:cNvSpPr>
            <a:spLocks noGrp="1"/>
          </p:cNvSpPr>
          <p:nvPr>
            <p:ph type="body" idx="14"/>
          </p:nvPr>
        </p:nvSpPr>
        <p:spPr>
          <a:xfrm>
            <a:off x="468000" y="4288471"/>
            <a:ext cx="6753672" cy="432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lt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발표자 · 소속</a:t>
            </a:r>
          </a:p>
        </p:txBody>
      </p:sp>
      <p:sp>
        <p:nvSpPr>
          <p:cNvPr id="6" name="로고 띠"/>
          <p:cNvSpPr/>
          <p:nvPr userDrawn="1"/>
        </p:nvSpPr>
        <p:spPr>
          <a:xfrm>
            <a:off x="0" y="5922000"/>
            <a:ext cx="12192120" cy="936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/>
          <a:lstStyle/>
          <a:p>
            <a:endParaRPr lang="ko-KR"/>
          </a:p>
        </p:txBody>
      </p:sp>
      <p:sp>
        <p:nvSpPr>
          <p:cNvPr id="7" name="기관 로고 줄"/>
          <p:cNvSpPr>
            <a:spLocks noGrp="1"/>
          </p:cNvSpPr>
          <p:nvPr>
            <p:ph type="body" idx="15"/>
          </p:nvPr>
        </p:nvSpPr>
        <p:spPr>
          <a:xfrm>
            <a:off x="468000" y="6174000"/>
            <a:ext cx="11256120" cy="432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기관 로고 (이 줄에 한 줄로)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cust" preserve="1">
  <p:cSld name="L2 목차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목차 제목"/>
          <p:cNvSpPr>
            <a:spLocks noGrp="1"/>
          </p:cNvSpPr>
          <p:nvPr>
            <p:ph type="title"/>
          </p:nvPr>
        </p:nvSpPr>
        <p:spPr>
          <a:xfrm>
            <a:off x="468000" y="2468880"/>
            <a:ext cx="3240000" cy="720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32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목차</a:t>
            </a:r>
          </a:p>
        </p:txBody>
      </p:sp>
      <p:sp>
        <p:nvSpPr>
          <p:cNvPr id="3" name="번호 1"/>
          <p:cNvSpPr>
            <a:spLocks noGrp="1"/>
          </p:cNvSpPr>
          <p:nvPr>
            <p:ph type="body" idx="20"/>
          </p:nvPr>
        </p:nvSpPr>
        <p:spPr>
          <a:xfrm>
            <a:off x="4511084" y="1436143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</a:t>
            </a:r>
          </a:p>
        </p:txBody>
      </p:sp>
      <p:sp>
        <p:nvSpPr>
          <p:cNvPr id="4" name="항목 1"/>
          <p:cNvSpPr>
            <a:spLocks noGrp="1"/>
          </p:cNvSpPr>
          <p:nvPr>
            <p:ph type="body" idx="30"/>
          </p:nvPr>
        </p:nvSpPr>
        <p:spPr>
          <a:xfrm>
            <a:off x="5087084" y="1296000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5" name="번호 2"/>
          <p:cNvSpPr>
            <a:spLocks noGrp="1"/>
          </p:cNvSpPr>
          <p:nvPr>
            <p:ph type="body" idx="21"/>
          </p:nvPr>
        </p:nvSpPr>
        <p:spPr>
          <a:xfrm>
            <a:off x="4511084" y="2076429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II</a:t>
            </a:r>
          </a:p>
        </p:txBody>
      </p:sp>
      <p:sp>
        <p:nvSpPr>
          <p:cNvPr id="6" name="항목 2"/>
          <p:cNvSpPr>
            <a:spLocks noGrp="1"/>
          </p:cNvSpPr>
          <p:nvPr>
            <p:ph type="body" idx="31"/>
          </p:nvPr>
        </p:nvSpPr>
        <p:spPr>
          <a:xfrm>
            <a:off x="5087084" y="1936286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7" name="번호 3"/>
          <p:cNvSpPr>
            <a:spLocks noGrp="1"/>
          </p:cNvSpPr>
          <p:nvPr>
            <p:ph type="body" idx="22"/>
          </p:nvPr>
        </p:nvSpPr>
        <p:spPr>
          <a:xfrm>
            <a:off x="4511084" y="2716714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III</a:t>
            </a:r>
          </a:p>
        </p:txBody>
      </p:sp>
      <p:sp>
        <p:nvSpPr>
          <p:cNvPr id="8" name="항목 3"/>
          <p:cNvSpPr>
            <a:spLocks noGrp="1"/>
          </p:cNvSpPr>
          <p:nvPr>
            <p:ph type="body" idx="32"/>
          </p:nvPr>
        </p:nvSpPr>
        <p:spPr>
          <a:xfrm>
            <a:off x="5087084" y="2576571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9" name="번호 4"/>
          <p:cNvSpPr>
            <a:spLocks noGrp="1"/>
          </p:cNvSpPr>
          <p:nvPr>
            <p:ph type="body" idx="23"/>
          </p:nvPr>
        </p:nvSpPr>
        <p:spPr>
          <a:xfrm>
            <a:off x="4511084" y="3357000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IV</a:t>
            </a:r>
          </a:p>
        </p:txBody>
      </p:sp>
      <p:sp>
        <p:nvSpPr>
          <p:cNvPr id="10" name="항목 4"/>
          <p:cNvSpPr>
            <a:spLocks noGrp="1"/>
          </p:cNvSpPr>
          <p:nvPr>
            <p:ph type="body" idx="33"/>
          </p:nvPr>
        </p:nvSpPr>
        <p:spPr>
          <a:xfrm>
            <a:off x="5087084" y="3216857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1" name="번호 5"/>
          <p:cNvSpPr>
            <a:spLocks noGrp="1"/>
          </p:cNvSpPr>
          <p:nvPr>
            <p:ph type="body" idx="24"/>
          </p:nvPr>
        </p:nvSpPr>
        <p:spPr>
          <a:xfrm>
            <a:off x="4511084" y="3997286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</a:t>
            </a:r>
          </a:p>
        </p:txBody>
      </p:sp>
      <p:sp>
        <p:nvSpPr>
          <p:cNvPr id="12" name="항목 5"/>
          <p:cNvSpPr>
            <a:spLocks noGrp="1"/>
          </p:cNvSpPr>
          <p:nvPr>
            <p:ph type="body" idx="34"/>
          </p:nvPr>
        </p:nvSpPr>
        <p:spPr>
          <a:xfrm>
            <a:off x="5087084" y="3857143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3" name="번호 6"/>
          <p:cNvSpPr>
            <a:spLocks noGrp="1"/>
          </p:cNvSpPr>
          <p:nvPr>
            <p:ph type="body" idx="25"/>
          </p:nvPr>
        </p:nvSpPr>
        <p:spPr>
          <a:xfrm>
            <a:off x="4511084" y="4637571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VI</a:t>
            </a:r>
          </a:p>
        </p:txBody>
      </p:sp>
      <p:sp>
        <p:nvSpPr>
          <p:cNvPr id="14" name="항목 6"/>
          <p:cNvSpPr>
            <a:spLocks noGrp="1"/>
          </p:cNvSpPr>
          <p:nvPr>
            <p:ph type="body" idx="35"/>
          </p:nvPr>
        </p:nvSpPr>
        <p:spPr>
          <a:xfrm>
            <a:off x="5087084" y="4497429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5" name="번호 7"/>
          <p:cNvSpPr>
            <a:spLocks noGrp="1"/>
          </p:cNvSpPr>
          <p:nvPr>
            <p:ph type="body" idx="26"/>
          </p:nvPr>
        </p:nvSpPr>
        <p:spPr>
          <a:xfrm>
            <a:off x="4511084" y="5277857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VII</a:t>
            </a:r>
          </a:p>
        </p:txBody>
      </p:sp>
      <p:sp>
        <p:nvSpPr>
          <p:cNvPr id="16" name="항목 7"/>
          <p:cNvSpPr>
            <a:spLocks noGrp="1"/>
          </p:cNvSpPr>
          <p:nvPr>
            <p:ph type="body" idx="36"/>
          </p:nvPr>
        </p:nvSpPr>
        <p:spPr>
          <a:xfrm>
            <a:off x="5087084" y="5137714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L3 간지">
    <p:bg>
      <p:bgPr>
        <a:gradFill rotWithShape="1">
          <a:gsLst>
            <a:gs pos="0">
              <a:srgbClr val="B0283C"/>
            </a:gs>
            <a:gs pos="100000">
              <a:srgbClr val="C2531F"/>
            </a:gs>
          </a:gsLst>
          <a:lin ang="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번호"/>
          <p:cNvSpPr>
            <a:spLocks noGrp="1"/>
          </p:cNvSpPr>
          <p:nvPr>
            <p:ph type="body" idx="13"/>
          </p:nvPr>
        </p:nvSpPr>
        <p:spPr>
          <a:xfrm>
            <a:off x="468000" y="2880360"/>
            <a:ext cx="792000" cy="792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3000" b="1" kern="0" spc="0">
                <a:solidFill>
                  <a:schemeClr val="accent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</a:t>
            </a:r>
          </a:p>
        </p:txBody>
      </p:sp>
      <p:sp>
        <p:nvSpPr>
          <p:cNvPr id="3" name="섹션 이름"/>
          <p:cNvSpPr>
            <a:spLocks noGrp="1"/>
          </p:cNvSpPr>
          <p:nvPr>
            <p:ph type="title"/>
          </p:nvPr>
        </p:nvSpPr>
        <p:spPr>
          <a:xfrm>
            <a:off x="1512000" y="2736360"/>
            <a:ext cx="10212120" cy="10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3600" b="1" kern="0" spc="-80">
                <a:solidFill>
                  <a:schemeClr val="bg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섹션 이름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L4 헤더 + 빈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라벨"/>
          <p:cNvSpPr>
            <a:spLocks noGrp="1"/>
          </p:cNvSpPr>
          <p:nvPr>
            <p:ph type="body" idx="13"/>
          </p:nvPr>
        </p:nvSpPr>
        <p:spPr>
          <a:xfrm>
            <a:off x="468000" y="468000"/>
            <a:ext cx="504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100" b="0" kern="0" spc="-20">
                <a:solidFill>
                  <a:schemeClr val="accent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섹션 이름</a:t>
            </a:r>
          </a:p>
        </p:txBody>
      </p:sp>
      <p:sp>
        <p:nvSpPr>
          <p:cNvPr id="3" name="평가 지표 태그"/>
          <p:cNvSpPr>
            <a:spLocks noGrp="1"/>
          </p:cNvSpPr>
          <p:nvPr>
            <p:ph type="body" idx="14"/>
          </p:nvPr>
        </p:nvSpPr>
        <p:spPr>
          <a:xfrm>
            <a:off x="7404120" y="468000"/>
            <a:ext cx="432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평가 지표·사전질의 번호 (필요할 때만)</a:t>
            </a:r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슬라이드 제목</a:t>
            </a:r>
          </a:p>
        </p:txBody>
      </p:sp>
      <p:cxnSp>
        <p:nvCxnSpPr>
          <p:cNvPr id="5" name="구분선"/>
          <p:cNvCxnSpPr/>
          <p:nvPr userDrawn="1"/>
        </p:nvCxnSpPr>
        <p:spPr>
          <a:xfrm>
            <a:off x="468000" y="1188000"/>
            <a:ext cx="11256120" cy="0"/>
          </a:xfrm>
          <a:prstGeom prst="line">
            <a:avLst/>
          </a:prstGeom>
          <a:ln w="9525">
            <a:solidFill>
              <a:schemeClr val="accent6"/>
            </a:solidFill>
          </a:ln>
        </p:spPr>
      </p:cxnSp>
      <p:sp>
        <p:nvSpPr>
          <p:cNvPr id="6" name="Slide Number"/>
          <p:cNvSpPr>
            <a:spLocks noGrp="1"/>
          </p:cNvSpPr>
          <p:nvPr>
            <p:ph type="sldNum" idx="12" sz="quarter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L5 2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라벨"/>
          <p:cNvSpPr>
            <a:spLocks noGrp="1"/>
          </p:cNvSpPr>
          <p:nvPr>
            <p:ph type="body" idx="13"/>
          </p:nvPr>
        </p:nvSpPr>
        <p:spPr>
          <a:xfrm>
            <a:off x="468000" y="468000"/>
            <a:ext cx="504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100" b="0" kern="0" spc="-20">
                <a:solidFill>
                  <a:schemeClr val="accent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섹션 이름</a:t>
            </a:r>
          </a:p>
        </p:txBody>
      </p:sp>
      <p:sp>
        <p:nvSpPr>
          <p:cNvPr id="3" name="평가 지표 태그"/>
          <p:cNvSpPr>
            <a:spLocks noGrp="1"/>
          </p:cNvSpPr>
          <p:nvPr>
            <p:ph type="body" idx="14"/>
          </p:nvPr>
        </p:nvSpPr>
        <p:spPr>
          <a:xfrm>
            <a:off x="7404120" y="468000"/>
            <a:ext cx="432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평가 지표·사전질의 번호 (필요할 때만)</a:t>
            </a:r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슬라이드 제목</a:t>
            </a:r>
          </a:p>
        </p:txBody>
      </p:sp>
      <p:cxnSp>
        <p:nvCxnSpPr>
          <p:cNvPr id="5" name="구분선"/>
          <p:cNvCxnSpPr/>
          <p:nvPr userDrawn="1"/>
        </p:nvCxnSpPr>
        <p:spPr>
          <a:xfrm>
            <a:off x="468000" y="1188000"/>
            <a:ext cx="11256120" cy="0"/>
          </a:xfrm>
          <a:prstGeom prst="line">
            <a:avLst/>
          </a:prstGeom>
          <a:ln w="9525">
            <a:solidFill>
              <a:schemeClr val="accent6"/>
            </a:solidFill>
          </a:ln>
        </p:spPr>
      </p:cxnSp>
      <p:sp>
        <p:nvSpPr>
          <p:cNvPr id="6" name="왼쪽 소제목"/>
          <p:cNvSpPr>
            <a:spLocks noGrp="1"/>
          </p:cNvSpPr>
          <p:nvPr>
            <p:ph type="body" idx="15"/>
          </p:nvPr>
        </p:nvSpPr>
        <p:spPr>
          <a:xfrm>
            <a:off x="468000" y="1368000"/>
            <a:ext cx="5448060" cy="360000"/>
          </a:xfrm>
          <a:prstGeom prst="rect">
            <a:avLst/>
          </a:prstGeom>
          <a:solidFill>
            <a:srgbClr val="F1D8DC"/>
          </a:solidFill>
          <a:ln>
            <a:noFill/>
          </a:ln>
        </p:spPr>
        <p:txBody>
          <a:bodyPr vert="horz" wrap="square" lIns="126000" tIns="0" rIns="12600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1" kern="0" spc="-40">
                <a:solidFill>
                  <a:schemeClr val="tx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왼쪽 소제목</a:t>
            </a:r>
          </a:p>
        </p:txBody>
      </p:sp>
      <p:sp>
        <p:nvSpPr>
          <p:cNvPr id="7" name="왼쪽 내용"/>
          <p:cNvSpPr>
            <a:spLocks noGrp="1"/>
          </p:cNvSpPr>
          <p:nvPr>
            <p:ph idx="16"/>
          </p:nvPr>
        </p:nvSpPr>
        <p:spPr>
          <a:xfrm>
            <a:off x="468000" y="1944000"/>
            <a:ext cx="5448060" cy="4446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항목 6개 이내 · 키워드 + 설명 1–2줄</a:t>
            </a:r>
          </a:p>
        </p:txBody>
      </p:sp>
      <p:sp>
        <p:nvSpPr>
          <p:cNvPr id="8" name="오른쪽 소제목"/>
          <p:cNvSpPr>
            <a:spLocks noGrp="1"/>
          </p:cNvSpPr>
          <p:nvPr>
            <p:ph type="body" idx="17"/>
          </p:nvPr>
        </p:nvSpPr>
        <p:spPr>
          <a:xfrm>
            <a:off x="6276060" y="1368000"/>
            <a:ext cx="5448060" cy="360000"/>
          </a:xfrm>
          <a:prstGeom prst="rect">
            <a:avLst/>
          </a:prstGeom>
          <a:solidFill>
            <a:srgbClr val="F1D8DC"/>
          </a:solidFill>
          <a:ln>
            <a:noFill/>
          </a:ln>
        </p:spPr>
        <p:txBody>
          <a:bodyPr vert="horz" wrap="square" lIns="126000" tIns="0" rIns="12600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1" kern="0" spc="-40">
                <a:solidFill>
                  <a:schemeClr val="tx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오른쪽 소제목</a:t>
            </a:r>
          </a:p>
        </p:txBody>
      </p:sp>
      <p:sp>
        <p:nvSpPr>
          <p:cNvPr id="9" name="오른쪽 내용"/>
          <p:cNvSpPr>
            <a:spLocks noGrp="1"/>
          </p:cNvSpPr>
          <p:nvPr>
            <p:ph idx="18"/>
          </p:nvPr>
        </p:nvSpPr>
        <p:spPr>
          <a:xfrm>
            <a:off x="6276060" y="1944000"/>
            <a:ext cx="5448060" cy="4446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항목 6개 이내 · 키워드 + 설명 1–2줄</a:t>
            </a:r>
          </a:p>
        </p:txBody>
      </p:sp>
      <p:sp>
        <p:nvSpPr>
          <p:cNvPr id="10" name="Slide Number"/>
          <p:cNvSpPr>
            <a:spLocks noGrp="1"/>
          </p:cNvSpPr>
          <p:nvPr>
            <p:ph type="sldNum" idx="12" sz="quarter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cust" preserve="1">
  <p:cSld name="L6 마무리">
    <p:bg>
      <p:bgPr>
        <a:gradFill rotWithShape="1">
          <a:gsLst>
            <a:gs pos="0">
              <a:srgbClr val="B0283C"/>
            </a:gs>
            <a:gs pos="100000">
              <a:srgbClr val="C2531F"/>
            </a:gs>
          </a:gsLst>
          <a:lin ang="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과제명"/>
          <p:cNvSpPr>
            <a:spLocks noGrp="1"/>
          </p:cNvSpPr>
          <p:nvPr>
            <p:ph type="ctrTitle"/>
          </p:nvPr>
        </p:nvSpPr>
        <p:spPr>
          <a:xfrm>
            <a:off x="468000" y="2110500"/>
            <a:ext cx="9004896" cy="1205971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8000"/>
              </a:lnSpc>
              <a:spcBef>
                <a:spcPts val="0"/>
              </a:spcBef>
              <a:buNone/>
              <a:defRPr lang="ko-KR" sz="4000" b="1" kern="0" spc="-80">
                <a:solidFill>
                  <a:schemeClr val="bg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감사합니다</a:t>
            </a:r>
          </a:p>
        </p:txBody>
      </p:sp>
      <p:sp>
        <p:nvSpPr>
          <p:cNvPr id="3" name="부제"/>
          <p:cNvSpPr>
            <a:spLocks noGrp="1"/>
          </p:cNvSpPr>
          <p:nvPr>
            <p:ph type="subTitle" idx="1"/>
          </p:nvPr>
        </p:nvSpPr>
        <p:spPr>
          <a:xfrm>
            <a:off x="468000" y="3568471"/>
            <a:ext cx="9004896" cy="504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lt2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과제명 한 줄</a:t>
            </a:r>
          </a:p>
        </p:txBody>
      </p:sp>
      <p:sp>
        <p:nvSpPr>
          <p:cNvPr id="4" name="발표자"/>
          <p:cNvSpPr>
            <a:spLocks noGrp="1"/>
          </p:cNvSpPr>
          <p:nvPr>
            <p:ph type="body" idx="14"/>
          </p:nvPr>
        </p:nvSpPr>
        <p:spPr>
          <a:xfrm>
            <a:off x="468000" y="4288471"/>
            <a:ext cx="6753672" cy="432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lt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발표자 · 연락처</a:t>
            </a:r>
          </a:p>
        </p:txBody>
      </p:sp>
      <p:sp>
        <p:nvSpPr>
          <p:cNvPr id="5" name="로고 띠"/>
          <p:cNvSpPr/>
          <p:nvPr userDrawn="1"/>
        </p:nvSpPr>
        <p:spPr>
          <a:xfrm>
            <a:off x="0" y="5922000"/>
            <a:ext cx="12192120" cy="936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/>
          <a:lstStyle/>
          <a:p>
            <a:endParaRPr lang="ko-KR"/>
          </a:p>
        </p:txBody>
      </p:sp>
      <p:sp>
        <p:nvSpPr>
          <p:cNvPr id="6" name="기관 로고 줄"/>
          <p:cNvSpPr>
            <a:spLocks noGrp="1"/>
          </p:cNvSpPr>
          <p:nvPr>
            <p:ph type="body" idx="15"/>
          </p:nvPr>
        </p:nvSpPr>
        <p:spPr>
          <a:xfrm>
            <a:off x="468000" y="6174000"/>
            <a:ext cx="11256120" cy="432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기관 로고 (이 줄에 한 줄로)</a:t>
            </a:r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마스터 제목 스타일 편집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8000" y="1368000"/>
            <a:ext cx="11256120" cy="5022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마스터 텍스트 스타일을 편집합니다</a:t>
            </a:r>
          </a:p>
          <a:p>
            <a:r>
              <a:rPr lang="ko-KR"/>
              <a:t>둘째 수준</a:t>
            </a:r>
          </a:p>
          <a:p>
            <a:r>
              <a:rPr lang="ko-KR"/>
              <a:t>셋째 수준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txStyles>
    <p:titleStyle>
      <a:lvl1pPr marL="0" indent="0" algn="l">
        <a:lnSpc>
          <a:spcPct val="100000"/>
        </a:lnSpc>
        <a:spcBef>
          <a:spcPts val="0"/>
        </a:spcBef>
        <a:buNone/>
        <a:defRPr lang="ko-KR" sz="2800" b="1" kern="0" spc="-60">
          <a:solidFill>
            <a:schemeClr val="tx1"/>
          </a:solidFill>
          <a:latin typeface="+mj-lt"/>
          <a:ea typeface="+mj-ea"/>
        </a:defRPr>
      </a:lvl1pPr>
    </p:titleStyle>
    <p:bodyStyle>
      <a:lvl1pPr marL="0" indent="0" algn="l">
        <a:lnSpc>
          <a:spcPct val="120000"/>
        </a:lnSpc>
        <a:spcBef>
          <a:spcPts val="560"/>
        </a:spcBef>
        <a:buNone/>
        <a:defRPr lang="ko-KR" sz="1400" b="0" kern="0" spc="-40">
          <a:solidFill>
            <a:schemeClr val="tx1"/>
          </a:solidFill>
          <a:latin typeface="+mn-lt"/>
          <a:ea typeface="+mn-ea"/>
        </a:defRPr>
      </a:lvl1pPr>
      <a:lvl2pPr marL="162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–"/>
        <a:defRPr lang="ko-KR" sz="1400" b="0" kern="0" spc="-40">
          <a:solidFill>
            <a:schemeClr val="tx2"/>
          </a:solidFill>
          <a:latin typeface="+mn-lt"/>
          <a:ea typeface="+mn-ea"/>
        </a:defRPr>
      </a:lvl2pPr>
      <a:lvl3pPr marL="306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3pPr>
      <a:lvl4pPr marL="450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4pPr>
      <a:lvl5pPr marL="594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5pPr>
      <a:lvl6pPr marL="738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6pPr>
      <a:lvl7pPr marL="882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7pPr>
      <a:lvl8pPr marL="1026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8pPr>
      <a:lvl9pPr marL="1170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9pPr>
    </p:bodyStyle>
    <p:otherStyle>
      <a:defPPr marL="0" indent="0" algn="l">
        <a:lnSpc>
          <a:spcPct val="100000"/>
        </a:lnSpc>
        <a:spcBef>
          <a:spcPts val="0"/>
        </a:spcBef>
        <a:buNone/>
        <a:defRPr lang="ko-KR" sz="1400" b="0" kern="0" spc="-40">
          <a:solidFill>
            <a:schemeClr val="tx1"/>
          </a:solidFill>
          <a:latin typeface="+mn-lt"/>
          <a:ea typeface="+mn-ea"/>
        </a:defRPr>
      </a:def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chart" Target="../charts/chart1.xml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HaLab Journal club</a:t>
            </a:r>
          </a:p>
        </p:txBody>
      </p:sp>
      <p:sp>
        <p:nvSpPr>
          <p:cNvPr id="3" name="Title 2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스팟을 세포 상태로 나누는 새 방법</a:t>
            </a:r>
          </a:p>
        </p:txBody>
      </p:sp>
      <p:sp>
        <p:nvSpPr>
          <p:cNvPr id="4" name="Subtitle 3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예시 논문 (가상) · 2026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4"/>
          </p:nvPr>
        </p:nvSpPr>
        <p:spPr/>
        <p:txBody>
          <a:bodyPr/>
          <a:lstStyle/>
          <a:p>
            <a:r>
              <a:t>2026. 10. 16.</a:t>
            </a:r>
          </a:p>
          <a:p>
            <a:r>
              <a:t>박사과정 발표자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배경 · 질문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스팟 하나에 세포 여러 개가 섞인다는 게 출발점이에요</a:t>
            </a:r>
          </a:p>
        </p:txBody>
      </p:sp>
      <p:sp>
        <p:nvSpPr>
          <p:cNvPr id="5" name="logic-03:row"/>
          <p:cNvSpPr/>
          <p:nvPr/>
        </p:nvSpPr>
        <p:spPr>
          <a:xfrm>
            <a:off x="468000" y="2118000"/>
            <a:ext cx="11256120" cy="752727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logic-03:marker"/>
          <p:cNvSpPr/>
          <p:nvPr/>
        </p:nvSpPr>
        <p:spPr>
          <a:xfrm>
            <a:off x="648000" y="2350364"/>
            <a:ext cx="288000" cy="288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B028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B0283C"/>
                </a:solidFill>
              </a:rPr>
              <a:t>1</a:t>
            </a:r>
          </a:p>
        </p:txBody>
      </p:sp>
      <p:sp>
        <p:nvSpPr>
          <p:cNvPr id="7" name="logic-03:label"/>
          <p:cNvSpPr txBox="1"/>
          <p:nvPr/>
        </p:nvSpPr>
        <p:spPr>
          <a:xfrm>
            <a:off x="1044000" y="2118000"/>
            <a:ext cx="1152000" cy="752727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배경</a:t>
            </a:r>
          </a:p>
        </p:txBody>
      </p:sp>
      <p:sp>
        <p:nvSpPr>
          <p:cNvPr id="8" name="logic-03:text"/>
          <p:cNvSpPr txBox="1"/>
          <p:nvPr/>
        </p:nvSpPr>
        <p:spPr>
          <a:xfrm>
            <a:off x="2268000" y="2118000"/>
            <a:ext cx="9240120" cy="752727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35000"/>
              </a:lnSpc>
            </a:pPr>
            <a:r>
              <a:rPr sz="1400" b="0" spc="-40">
                <a:solidFill>
                  <a:srgbClr val="262B33"/>
                </a:solidFill>
              </a:rPr>
              <a:t>Visium 스팟(55μm)에는 세포가 5–10개 섞여 있다</a:t>
            </a:r>
          </a:p>
        </p:txBody>
      </p:sp>
      <p:cxnSp>
        <p:nvCxnSpPr>
          <p:cNvPr id="9" name="logic-03:link"/>
          <p:cNvCxnSpPr/>
          <p:nvPr/>
        </p:nvCxnSpPr>
        <p:spPr>
          <a:xfrm>
            <a:off x="792000" y="2870727"/>
            <a:ext cx="0" cy="21600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logic-03:row"/>
          <p:cNvSpPr/>
          <p:nvPr/>
        </p:nvSpPr>
        <p:spPr>
          <a:xfrm>
            <a:off x="468000" y="3086727"/>
            <a:ext cx="11256120" cy="752727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logic-03:marker"/>
          <p:cNvSpPr/>
          <p:nvPr/>
        </p:nvSpPr>
        <p:spPr>
          <a:xfrm>
            <a:off x="648000" y="3319091"/>
            <a:ext cx="288000" cy="288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B028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B0283C"/>
                </a:solidFill>
              </a:rPr>
              <a:t>2</a:t>
            </a:r>
          </a:p>
        </p:txBody>
      </p:sp>
      <p:sp>
        <p:nvSpPr>
          <p:cNvPr id="12" name="logic-03:label"/>
          <p:cNvSpPr txBox="1"/>
          <p:nvPr/>
        </p:nvSpPr>
        <p:spPr>
          <a:xfrm>
            <a:off x="1044000" y="3086727"/>
            <a:ext cx="1152000" cy="752727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한계</a:t>
            </a:r>
          </a:p>
        </p:txBody>
      </p:sp>
      <p:sp>
        <p:nvSpPr>
          <p:cNvPr id="13" name="logic-03:text"/>
          <p:cNvSpPr txBox="1"/>
          <p:nvPr/>
        </p:nvSpPr>
        <p:spPr>
          <a:xfrm>
            <a:off x="2268000" y="3086727"/>
            <a:ext cx="9240120" cy="752727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35000"/>
              </a:lnSpc>
            </a:pPr>
            <a:r>
              <a:rPr sz="1400" b="0" spc="-40">
                <a:solidFill>
                  <a:srgbClr val="262B33"/>
                </a:solidFill>
              </a:rPr>
              <a:t>기존 디컨볼루션은 참조에 없는 세포 상태를 놓친다</a:t>
            </a:r>
          </a:p>
        </p:txBody>
      </p:sp>
      <p:cxnSp>
        <p:nvCxnSpPr>
          <p:cNvPr id="14" name="logic-03:link"/>
          <p:cNvCxnSpPr/>
          <p:nvPr/>
        </p:nvCxnSpPr>
        <p:spPr>
          <a:xfrm>
            <a:off x="792000" y="3839455"/>
            <a:ext cx="0" cy="21600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logic-03:row"/>
          <p:cNvSpPr/>
          <p:nvPr/>
        </p:nvSpPr>
        <p:spPr>
          <a:xfrm>
            <a:off x="468000" y="4055455"/>
            <a:ext cx="11256120" cy="978545"/>
          </a:xfrm>
          <a:prstGeom prst="rect">
            <a:avLst/>
          </a:prstGeom>
          <a:solidFill>
            <a:srgbClr val="B028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logic-03:marker"/>
          <p:cNvSpPr/>
          <p:nvPr/>
        </p:nvSpPr>
        <p:spPr>
          <a:xfrm>
            <a:off x="648000" y="4400727"/>
            <a:ext cx="288000" cy="2880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B0283C"/>
                </a:solidFill>
              </a:rPr>
              <a:t>3</a:t>
            </a:r>
          </a:p>
        </p:txBody>
      </p:sp>
      <p:sp>
        <p:nvSpPr>
          <p:cNvPr id="17" name="logic-03:label"/>
          <p:cNvSpPr txBox="1"/>
          <p:nvPr/>
        </p:nvSpPr>
        <p:spPr>
          <a:xfrm>
            <a:off x="1044000" y="4055455"/>
            <a:ext cx="1152000" cy="978545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FFFFFF"/>
                </a:solidFill>
              </a:rPr>
              <a:t>질문</a:t>
            </a:r>
          </a:p>
        </p:txBody>
      </p:sp>
      <p:sp>
        <p:nvSpPr>
          <p:cNvPr id="18" name="logic-03:text"/>
          <p:cNvSpPr txBox="1"/>
          <p:nvPr/>
        </p:nvSpPr>
        <p:spPr>
          <a:xfrm>
            <a:off x="2268000" y="4055455"/>
            <a:ext cx="9240120" cy="978545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35000"/>
              </a:lnSpc>
            </a:pPr>
            <a:r>
              <a:rPr sz="1800" b="1" spc="-40">
                <a:solidFill>
                  <a:srgbClr val="FFFFFF"/>
                </a:solidFill>
              </a:rPr>
              <a:t>참조 없이도 세포 상태를 나눌 수 있을까?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2</a:t>
            </a:fld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배경 · 질문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기존 두 방법은 참조가 있어야만 돌아가요</a:t>
            </a:r>
          </a:p>
        </p:txBody>
      </p:sp>
      <p:sp>
        <p:nvSpPr>
          <p:cNvPr id="5" name="comp-02:head"/>
          <p:cNvSpPr txBox="1"/>
          <p:nvPr/>
        </p:nvSpPr>
        <p:spPr>
          <a:xfrm>
            <a:off x="468000" y="2152821"/>
            <a:ext cx="4502448" cy="38153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800" b="1" spc="-40">
                <a:solidFill>
                  <a:srgbClr val="262B33"/>
                </a:solidFill>
              </a:rPr>
              <a:t>cell2location</a:t>
            </a:r>
          </a:p>
        </p:txBody>
      </p:sp>
      <p:sp>
        <p:nvSpPr>
          <p:cNvPr id="6" name="comp-02:head"/>
          <p:cNvSpPr txBox="1"/>
          <p:nvPr/>
        </p:nvSpPr>
        <p:spPr>
          <a:xfrm>
            <a:off x="7221672" y="2152821"/>
            <a:ext cx="4502448" cy="38153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800" b="1" spc="-40">
                <a:solidFill>
                  <a:srgbClr val="262B33"/>
                </a:solidFill>
              </a:rPr>
              <a:t>RCTD</a:t>
            </a:r>
          </a:p>
        </p:txBody>
      </p:sp>
      <p:cxnSp>
        <p:nvCxnSpPr>
          <p:cNvPr id="7" name="comp-02:head-rule"/>
          <p:cNvCxnSpPr/>
          <p:nvPr/>
        </p:nvCxnSpPr>
        <p:spPr>
          <a:xfrm>
            <a:off x="468000" y="2588359"/>
            <a:ext cx="11256120" cy="0"/>
          </a:xfrm>
          <a:prstGeom prst="line">
            <a:avLst/>
          </a:prstGeom>
          <a:ln w="12700">
            <a:solidFill>
              <a:srgbClr val="262B3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comp-02:value"/>
          <p:cNvSpPr txBox="1"/>
          <p:nvPr/>
        </p:nvSpPr>
        <p:spPr>
          <a:xfrm>
            <a:off x="612000" y="2588359"/>
            <a:ext cx="4214448" cy="792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30000"/>
              </a:lnSpc>
            </a:pPr>
            <a:r>
              <a:rPr sz="1400" b="0" spc="-40">
                <a:solidFill>
                  <a:srgbClr val="262B33"/>
                </a:solidFill>
              </a:rPr>
              <a:t>단일세포 필요</a:t>
            </a:r>
          </a:p>
        </p:txBody>
      </p:sp>
      <p:sp>
        <p:nvSpPr>
          <p:cNvPr id="9" name="comp-02:item"/>
          <p:cNvSpPr txBox="1"/>
          <p:nvPr/>
        </p:nvSpPr>
        <p:spPr>
          <a:xfrm>
            <a:off x="5042448" y="2588359"/>
            <a:ext cx="2107224" cy="792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5000"/>
              </a:lnSpc>
            </a:pPr>
            <a:r>
              <a:rPr sz="1300" b="0" spc="-40">
                <a:solidFill>
                  <a:srgbClr val="6B7280"/>
                </a:solidFill>
                <a:latin typeface="Pretendard Medium"/>
                <a:ea typeface="Pretendard Medium"/>
                <a:cs typeface="Pretendard Medium"/>
              </a:rPr>
              <a:t>참조 데이터</a:t>
            </a:r>
          </a:p>
        </p:txBody>
      </p:sp>
      <p:sp>
        <p:nvSpPr>
          <p:cNvPr id="10" name="comp-02:value"/>
          <p:cNvSpPr txBox="1"/>
          <p:nvPr/>
        </p:nvSpPr>
        <p:spPr>
          <a:xfrm>
            <a:off x="7365672" y="2588359"/>
            <a:ext cx="4214448" cy="792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30000"/>
              </a:lnSpc>
            </a:pPr>
            <a:r>
              <a:rPr sz="1400" b="0" spc="-40">
                <a:solidFill>
                  <a:srgbClr val="262B33"/>
                </a:solidFill>
              </a:rPr>
              <a:t>단일세포 필요</a:t>
            </a:r>
          </a:p>
        </p:txBody>
      </p:sp>
      <p:cxnSp>
        <p:nvCxnSpPr>
          <p:cNvPr id="11" name="comp-02:row-rule"/>
          <p:cNvCxnSpPr/>
          <p:nvPr/>
        </p:nvCxnSpPr>
        <p:spPr>
          <a:xfrm>
            <a:off x="468000" y="3380359"/>
            <a:ext cx="1125612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comp-02:value"/>
          <p:cNvSpPr txBox="1"/>
          <p:nvPr/>
        </p:nvSpPr>
        <p:spPr>
          <a:xfrm>
            <a:off x="612000" y="3380359"/>
            <a:ext cx="4214448" cy="792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30000"/>
              </a:lnSpc>
            </a:pPr>
            <a:r>
              <a:rPr sz="1400" b="0" spc="-40">
                <a:solidFill>
                  <a:srgbClr val="262B33"/>
                </a:solidFill>
              </a:rPr>
              <a:t>찾지 못함</a:t>
            </a:r>
          </a:p>
        </p:txBody>
      </p:sp>
      <p:sp>
        <p:nvSpPr>
          <p:cNvPr id="13" name="comp-02:item"/>
          <p:cNvSpPr txBox="1"/>
          <p:nvPr/>
        </p:nvSpPr>
        <p:spPr>
          <a:xfrm>
            <a:off x="5042448" y="3380359"/>
            <a:ext cx="2107224" cy="792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5000"/>
              </a:lnSpc>
            </a:pPr>
            <a:r>
              <a:rPr sz="1300" b="0" spc="-40">
                <a:solidFill>
                  <a:srgbClr val="6B7280"/>
                </a:solidFill>
                <a:latin typeface="Pretendard Medium"/>
                <a:ea typeface="Pretendard Medium"/>
                <a:cs typeface="Pretendard Medium"/>
              </a:rPr>
              <a:t>새 세포 상태</a:t>
            </a:r>
          </a:p>
        </p:txBody>
      </p:sp>
      <p:sp>
        <p:nvSpPr>
          <p:cNvPr id="14" name="comp-02:value"/>
          <p:cNvSpPr txBox="1"/>
          <p:nvPr/>
        </p:nvSpPr>
        <p:spPr>
          <a:xfrm>
            <a:off x="7365672" y="3380359"/>
            <a:ext cx="4214448" cy="792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30000"/>
              </a:lnSpc>
            </a:pPr>
            <a:r>
              <a:rPr sz="1400" b="0" spc="-40">
                <a:solidFill>
                  <a:srgbClr val="262B33"/>
                </a:solidFill>
              </a:rPr>
              <a:t>찾지 못함</a:t>
            </a:r>
          </a:p>
        </p:txBody>
      </p:sp>
      <p:cxnSp>
        <p:nvCxnSpPr>
          <p:cNvPr id="15" name="comp-02:row-rule"/>
          <p:cNvCxnSpPr/>
          <p:nvPr/>
        </p:nvCxnSpPr>
        <p:spPr>
          <a:xfrm>
            <a:off x="468000" y="4172359"/>
            <a:ext cx="1125612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comp-02:value"/>
          <p:cNvSpPr txBox="1"/>
          <p:nvPr/>
        </p:nvSpPr>
        <p:spPr>
          <a:xfrm>
            <a:off x="612000" y="4172359"/>
            <a:ext cx="4214448" cy="792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30000"/>
              </a:lnSpc>
            </a:pPr>
            <a:r>
              <a:rPr sz="1400" b="0" spc="-40">
                <a:solidFill>
                  <a:srgbClr val="262B33"/>
                </a:solidFill>
              </a:rPr>
              <a:t>약 2시간</a:t>
            </a:r>
          </a:p>
        </p:txBody>
      </p:sp>
      <p:sp>
        <p:nvSpPr>
          <p:cNvPr id="17" name="comp-02:item"/>
          <p:cNvSpPr txBox="1"/>
          <p:nvPr/>
        </p:nvSpPr>
        <p:spPr>
          <a:xfrm>
            <a:off x="5042448" y="4172359"/>
            <a:ext cx="2107224" cy="792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5000"/>
              </a:lnSpc>
            </a:pPr>
            <a:r>
              <a:rPr sz="1300" b="0" spc="-40">
                <a:solidFill>
                  <a:srgbClr val="6B7280"/>
                </a:solidFill>
                <a:latin typeface="Pretendard Medium"/>
                <a:ea typeface="Pretendard Medium"/>
                <a:cs typeface="Pretendard Medium"/>
              </a:rPr>
              <a:t>속도 (스팟 4천 개)</a:t>
            </a:r>
          </a:p>
        </p:txBody>
      </p:sp>
      <p:sp>
        <p:nvSpPr>
          <p:cNvPr id="18" name="comp-02:value"/>
          <p:cNvSpPr txBox="1"/>
          <p:nvPr/>
        </p:nvSpPr>
        <p:spPr>
          <a:xfrm>
            <a:off x="7365672" y="4172359"/>
            <a:ext cx="4214448" cy="792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30000"/>
              </a:lnSpc>
            </a:pPr>
            <a:r>
              <a:rPr sz="1400" b="0" spc="-40">
                <a:solidFill>
                  <a:srgbClr val="262B33"/>
                </a:solidFill>
              </a:rPr>
              <a:t>약 20분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3</a:t>
            </a:fld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Study design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공간전사체와 단일세포를 같은 환자에서 얻어 비교했어요</a:t>
            </a:r>
          </a:p>
        </p:txBody>
      </p:sp>
      <p:sp>
        <p:nvSpPr>
          <p:cNvPr id="5" name="res-01:marker"/>
          <p:cNvSpPr/>
          <p:nvPr/>
        </p:nvSpPr>
        <p:spPr>
          <a:xfrm>
            <a:off x="468000" y="2185107"/>
            <a:ext cx="374400" cy="3744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B028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B0283C"/>
                </a:solidFill>
              </a:rPr>
              <a:t>1</a:t>
            </a:r>
          </a:p>
        </p:txBody>
      </p:sp>
      <p:sp>
        <p:nvSpPr>
          <p:cNvPr id="6" name="res-01:title"/>
          <p:cNvSpPr txBox="1"/>
          <p:nvPr/>
        </p:nvSpPr>
        <p:spPr>
          <a:xfrm>
            <a:off x="959400" y="2185107"/>
            <a:ext cx="1998630" cy="3744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대상</a:t>
            </a:r>
          </a:p>
        </p:txBody>
      </p:sp>
      <p:sp>
        <p:nvSpPr>
          <p:cNvPr id="7" name="res-01:column"/>
          <p:cNvSpPr/>
          <p:nvPr/>
        </p:nvSpPr>
        <p:spPr>
          <a:xfrm>
            <a:off x="468000" y="2699907"/>
            <a:ext cx="2490030" cy="1814021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es-01:text"/>
          <p:cNvSpPr txBox="1"/>
          <p:nvPr/>
        </p:nvSpPr>
        <p:spPr>
          <a:xfrm>
            <a:off x="655200" y="3323013"/>
            <a:ext cx="2115630" cy="585809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2000"/>
              </a:lnSpc>
            </a:pPr>
            <a:r>
              <a:rPr sz="1600" b="1" spc="-40">
                <a:solidFill>
                  <a:srgbClr val="262B33"/>
                </a:solidFill>
              </a:rPr>
              <a:t>대장암 환자 8명</a:t>
            </a:r>
          </a:p>
          <a:p>
            <a:pPr algn="ctr">
              <a:lnSpc>
                <a:spcPct val="122000"/>
              </a:lnSpc>
              <a:spcBef>
                <a:spcPts val="200"/>
              </a:spcBef>
            </a:pPr>
            <a:r>
              <a:rPr sz="1300" b="0" spc="-40">
                <a:solidFill>
                  <a:srgbClr val="6B7280"/>
                </a:solidFill>
              </a:rPr>
              <a:t>수술 조직 · 같은 블록</a:t>
            </a:r>
          </a:p>
        </p:txBody>
      </p:sp>
      <p:sp>
        <p:nvSpPr>
          <p:cNvPr id="9" name="res-01:evidence"/>
          <p:cNvSpPr txBox="1"/>
          <p:nvPr/>
        </p:nvSpPr>
        <p:spPr>
          <a:xfrm>
            <a:off x="468000" y="4654328"/>
            <a:ext cx="2490030" cy="245457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5000"/>
              </a:lnSpc>
            </a:pPr>
            <a:r>
              <a:rPr sz="1200" b="0" spc="-40">
                <a:solidFill>
                  <a:srgbClr val="6B7280"/>
                </a:solidFill>
              </a:rPr>
              <a:t>n = 8 · 절편 16장</a:t>
            </a:r>
          </a:p>
        </p:txBody>
      </p:sp>
      <p:cxnSp>
        <p:nvCxnSpPr>
          <p:cNvPr id="10" name="res-01:link"/>
          <p:cNvCxnSpPr/>
          <p:nvPr/>
        </p:nvCxnSpPr>
        <p:spPr>
          <a:xfrm>
            <a:off x="3028230" y="3606918"/>
            <a:ext cx="291600" cy="0"/>
          </a:xfrm>
          <a:prstGeom prst="line">
            <a:avLst/>
          </a:prstGeom>
          <a:ln w="9525">
            <a:solidFill>
              <a:srgbClr val="6B728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es-01:marker"/>
          <p:cNvSpPr/>
          <p:nvPr/>
        </p:nvSpPr>
        <p:spPr>
          <a:xfrm>
            <a:off x="3390030" y="2185107"/>
            <a:ext cx="374400" cy="3744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B028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B0283C"/>
                </a:solidFill>
              </a:rPr>
              <a:t>2</a:t>
            </a:r>
          </a:p>
        </p:txBody>
      </p:sp>
      <p:sp>
        <p:nvSpPr>
          <p:cNvPr id="12" name="res-01:title"/>
          <p:cNvSpPr txBox="1"/>
          <p:nvPr/>
        </p:nvSpPr>
        <p:spPr>
          <a:xfrm>
            <a:off x="3881430" y="2185107"/>
            <a:ext cx="1998630" cy="3744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비교</a:t>
            </a:r>
          </a:p>
        </p:txBody>
      </p:sp>
      <p:sp>
        <p:nvSpPr>
          <p:cNvPr id="13" name="res-01:column"/>
          <p:cNvSpPr/>
          <p:nvPr/>
        </p:nvSpPr>
        <p:spPr>
          <a:xfrm>
            <a:off x="3390030" y="2699907"/>
            <a:ext cx="2490030" cy="1814021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res-01:group"/>
          <p:cNvSpPr/>
          <p:nvPr/>
        </p:nvSpPr>
        <p:spPr>
          <a:xfrm>
            <a:off x="3577230" y="2887107"/>
            <a:ext cx="2115630" cy="673011"/>
          </a:xfrm>
          <a:prstGeom prst="rect">
            <a:avLst/>
          </a:prstGeom>
          <a:solidFill>
            <a:srgbClr val="B028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res-01:group-text"/>
          <p:cNvSpPr txBox="1"/>
          <p:nvPr/>
        </p:nvSpPr>
        <p:spPr>
          <a:xfrm>
            <a:off x="3670830" y="2887107"/>
            <a:ext cx="1928430" cy="673011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400" b="1" spc="-40">
                <a:solidFill>
                  <a:srgbClr val="FFFFFF"/>
                </a:solidFill>
              </a:rPr>
              <a:t>Visium 공간전사체</a:t>
            </a:r>
          </a:p>
          <a:p>
            <a:pPr algn="ctr">
              <a:lnSpc>
                <a:spcPct val="120000"/>
              </a:lnSpc>
              <a:spcBef>
                <a:spcPts val="100"/>
              </a:spcBef>
            </a:pPr>
            <a:r>
              <a:rPr sz="1200" b="0" spc="-40">
                <a:solidFill>
                  <a:srgbClr val="FFFFFF"/>
                </a:solidFill>
              </a:rPr>
              <a:t>절편 16장</a:t>
            </a:r>
          </a:p>
        </p:txBody>
      </p:sp>
      <p:sp>
        <p:nvSpPr>
          <p:cNvPr id="16" name="res-01:group"/>
          <p:cNvSpPr/>
          <p:nvPr/>
        </p:nvSpPr>
        <p:spPr>
          <a:xfrm>
            <a:off x="3577230" y="3653718"/>
            <a:ext cx="2115630" cy="673011"/>
          </a:xfrm>
          <a:prstGeom prst="rect">
            <a:avLst/>
          </a:prstGeom>
          <a:solidFill>
            <a:srgbClr val="EDEE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es-01:group-text"/>
          <p:cNvSpPr txBox="1"/>
          <p:nvPr/>
        </p:nvSpPr>
        <p:spPr>
          <a:xfrm>
            <a:off x="3670830" y="3653718"/>
            <a:ext cx="1928430" cy="673011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400" b="1" spc="-40">
                <a:solidFill>
                  <a:srgbClr val="6B7280"/>
                </a:solidFill>
              </a:rPr>
              <a:t>scRNA-seq 참조</a:t>
            </a:r>
          </a:p>
          <a:p>
            <a:pPr algn="ctr">
              <a:lnSpc>
                <a:spcPct val="120000"/>
              </a:lnSpc>
              <a:spcBef>
                <a:spcPts val="100"/>
              </a:spcBef>
            </a:pPr>
            <a:r>
              <a:rPr sz="1200" b="0" spc="-40">
                <a:solidFill>
                  <a:srgbClr val="6B7280"/>
                </a:solidFill>
              </a:rPr>
              <a:t>세포 6만 개</a:t>
            </a:r>
          </a:p>
        </p:txBody>
      </p:sp>
      <p:sp>
        <p:nvSpPr>
          <p:cNvPr id="18" name="res-01:evidence"/>
          <p:cNvSpPr txBox="1"/>
          <p:nvPr/>
        </p:nvSpPr>
        <p:spPr>
          <a:xfrm>
            <a:off x="3390030" y="4654328"/>
            <a:ext cx="2490030" cy="245457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5000"/>
              </a:lnSpc>
            </a:pPr>
            <a:r>
              <a:rPr sz="1200" b="0" spc="-40">
                <a:solidFill>
                  <a:srgbClr val="6B7280"/>
                </a:solidFill>
              </a:rPr>
              <a:t>같은 조직에서 두 방법</a:t>
            </a:r>
          </a:p>
        </p:txBody>
      </p:sp>
      <p:cxnSp>
        <p:nvCxnSpPr>
          <p:cNvPr id="19" name="res-01:link"/>
          <p:cNvCxnSpPr/>
          <p:nvPr/>
        </p:nvCxnSpPr>
        <p:spPr>
          <a:xfrm>
            <a:off x="5950260" y="3606918"/>
            <a:ext cx="291600" cy="0"/>
          </a:xfrm>
          <a:prstGeom prst="line">
            <a:avLst/>
          </a:prstGeom>
          <a:ln w="9525">
            <a:solidFill>
              <a:srgbClr val="6B728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es-01:marker"/>
          <p:cNvSpPr/>
          <p:nvPr/>
        </p:nvSpPr>
        <p:spPr>
          <a:xfrm>
            <a:off x="6312060" y="2185107"/>
            <a:ext cx="374400" cy="3744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B028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B0283C"/>
                </a:solidFill>
              </a:rPr>
              <a:t>3</a:t>
            </a:r>
          </a:p>
        </p:txBody>
      </p:sp>
      <p:sp>
        <p:nvSpPr>
          <p:cNvPr id="21" name="res-01:title"/>
          <p:cNvSpPr txBox="1"/>
          <p:nvPr/>
        </p:nvSpPr>
        <p:spPr>
          <a:xfrm>
            <a:off x="6803460" y="2185107"/>
            <a:ext cx="1998630" cy="3744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측정</a:t>
            </a:r>
          </a:p>
        </p:txBody>
      </p:sp>
      <p:sp>
        <p:nvSpPr>
          <p:cNvPr id="22" name="res-01:column"/>
          <p:cNvSpPr/>
          <p:nvPr/>
        </p:nvSpPr>
        <p:spPr>
          <a:xfrm>
            <a:off x="6312060" y="2699907"/>
            <a:ext cx="2490030" cy="1814021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res-01:text"/>
          <p:cNvSpPr txBox="1"/>
          <p:nvPr/>
        </p:nvSpPr>
        <p:spPr>
          <a:xfrm>
            <a:off x="6499260" y="3323013"/>
            <a:ext cx="2115630" cy="585809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2000"/>
              </a:lnSpc>
            </a:pPr>
            <a:r>
              <a:rPr sz="1600" b="1" spc="-40">
                <a:solidFill>
                  <a:srgbClr val="262B33"/>
                </a:solidFill>
              </a:rPr>
              <a:t>세포 상태 비율</a:t>
            </a:r>
          </a:p>
          <a:p>
            <a:pPr algn="ctr">
              <a:lnSpc>
                <a:spcPct val="122000"/>
              </a:lnSpc>
              <a:spcBef>
                <a:spcPts val="200"/>
              </a:spcBef>
            </a:pPr>
            <a:r>
              <a:rPr sz="1300" b="0" spc="-40">
                <a:solidFill>
                  <a:srgbClr val="6B7280"/>
                </a:solidFill>
              </a:rPr>
              <a:t>스팟마다 상태 8개</a:t>
            </a:r>
          </a:p>
        </p:txBody>
      </p:sp>
      <p:sp>
        <p:nvSpPr>
          <p:cNvPr id="24" name="res-01:evidence"/>
          <p:cNvSpPr txBox="1"/>
          <p:nvPr/>
        </p:nvSpPr>
        <p:spPr>
          <a:xfrm>
            <a:off x="6312060" y="4654328"/>
            <a:ext cx="2490030" cy="245457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5000"/>
              </a:lnSpc>
            </a:pPr>
            <a:r>
              <a:rPr sz="1200" b="0" spc="-40">
                <a:solidFill>
                  <a:srgbClr val="6B7280"/>
                </a:solidFill>
              </a:rPr>
              <a:t>스팟 약 3만 개</a:t>
            </a:r>
          </a:p>
        </p:txBody>
      </p:sp>
      <p:cxnSp>
        <p:nvCxnSpPr>
          <p:cNvPr id="25" name="res-01:link"/>
          <p:cNvCxnSpPr/>
          <p:nvPr/>
        </p:nvCxnSpPr>
        <p:spPr>
          <a:xfrm>
            <a:off x="8872290" y="3606918"/>
            <a:ext cx="291600" cy="0"/>
          </a:xfrm>
          <a:prstGeom prst="line">
            <a:avLst/>
          </a:prstGeom>
          <a:ln w="9525">
            <a:solidFill>
              <a:srgbClr val="6B728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res-01:marker"/>
          <p:cNvSpPr/>
          <p:nvPr/>
        </p:nvSpPr>
        <p:spPr>
          <a:xfrm>
            <a:off x="9234090" y="2185107"/>
            <a:ext cx="374400" cy="3744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B028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B0283C"/>
                </a:solidFill>
              </a:rPr>
              <a:t>4</a:t>
            </a:r>
          </a:p>
        </p:txBody>
      </p:sp>
      <p:sp>
        <p:nvSpPr>
          <p:cNvPr id="27" name="res-01:title"/>
          <p:cNvSpPr txBox="1"/>
          <p:nvPr/>
        </p:nvSpPr>
        <p:spPr>
          <a:xfrm>
            <a:off x="9725490" y="2185107"/>
            <a:ext cx="1998630" cy="3744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분석</a:t>
            </a:r>
          </a:p>
        </p:txBody>
      </p:sp>
      <p:sp>
        <p:nvSpPr>
          <p:cNvPr id="28" name="res-01:column"/>
          <p:cNvSpPr/>
          <p:nvPr/>
        </p:nvSpPr>
        <p:spPr>
          <a:xfrm>
            <a:off x="9234090" y="2699907"/>
            <a:ext cx="2490030" cy="1814021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es-01:text"/>
          <p:cNvSpPr txBox="1"/>
          <p:nvPr/>
        </p:nvSpPr>
        <p:spPr>
          <a:xfrm>
            <a:off x="9421290" y="3323013"/>
            <a:ext cx="2115630" cy="585809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2000"/>
              </a:lnSpc>
            </a:pPr>
            <a:r>
              <a:rPr sz="1600" b="1" spc="-40">
                <a:solidFill>
                  <a:srgbClr val="262B33"/>
                </a:solidFill>
              </a:rPr>
              <a:t>벤치마크 · 생물학 해석</a:t>
            </a:r>
          </a:p>
          <a:p>
            <a:pPr algn="ctr">
              <a:lnSpc>
                <a:spcPct val="122000"/>
              </a:lnSpc>
              <a:spcBef>
                <a:spcPts val="200"/>
              </a:spcBef>
            </a:pPr>
            <a:r>
              <a:rPr sz="1300" b="0" spc="-40">
                <a:solidFill>
                  <a:srgbClr val="6B7280"/>
                </a:solidFill>
              </a:rPr>
              <a:t>합성 스팟 · 실제 조직</a:t>
            </a:r>
          </a:p>
        </p:txBody>
      </p:sp>
      <p:sp>
        <p:nvSpPr>
          <p:cNvPr id="30" name="res-01:evidence"/>
          <p:cNvSpPr txBox="1"/>
          <p:nvPr/>
        </p:nvSpPr>
        <p:spPr>
          <a:xfrm>
            <a:off x="9234090" y="4654328"/>
            <a:ext cx="2490030" cy="245457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5000"/>
              </a:lnSpc>
            </a:pPr>
            <a:r>
              <a:rPr sz="1200" b="0" spc="-40">
                <a:solidFill>
                  <a:srgbClr val="6B7280"/>
                </a:solidFill>
              </a:rPr>
              <a:t>방법 4개와 비교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4</a:t>
            </a:fld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Figure 1 · 방법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공간 이웃 정보를 더해 스팟을 세포 상태로 나눠요</a:t>
            </a:r>
          </a:p>
        </p:txBody>
      </p:sp>
      <p:sp>
        <p:nvSpPr>
          <p:cNvPr id="5" name="res-03:bg"/>
          <p:cNvSpPr/>
          <p:nvPr/>
        </p:nvSpPr>
        <p:spPr>
          <a:xfrm>
            <a:off x="468000" y="2140783"/>
            <a:ext cx="2652030" cy="2847650"/>
          </a:xfrm>
          <a:prstGeom prst="rect">
            <a:avLst/>
          </a:prstGeom>
          <a:solidFill>
            <a:srgbClr val="F7EA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res-03:step"/>
          <p:cNvSpPr txBox="1"/>
          <p:nvPr/>
        </p:nvSpPr>
        <p:spPr>
          <a:xfrm>
            <a:off x="468000" y="2284783"/>
            <a:ext cx="2652030" cy="216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100" b="0" spc="-40">
                <a:solidFill>
                  <a:srgbClr val="6B7280"/>
                </a:solidFill>
                <a:latin typeface="Pretendard Medium"/>
                <a:ea typeface="Pretendard Medium"/>
                <a:cs typeface="Pretendard Medium"/>
              </a:rPr>
              <a:t>1단계</a:t>
            </a:r>
          </a:p>
        </p:txBody>
      </p:sp>
      <p:sp>
        <p:nvSpPr>
          <p:cNvPr id="7" name="res-03:pill"/>
          <p:cNvSpPr/>
          <p:nvPr/>
        </p:nvSpPr>
        <p:spPr>
          <a:xfrm>
            <a:off x="792000" y="2554783"/>
            <a:ext cx="2004030" cy="3960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B028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es-03:name"/>
          <p:cNvSpPr txBox="1"/>
          <p:nvPr/>
        </p:nvSpPr>
        <p:spPr>
          <a:xfrm>
            <a:off x="792000" y="2554783"/>
            <a:ext cx="2004030" cy="39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500" b="1" spc="-40">
                <a:solidFill>
                  <a:srgbClr val="B0283C"/>
                </a:solidFill>
              </a:rPr>
              <a:t>스팟 발현</a:t>
            </a:r>
          </a:p>
        </p:txBody>
      </p:sp>
      <p:sp>
        <p:nvSpPr>
          <p:cNvPr id="9" name="res-03:lines"/>
          <p:cNvSpPr txBox="1"/>
          <p:nvPr/>
        </p:nvSpPr>
        <p:spPr>
          <a:xfrm>
            <a:off x="648000" y="3184783"/>
            <a:ext cx="2292030" cy="6336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45000"/>
              </a:lnSpc>
            </a:pPr>
            <a:r>
              <a:rPr sz="1400" b="0" spc="-40">
                <a:solidFill>
                  <a:srgbClr val="262B33"/>
                </a:solidFill>
              </a:rPr>
              <a:t>Visium count</a:t>
            </a:r>
          </a:p>
          <a:p>
            <a:pPr algn="ctr">
              <a:lnSpc>
                <a:spcPct val="145000"/>
              </a:lnSpc>
            </a:pPr>
            <a:r>
              <a:rPr sz="1400" b="0" spc="-40">
                <a:solidFill>
                  <a:srgbClr val="262B33"/>
                </a:solidFill>
              </a:rPr>
              <a:t>→ 정규화 발현</a:t>
            </a:r>
          </a:p>
        </p:txBody>
      </p:sp>
      <p:sp>
        <p:nvSpPr>
          <p:cNvPr id="10" name="res-03:sep"/>
          <p:cNvSpPr txBox="1"/>
          <p:nvPr/>
        </p:nvSpPr>
        <p:spPr>
          <a:xfrm>
            <a:off x="3084030" y="2518783"/>
            <a:ext cx="288000" cy="468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2400" b="0" spc="-40">
                <a:solidFill>
                  <a:srgbClr val="DFA9B1"/>
                </a:solidFill>
              </a:rPr>
              <a:t>›</a:t>
            </a:r>
          </a:p>
        </p:txBody>
      </p:sp>
      <p:sp>
        <p:nvSpPr>
          <p:cNvPr id="11" name="res-03:bg"/>
          <p:cNvSpPr/>
          <p:nvPr/>
        </p:nvSpPr>
        <p:spPr>
          <a:xfrm>
            <a:off x="3336030" y="2140783"/>
            <a:ext cx="2652030" cy="2847650"/>
          </a:xfrm>
          <a:prstGeom prst="rect">
            <a:avLst/>
          </a:prstGeom>
          <a:solidFill>
            <a:srgbClr val="F7EA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es-03:step"/>
          <p:cNvSpPr txBox="1"/>
          <p:nvPr/>
        </p:nvSpPr>
        <p:spPr>
          <a:xfrm>
            <a:off x="3336030" y="2284783"/>
            <a:ext cx="2652030" cy="216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100" b="0" spc="-40">
                <a:solidFill>
                  <a:srgbClr val="6B7280"/>
                </a:solidFill>
                <a:latin typeface="Pretendard Medium"/>
                <a:ea typeface="Pretendard Medium"/>
                <a:cs typeface="Pretendard Medium"/>
              </a:rPr>
              <a:t>2단계</a:t>
            </a:r>
          </a:p>
        </p:txBody>
      </p:sp>
      <p:sp>
        <p:nvSpPr>
          <p:cNvPr id="13" name="res-03:pill"/>
          <p:cNvSpPr/>
          <p:nvPr/>
        </p:nvSpPr>
        <p:spPr>
          <a:xfrm>
            <a:off x="3660030" y="2554783"/>
            <a:ext cx="2004030" cy="3960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B028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res-03:name"/>
          <p:cNvSpPr txBox="1"/>
          <p:nvPr/>
        </p:nvSpPr>
        <p:spPr>
          <a:xfrm>
            <a:off x="3660030" y="2554783"/>
            <a:ext cx="2004030" cy="39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500" b="1" spc="-40">
                <a:solidFill>
                  <a:srgbClr val="B0283C"/>
                </a:solidFill>
              </a:rPr>
              <a:t>이웃 그래프</a:t>
            </a:r>
          </a:p>
        </p:txBody>
      </p:sp>
      <p:sp>
        <p:nvSpPr>
          <p:cNvPr id="15" name="res-03:lines"/>
          <p:cNvSpPr txBox="1"/>
          <p:nvPr/>
        </p:nvSpPr>
        <p:spPr>
          <a:xfrm>
            <a:off x="3516030" y="3184783"/>
            <a:ext cx="2292030" cy="6336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45000"/>
              </a:lnSpc>
            </a:pPr>
            <a:r>
              <a:rPr sz="1400" b="0" spc="-40">
                <a:solidFill>
                  <a:srgbClr val="262B33"/>
                </a:solidFill>
              </a:rPr>
              <a:t>인접 스팟 6개</a:t>
            </a:r>
          </a:p>
          <a:p>
            <a:pPr algn="ctr">
              <a:lnSpc>
                <a:spcPct val="145000"/>
              </a:lnSpc>
            </a:pPr>
            <a:r>
              <a:rPr sz="1400" b="0" spc="-40">
                <a:solidFill>
                  <a:srgbClr val="262B33"/>
                </a:solidFill>
              </a:rPr>
              <a:t>→ 공간 그래프</a:t>
            </a:r>
          </a:p>
        </p:txBody>
      </p:sp>
      <p:sp>
        <p:nvSpPr>
          <p:cNvPr id="16" name="res-03:sep"/>
          <p:cNvSpPr txBox="1"/>
          <p:nvPr/>
        </p:nvSpPr>
        <p:spPr>
          <a:xfrm>
            <a:off x="5952060" y="2518783"/>
            <a:ext cx="288000" cy="468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2400" b="0" spc="-40">
                <a:solidFill>
                  <a:srgbClr val="DFA9B1"/>
                </a:solidFill>
              </a:rPr>
              <a:t>›</a:t>
            </a:r>
          </a:p>
        </p:txBody>
      </p:sp>
      <p:sp>
        <p:nvSpPr>
          <p:cNvPr id="17" name="res-03:bg"/>
          <p:cNvSpPr/>
          <p:nvPr/>
        </p:nvSpPr>
        <p:spPr>
          <a:xfrm>
            <a:off x="6204060" y="2140783"/>
            <a:ext cx="2652030" cy="2847650"/>
          </a:xfrm>
          <a:prstGeom prst="rect">
            <a:avLst/>
          </a:prstGeom>
          <a:solidFill>
            <a:srgbClr val="F1D8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res-03:step"/>
          <p:cNvSpPr txBox="1"/>
          <p:nvPr/>
        </p:nvSpPr>
        <p:spPr>
          <a:xfrm>
            <a:off x="6204060" y="2284783"/>
            <a:ext cx="2652030" cy="216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100" b="0" spc="-40">
                <a:solidFill>
                  <a:srgbClr val="6B7280"/>
                </a:solidFill>
                <a:latin typeface="Pretendard Medium"/>
                <a:ea typeface="Pretendard Medium"/>
                <a:cs typeface="Pretendard Medium"/>
              </a:rPr>
              <a:t>3단계</a:t>
            </a:r>
          </a:p>
        </p:txBody>
      </p:sp>
      <p:sp>
        <p:nvSpPr>
          <p:cNvPr id="19" name="res-03:pill"/>
          <p:cNvSpPr/>
          <p:nvPr/>
        </p:nvSpPr>
        <p:spPr>
          <a:xfrm>
            <a:off x="6528060" y="2554783"/>
            <a:ext cx="2004030" cy="396000"/>
          </a:xfrm>
          <a:prstGeom prst="roundRect">
            <a:avLst>
              <a:gd name="adj" fmla="val 50000"/>
            </a:avLst>
          </a:prstGeom>
          <a:solidFill>
            <a:srgbClr val="B0283C"/>
          </a:solidFill>
          <a:ln w="12700">
            <a:solidFill>
              <a:srgbClr val="B028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res-03:name"/>
          <p:cNvSpPr txBox="1"/>
          <p:nvPr/>
        </p:nvSpPr>
        <p:spPr>
          <a:xfrm>
            <a:off x="6528060" y="2554783"/>
            <a:ext cx="2004030" cy="39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500" b="1" spc="-40">
                <a:solidFill>
                  <a:srgbClr val="FFFFFF"/>
                </a:solidFill>
              </a:rPr>
              <a:t>상태 분해</a:t>
            </a:r>
          </a:p>
        </p:txBody>
      </p:sp>
      <p:sp>
        <p:nvSpPr>
          <p:cNvPr id="21" name="res-03:lines"/>
          <p:cNvSpPr txBox="1"/>
          <p:nvPr/>
        </p:nvSpPr>
        <p:spPr>
          <a:xfrm>
            <a:off x="6384060" y="3184783"/>
            <a:ext cx="2292030" cy="6336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45000"/>
              </a:lnSpc>
            </a:pPr>
            <a:r>
              <a:rPr sz="1400" b="0" spc="-40">
                <a:solidFill>
                  <a:srgbClr val="262B33"/>
                </a:solidFill>
              </a:rPr>
              <a:t>그래프 정규화 NMF</a:t>
            </a:r>
          </a:p>
          <a:p>
            <a:pPr algn="ctr">
              <a:lnSpc>
                <a:spcPct val="145000"/>
              </a:lnSpc>
            </a:pPr>
            <a:r>
              <a:rPr sz="1400" b="0" spc="-40">
                <a:solidFill>
                  <a:srgbClr val="262B33"/>
                </a:solidFill>
              </a:rPr>
              <a:t>→ 스팟별 상태 비율</a:t>
            </a:r>
          </a:p>
        </p:txBody>
      </p:sp>
      <p:sp>
        <p:nvSpPr>
          <p:cNvPr id="22" name="res-03:sep"/>
          <p:cNvSpPr txBox="1"/>
          <p:nvPr/>
        </p:nvSpPr>
        <p:spPr>
          <a:xfrm>
            <a:off x="8820090" y="2518783"/>
            <a:ext cx="288000" cy="468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2400" b="0" spc="-40">
                <a:solidFill>
                  <a:srgbClr val="DFA9B1"/>
                </a:solidFill>
              </a:rPr>
              <a:t>›</a:t>
            </a:r>
          </a:p>
        </p:txBody>
      </p:sp>
      <p:sp>
        <p:nvSpPr>
          <p:cNvPr id="23" name="res-03:bg"/>
          <p:cNvSpPr/>
          <p:nvPr/>
        </p:nvSpPr>
        <p:spPr>
          <a:xfrm>
            <a:off x="9072090" y="2140783"/>
            <a:ext cx="2652030" cy="2847650"/>
          </a:xfrm>
          <a:prstGeom prst="rect">
            <a:avLst/>
          </a:prstGeom>
          <a:solidFill>
            <a:srgbClr val="F7EA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res-03:step"/>
          <p:cNvSpPr txBox="1"/>
          <p:nvPr/>
        </p:nvSpPr>
        <p:spPr>
          <a:xfrm>
            <a:off x="9072090" y="2284783"/>
            <a:ext cx="2652030" cy="216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100" b="0" spc="-40">
                <a:solidFill>
                  <a:srgbClr val="6B7280"/>
                </a:solidFill>
                <a:latin typeface="Pretendard Medium"/>
                <a:ea typeface="Pretendard Medium"/>
                <a:cs typeface="Pretendard Medium"/>
              </a:rPr>
              <a:t>4단계</a:t>
            </a:r>
          </a:p>
        </p:txBody>
      </p:sp>
      <p:sp>
        <p:nvSpPr>
          <p:cNvPr id="25" name="res-03:pill"/>
          <p:cNvSpPr/>
          <p:nvPr/>
        </p:nvSpPr>
        <p:spPr>
          <a:xfrm>
            <a:off x="9396090" y="2554783"/>
            <a:ext cx="2004030" cy="3960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B028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res-03:name"/>
          <p:cNvSpPr txBox="1"/>
          <p:nvPr/>
        </p:nvSpPr>
        <p:spPr>
          <a:xfrm>
            <a:off x="9396090" y="2554783"/>
            <a:ext cx="2004030" cy="39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500" b="1" spc="-40">
                <a:solidFill>
                  <a:srgbClr val="B0283C"/>
                </a:solidFill>
              </a:rPr>
              <a:t>주석</a:t>
            </a:r>
          </a:p>
        </p:txBody>
      </p:sp>
      <p:sp>
        <p:nvSpPr>
          <p:cNvPr id="27" name="res-03:lines"/>
          <p:cNvSpPr txBox="1"/>
          <p:nvPr/>
        </p:nvSpPr>
        <p:spPr>
          <a:xfrm>
            <a:off x="9252090" y="3184783"/>
            <a:ext cx="2292030" cy="6336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45000"/>
              </a:lnSpc>
            </a:pPr>
            <a:r>
              <a:rPr sz="1400" b="0" spc="-40">
                <a:solidFill>
                  <a:srgbClr val="262B33"/>
                </a:solidFill>
              </a:rPr>
              <a:t>표지 유전자</a:t>
            </a:r>
          </a:p>
          <a:p>
            <a:pPr algn="ctr">
              <a:lnSpc>
                <a:spcPct val="145000"/>
              </a:lnSpc>
            </a:pPr>
            <a:r>
              <a:rPr sz="1400" b="0" spc="-40">
                <a:solidFill>
                  <a:srgbClr val="262B33"/>
                </a:solidFill>
              </a:rPr>
              <a:t>→ 상태 이름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5</a:t>
            </a:fld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Figure 3 · 벤치마크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합성 데이터에서 새 방법의 정확도가 가장 높아요</a:t>
            </a:r>
          </a:p>
        </p:txBody>
      </p:sp>
      <p:graphicFrame>
        <p:nvGraphicFramePr>
          <p:cNvPr id="5" name="data-02:chart"/>
          <p:cNvGraphicFramePr>
            <a:graphicFrameLocks noGrp="1"/>
          </p:cNvGraphicFramePr>
          <p:nvPr/>
        </p:nvGraphicFramePr>
        <p:xfrm>
          <a:off x="468000" y="1584000"/>
          <a:ext cx="11256120" cy="4173445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6" name="data-02:note"/>
          <p:cNvSpPr txBox="1"/>
          <p:nvPr/>
        </p:nvSpPr>
        <p:spPr>
          <a:xfrm>
            <a:off x="468000" y="5865445"/>
            <a:ext cx="11256120" cy="23655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200" b="0" spc="-40">
                <a:solidFill>
                  <a:srgbClr val="6B7280"/>
                </a:solidFill>
              </a:rPr>
              <a:t>논문 Figure 3B 를 다시 그림 (예시 값).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6</a:t>
            </a:fld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Figure 4 · 실제 조직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새 상태 하나가 종양 경계를 따라 띠처럼 나타나요</a:t>
            </a:r>
          </a:p>
        </p:txBody>
      </p:sp>
      <p:pic>
        <p:nvPicPr>
          <p:cNvPr id="5" name="res-04:figure" descr="spatial_cluster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33860" y="1878647"/>
            <a:ext cx="3524400" cy="2643300"/>
          </a:xfrm>
          <a:prstGeom prst="rect">
            <a:avLst/>
          </a:prstGeom>
          <a:ln w="9525">
            <a:solidFill>
              <a:srgbClr val="E2E5EA"/>
            </a:solidFill>
          </a:ln>
        </p:spPr>
      </p:pic>
      <p:sp>
        <p:nvSpPr>
          <p:cNvPr id="6" name="res-04:mark"/>
          <p:cNvSpPr/>
          <p:nvPr/>
        </p:nvSpPr>
        <p:spPr>
          <a:xfrm>
            <a:off x="5461668" y="3332462"/>
            <a:ext cx="1057320" cy="792990"/>
          </a:xfrm>
          <a:prstGeom prst="rect">
            <a:avLst/>
          </a:prstGeom>
          <a:noFill/>
          <a:ln w="19050">
            <a:solidFill>
              <a:srgbClr val="B028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res-04:mark-label"/>
          <p:cNvSpPr txBox="1"/>
          <p:nvPr/>
        </p:nvSpPr>
        <p:spPr>
          <a:xfrm>
            <a:off x="5461668" y="3066062"/>
            <a:ext cx="553779" cy="223200"/>
          </a:xfrm>
          <a:prstGeom prst="rect">
            <a:avLst/>
          </a:prstGeom>
          <a:solidFill>
            <a:srgbClr val="FFFFFF"/>
          </a:solidFill>
          <a:ln w="9525">
            <a:solidFill>
              <a:srgbClr val="B0283C"/>
            </a:solidFill>
          </a:ln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1" spc="-40">
                <a:solidFill>
                  <a:srgbClr val="B0283C"/>
                </a:solidFill>
              </a:rPr>
              <a:t>상태 5</a:t>
            </a:r>
          </a:p>
        </p:txBody>
      </p:sp>
      <p:sp>
        <p:nvSpPr>
          <p:cNvPr id="8" name="res-04:caption"/>
          <p:cNvSpPr txBox="1"/>
          <p:nvPr/>
        </p:nvSpPr>
        <p:spPr>
          <a:xfrm>
            <a:off x="4333860" y="4593947"/>
            <a:ext cx="7390260" cy="20016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100" b="0" spc="-40">
                <a:solidFill>
                  <a:srgbClr val="6B7280"/>
                </a:solidFill>
              </a:rPr>
              <a:t>Fig. 4B · 대장암 절편 2, 스팟 1,492개 (예시 그림)</a:t>
            </a:r>
          </a:p>
        </p:txBody>
      </p:sp>
      <p:cxnSp>
        <p:nvCxnSpPr>
          <p:cNvPr id="9" name="conclusion:line"/>
          <p:cNvCxnSpPr/>
          <p:nvPr/>
        </p:nvCxnSpPr>
        <p:spPr>
          <a:xfrm>
            <a:off x="468000" y="5010109"/>
            <a:ext cx="1125612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conclusion:text"/>
          <p:cNvSpPr txBox="1"/>
          <p:nvPr/>
        </p:nvSpPr>
        <p:spPr>
          <a:xfrm>
            <a:off x="468000" y="5208109"/>
            <a:ext cx="11256120" cy="30459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5000"/>
              </a:lnSpc>
            </a:pPr>
            <a:r>
              <a:rPr sz="1400" b="0" spc="-40">
                <a:solidFill>
                  <a:srgbClr val="6B7280"/>
                </a:solidFill>
              </a:rPr>
              <a:t>참조에 없던 상태 5가 </a:t>
            </a:r>
            <a:r>
              <a:rPr sz="1400" b="1" spc="-40">
                <a:solidFill>
                  <a:srgbClr val="262B33"/>
                </a:solidFill>
              </a:rPr>
              <a:t>경계부에만</a:t>
            </a:r>
            <a:r>
              <a:rPr sz="1400" b="0" spc="-40">
                <a:solidFill>
                  <a:srgbClr val="6B7280"/>
                </a:solidFill>
              </a:rPr>
              <a:t> 나타나요. 기존 방법은 이걸 섬유아세포로 뭉뚱그렸어요.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7</a:t>
            </a:fld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한계 · 열린 질문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새 상태가 실제 세포인지는 아직 확인되지 않았어요</a:t>
            </a:r>
          </a:p>
        </p:txBody>
      </p:sp>
      <p:cxnSp>
        <p:nvCxnSpPr>
          <p:cNvPr id="5" name="list-01:line"/>
          <p:cNvCxnSpPr/>
          <p:nvPr/>
        </p:nvCxnSpPr>
        <p:spPr>
          <a:xfrm>
            <a:off x="468000" y="2964000"/>
            <a:ext cx="1125612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list-01:marker"/>
          <p:cNvSpPr/>
          <p:nvPr/>
        </p:nvSpPr>
        <p:spPr>
          <a:xfrm>
            <a:off x="468000" y="1984446"/>
            <a:ext cx="288000" cy="288000"/>
          </a:xfrm>
          <a:prstGeom prst="rect">
            <a:avLst/>
          </a:prstGeom>
          <a:solidFill>
            <a:srgbClr val="B028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 spc="-4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7" name="list-01:title"/>
          <p:cNvSpPr txBox="1"/>
          <p:nvPr/>
        </p:nvSpPr>
        <p:spPr>
          <a:xfrm>
            <a:off x="936000" y="1982874"/>
            <a:ext cx="10788120" cy="291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검증</a:t>
            </a:r>
          </a:p>
        </p:txBody>
      </p:sp>
      <p:sp>
        <p:nvSpPr>
          <p:cNvPr id="8" name="list-01:desc"/>
          <p:cNvSpPr txBox="1"/>
          <p:nvPr/>
        </p:nvSpPr>
        <p:spPr>
          <a:xfrm>
            <a:off x="936000" y="2328019"/>
            <a:ext cx="10788120" cy="29398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400" b="0" spc="-40">
                <a:solidFill>
                  <a:srgbClr val="6B7280"/>
                </a:solidFill>
              </a:rPr>
              <a:t>새로 찾은 상태 3개는 면역염색으로 확인하지 않았다</a:t>
            </a:r>
          </a:p>
        </p:txBody>
      </p:sp>
      <p:cxnSp>
        <p:nvCxnSpPr>
          <p:cNvPr id="9" name="list-01:line"/>
          <p:cNvCxnSpPr/>
          <p:nvPr/>
        </p:nvCxnSpPr>
        <p:spPr>
          <a:xfrm>
            <a:off x="468000" y="4305126"/>
            <a:ext cx="1125612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list-01:marker"/>
          <p:cNvSpPr/>
          <p:nvPr/>
        </p:nvSpPr>
        <p:spPr>
          <a:xfrm>
            <a:off x="468000" y="3325573"/>
            <a:ext cx="288000" cy="288000"/>
          </a:xfrm>
          <a:prstGeom prst="rect">
            <a:avLst/>
          </a:prstGeom>
          <a:solidFill>
            <a:srgbClr val="B028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 spc="-4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1" name="list-01:title"/>
          <p:cNvSpPr txBox="1"/>
          <p:nvPr/>
        </p:nvSpPr>
        <p:spPr>
          <a:xfrm>
            <a:off x="936000" y="3324000"/>
            <a:ext cx="10788120" cy="291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해상도</a:t>
            </a:r>
          </a:p>
        </p:txBody>
      </p:sp>
      <p:sp>
        <p:nvSpPr>
          <p:cNvPr id="12" name="list-01:desc"/>
          <p:cNvSpPr txBox="1"/>
          <p:nvPr/>
        </p:nvSpPr>
        <p:spPr>
          <a:xfrm>
            <a:off x="936000" y="3669145"/>
            <a:ext cx="10788120" cy="29398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400" b="0" spc="-40">
                <a:solidFill>
                  <a:srgbClr val="6B7280"/>
                </a:solidFill>
              </a:rPr>
              <a:t>Visium HD 처럼 작은 스팟에서는 시험하지 않았다</a:t>
            </a:r>
          </a:p>
        </p:txBody>
      </p:sp>
      <p:sp>
        <p:nvSpPr>
          <p:cNvPr id="13" name="list-01:marker"/>
          <p:cNvSpPr/>
          <p:nvPr/>
        </p:nvSpPr>
        <p:spPr>
          <a:xfrm>
            <a:off x="468000" y="4666699"/>
            <a:ext cx="288000" cy="288000"/>
          </a:xfrm>
          <a:prstGeom prst="rect">
            <a:avLst/>
          </a:prstGeom>
          <a:solidFill>
            <a:srgbClr val="B028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 spc="-4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4" name="list-01:title"/>
          <p:cNvSpPr txBox="1"/>
          <p:nvPr/>
        </p:nvSpPr>
        <p:spPr>
          <a:xfrm>
            <a:off x="936000" y="4665126"/>
            <a:ext cx="10788120" cy="291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계산 비용</a:t>
            </a:r>
          </a:p>
        </p:txBody>
      </p:sp>
      <p:sp>
        <p:nvSpPr>
          <p:cNvPr id="15" name="list-01:desc"/>
          <p:cNvSpPr txBox="1"/>
          <p:nvPr/>
        </p:nvSpPr>
        <p:spPr>
          <a:xfrm>
            <a:off x="936000" y="5010271"/>
            <a:ext cx="10788120" cy="29398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400" b="0" spc="-40">
                <a:solidFill>
                  <a:srgbClr val="6B7280"/>
                </a:solidFill>
              </a:rPr>
              <a:t>스팟 2만 개를 넘으면 메모리가 64GB 넘게 든다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8</a:t>
            </a:fld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우리 연구와 연결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우리 대장암 Visium 데이터에 먼저 써 볼 만해요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5"/>
          </p:nvPr>
        </p:nvSpPr>
        <p:spPr>
          <a:xfrm>
            <a:off x="468000" y="2484404"/>
            <a:ext cx="5448060" cy="360000"/>
          </a:xfrm>
        </p:spPr>
        <p:txBody>
          <a:bodyPr/>
          <a:lstStyle/>
          <a:p>
            <a:r>
              <a:t>가져올 점</a:t>
            </a:r>
            <a:r>
              <a:rPr sz="1300" b="0" spc="-40">
                <a:solidFill>
                  <a:srgbClr val="B0283C"/>
                </a:solidFill>
                <a:latin typeface="Pretendard Medium"/>
                <a:ea typeface="Pretendard Medium"/>
                <a:cs typeface="Pretendard Medium"/>
              </a:rPr>
              <a:t>   우리 데이터에 바로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idx="16"/>
          </p:nvPr>
        </p:nvSpPr>
        <p:spPr>
          <a:xfrm>
            <a:off x="468000" y="3060404"/>
            <a:ext cx="5448060" cy="3329596"/>
          </a:xfrm>
        </p:spPr>
        <p:txBody>
          <a:bodyPr/>
          <a:lstStyle/>
          <a:p>
            <a:pPr>
              <a:lnSpc>
                <a:spcPct val="135000"/>
              </a:lnSpc>
              <a:spcBef>
                <a:spcPts val="1000"/>
              </a:spcBef>
            </a:pPr>
            <a:r>
              <a:rPr sz="1400" spc="-40">
                <a:solidFill>
                  <a:srgbClr val="262B33"/>
                </a:solidFill>
              </a:rPr>
              <a:t>경계부 스팟을 상태로 나누기</a:t>
            </a:r>
          </a:p>
          <a:p>
            <a:pPr>
              <a:lnSpc>
                <a:spcPct val="135000"/>
              </a:lnSpc>
              <a:spcBef>
                <a:spcPts val="1000"/>
              </a:spcBef>
            </a:pPr>
            <a:r>
              <a:rPr sz="1400" spc="-40">
                <a:solidFill>
                  <a:srgbClr val="262B33"/>
                </a:solidFill>
              </a:rPr>
              <a:t>참조 없는 섹션 3·4 에 시험</a:t>
            </a:r>
          </a:p>
          <a:p>
            <a:pPr>
              <a:lnSpc>
                <a:spcPct val="135000"/>
              </a:lnSpc>
              <a:spcBef>
                <a:spcPts val="1000"/>
              </a:spcBef>
            </a:pPr>
            <a:r>
              <a:rPr sz="1400" spc="-40">
                <a:solidFill>
                  <a:srgbClr val="262B33"/>
                </a:solidFill>
              </a:rPr>
              <a:t>이웃 그래프는 그대로 재사용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idx="17"/>
          </p:nvPr>
        </p:nvSpPr>
        <p:spPr>
          <a:xfrm>
            <a:off x="6276060" y="2484404"/>
            <a:ext cx="5448060" cy="360000"/>
          </a:xfrm>
        </p:spPr>
        <p:txBody>
          <a:bodyPr/>
          <a:lstStyle/>
          <a:p>
            <a:r>
              <a:t>토론 질문</a:t>
            </a:r>
            <a:r>
              <a:rPr sz="1300" b="0" spc="-40">
                <a:solidFill>
                  <a:srgbClr val="B0283C"/>
                </a:solidFill>
                <a:latin typeface="Pretendard Medium"/>
                <a:ea typeface="Pretendard Medium"/>
                <a:cs typeface="Pretendard Medium"/>
              </a:rPr>
              <a:t>   같이 이야기할 것</a:t>
            </a:r>
          </a:p>
        </p:txBody>
      </p:sp>
      <p:sp>
        <p:nvSpPr>
          <p:cNvPr id="8" name="Content Placeholder 7"/>
          <p:cNvSpPr>
            <a:spLocks noGrp="1"/>
          </p:cNvSpPr>
          <p:nvPr>
            <p:ph idx="18"/>
          </p:nvPr>
        </p:nvSpPr>
        <p:spPr>
          <a:xfrm>
            <a:off x="6276060" y="3060404"/>
            <a:ext cx="5448060" cy="3329596"/>
          </a:xfrm>
        </p:spPr>
        <p:txBody>
          <a:bodyPr/>
          <a:lstStyle/>
          <a:p>
            <a:pPr>
              <a:lnSpc>
                <a:spcPct val="135000"/>
              </a:lnSpc>
              <a:spcBef>
                <a:spcPts val="1000"/>
              </a:spcBef>
            </a:pPr>
            <a:r>
              <a:rPr sz="1400" spc="-40">
                <a:solidFill>
                  <a:srgbClr val="262B33"/>
                </a:solidFill>
              </a:rPr>
              <a:t>새 상태를 어떻게 검증할까?</a:t>
            </a:r>
          </a:p>
          <a:p>
            <a:pPr>
              <a:lnSpc>
                <a:spcPct val="135000"/>
              </a:lnSpc>
              <a:spcBef>
                <a:spcPts val="1000"/>
              </a:spcBef>
            </a:pPr>
            <a:r>
              <a:rPr sz="1400" spc="-40">
                <a:solidFill>
                  <a:srgbClr val="262B33"/>
                </a:solidFill>
              </a:rPr>
              <a:t>스팟 크기가 작아지면 필요할까?</a:t>
            </a:r>
          </a:p>
          <a:p>
            <a:pPr>
              <a:lnSpc>
                <a:spcPct val="135000"/>
              </a:lnSpc>
              <a:spcBef>
                <a:spcPts val="1000"/>
              </a:spcBef>
            </a:pPr>
            <a:r>
              <a:rPr sz="1400" spc="-40">
                <a:solidFill>
                  <a:srgbClr val="262B33"/>
                </a:solidFill>
              </a:rPr>
              <a:t>우리 GPU 서버로 돌릴 수 있을까?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9</a:t>
            </a:fld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HaLab 크림슨 리치 16:9">
  <a:themeElements>
    <a:clrScheme name="HaLab 크림슨 리치 16:9">
      <a:dk1>
        <a:srgbClr val="262B33"/>
      </a:dk1>
      <a:lt1>
        <a:srgbClr val="FFFFFF"/>
      </a:lt1>
      <a:dk2>
        <a:srgbClr val="6B7280"/>
      </a:dk2>
      <a:lt2>
        <a:srgbClr val="FBFBFB"/>
      </a:lt2>
      <a:accent1>
        <a:srgbClr val="B0283C"/>
      </a:accent1>
      <a:accent2>
        <a:srgbClr val="CC7380"/>
      </a:accent2>
      <a:accent3>
        <a:srgbClr val="DFA9B1"/>
      </a:accent3>
      <a:accent4>
        <a:srgbClr val="2E9CCA"/>
      </a:accent4>
      <a:accent5>
        <a:srgbClr val="DFA9B1"/>
      </a:accent5>
      <a:accent6>
        <a:srgbClr val="E2E5EA"/>
      </a:accent6>
      <a:hlink>
        <a:srgbClr val="B0283C"/>
      </a:hlink>
      <a:folHlink>
        <a:srgbClr val="DFA9B1"/>
      </a:folHlink>
    </a:clrScheme>
    <a:fontScheme name="Pretendard">
      <a:majorFont>
        <a:latin typeface="Pretendard"/>
        <a:ea typeface="Pretendard"/>
        <a:cs typeface=""/>
        <a:font script="Hang" typeface="Pretendard"/>
      </a:majorFont>
      <a:minorFont>
        <a:latin typeface="Pretendard"/>
        <a:ea typeface="Pretendard"/>
        <a:cs typeface=""/>
        <a:font script="Hang" typeface="Pretendard"/>
      </a:minorFont>
    </a:fontScheme>
    <a:fmtScheme name="HaLab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9525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>
    <a:spDef>
      <a:spPr>
        <a:solidFill>
          <a:schemeClr val="bg1"/>
        </a:solidFill>
        <a:ln w="9525">
          <a:solidFill>
            <a:schemeClr val="accent6"/>
          </a:solidFill>
        </a:ln>
      </a:spPr>
      <a:bodyPr rtlCol="0" anchor="ctr"/>
      <a:lstStyle>
        <a:defPPr algn="ctr">
          <a:defRPr lang="ko-KR"/>
        </a:defPPr>
      </a:lstStyle>
      <a:style>
        <a:lnRef idx="0">
          <a:schemeClr val="accent6"/>
        </a:lnRef>
        <a:fillRef idx="0">
          <a:schemeClr val="bg1"/>
        </a:fillRef>
        <a:effectRef idx="0">
          <a:schemeClr val="accent1"/>
        </a:effectRef>
        <a:fontRef idx="minor">
          <a:schemeClr val="tx1"/>
        </a:fontRef>
      </a:style>
    </a:spDef>
    <a:lnDef>
      <a:spPr>
        <a:ln w="9525">
          <a:solidFill>
            <a:schemeClr val="tx2"/>
          </a:solidFill>
        </a:ln>
      </a:spPr>
      <a:bodyPr/>
      <a:lstStyle/>
      <a:style>
        <a:lnRef idx="0">
          <a:schemeClr val="tx2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spAutoFit/>
      </a:bodyPr>
      <a:lstStyle>
        <a:defPPr>
          <a:lnSpc>
            <a:spcPct val="120000"/>
          </a:lnSpc>
          <a:defRPr lang="ko-KR" spc="-40"/>
        </a:defPPr>
      </a:lstStyle>
    </a:tx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>
  <Application>Microsoft Office PowerPoint</Application>
  <Slides>0</Slide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title>HaLab 틸 리치 16:9</dc:title>
  <dc:creator>HaLab</dc:creator>
</cp:coreProperties>
</file>