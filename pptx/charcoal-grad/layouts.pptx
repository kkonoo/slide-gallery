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(layouts-d).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(layouts-e).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(layouts-f).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2F343B"/>
              </a:gs>
              <a:gs pos="50000">
                <a:srgbClr val="33496B"/>
              </a:gs>
              <a:gs pos="100000">
                <a:srgbClr val="3F6A92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ADA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ADA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2F343B"/>
              </a:gs>
              <a:gs pos="50000">
                <a:srgbClr val="33496B"/>
              </a:gs>
              <a:gs pos="100000">
                <a:srgbClr val="3F6A92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랩미팅 · Progress report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단일세포 아틀라스로 본 대장암 미세환경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클러스터 주석과 공간 분포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2026. 10. 13.</a:t>
            </a:r>
          </a:p>
          <a:p>
            <a:r>
              <a:t>석사과정 홍길동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목차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II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r>
              <a:t>In the previous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III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IV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r>
              <a:t>V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r>
              <a:t>Next plans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03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4" name="L3:subtitle"/>
          <p:cNvSpPr txBox="1"/>
          <p:nvPr/>
        </p:nvSpPr>
        <p:spPr>
          <a:xfrm>
            <a:off x="1512000" y="3852360"/>
            <a:ext cx="8986666" cy="36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클러스터 주석과 공간 분포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그림 다듬기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알맹이는 코드에서, 보기는 HaLab Plots에서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>
          <a:xfrm>
            <a:off x="468000" y="2124404"/>
            <a:ext cx="5448060" cy="360000"/>
          </a:xfrm>
        </p:spPr>
        <p:txBody>
          <a:bodyPr/>
          <a:lstStyle/>
          <a:p>
            <a:r>
              <a:t>코드에서 정하기</a:t>
            </a:r>
            <a:r>
              <a:rPr sz="1300" b="0" spc="-40">
                <a:solidFill>
                  <a:srgbClr val="2F343B"/>
                </a:solidFill>
                <a:latin typeface="Pretendard Medium"/>
                <a:ea typeface="Pretendard Medium"/>
                <a:cs typeface="Pretendard Medium"/>
              </a:rPr>
              <a:t>   내용이 바뀌는 수정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6"/>
          </p:nvPr>
        </p:nvSpPr>
        <p:spPr>
          <a:xfrm>
            <a:off x="468000" y="2700404"/>
            <a:ext cx="5448060" cy="3689596"/>
          </a:xfrm>
        </p:spPr>
        <p:txBody>
          <a:bodyPr/>
          <a:lstStyle/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어떤 데이터 · 어떤 그래프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축 · 그룹 순서 · 통계 표시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필터 · 정규화 · 계산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/>
          </p:nvPr>
        </p:nvSpPr>
        <p:spPr>
          <a:xfrm>
            <a:off x="6276060" y="2124404"/>
            <a:ext cx="5448060" cy="360000"/>
          </a:xfrm>
        </p:spPr>
        <p:txBody>
          <a:bodyPr/>
          <a:lstStyle/>
          <a:p>
            <a:r>
              <a:t>HaLab Plots에서 다듬기</a:t>
            </a:r>
            <a:r>
              <a:rPr sz="1300" b="0" spc="-40">
                <a:solidFill>
                  <a:srgbClr val="2F343B"/>
                </a:solidFill>
                <a:latin typeface="Pretendard Medium"/>
                <a:ea typeface="Pretendard Medium"/>
                <a:cs typeface="Pretendard Medium"/>
              </a:rPr>
              <a:t>   보기만 바꾸는 수정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8"/>
          </p:nvPr>
        </p:nvSpPr>
        <p:spPr>
          <a:xfrm>
            <a:off x="6276060" y="2700404"/>
            <a:ext cx="5448060" cy="1240787"/>
          </a:xfrm>
        </p:spPr>
        <p:txBody>
          <a:bodyPr/>
          <a:lstStyle/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글씨 크기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점 크기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색 (색맹에 안전한 팔레트)</a:t>
            </a:r>
          </a:p>
        </p:txBody>
      </p:sp>
      <p:sp>
        <p:nvSpPr>
          <p:cNvPr id="9" name="L5:callout"/>
          <p:cNvSpPr/>
          <p:nvPr/>
        </p:nvSpPr>
        <p:spPr>
          <a:xfrm>
            <a:off x="6276060" y="4157191"/>
            <a:ext cx="5448060" cy="864000"/>
          </a:xfrm>
          <a:prstGeom prst="rect">
            <a:avLst/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L5:callout-text"/>
          <p:cNvSpPr txBox="1"/>
          <p:nvPr/>
        </p:nvSpPr>
        <p:spPr>
          <a:xfrm>
            <a:off x="6492060" y="4157191"/>
            <a:ext cx="5016060" cy="86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FFFFFF"/>
                </a:solidFill>
              </a:rPr>
              <a:t>내용이 바뀌는 수정은 꼭 코드에서 해요. 그래야 다시 그려도 같은 그림이 나와요.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감사합니다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단일세포 아틀라스로 본 대장암 미세환경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석사과정 홍길동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랩미팅 · Progress report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단일세포 아틀라스로 본 대장암 미세환경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클러스터 주석과 공간 분포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2026. 10. 13.</a:t>
            </a:r>
          </a:p>
          <a:p>
            <a:r>
              <a:t>석사과정 홍길동</a:t>
            </a:r>
          </a:p>
        </p:txBody>
      </p:sp>
      <p:pic>
        <p:nvPicPr>
          <p:cNvPr id="7" name="L1:logo" descr="logo-uni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6066000"/>
            <a:ext cx="1002375" cy="324000"/>
          </a:xfrm>
          <a:prstGeom prst="rect">
            <a:avLst/>
          </a:prstGeom>
        </p:spPr>
      </p:pic>
      <p:pic>
        <p:nvPicPr>
          <p:cNvPr id="8" name="L1:logo" descr="logo-la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0375" y="6066000"/>
            <a:ext cx="1002375" cy="324000"/>
          </a:xfrm>
          <a:prstGeom prst="rect">
            <a:avLst/>
          </a:prstGeom>
        </p:spPr>
      </p:pic>
      <p:pic>
        <p:nvPicPr>
          <p:cNvPr id="9" name="L1:logo" descr="logo-hos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2750" y="6066000"/>
            <a:ext cx="872775" cy="324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HaLab 차콜 클린 16:9">
  <a:themeElements>
    <a:clrScheme name="HaLab 차콜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2F343B"/>
      </a:accent1>
      <a:accent2>
        <a:srgbClr val="787B80"/>
      </a:accent2>
      <a:accent3>
        <a:srgbClr val="ACAEB1"/>
      </a:accent3>
      <a:accent4>
        <a:srgbClr val="E5484D"/>
      </a:accent4>
      <a:accent5>
        <a:srgbClr val="ACAEB1"/>
      </a:accent5>
      <a:accent6>
        <a:srgbClr val="E2E5EA"/>
      </a:accent6>
      <a:hlink>
        <a:srgbClr val="2F343B"/>
      </a:hlink>
      <a:folHlink>
        <a:srgbClr val="ACAE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