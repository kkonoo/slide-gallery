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F343B"/>
              </a:gs>
              <a:gs pos="50000">
                <a:srgbClr val="33496B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F343B"/>
              </a:gs>
              <a:gs pos="50000">
                <a:srgbClr val="33496B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발현 대기 3주가 전체 일정의 절반을 차지한다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53D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5070060" cy="540000"/>
          </a:xfrm>
          <a:prstGeom prst="rect">
            <a:avLst/>
          </a:prstGeom>
          <a:solidFill>
            <a:srgbClr val="314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408030" y="1908537"/>
            <a:ext cx="288000" cy="288000"/>
          </a:xfrm>
          <a:prstGeom prst="ellipse">
            <a:avLst/>
          </a:prstGeom>
          <a:solidFill>
            <a:srgbClr val="314055"/>
          </a:solidFill>
          <a:ln w="9525">
            <a:solidFill>
              <a:srgbClr val="31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6114060" y="2286537"/>
            <a:ext cx="1678020" cy="540000"/>
          </a:xfrm>
          <a:prstGeom prst="rect">
            <a:avLst/>
          </a:prstGeom>
          <a:solidFill>
            <a:srgbClr val="AE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80007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54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354E71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7810080" y="2286537"/>
            <a:ext cx="522000" cy="540000"/>
          </a:xfrm>
          <a:prstGeom prst="rect">
            <a:avLst/>
          </a:prstGeom>
          <a:solidFill>
            <a:srgbClr val="AFB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791808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75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375579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8350080" y="2286537"/>
            <a:ext cx="3374040" cy="540000"/>
          </a:xfrm>
          <a:prstGeom prst="rect">
            <a:avLst/>
          </a:prstGeom>
          <a:solidFill>
            <a:srgbClr val="B1B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98841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B6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3B6086"/>
                </a:solidFill>
              </a:rPr>
              <a:t>5</a:t>
            </a:r>
          </a:p>
        </p:txBody>
      </p:sp>
      <p:cxnSp>
        <p:nvCxnSpPr>
          <p:cNvPr id="15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axis"/>
          <p:cNvCxnSpPr/>
          <p:nvPr/>
        </p:nvCxnSpPr>
        <p:spPr>
          <a:xfrm>
            <a:off x="837000" y="2934537"/>
            <a:ext cx="7126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axis"/>
          <p:cNvCxnSpPr/>
          <p:nvPr/>
        </p:nvCxnSpPr>
        <p:spPr>
          <a:xfrm>
            <a:off x="8161080" y="2934537"/>
            <a:ext cx="35630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tick"/>
          <p:cNvCxnSpPr/>
          <p:nvPr/>
        </p:nvCxnSpPr>
        <p:spPr>
          <a:xfrm>
            <a:off x="609606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tick"/>
          <p:cNvCxnSpPr/>
          <p:nvPr/>
        </p:nvCxnSpPr>
        <p:spPr>
          <a:xfrm>
            <a:off x="779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833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25" name="flow-07:break"/>
          <p:cNvSpPr txBox="1"/>
          <p:nvPr/>
        </p:nvSpPr>
        <p:spPr>
          <a:xfrm>
            <a:off x="796308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26" name="flow-07:leader"/>
          <p:cNvCxnSpPr/>
          <p:nvPr/>
        </p:nvCxnSpPr>
        <p:spPr>
          <a:xfrm>
            <a:off x="738000" y="3078537"/>
            <a:ext cx="370492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low-07:label"/>
          <p:cNvSpPr txBox="1"/>
          <p:nvPr/>
        </p:nvSpPr>
        <p:spPr>
          <a:xfrm>
            <a:off x="468000" y="3906537"/>
            <a:ext cx="12809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바이러스 주입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AAV 정위 주입</a:t>
            </a:r>
          </a:p>
        </p:txBody>
      </p:sp>
      <p:cxnSp>
        <p:nvCxnSpPr>
          <p:cNvPr id="28" name="flow-07:leader"/>
          <p:cNvCxnSpPr/>
          <p:nvPr/>
        </p:nvCxnSpPr>
        <p:spPr>
          <a:xfrm>
            <a:off x="3552030" y="2988537"/>
            <a:ext cx="0" cy="864000"/>
          </a:xfrm>
          <a:prstGeom prst="line">
            <a:avLst/>
          </a:prstGeom>
          <a:ln w="9525">
            <a:solidFill>
              <a:srgbClr val="3140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label"/>
          <p:cNvSpPr txBox="1"/>
          <p:nvPr/>
        </p:nvSpPr>
        <p:spPr>
          <a:xfrm>
            <a:off x="2889438" y="3906537"/>
            <a:ext cx="13251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314055"/>
                </a:solidFill>
              </a:rPr>
              <a:t>발현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314055"/>
                </a:solidFill>
              </a:rPr>
              <a:t>3주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회복 · 발현 안정화</a:t>
            </a:r>
          </a:p>
        </p:txBody>
      </p:sp>
      <p:cxnSp>
        <p:nvCxnSpPr>
          <p:cNvPr id="30" name="flow-07:leader"/>
          <p:cNvCxnSpPr/>
          <p:nvPr/>
        </p:nvCxnSpPr>
        <p:spPr>
          <a:xfrm flipH="1">
            <a:off x="6849891" y="2988537"/>
            <a:ext cx="94179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low-07:label"/>
          <p:cNvSpPr txBox="1"/>
          <p:nvPr/>
        </p:nvSpPr>
        <p:spPr>
          <a:xfrm>
            <a:off x="6229476" y="3906537"/>
            <a:ext cx="124083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행동 실험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광유전 자극 5회</a:t>
            </a:r>
          </a:p>
        </p:txBody>
      </p:sp>
      <p:cxnSp>
        <p:nvCxnSpPr>
          <p:cNvPr id="32" name="flow-07:leader"/>
          <p:cNvCxnSpPr/>
          <p:nvPr/>
        </p:nvCxnSpPr>
        <p:spPr>
          <a:xfrm>
            <a:off x="8062080" y="3078537"/>
            <a:ext cx="94179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low-07:label"/>
          <p:cNvSpPr txBox="1"/>
          <p:nvPr/>
        </p:nvSpPr>
        <p:spPr>
          <a:xfrm>
            <a:off x="7686306" y="3906537"/>
            <a:ext cx="939906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조직 채취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핵 분리</a:t>
            </a:r>
          </a:p>
        </p:txBody>
      </p:sp>
      <p:cxnSp>
        <p:nvCxnSpPr>
          <p:cNvPr id="34" name="flow-07:leader"/>
          <p:cNvCxnSpPr/>
          <p:nvPr/>
        </p:nvCxnSpPr>
        <p:spPr>
          <a:xfrm>
            <a:off x="10028100" y="2988537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low-07:label"/>
          <p:cNvSpPr txBox="1"/>
          <p:nvPr/>
        </p:nvSpPr>
        <p:spPr>
          <a:xfrm>
            <a:off x="9314882" y="3906537"/>
            <a:ext cx="142643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snRNA-seq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라이브러리 · 시퀀싱</a:t>
            </a:r>
          </a:p>
        </p:txBody>
      </p:sp>
      <p:cxnSp>
        <p:nvCxnSpPr>
          <p:cNvPr id="36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전체 약 6주. 발현 대기 중에 행동 장비 보정을 끝내 둔다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임상 검체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검체 처리는 수령 후 2주 안에 끝난다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602702"/>
            <a:ext cx="1608017" cy="540000"/>
          </a:xfrm>
          <a:prstGeom prst="rect">
            <a:avLst/>
          </a:prstGeom>
          <a:solidFill>
            <a:srgbClr val="ACA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1128009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03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303742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2094017" y="2602702"/>
            <a:ext cx="2394026" cy="540000"/>
          </a:xfrm>
          <a:prstGeom prst="rect">
            <a:avLst/>
          </a:prstGeom>
          <a:solidFill>
            <a:srgbClr val="ADB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138030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13E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313E53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506043" y="2602702"/>
            <a:ext cx="5610060" cy="540000"/>
          </a:xfrm>
          <a:prstGeom prst="rect">
            <a:avLst/>
          </a:prstGeom>
          <a:solidFill>
            <a:srgbClr val="365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7158073" y="2224702"/>
            <a:ext cx="288000" cy="288000"/>
          </a:xfrm>
          <a:prstGeom prst="ellipse">
            <a:avLst/>
          </a:prstGeom>
          <a:solidFill>
            <a:srgbClr val="365073"/>
          </a:solidFill>
          <a:ln w="9525">
            <a:solidFill>
              <a:srgbClr val="3650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34103" y="2602702"/>
            <a:ext cx="1590017" cy="540000"/>
          </a:xfrm>
          <a:prstGeom prst="rect">
            <a:avLst/>
          </a:prstGeom>
          <a:solidFill>
            <a:srgbClr val="B1C1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776111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D65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3D658C"/>
                </a:solidFill>
              </a:rPr>
              <a:t>4</a:t>
            </a:r>
          </a:p>
        </p:txBody>
      </p:sp>
      <p:cxnSp>
        <p:nvCxnSpPr>
          <p:cNvPr id="13" name="flow-07:axis"/>
          <p:cNvCxnSpPr/>
          <p:nvPr/>
        </p:nvCxnSpPr>
        <p:spPr>
          <a:xfrm>
            <a:off x="468000" y="3250702"/>
            <a:ext cx="11256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flow-07:tick"/>
          <p:cNvCxnSpPr/>
          <p:nvPr/>
        </p:nvCxnSpPr>
        <p:spPr>
          <a:xfrm>
            <a:off x="46800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flow-07:tick"/>
          <p:cNvCxnSpPr/>
          <p:nvPr/>
        </p:nvCxnSpPr>
        <p:spPr>
          <a:xfrm>
            <a:off x="2076017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tick"/>
          <p:cNvCxnSpPr/>
          <p:nvPr/>
        </p:nvCxnSpPr>
        <p:spPr>
          <a:xfrm>
            <a:off x="448804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tick"/>
          <p:cNvCxnSpPr/>
          <p:nvPr/>
        </p:nvCxnSpPr>
        <p:spPr>
          <a:xfrm>
            <a:off x="1011610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1172412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leader"/>
          <p:cNvCxnSpPr/>
          <p:nvPr/>
        </p:nvCxnSpPr>
        <p:spPr>
          <a:xfrm>
            <a:off x="1272009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-07:label"/>
          <p:cNvSpPr txBox="1"/>
          <p:nvPr/>
        </p:nvSpPr>
        <p:spPr>
          <a:xfrm>
            <a:off x="802055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검체 수령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cxnSp>
        <p:nvCxnSpPr>
          <p:cNvPr id="21" name="flow-07:leader"/>
          <p:cNvCxnSpPr/>
          <p:nvPr/>
        </p:nvCxnSpPr>
        <p:spPr>
          <a:xfrm>
            <a:off x="3282030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low-07:label"/>
          <p:cNvSpPr txBox="1"/>
          <p:nvPr/>
        </p:nvSpPr>
        <p:spPr>
          <a:xfrm>
            <a:off x="2774037" y="4222702"/>
            <a:ext cx="101598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DNA 추출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3일</a:t>
            </a:r>
          </a:p>
        </p:txBody>
      </p:sp>
      <p:cxnSp>
        <p:nvCxnSpPr>
          <p:cNvPr id="23" name="flow-07:leader"/>
          <p:cNvCxnSpPr/>
          <p:nvPr/>
        </p:nvCxnSpPr>
        <p:spPr>
          <a:xfrm>
            <a:off x="7302073" y="3304702"/>
            <a:ext cx="0" cy="864000"/>
          </a:xfrm>
          <a:prstGeom prst="line">
            <a:avLst/>
          </a:prstGeom>
          <a:ln w="9525">
            <a:solidFill>
              <a:srgbClr val="365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label"/>
          <p:cNvSpPr txBox="1"/>
          <p:nvPr/>
        </p:nvSpPr>
        <p:spPr>
          <a:xfrm>
            <a:off x="6938265" y="4222702"/>
            <a:ext cx="72761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365073"/>
                </a:solidFill>
              </a:rPr>
              <a:t>시퀀싱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365073"/>
                </a:solidFill>
              </a:rPr>
              <a:t>7일</a:t>
            </a:r>
          </a:p>
        </p:txBody>
      </p:sp>
      <p:cxnSp>
        <p:nvCxnSpPr>
          <p:cNvPr id="25" name="flow-07:leader"/>
          <p:cNvCxnSpPr/>
          <p:nvPr/>
        </p:nvCxnSpPr>
        <p:spPr>
          <a:xfrm>
            <a:off x="10920111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low-07:label"/>
          <p:cNvSpPr txBox="1"/>
          <p:nvPr/>
        </p:nvSpPr>
        <p:spPr>
          <a:xfrm>
            <a:off x="10450158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변이 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배양 실험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약물 처리 48시간이 실험 하루 일정을 정한다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53D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3014040" cy="540000"/>
          </a:xfrm>
          <a:prstGeom prst="rect">
            <a:avLst/>
          </a:prstGeom>
          <a:solidFill>
            <a:srgbClr val="ACB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23800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03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303C4D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058040" y="2286537"/>
            <a:ext cx="6046080" cy="540000"/>
          </a:xfrm>
          <a:prstGeom prst="rect">
            <a:avLst/>
          </a:prstGeom>
          <a:solidFill>
            <a:srgbClr val="35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928080" y="1908537"/>
            <a:ext cx="288000" cy="288000"/>
          </a:xfrm>
          <a:prstGeom prst="ellipse">
            <a:avLst/>
          </a:prstGeom>
          <a:solidFill>
            <a:srgbClr val="354F72"/>
          </a:solidFill>
          <a:ln w="9525">
            <a:solidFill>
              <a:srgbClr val="35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22120" y="2286537"/>
            <a:ext cx="522000" cy="540000"/>
          </a:xfrm>
          <a:prstGeom prst="rect">
            <a:avLst/>
          </a:prstGeom>
          <a:solidFill>
            <a:srgbClr val="B1C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23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C62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3C6289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10662120" y="2286537"/>
            <a:ext cx="522000" cy="540000"/>
          </a:xfrm>
          <a:prstGeom prst="rect">
            <a:avLst/>
          </a:prstGeom>
          <a:solidFill>
            <a:srgbClr val="B1C1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1077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D65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3D658C"/>
                </a:solidFill>
              </a:rPr>
              <a:t>5</a:t>
            </a:r>
          </a:p>
        </p:txBody>
      </p:sp>
      <p:sp>
        <p:nvSpPr>
          <p:cNvPr id="15" name="flow-07:bar"/>
          <p:cNvSpPr/>
          <p:nvPr/>
        </p:nvSpPr>
        <p:spPr>
          <a:xfrm>
            <a:off x="11202120" y="2286537"/>
            <a:ext cx="522000" cy="540000"/>
          </a:xfrm>
          <a:prstGeom prst="rect">
            <a:avLst/>
          </a:prstGeom>
          <a:solidFill>
            <a:srgbClr val="B2C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7:marker"/>
          <p:cNvSpPr/>
          <p:nvPr/>
        </p:nvSpPr>
        <p:spPr>
          <a:xfrm>
            <a:off x="1131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E6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3E6890"/>
                </a:solidFill>
              </a:rPr>
              <a:t>6</a:t>
            </a:r>
          </a:p>
        </p:txBody>
      </p:sp>
      <p:cxnSp>
        <p:nvCxnSpPr>
          <p:cNvPr id="17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axis"/>
          <p:cNvCxnSpPr/>
          <p:nvPr/>
        </p:nvCxnSpPr>
        <p:spPr>
          <a:xfrm>
            <a:off x="837000" y="2934537"/>
            <a:ext cx="9438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axis"/>
          <p:cNvCxnSpPr/>
          <p:nvPr/>
        </p:nvCxnSpPr>
        <p:spPr>
          <a:xfrm>
            <a:off x="1047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axis"/>
          <p:cNvCxnSpPr/>
          <p:nvPr/>
        </p:nvCxnSpPr>
        <p:spPr>
          <a:xfrm>
            <a:off x="1101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axis"/>
          <p:cNvCxnSpPr/>
          <p:nvPr/>
        </p:nvCxnSpPr>
        <p:spPr>
          <a:xfrm>
            <a:off x="1155312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7:tick"/>
          <p:cNvCxnSpPr/>
          <p:nvPr/>
        </p:nvCxnSpPr>
        <p:spPr>
          <a:xfrm>
            <a:off x="404004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7:tick"/>
          <p:cNvCxnSpPr/>
          <p:nvPr/>
        </p:nvCxnSpPr>
        <p:spPr>
          <a:xfrm>
            <a:off x="1010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7:tick"/>
          <p:cNvCxnSpPr/>
          <p:nvPr/>
        </p:nvCxnSpPr>
        <p:spPr>
          <a:xfrm>
            <a:off x="1064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7:tick"/>
          <p:cNvCxnSpPr/>
          <p:nvPr/>
        </p:nvCxnSpPr>
        <p:spPr>
          <a:xfrm>
            <a:off x="1118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0" name="flow-07:break"/>
          <p:cNvSpPr txBox="1"/>
          <p:nvPr/>
        </p:nvSpPr>
        <p:spPr>
          <a:xfrm>
            <a:off x="1027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1" name="flow-07:break"/>
          <p:cNvSpPr txBox="1"/>
          <p:nvPr/>
        </p:nvSpPr>
        <p:spPr>
          <a:xfrm>
            <a:off x="1081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2" name="flow-07:break"/>
          <p:cNvSpPr txBox="1"/>
          <p:nvPr/>
        </p:nvSpPr>
        <p:spPr>
          <a:xfrm>
            <a:off x="1135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33" name="flow-07:leader"/>
          <p:cNvCxnSpPr/>
          <p:nvPr/>
        </p:nvCxnSpPr>
        <p:spPr>
          <a:xfrm>
            <a:off x="738000" y="3078537"/>
            <a:ext cx="43601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low-07:label"/>
          <p:cNvSpPr txBox="1"/>
          <p:nvPr/>
        </p:nvSpPr>
        <p:spPr>
          <a:xfrm>
            <a:off x="468000" y="3906537"/>
            <a:ext cx="141202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분주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96웰 · 웰당 1만 개</a:t>
            </a:r>
          </a:p>
        </p:txBody>
      </p:sp>
      <p:cxnSp>
        <p:nvCxnSpPr>
          <p:cNvPr id="35" name="flow-07:leader"/>
          <p:cNvCxnSpPr/>
          <p:nvPr/>
        </p:nvCxnSpPr>
        <p:spPr>
          <a:xfrm>
            <a:off x="2524020" y="2988537"/>
            <a:ext cx="85051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low-07:label"/>
          <p:cNvSpPr txBox="1"/>
          <p:nvPr/>
        </p:nvSpPr>
        <p:spPr>
          <a:xfrm>
            <a:off x="2096021" y="3906537"/>
            <a:ext cx="102610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부착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24시간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37℃ 배양기</a:t>
            </a:r>
          </a:p>
        </p:txBody>
      </p:sp>
      <p:cxnSp>
        <p:nvCxnSpPr>
          <p:cNvPr id="37" name="flow-07:leader"/>
          <p:cNvCxnSpPr/>
          <p:nvPr/>
        </p:nvCxnSpPr>
        <p:spPr>
          <a:xfrm>
            <a:off x="7072080" y="2988537"/>
            <a:ext cx="0" cy="864000"/>
          </a:xfrm>
          <a:prstGeom prst="line">
            <a:avLst/>
          </a:prstGeom>
          <a:ln w="9525">
            <a:solidFill>
              <a:srgbClr val="354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low-07:label"/>
          <p:cNvSpPr txBox="1"/>
          <p:nvPr/>
        </p:nvSpPr>
        <p:spPr>
          <a:xfrm>
            <a:off x="6418147" y="3906537"/>
            <a:ext cx="130786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354F72"/>
                </a:solidFill>
              </a:rPr>
              <a:t>약물 처리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354F72"/>
                </a:solidFill>
              </a:rPr>
              <a:t>48시간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8개 농도 · 3반복</a:t>
            </a:r>
          </a:p>
        </p:txBody>
      </p:sp>
      <p:cxnSp>
        <p:nvCxnSpPr>
          <p:cNvPr id="39" name="flow-07:leader"/>
          <p:cNvCxnSpPr/>
          <p:nvPr/>
        </p:nvCxnSpPr>
        <p:spPr>
          <a:xfrm flipH="1">
            <a:off x="8594799" y="3078537"/>
            <a:ext cx="177932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low-07:label"/>
          <p:cNvSpPr txBox="1"/>
          <p:nvPr/>
        </p:nvSpPr>
        <p:spPr>
          <a:xfrm>
            <a:off x="8193861" y="3906537"/>
            <a:ext cx="80187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세척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0.5시간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PBS 2회</a:t>
            </a:r>
          </a:p>
        </p:txBody>
      </p:sp>
      <p:cxnSp>
        <p:nvCxnSpPr>
          <p:cNvPr id="41" name="flow-07:leader"/>
          <p:cNvCxnSpPr/>
          <p:nvPr/>
        </p:nvCxnSpPr>
        <p:spPr>
          <a:xfrm flipH="1">
            <a:off x="9774689" y="3078537"/>
            <a:ext cx="113943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low-07:label"/>
          <p:cNvSpPr txBox="1"/>
          <p:nvPr/>
        </p:nvSpPr>
        <p:spPr>
          <a:xfrm>
            <a:off x="9211738" y="3906537"/>
            <a:ext cx="1125902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생존율 측정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CCK-8 흡광도</a:t>
            </a:r>
          </a:p>
        </p:txBody>
      </p:sp>
      <p:cxnSp>
        <p:nvCxnSpPr>
          <p:cNvPr id="43" name="flow-07:leader"/>
          <p:cNvCxnSpPr/>
          <p:nvPr/>
        </p:nvCxnSpPr>
        <p:spPr>
          <a:xfrm flipH="1">
            <a:off x="11138880" y="3078537"/>
            <a:ext cx="31524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low-07:label"/>
          <p:cNvSpPr txBox="1"/>
          <p:nvPr/>
        </p:nvSpPr>
        <p:spPr>
          <a:xfrm>
            <a:off x="10553640" y="3906537"/>
            <a:ext cx="117048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IC50 곡선 맞춤</a:t>
            </a:r>
          </a:p>
        </p:txBody>
      </p:sp>
      <p:cxnSp>
        <p:nvCxnSpPr>
          <p:cNvPr id="45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처리 시작을 월요일 오전에 맞추면 수요일 오후에 측정할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