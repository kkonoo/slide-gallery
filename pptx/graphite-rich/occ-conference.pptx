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CD8 점수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2"/>
            <c:spPr>
              <a:solidFill>
                <a:srgbClr val="4A4F57"/>
              </a:solidFill>
            </c:spPr>
          </c:dPt>
          <c:dLbls>
            <c:dLbl>
              <c:idx val="2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4A4F57"/>
                        </a:solidFill>
                        <a:latin typeface="Pretendard"/>
                      </a:rPr>
                      <a:t>3.2배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정상</c:v>
                </c:pt>
                <c:pt idx="1">
                  <c:v>종양 안쪽</c:v>
                </c:pt>
                <c:pt idx="2">
                  <c:v>경계부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0.8</c:v>
                </c:pt>
                <c:pt idx="1">
                  <c:v>1.0</c:v>
                </c:pt>
                <c:pt idx="2">
                  <c:v>3.2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상대 점수 (종양 안쪽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섬유아세포 신호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0"/>
            <c:spPr>
              <a:solidFill>
                <a:srgbClr val="4A4F57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4A4F57"/>
                        </a:solidFill>
                        <a:latin typeface="Pretendard"/>
                      </a:rPr>
                      <a:t>0.4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반응군 (n = 6)</c:v>
                </c:pt>
                <c:pt idx="1">
                  <c:v>비반응군 (n = 9)</c:v>
                </c:pt>
              </c:strCache>
            </c:strRef>
          </c:cat>
          <c:val>
            <c:numRef>
              <c:f>Sheet1!$B$2:$B$3</c:f>
              <c:numCache>
                <c:formatCode>0.0</c:formatCode>
                <c:ptCount val="2"/>
                <c:pt idx="0">
                  <c:v>0.4</c:v>
                </c:pt>
                <c:pt idx="1">
                  <c:v>1.0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경계부 섬유아세포 신호 (비반응군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4A4F57"/>
            </a:gs>
            <a:gs pos="100000">
              <a:srgbClr val="666D78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4A4F57"/>
            </a:gs>
            <a:gs pos="100000">
              <a:srgbClr val="666D78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4A4F57"/>
            </a:gs>
            <a:gs pos="100000">
              <a:srgbClr val="666D78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2026 한국유전체학회 · 구두 발표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경계부 면역 틈새가 면역항암 반응을 가른다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공간전사체 4개 절편 분석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2026. 11. 6.</a:t>
            </a:r>
          </a:p>
          <a:p>
            <a:r>
              <a:t>HaLab 발표자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왜 중요한가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면역항암제는 대장암 환자 10명 중 1명에게만 들어요</a:t>
            </a:r>
          </a:p>
        </p:txBody>
      </p:sp>
      <p:sp>
        <p:nvSpPr>
          <p:cNvPr id="5" name="data-01:rule"/>
          <p:cNvSpPr/>
          <p:nvPr/>
        </p:nvSpPr>
        <p:spPr>
          <a:xfrm>
            <a:off x="468000" y="2043710"/>
            <a:ext cx="5520060" cy="36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data-01:value"/>
          <p:cNvSpPr txBox="1"/>
          <p:nvPr/>
        </p:nvSpPr>
        <p:spPr>
          <a:xfrm>
            <a:off x="468000" y="2259710"/>
            <a:ext cx="1058112" cy="1091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0" b="1" spc="-40">
                <a:solidFill>
                  <a:srgbClr val="4A4F57"/>
                </a:solidFill>
              </a:rPr>
              <a:t>10</a:t>
            </a:r>
          </a:p>
        </p:txBody>
      </p:sp>
      <p:sp>
        <p:nvSpPr>
          <p:cNvPr id="7" name="data-01:unit"/>
          <p:cNvSpPr txBox="1"/>
          <p:nvPr/>
        </p:nvSpPr>
        <p:spPr>
          <a:xfrm>
            <a:off x="1569312" y="2912591"/>
            <a:ext cx="235410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4A4F57"/>
                </a:solidFill>
                <a:latin typeface="Pretendard Medium"/>
                <a:ea typeface="Pretendard Medium"/>
                <a:cs typeface="Pretendard Medium"/>
              </a:rPr>
              <a:t>%</a:t>
            </a:r>
          </a:p>
        </p:txBody>
      </p:sp>
      <p:sp>
        <p:nvSpPr>
          <p:cNvPr id="8" name="data-01:label"/>
          <p:cNvSpPr txBox="1"/>
          <p:nvPr/>
        </p:nvSpPr>
        <p:spPr>
          <a:xfrm>
            <a:off x="468000" y="3423503"/>
            <a:ext cx="5448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면역항암제 반응률</a:t>
            </a:r>
          </a:p>
        </p:txBody>
      </p:sp>
      <p:sp>
        <p:nvSpPr>
          <p:cNvPr id="9" name="data-01:desc"/>
          <p:cNvSpPr txBox="1"/>
          <p:nvPr/>
        </p:nvSpPr>
        <p:spPr>
          <a:xfrm>
            <a:off x="468000" y="3757848"/>
            <a:ext cx="54480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전이성 대장암 (예시 수치)</a:t>
            </a:r>
          </a:p>
        </p:txBody>
      </p:sp>
      <p:cxnSp>
        <p:nvCxnSpPr>
          <p:cNvPr id="10" name="data-01:rule"/>
          <p:cNvCxnSpPr/>
          <p:nvPr/>
        </p:nvCxnSpPr>
        <p:spPr>
          <a:xfrm>
            <a:off x="6204060" y="206171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a-01:value"/>
          <p:cNvSpPr txBox="1"/>
          <p:nvPr/>
        </p:nvSpPr>
        <p:spPr>
          <a:xfrm>
            <a:off x="6204060" y="2259710"/>
            <a:ext cx="1217060" cy="1091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0" b="1" spc="-40">
                <a:solidFill>
                  <a:srgbClr val="262B33"/>
                </a:solidFill>
              </a:rPr>
              <a:t>90</a:t>
            </a:r>
          </a:p>
        </p:txBody>
      </p:sp>
      <p:sp>
        <p:nvSpPr>
          <p:cNvPr id="12" name="data-01:unit"/>
          <p:cNvSpPr txBox="1"/>
          <p:nvPr/>
        </p:nvSpPr>
        <p:spPr>
          <a:xfrm>
            <a:off x="7464320" y="2912591"/>
            <a:ext cx="235410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%</a:t>
            </a:r>
          </a:p>
        </p:txBody>
      </p:sp>
      <p:sp>
        <p:nvSpPr>
          <p:cNvPr id="13" name="data-01:label"/>
          <p:cNvSpPr txBox="1"/>
          <p:nvPr/>
        </p:nvSpPr>
        <p:spPr>
          <a:xfrm>
            <a:off x="6204060" y="3423503"/>
            <a:ext cx="5448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반응하지 않는 환자</a:t>
            </a:r>
          </a:p>
        </p:txBody>
      </p:sp>
      <p:sp>
        <p:nvSpPr>
          <p:cNvPr id="14" name="data-01:desc"/>
          <p:cNvSpPr txBox="1"/>
          <p:nvPr/>
        </p:nvSpPr>
        <p:spPr>
          <a:xfrm>
            <a:off x="6204060" y="3757848"/>
            <a:ext cx="54480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MSI 검사로는 절반만 가려냄</a:t>
            </a:r>
          </a:p>
        </p:txBody>
      </p:sp>
      <p:cxnSp>
        <p:nvCxnSpPr>
          <p:cNvPr id="15" name="conclusion:line"/>
          <p:cNvCxnSpPr/>
          <p:nvPr/>
        </p:nvCxnSpPr>
        <p:spPr>
          <a:xfrm>
            <a:off x="468000" y="4679985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nclusion:text"/>
          <p:cNvSpPr txBox="1"/>
          <p:nvPr/>
        </p:nvSpPr>
        <p:spPr>
          <a:xfrm>
            <a:off x="468000" y="4877985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나머지 90%는 </a:t>
            </a:r>
            <a:r>
              <a:rPr sz="1400" b="1" spc="-40">
                <a:solidFill>
                  <a:srgbClr val="262B33"/>
                </a:solidFill>
              </a:rPr>
              <a:t>왜</a:t>
            </a:r>
            <a:r>
              <a:rPr sz="1400" b="0" spc="-40">
                <a:solidFill>
                  <a:srgbClr val="6B7280"/>
                </a:solidFill>
              </a:rPr>
              <a:t> 반응하지 않을까?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가설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섬유아세포 장벽이 T세포가 종양 안으로 들어가는 걸 막아요</a:t>
            </a:r>
          </a:p>
        </p:txBody>
      </p:sp>
      <p:cxnSp>
        <p:nvCxnSpPr>
          <p:cNvPr id="5" name="res-05:edge"/>
          <p:cNvCxnSpPr/>
          <p:nvPr/>
        </p:nvCxnSpPr>
        <p:spPr>
          <a:xfrm>
            <a:off x="2464461" y="2922938"/>
            <a:ext cx="1070892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res-05:edge"/>
          <p:cNvCxnSpPr/>
          <p:nvPr/>
        </p:nvCxnSpPr>
        <p:spPr>
          <a:xfrm>
            <a:off x="5560614" y="2922938"/>
            <a:ext cx="1070892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res-05:edge"/>
          <p:cNvCxnSpPr/>
          <p:nvPr/>
        </p:nvCxnSpPr>
        <p:spPr>
          <a:xfrm>
            <a:off x="8656767" y="2922938"/>
            <a:ext cx="1070892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s-05:node"/>
          <p:cNvSpPr/>
          <p:nvPr/>
        </p:nvSpPr>
        <p:spPr>
          <a:xfrm>
            <a:off x="468000" y="2545552"/>
            <a:ext cx="1967661" cy="7547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s-05:node-text"/>
          <p:cNvSpPr txBox="1"/>
          <p:nvPr/>
        </p:nvSpPr>
        <p:spPr>
          <a:xfrm>
            <a:off x="655200" y="2545552"/>
            <a:ext cx="159326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TGF-β 신호</a:t>
            </a:r>
          </a:p>
        </p:txBody>
      </p:sp>
      <p:sp>
        <p:nvSpPr>
          <p:cNvPr id="10" name="res-05:node"/>
          <p:cNvSpPr/>
          <p:nvPr/>
        </p:nvSpPr>
        <p:spPr>
          <a:xfrm>
            <a:off x="3564153" y="2312963"/>
            <a:ext cx="1967661" cy="1219950"/>
          </a:xfrm>
          <a:prstGeom prst="ellipse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s-05:node-text"/>
          <p:cNvSpPr txBox="1"/>
          <p:nvPr/>
        </p:nvSpPr>
        <p:spPr>
          <a:xfrm>
            <a:off x="3859302" y="2312963"/>
            <a:ext cx="1377363" cy="12199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FFFFFF"/>
                </a:solidFill>
              </a:rPr>
              <a:t>경계부 섬유아세포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이번 연구</a:t>
            </a:r>
          </a:p>
        </p:txBody>
      </p:sp>
      <p:sp>
        <p:nvSpPr>
          <p:cNvPr id="12" name="res-05:node"/>
          <p:cNvSpPr/>
          <p:nvPr/>
        </p:nvSpPr>
        <p:spPr>
          <a:xfrm>
            <a:off x="6660306" y="2545552"/>
            <a:ext cx="1967661" cy="754773"/>
          </a:xfrm>
          <a:prstGeom prst="roundRect">
            <a:avLst>
              <a:gd name="adj" fmla="val 50000"/>
            </a:avLst>
          </a:prstGeom>
          <a:solidFill>
            <a:srgbClr val="DE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s-05:node-text"/>
          <p:cNvSpPr txBox="1"/>
          <p:nvPr/>
        </p:nvSpPr>
        <p:spPr>
          <a:xfrm>
            <a:off x="6847506" y="2545552"/>
            <a:ext cx="159326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콜라겐 장벽</a:t>
            </a:r>
          </a:p>
        </p:txBody>
      </p:sp>
      <p:sp>
        <p:nvSpPr>
          <p:cNvPr id="14" name="res-05:node"/>
          <p:cNvSpPr/>
          <p:nvPr/>
        </p:nvSpPr>
        <p:spPr>
          <a:xfrm>
            <a:off x="9756459" y="2545552"/>
            <a:ext cx="1967661" cy="7547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5:node-text"/>
          <p:cNvSpPr txBox="1"/>
          <p:nvPr/>
        </p:nvSpPr>
        <p:spPr>
          <a:xfrm>
            <a:off x="9943659" y="2545552"/>
            <a:ext cx="159326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T세포 침투 실패</a:t>
            </a:r>
          </a:p>
        </p:txBody>
      </p:sp>
      <p:cxnSp>
        <p:nvCxnSpPr>
          <p:cNvPr id="16" name="res-05:legend"/>
          <p:cNvCxnSpPr/>
          <p:nvPr/>
        </p:nvCxnSpPr>
        <p:spPr>
          <a:xfrm>
            <a:off x="9063673" y="3834496"/>
            <a:ext cx="4212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s-05:legend-text"/>
          <p:cNvSpPr txBox="1"/>
          <p:nvPr/>
        </p:nvSpPr>
        <p:spPr>
          <a:xfrm>
            <a:off x="9578473" y="3743513"/>
            <a:ext cx="738340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알려진 경로</a:t>
            </a:r>
          </a:p>
        </p:txBody>
      </p:sp>
      <p:cxnSp>
        <p:nvCxnSpPr>
          <p:cNvPr id="18" name="res-05:legend"/>
          <p:cNvCxnSpPr/>
          <p:nvPr/>
        </p:nvCxnSpPr>
        <p:spPr>
          <a:xfrm>
            <a:off x="10597614" y="3834496"/>
            <a:ext cx="4212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s-05:legend-text"/>
          <p:cNvSpPr txBox="1"/>
          <p:nvPr/>
        </p:nvSpPr>
        <p:spPr>
          <a:xfrm>
            <a:off x="11112414" y="3743513"/>
            <a:ext cx="611706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가설 경로</a:t>
            </a:r>
          </a:p>
        </p:txBody>
      </p:sp>
      <p:cxnSp>
        <p:nvCxnSpPr>
          <p:cNvPr id="20" name="conclusion:line"/>
          <p:cNvCxnSpPr/>
          <p:nvPr/>
        </p:nvCxnSpPr>
        <p:spPr>
          <a:xfrm>
            <a:off x="468000" y="414147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onclusion:text"/>
          <p:cNvSpPr txBox="1"/>
          <p:nvPr/>
        </p:nvSpPr>
        <p:spPr>
          <a:xfrm>
            <a:off x="468000" y="4339479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확인할 것: 장벽을 없애면 CD8 T세포가 종양 안으로 들어가는가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결과 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경계부에 면역세포가 띠처럼 모여 있어요</a:t>
            </a:r>
          </a:p>
        </p:txBody>
      </p:sp>
      <p:pic>
        <p:nvPicPr>
          <p:cNvPr id="5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mark"/>
          <p:cNvSpPr/>
          <p:nvPr/>
        </p:nvSpPr>
        <p:spPr>
          <a:xfrm>
            <a:off x="2776280" y="4387628"/>
            <a:ext cx="252000" cy="252000"/>
          </a:xfrm>
          <a:prstGeom prst="ellipse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img-01:mark"/>
          <p:cNvSpPr/>
          <p:nvPr/>
        </p:nvSpPr>
        <p:spPr>
          <a:xfrm>
            <a:off x="2040335" y="3028960"/>
            <a:ext cx="252000" cy="252000"/>
          </a:xfrm>
          <a:prstGeom prst="ellipse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8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절편 2, 스팟 1,492개, 클러스터 6개 (예시 데이터)</a:t>
            </a:r>
          </a:p>
        </p:txBody>
      </p:sp>
      <p:sp>
        <p:nvSpPr>
          <p:cNvPr id="9" name="list-01:highlight"/>
          <p:cNvSpPr/>
          <p:nvPr/>
        </p:nvSpPr>
        <p:spPr>
          <a:xfrm>
            <a:off x="8044080" y="1584000"/>
            <a:ext cx="3680040" cy="1341126"/>
          </a:xfrm>
          <a:prstGeom prst="rect">
            <a:avLst/>
          </a:prstGeom>
          <a:solidFill>
            <a:srgbClr val="ED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0" name="list-01:line"/>
          <p:cNvCxnSpPr/>
          <p:nvPr/>
        </p:nvCxnSpPr>
        <p:spPr>
          <a:xfrm>
            <a:off x="8044080" y="2925126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marker"/>
          <p:cNvSpPr/>
          <p:nvPr/>
        </p:nvSpPr>
        <p:spPr>
          <a:xfrm>
            <a:off x="8044080" y="1945572"/>
            <a:ext cx="288000" cy="288000"/>
          </a:xfrm>
          <a:prstGeom prst="ellipse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2" name="list-01:title"/>
          <p:cNvSpPr txBox="1"/>
          <p:nvPr/>
        </p:nvSpPr>
        <p:spPr>
          <a:xfrm>
            <a:off x="8512080" y="1944000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경계부</a:t>
            </a:r>
          </a:p>
        </p:txBody>
      </p:sp>
      <p:sp>
        <p:nvSpPr>
          <p:cNvPr id="13" name="list-01:desc"/>
          <p:cNvSpPr txBox="1"/>
          <p:nvPr/>
        </p:nvSpPr>
        <p:spPr>
          <a:xfrm>
            <a:off x="8512080" y="2289145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클러스터 3, 면역세포 표지가 높은 얇은 띠</a:t>
            </a:r>
          </a:p>
        </p:txBody>
      </p:sp>
      <p:sp>
        <p:nvSpPr>
          <p:cNvPr id="14" name="list-01:marker"/>
          <p:cNvSpPr/>
          <p:nvPr/>
        </p:nvSpPr>
        <p:spPr>
          <a:xfrm>
            <a:off x="8044080" y="3286699"/>
            <a:ext cx="288000" cy="288000"/>
          </a:xfrm>
          <a:prstGeom prst="ellipse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8512080" y="3285126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종양 안쪽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8512080" y="3630271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클러스터 1 · 2, 면역 표지 낮음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결과 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경계부 CD8 점수가 종양 안쪽보다 3.2배 높아요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표지 유전자 12개 평균. 절편 4개.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결과 3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반응군은 경계부 섬유아세포 신호가 절반 이하예요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치료 전 생검 절편, 예시 수치.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결론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경계부 섬유아세포 장벽이 면역항암 반응을 가를 수 있어요</a:t>
            </a:r>
          </a:p>
        </p:txBody>
      </p:sp>
      <p:sp>
        <p:nvSpPr>
          <p:cNvPr id="5" name="logic-01:factor"/>
          <p:cNvSpPr/>
          <p:nvPr/>
        </p:nvSpPr>
        <p:spPr>
          <a:xfrm>
            <a:off x="468000" y="2138600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1:marker"/>
          <p:cNvSpPr/>
          <p:nvPr/>
        </p:nvSpPr>
        <p:spPr>
          <a:xfrm>
            <a:off x="608400" y="2325800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1</a:t>
            </a:r>
          </a:p>
        </p:txBody>
      </p:sp>
      <p:sp>
        <p:nvSpPr>
          <p:cNvPr id="7" name="logic-01:factor-text"/>
          <p:cNvSpPr txBox="1"/>
          <p:nvPr/>
        </p:nvSpPr>
        <p:spPr>
          <a:xfrm>
            <a:off x="608400" y="2793800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경계부에 몰림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CD8 점수 3.2배 (경계부 / 안쪽)</a:t>
            </a:r>
          </a:p>
        </p:txBody>
      </p:sp>
      <p:sp>
        <p:nvSpPr>
          <p:cNvPr id="8" name="logic-01:factor"/>
          <p:cNvSpPr/>
          <p:nvPr/>
        </p:nvSpPr>
        <p:spPr>
          <a:xfrm>
            <a:off x="4292040" y="2138600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logic-01:marker"/>
          <p:cNvSpPr/>
          <p:nvPr/>
        </p:nvSpPr>
        <p:spPr>
          <a:xfrm>
            <a:off x="4432440" y="2325800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2</a:t>
            </a:r>
          </a:p>
        </p:txBody>
      </p:sp>
      <p:sp>
        <p:nvSpPr>
          <p:cNvPr id="10" name="logic-01:factor-text"/>
          <p:cNvSpPr txBox="1"/>
          <p:nvPr/>
        </p:nvSpPr>
        <p:spPr>
          <a:xfrm>
            <a:off x="4432440" y="2793800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섬유아세포 신호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비반응군에서 2.5배 높음</a:t>
            </a:r>
          </a:p>
        </p:txBody>
      </p:sp>
      <p:sp>
        <p:nvSpPr>
          <p:cNvPr id="11" name="logic-01:factor"/>
          <p:cNvSpPr/>
          <p:nvPr/>
        </p:nvSpPr>
        <p:spPr>
          <a:xfrm>
            <a:off x="8116080" y="2138600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logic-01:marker"/>
          <p:cNvSpPr/>
          <p:nvPr/>
        </p:nvSpPr>
        <p:spPr>
          <a:xfrm>
            <a:off x="8256480" y="2325800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3</a:t>
            </a:r>
          </a:p>
        </p:txBody>
      </p:sp>
      <p:sp>
        <p:nvSpPr>
          <p:cNvPr id="13" name="logic-01:factor-text"/>
          <p:cNvSpPr txBox="1"/>
          <p:nvPr/>
        </p:nvSpPr>
        <p:spPr>
          <a:xfrm>
            <a:off x="8256480" y="2793800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반응군은 장벽이 얇음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반응군 6명 모두 신호 절반 이하</a:t>
            </a:r>
          </a:p>
        </p:txBody>
      </p:sp>
      <p:cxnSp>
        <p:nvCxnSpPr>
          <p:cNvPr id="14" name="logic-01:link"/>
          <p:cNvCxnSpPr/>
          <p:nvPr/>
        </p:nvCxnSpPr>
        <p:spPr>
          <a:xfrm>
            <a:off x="2272020" y="3575213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logic-01:link"/>
          <p:cNvCxnSpPr/>
          <p:nvPr/>
        </p:nvCxnSpPr>
        <p:spPr>
          <a:xfrm>
            <a:off x="6096060" y="3575213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logic-01:link"/>
          <p:cNvCxnSpPr/>
          <p:nvPr/>
        </p:nvCxnSpPr>
        <p:spPr>
          <a:xfrm>
            <a:off x="9920100" y="3575213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logic-01:link"/>
          <p:cNvCxnSpPr/>
          <p:nvPr/>
        </p:nvCxnSpPr>
        <p:spPr>
          <a:xfrm>
            <a:off x="2272020" y="3902813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ogic-01:link"/>
          <p:cNvCxnSpPr/>
          <p:nvPr/>
        </p:nvCxnSpPr>
        <p:spPr>
          <a:xfrm>
            <a:off x="6096060" y="3902813"/>
            <a:ext cx="0" cy="3276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ogic-01:conclusion"/>
          <p:cNvSpPr/>
          <p:nvPr/>
        </p:nvSpPr>
        <p:spPr>
          <a:xfrm>
            <a:off x="2380020" y="4230413"/>
            <a:ext cx="7432080" cy="762386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1:conclusion-text"/>
          <p:cNvSpPr txBox="1"/>
          <p:nvPr/>
        </p:nvSpPr>
        <p:spPr>
          <a:xfrm>
            <a:off x="2660820" y="4230413"/>
            <a:ext cx="6870480" cy="76238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섬유아세포 장벽을 낮추면 면역항암 반응이 늘 수 있다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대장암 경계부의 면역 틈새가 면역항암 반응을 가른다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공동저자 · HaLab</a:t>
            </a:r>
          </a:p>
          <a:p>
            <a:r>
              <a:t>연구비: 예시 과제 (과제 번호)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그래파이트 리치 16:9">
  <a:themeElements>
    <a:clrScheme name="HaLab 그래파이트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A4F57"/>
      </a:accent1>
      <a:accent2>
        <a:srgbClr val="898D92"/>
      </a:accent2>
      <a:accent3>
        <a:srgbClr val="B7B9BC"/>
      </a:accent3>
      <a:accent4>
        <a:srgbClr val="FFD43B"/>
      </a:accent4>
      <a:accent5>
        <a:srgbClr val="B7B9BC"/>
      </a:accent5>
      <a:accent6>
        <a:srgbClr val="E2E5EA"/>
      </a:accent6>
      <a:hlink>
        <a:srgbClr val="4A4F57"/>
      </a:hlink>
      <a:folHlink>
        <a:srgbClr val="B7B9B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리치 16:9</dc:title>
  <dc:creator>HaLab</dc:creator>
</cp:coreProperties>
</file>