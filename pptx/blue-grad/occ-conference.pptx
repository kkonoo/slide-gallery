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2000" cy="6858000"/>
  <p:notesSz cx="6858000" cy="9144000"/>
  <p:defaultTextStyle>
    <a:defPPr marL="0" indent="0" algn="l">
      <a:lnSpc>
        <a:spcPct val="100000"/>
      </a:lnSpc>
      <a:spcBef>
        <a:spcPts val="0"/>
      </a:spcBef>
      <a:buNone/>
      <a:defRPr lang="ko-KR" sz="1800" b="0" kern="0" spc="-40">
        <a:solidFill>
          <a:schemeClr val="tx1"/>
        </a:solidFill>
        <a:latin typeface="+mn-lt"/>
        <a:ea typeface="+mn-ea"/>
      </a:defRPr>
    </a:defPPr>
  </p:defaultTextStyle>
  <p:extLst>
    <p:ext uri="{EFAFB233-063F-42B5-8137-9DF3F51BA10A}">
      <p15:sldGuideLst xmlns:p15="http://schemas.microsoft.com/office/powerpoint/2012/main">
        <p15:guide id="1" pos="295">
          <p15:clr>
            <a:srgbClr val="F26B43"/>
          </p15:clr>
        </p15:guide>
        <p15:guide id="2" pos="7385">
          <p15:clr>
            <a:srgbClr val="F26B43"/>
          </p15:clr>
        </p15:guide>
        <p15:guide id="3" orient="horz" pos="295">
          <p15:clr>
            <a:srgbClr val="F26B43"/>
          </p15:clr>
        </p15:guide>
        <p15:guide id="4" orient="horz" pos="4025">
          <p15:clr>
            <a:srgbClr val="F26B43"/>
          </p15:clr>
        </p15:guide>
        <p15:guide id="5" orient="horz" pos="862">
          <p15:clr>
            <a:srgbClr val="F26B43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3C2E1A5B-7D4F-4B8E-9A61-2F0C5D8E7B14}">
  <a:tblStyle styleId="{3C2E1A5B-7D4F-4B8E-9A61-2F0C5D8E7B14}" styleName="HaLab 가로선 표">
    <a:wholeTbl>
      <a:tcTxStyle>
        <a:fontRef idx="minor"/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>
              <a:solidFill>
                <a:schemeClr val="accent6"/>
              </a:solidFill>
            </a:ln>
          </a:top>
          <a:bottom>
            <a:ln w="6350">
              <a:solidFill>
                <a:schemeClr val="accent6"/>
              </a:solidFill>
            </a:ln>
          </a:bottom>
          <a:insideH>
            <a:ln w="6350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</a:wholeTbl>
    <a:firstRow>
      <a:tcTxStyle b="on">
        <a:fontRef idx="minor"/>
        <a:schemeClr val="tx1"/>
      </a:tcTxStyle>
      <a:tcStyle>
        <a:tcBdr>
          <a:top>
            <a:ln w="12700">
              <a:solidFill>
                <a:schemeClr val="tx1"/>
              </a:solidFill>
            </a:ln>
          </a:top>
          <a:bottom>
            <a:ln w="9525">
              <a:solidFill>
                <a:schemeClr val="tx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CD8 score</c:v>
                </c:pt>
              </c:strCache>
            </c:strRef>
          </c:tx>
          <c:spPr>
            <a:solidFill>
              <a:srgbClr val="AEB1B9"/>
            </a:solidFill>
            <a:ln>
              <a:noFill/>
            </a:ln>
          </c:spPr>
          <c:dPt>
            <c:idx val="2"/>
            <c:spPr>
              <a:solidFill>
                <a:srgbClr val="2563C9"/>
              </a:solidFill>
            </c:spPr>
          </c:dPt>
          <c:dLbls>
            <c:dLbl>
              <c:idx val="2"/>
              <c:tx>
                <c:rich>
                  <a:bodyPr/>
                  <a:lstStyle/>
                  <a:p>
                    <a:r>
                      <a:rPr sz="2400" b="1">
                        <a:solidFill>
                          <a:srgbClr val="2563C9"/>
                        </a:solidFill>
                        <a:latin typeface="Pretendard"/>
                      </a:rPr>
                      <a:t>3.2×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Normal</c:v>
                </c:pt>
                <c:pt idx="1">
                  <c:v>Tumor core</c:v>
                </c:pt>
                <c:pt idx="2">
                  <c:v>Border</c:v>
                </c:pt>
              </c:strCache>
            </c:strRef>
          </c:cat>
          <c:val>
            <c:numRef>
              <c:f>Sheet1!$B$2:$B$4</c:f>
              <c:numCache>
                <c:formatCode>0.0</c:formatCode>
                <c:ptCount val="3"/>
                <c:pt idx="0">
                  <c:v>0.8</c:v>
                </c:pt>
                <c:pt idx="1">
                  <c:v>1.0</c:v>
                </c:pt>
                <c:pt idx="2">
                  <c:v>3.2</c:v>
                </c:pt>
              </c:numCache>
            </c:numRef>
          </c:val>
        </c:ser>
        <c:gapWidth val="70"/>
        <c:axId val="2068027336"/>
        <c:axId val="2113994440"/>
      </c:barChart>
      <c:catAx>
        <c:axId val="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E2E5EA"/>
            </a:solidFill>
          </a:ln>
        </c:spPr>
        <c:txPr>
          <a:bodyPr/>
          <a:lstStyle/>
          <a:p>
            <a:pPr>
              <a:defRPr sz="1200" b="0">
                <a:solidFill>
                  <a:srgbClr val="262B33"/>
                </a:solidFill>
                <a:latin typeface="Pretendard"/>
              </a:defRPr>
            </a:pPr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/>
        <c:delete val="0"/>
        <c:axPos val="l"/>
        <c:majorGridlines>
          <c:spPr>
            <a:ln w="6350">
              <a:solidFill>
                <a:srgbClr val="E2E5EA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6B7280"/>
                    </a:solidFill>
                    <a:latin typeface="Pretendard"/>
                  </a:rPr>
                  <a:t>Relative score (tumor core = 1)</a:t>
                </a:r>
              </a:p>
            </c:rich>
          </c:tx>
          <c:layout/>
          <c:overlay val="0"/>
        </c:title>
        <c:numFmt formatCode="0.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 b="0">
                <a:solidFill>
                  <a:srgbClr val="6B7280"/>
                </a:solidFill>
                <a:latin typeface="Pretendard"/>
              </a:defRPr>
            </a:pPr>
          </a:p>
        </c:txPr>
        <c:crossAx val="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6B7280"/>
          </a:solidFill>
          <a:latin typeface="Pretendard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Fibroblast signal</c:v>
                </c:pt>
              </c:strCache>
            </c:strRef>
          </c:tx>
          <c:spPr>
            <a:solidFill>
              <a:srgbClr val="AEB1B9"/>
            </a:solidFill>
            <a:ln>
              <a:noFill/>
            </a:ln>
          </c:spPr>
          <c:dPt>
            <c:idx val="0"/>
            <c:spPr>
              <a:solidFill>
                <a:srgbClr val="2563C9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2400" b="1">
                        <a:solidFill>
                          <a:srgbClr val="2563C9"/>
                        </a:solidFill>
                        <a:latin typeface="Pretendard"/>
                      </a:rPr>
                      <a:t>0.4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Responders (n = 6)</c:v>
                </c:pt>
                <c:pt idx="1">
                  <c:v>Non-responders (n = 9)</c:v>
                </c:pt>
              </c:strCache>
            </c:strRef>
          </c:cat>
          <c:val>
            <c:numRef>
              <c:f>Sheet1!$B$2:$B$3</c:f>
              <c:numCache>
                <c:formatCode>0.0</c:formatCode>
                <c:ptCount val="2"/>
                <c:pt idx="0">
                  <c:v>0.4</c:v>
                </c:pt>
                <c:pt idx="1">
                  <c:v>1.0</c:v>
                </c:pt>
              </c:numCache>
            </c:numRef>
          </c:val>
        </c:ser>
        <c:gapWidth val="70"/>
        <c:axId val="2068027336"/>
        <c:axId val="2113994440"/>
      </c:barChart>
      <c:catAx>
        <c:axId val="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E2E5EA"/>
            </a:solidFill>
          </a:ln>
        </c:spPr>
        <c:txPr>
          <a:bodyPr/>
          <a:lstStyle/>
          <a:p>
            <a:pPr>
              <a:defRPr sz="1200" b="0">
                <a:solidFill>
                  <a:srgbClr val="262B33"/>
                </a:solidFill>
                <a:latin typeface="Pretendard"/>
              </a:defRPr>
            </a:pPr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/>
        <c:delete val="0"/>
        <c:axPos val="l"/>
        <c:majorGridlines>
          <c:spPr>
            <a:ln w="6350">
              <a:solidFill>
                <a:srgbClr val="E2E5EA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6B7280"/>
                    </a:solidFill>
                    <a:latin typeface="Pretendard"/>
                  </a:rPr>
                  <a:t>Border fibroblast signal (non-responders = 1)</a:t>
                </a:r>
              </a:p>
            </c:rich>
          </c:tx>
          <c:layout/>
          <c:overlay val="0"/>
        </c:title>
        <c:numFmt formatCode="0.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 b="0">
                <a:solidFill>
                  <a:srgbClr val="6B7280"/>
                </a:solidFill>
                <a:latin typeface="Pretendard"/>
              </a:defRPr>
            </a:pPr>
          </a:p>
        </c:txPr>
        <c:crossAx val="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6B7280"/>
          </a:solidFill>
          <a:latin typeface="Pretendard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L1 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강조 막대"/>
          <p:cNvSpPr/>
          <p:nvPr userDrawn="1"/>
        </p:nvSpPr>
        <p:spPr>
          <a:xfrm>
            <a:off x="468000" y="1516500"/>
            <a:ext cx="576000" cy="57600"/>
          </a:xfrm>
          <a:prstGeom prst="rect">
            <a:avLst/>
          </a:prstGeom>
          <a:gradFill rotWithShape="1">
            <a:gsLst>
              <a:gs pos="0">
                <a:srgbClr val="2563C9"/>
              </a:gs>
              <a:gs pos="50000">
                <a:srgbClr val="0E7C8A"/>
              </a:gs>
              <a:gs pos="100000">
                <a:srgbClr val="0D7A5A"/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" name="발표 구분"/>
          <p:cNvSpPr>
            <a:spLocks noGrp="1"/>
          </p:cNvSpPr>
          <p:nvPr>
            <p:ph type="body" idx="13"/>
          </p:nvPr>
        </p:nvSpPr>
        <p:spPr>
          <a:xfrm>
            <a:off x="468000" y="1714500"/>
            <a:ext cx="7879284" cy="324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발표 구분 (예: 2026 글로컬랩 발표평가)</a:t>
            </a:r>
          </a:p>
        </p:txBody>
      </p:sp>
      <p:sp>
        <p:nvSpPr>
          <p:cNvPr id="4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과제명 (2줄 이내)</a:t>
            </a:r>
          </a:p>
        </p:txBody>
      </p:sp>
      <p:sp>
        <p:nvSpPr>
          <p:cNvPr id="5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부제 또는 영문 과제명</a:t>
            </a:r>
          </a:p>
        </p:txBody>
      </p:sp>
      <p:sp>
        <p:nvSpPr>
          <p:cNvPr id="6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소속</a:t>
            </a:r>
          </a:p>
        </p:txBody>
      </p:sp>
      <p:sp>
        <p:nvSpPr>
          <p:cNvPr id="7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2 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목차 제목"/>
          <p:cNvSpPr>
            <a:spLocks noGrp="1"/>
          </p:cNvSpPr>
          <p:nvPr>
            <p:ph type="title"/>
          </p:nvPr>
        </p:nvSpPr>
        <p:spPr>
          <a:xfrm>
            <a:off x="468000" y="2468880"/>
            <a:ext cx="3240000" cy="720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2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목차</a:t>
            </a:r>
          </a:p>
        </p:txBody>
      </p:sp>
      <p:sp>
        <p:nvSpPr>
          <p:cNvPr id="3" name="번호 1"/>
          <p:cNvSpPr>
            <a:spLocks noGrp="1"/>
          </p:cNvSpPr>
          <p:nvPr>
            <p:ph type="body" idx="20"/>
          </p:nvPr>
        </p:nvSpPr>
        <p:spPr>
          <a:xfrm>
            <a:off x="4511084" y="1436143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4" name="항목 1"/>
          <p:cNvSpPr>
            <a:spLocks noGrp="1"/>
          </p:cNvSpPr>
          <p:nvPr>
            <p:ph type="body" idx="30"/>
          </p:nvPr>
        </p:nvSpPr>
        <p:spPr>
          <a:xfrm>
            <a:off x="5087084" y="1296000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5" name="번호 2"/>
          <p:cNvSpPr>
            <a:spLocks noGrp="1"/>
          </p:cNvSpPr>
          <p:nvPr>
            <p:ph type="body" idx="21"/>
          </p:nvPr>
        </p:nvSpPr>
        <p:spPr>
          <a:xfrm>
            <a:off x="4511084" y="2076429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</a:t>
            </a:r>
          </a:p>
        </p:txBody>
      </p:sp>
      <p:sp>
        <p:nvSpPr>
          <p:cNvPr id="6" name="항목 2"/>
          <p:cNvSpPr>
            <a:spLocks noGrp="1"/>
          </p:cNvSpPr>
          <p:nvPr>
            <p:ph type="body" idx="31"/>
          </p:nvPr>
        </p:nvSpPr>
        <p:spPr>
          <a:xfrm>
            <a:off x="5087084" y="1936286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7" name="번호 3"/>
          <p:cNvSpPr>
            <a:spLocks noGrp="1"/>
          </p:cNvSpPr>
          <p:nvPr>
            <p:ph type="body" idx="22"/>
          </p:nvPr>
        </p:nvSpPr>
        <p:spPr>
          <a:xfrm>
            <a:off x="4511084" y="2716714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III</a:t>
            </a:r>
          </a:p>
        </p:txBody>
      </p:sp>
      <p:sp>
        <p:nvSpPr>
          <p:cNvPr id="8" name="항목 3"/>
          <p:cNvSpPr>
            <a:spLocks noGrp="1"/>
          </p:cNvSpPr>
          <p:nvPr>
            <p:ph type="body" idx="32"/>
          </p:nvPr>
        </p:nvSpPr>
        <p:spPr>
          <a:xfrm>
            <a:off x="5087084" y="2576571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9" name="번호 4"/>
          <p:cNvSpPr>
            <a:spLocks noGrp="1"/>
          </p:cNvSpPr>
          <p:nvPr>
            <p:ph type="body" idx="23"/>
          </p:nvPr>
        </p:nvSpPr>
        <p:spPr>
          <a:xfrm>
            <a:off x="4511084" y="3357000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IV</a:t>
            </a:r>
          </a:p>
        </p:txBody>
      </p:sp>
      <p:sp>
        <p:nvSpPr>
          <p:cNvPr id="10" name="항목 4"/>
          <p:cNvSpPr>
            <a:spLocks noGrp="1"/>
          </p:cNvSpPr>
          <p:nvPr>
            <p:ph type="body" idx="33"/>
          </p:nvPr>
        </p:nvSpPr>
        <p:spPr>
          <a:xfrm>
            <a:off x="5087084" y="3216857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1" name="번호 5"/>
          <p:cNvSpPr>
            <a:spLocks noGrp="1"/>
          </p:cNvSpPr>
          <p:nvPr>
            <p:ph type="body" idx="24"/>
          </p:nvPr>
        </p:nvSpPr>
        <p:spPr>
          <a:xfrm>
            <a:off x="4511084" y="3997286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</a:t>
            </a:r>
          </a:p>
        </p:txBody>
      </p:sp>
      <p:sp>
        <p:nvSpPr>
          <p:cNvPr id="12" name="항목 5"/>
          <p:cNvSpPr>
            <a:spLocks noGrp="1"/>
          </p:cNvSpPr>
          <p:nvPr>
            <p:ph type="body" idx="34"/>
          </p:nvPr>
        </p:nvSpPr>
        <p:spPr>
          <a:xfrm>
            <a:off x="5087084" y="3857143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3" name="번호 6"/>
          <p:cNvSpPr>
            <a:spLocks noGrp="1"/>
          </p:cNvSpPr>
          <p:nvPr>
            <p:ph type="body" idx="25"/>
          </p:nvPr>
        </p:nvSpPr>
        <p:spPr>
          <a:xfrm>
            <a:off x="4511084" y="4637571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</a:t>
            </a:r>
          </a:p>
        </p:txBody>
      </p:sp>
      <p:sp>
        <p:nvSpPr>
          <p:cNvPr id="14" name="항목 6"/>
          <p:cNvSpPr>
            <a:spLocks noGrp="1"/>
          </p:cNvSpPr>
          <p:nvPr>
            <p:ph type="body" idx="35"/>
          </p:nvPr>
        </p:nvSpPr>
        <p:spPr>
          <a:xfrm>
            <a:off x="5087084" y="4497429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5" name="번호 7"/>
          <p:cNvSpPr>
            <a:spLocks noGrp="1"/>
          </p:cNvSpPr>
          <p:nvPr>
            <p:ph type="body" idx="26"/>
          </p:nvPr>
        </p:nvSpPr>
        <p:spPr>
          <a:xfrm>
            <a:off x="4511084" y="5277857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VII</a:t>
            </a:r>
          </a:p>
        </p:txBody>
      </p:sp>
      <p:sp>
        <p:nvSpPr>
          <p:cNvPr id="16" name="항목 7"/>
          <p:cNvSpPr>
            <a:spLocks noGrp="1"/>
          </p:cNvSpPr>
          <p:nvPr>
            <p:ph type="body" idx="36"/>
          </p:nvPr>
        </p:nvSpPr>
        <p:spPr>
          <a:xfrm>
            <a:off x="5087084" y="5137714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 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번호"/>
          <p:cNvSpPr>
            <a:spLocks noGrp="1"/>
          </p:cNvSpPr>
          <p:nvPr>
            <p:ph type="body" idx="13"/>
          </p:nvPr>
        </p:nvSpPr>
        <p:spPr>
          <a:xfrm>
            <a:off x="468000" y="2880360"/>
            <a:ext cx="792000" cy="792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30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3" name="섹션 이름"/>
          <p:cNvSpPr>
            <a:spLocks noGrp="1"/>
          </p:cNvSpPr>
          <p:nvPr>
            <p:ph type="title"/>
          </p:nvPr>
        </p:nvSpPr>
        <p:spPr>
          <a:xfrm>
            <a:off x="1512000" y="2736360"/>
            <a:ext cx="10212120" cy="10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6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섹션 이름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L4 헤더 + 빈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L5 2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왼쪽 소제목"/>
          <p:cNvSpPr>
            <a:spLocks noGrp="1"/>
          </p:cNvSpPr>
          <p:nvPr>
            <p:ph type="body" idx="15"/>
          </p:nvPr>
        </p:nvSpPr>
        <p:spPr>
          <a:xfrm>
            <a:off x="468000" y="1368000"/>
            <a:ext cx="5448060" cy="360000"/>
          </a:xfrm>
          <a:prstGeom prst="rect">
            <a:avLst/>
          </a:prstGeom>
          <a:solidFill>
            <a:srgbClr val="D8E3F5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왼쪽 소제목</a:t>
            </a:r>
          </a:p>
        </p:txBody>
      </p:sp>
      <p:sp>
        <p:nvSpPr>
          <p:cNvPr id="7" name="왼쪽 내용"/>
          <p:cNvSpPr>
            <a:spLocks noGrp="1"/>
          </p:cNvSpPr>
          <p:nvPr>
            <p:ph idx="16"/>
          </p:nvPr>
        </p:nvSpPr>
        <p:spPr>
          <a:xfrm>
            <a:off x="46800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8" name="오른쪽 소제목"/>
          <p:cNvSpPr>
            <a:spLocks noGrp="1"/>
          </p:cNvSpPr>
          <p:nvPr>
            <p:ph type="body" idx="17"/>
          </p:nvPr>
        </p:nvSpPr>
        <p:spPr>
          <a:xfrm>
            <a:off x="6276060" y="1368000"/>
            <a:ext cx="5448060" cy="360000"/>
          </a:xfrm>
          <a:prstGeom prst="rect">
            <a:avLst/>
          </a:prstGeom>
          <a:solidFill>
            <a:srgbClr val="D8E3F5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오른쪽 소제목</a:t>
            </a:r>
          </a:p>
        </p:txBody>
      </p:sp>
      <p:sp>
        <p:nvSpPr>
          <p:cNvPr id="9" name="오른쪽 내용"/>
          <p:cNvSpPr>
            <a:spLocks noGrp="1"/>
          </p:cNvSpPr>
          <p:nvPr>
            <p:ph idx="18"/>
          </p:nvPr>
        </p:nvSpPr>
        <p:spPr>
          <a:xfrm>
            <a:off x="627606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10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6 마무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강조 막대"/>
          <p:cNvSpPr/>
          <p:nvPr userDrawn="1"/>
        </p:nvSpPr>
        <p:spPr>
          <a:xfrm>
            <a:off x="468000" y="1516500"/>
            <a:ext cx="576000" cy="57600"/>
          </a:xfrm>
          <a:prstGeom prst="rect">
            <a:avLst/>
          </a:prstGeom>
          <a:gradFill rotWithShape="1">
            <a:gsLst>
              <a:gs pos="0">
                <a:srgbClr val="2563C9"/>
              </a:gs>
              <a:gs pos="50000">
                <a:srgbClr val="0E7C8A"/>
              </a:gs>
              <a:gs pos="100000">
                <a:srgbClr val="0D7A5A"/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감사합니다</a:t>
            </a:r>
          </a:p>
        </p:txBody>
      </p:sp>
      <p:sp>
        <p:nvSpPr>
          <p:cNvPr id="4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과제명 한 줄</a:t>
            </a:r>
          </a:p>
        </p:txBody>
      </p:sp>
      <p:sp>
        <p:nvSpPr>
          <p:cNvPr id="5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연락처</a:t>
            </a:r>
          </a:p>
        </p:txBody>
      </p:sp>
      <p:sp>
        <p:nvSpPr>
          <p:cNvPr id="6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마스터 제목 스타일 편집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8000" y="1368000"/>
            <a:ext cx="11256120" cy="5022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마스터 텍스트 스타일을 편집합니다</a:t>
            </a:r>
          </a:p>
          <a:p>
            <a:r>
              <a:rPr lang="ko-KR"/>
              <a:t>둘째 수준</a:t>
            </a:r>
          </a:p>
          <a:p>
            <a:r>
              <a:rPr lang="ko-KR"/>
              <a:t>셋째 수준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marL="0" indent="0" algn="l">
        <a:lnSpc>
          <a:spcPct val="100000"/>
        </a:lnSpc>
        <a:spcBef>
          <a:spcPts val="0"/>
        </a:spcBef>
        <a:buNone/>
        <a:defRPr lang="ko-KR" sz="2800" b="1" kern="0" spc="-60">
          <a:solidFill>
            <a:schemeClr val="tx1"/>
          </a:solidFill>
          <a:latin typeface="+mj-lt"/>
          <a:ea typeface="+mj-ea"/>
        </a:defRPr>
      </a:lvl1pPr>
    </p:titleStyle>
    <p:bodyStyle>
      <a:lvl1pPr marL="0" indent="0" algn="l">
        <a:lnSpc>
          <a:spcPct val="120000"/>
        </a:lnSpc>
        <a:spcBef>
          <a:spcPts val="56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lvl1pPr>
      <a:lvl2pPr marL="16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–"/>
        <a:defRPr lang="ko-KR" sz="1400" b="0" kern="0" spc="-40">
          <a:solidFill>
            <a:schemeClr val="tx2"/>
          </a:solidFill>
          <a:latin typeface="+mn-lt"/>
          <a:ea typeface="+mn-ea"/>
        </a:defRPr>
      </a:lvl2pPr>
      <a:lvl3pPr marL="30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3pPr>
      <a:lvl4pPr marL="45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4pPr>
      <a:lvl5pPr marL="594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5pPr>
      <a:lvl6pPr marL="738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6pPr>
      <a:lvl7pPr marL="88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7pPr>
      <a:lvl8pPr marL="102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8pPr>
      <a:lvl9pPr marL="117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9pPr>
    </p:bodyStyle>
    <p:otherStyle>
      <a:defPPr marL="0" indent="0" algn="l">
        <a:lnSpc>
          <a:spcPct val="100000"/>
        </a:lnSpc>
        <a:spcBef>
          <a:spcPts val="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def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Annual meeting 2026 · Oral presentation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Border niches gate immunotherapy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Spatial transcriptomics of 4 colorectal cancer sections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2026. 11. 6.</a:t>
            </a:r>
          </a:p>
          <a:p>
            <a:r>
              <a:t>HaLab presenter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Why it matters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Immunotherapy helps only 1 in 10 colorectal cancer patients</a:t>
            </a:r>
          </a:p>
        </p:txBody>
      </p:sp>
      <p:sp>
        <p:nvSpPr>
          <p:cNvPr id="5" name="data-01:rule"/>
          <p:cNvSpPr/>
          <p:nvPr/>
        </p:nvSpPr>
        <p:spPr>
          <a:xfrm>
            <a:off x="468000" y="2043710"/>
            <a:ext cx="5520060" cy="36000"/>
          </a:xfrm>
          <a:prstGeom prst="rect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data-01:value"/>
          <p:cNvSpPr txBox="1"/>
          <p:nvPr/>
        </p:nvSpPr>
        <p:spPr>
          <a:xfrm>
            <a:off x="468000" y="2259710"/>
            <a:ext cx="1058112" cy="10917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7200" b="1" spc="-40">
                <a:solidFill>
                  <a:srgbClr val="2563C9"/>
                </a:solidFill>
              </a:rPr>
              <a:t>10</a:t>
            </a:r>
          </a:p>
        </p:txBody>
      </p:sp>
      <p:sp>
        <p:nvSpPr>
          <p:cNvPr id="7" name="data-01:unit"/>
          <p:cNvSpPr txBox="1"/>
          <p:nvPr/>
        </p:nvSpPr>
        <p:spPr>
          <a:xfrm>
            <a:off x="1569312" y="2912591"/>
            <a:ext cx="235410" cy="2729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0" spc="-40">
                <a:solidFill>
                  <a:srgbClr val="2563C9"/>
                </a:solidFill>
                <a:latin typeface="Pretendard Medium"/>
                <a:ea typeface="Pretendard Medium"/>
                <a:cs typeface="Pretendard Medium"/>
              </a:rPr>
              <a:t>%</a:t>
            </a:r>
          </a:p>
        </p:txBody>
      </p:sp>
      <p:sp>
        <p:nvSpPr>
          <p:cNvPr id="8" name="data-01:label"/>
          <p:cNvSpPr txBox="1"/>
          <p:nvPr/>
        </p:nvSpPr>
        <p:spPr>
          <a:xfrm>
            <a:off x="468000" y="3423503"/>
            <a:ext cx="544806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Respond to immunotherapy</a:t>
            </a:r>
          </a:p>
        </p:txBody>
      </p:sp>
      <p:sp>
        <p:nvSpPr>
          <p:cNvPr id="9" name="data-01:desc"/>
          <p:cNvSpPr txBox="1"/>
          <p:nvPr/>
        </p:nvSpPr>
        <p:spPr>
          <a:xfrm>
            <a:off x="468000" y="3757848"/>
            <a:ext cx="5448060" cy="2464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Metastatic colorectal cancer (example)</a:t>
            </a:r>
          </a:p>
        </p:txBody>
      </p:sp>
      <p:cxnSp>
        <p:nvCxnSpPr>
          <p:cNvPr id="10" name="data-01:rule"/>
          <p:cNvCxnSpPr/>
          <p:nvPr/>
        </p:nvCxnSpPr>
        <p:spPr>
          <a:xfrm>
            <a:off x="6204060" y="2061710"/>
            <a:ext cx="552006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data-01:value"/>
          <p:cNvSpPr txBox="1"/>
          <p:nvPr/>
        </p:nvSpPr>
        <p:spPr>
          <a:xfrm>
            <a:off x="6204060" y="2259710"/>
            <a:ext cx="1217060" cy="10917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7200" b="1" spc="-40">
                <a:solidFill>
                  <a:srgbClr val="262B33"/>
                </a:solidFill>
              </a:rPr>
              <a:t>90</a:t>
            </a:r>
          </a:p>
        </p:txBody>
      </p:sp>
      <p:sp>
        <p:nvSpPr>
          <p:cNvPr id="12" name="data-01:unit"/>
          <p:cNvSpPr txBox="1"/>
          <p:nvPr/>
        </p:nvSpPr>
        <p:spPr>
          <a:xfrm>
            <a:off x="7464320" y="2912591"/>
            <a:ext cx="235410" cy="2729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%</a:t>
            </a:r>
          </a:p>
        </p:txBody>
      </p:sp>
      <p:sp>
        <p:nvSpPr>
          <p:cNvPr id="13" name="data-01:label"/>
          <p:cNvSpPr txBox="1"/>
          <p:nvPr/>
        </p:nvSpPr>
        <p:spPr>
          <a:xfrm>
            <a:off x="6204060" y="3423503"/>
            <a:ext cx="544806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Do not respond</a:t>
            </a:r>
          </a:p>
        </p:txBody>
      </p:sp>
      <p:sp>
        <p:nvSpPr>
          <p:cNvPr id="14" name="data-01:desc"/>
          <p:cNvSpPr txBox="1"/>
          <p:nvPr/>
        </p:nvSpPr>
        <p:spPr>
          <a:xfrm>
            <a:off x="6204060" y="3757848"/>
            <a:ext cx="5448060" cy="2464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MSI testing explains only half</a:t>
            </a:r>
          </a:p>
        </p:txBody>
      </p:sp>
      <p:cxnSp>
        <p:nvCxnSpPr>
          <p:cNvPr id="15" name="conclusion:line"/>
          <p:cNvCxnSpPr/>
          <p:nvPr/>
        </p:nvCxnSpPr>
        <p:spPr>
          <a:xfrm>
            <a:off x="468000" y="4679985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conclusion:text"/>
          <p:cNvSpPr txBox="1"/>
          <p:nvPr/>
        </p:nvSpPr>
        <p:spPr>
          <a:xfrm>
            <a:off x="468000" y="4877985"/>
            <a:ext cx="11256120" cy="304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1" spc="-40">
                <a:solidFill>
                  <a:srgbClr val="262B33"/>
                </a:solidFill>
              </a:rPr>
              <a:t>Why</a:t>
            </a:r>
            <a:r>
              <a:rPr sz="1400" b="0" spc="-40">
                <a:solidFill>
                  <a:srgbClr val="6B7280"/>
                </a:solidFill>
              </a:rPr>
              <a:t> do the other 90% not respond?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2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Hypothesis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fibroblast barrier keeps T cells out of the tumor</a:t>
            </a:r>
          </a:p>
        </p:txBody>
      </p:sp>
      <p:cxnSp>
        <p:nvCxnSpPr>
          <p:cNvPr id="5" name="res-05:edge"/>
          <p:cNvCxnSpPr/>
          <p:nvPr/>
        </p:nvCxnSpPr>
        <p:spPr>
          <a:xfrm>
            <a:off x="2688121" y="2923408"/>
            <a:ext cx="772679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res-05:edge"/>
          <p:cNvCxnSpPr/>
          <p:nvPr/>
        </p:nvCxnSpPr>
        <p:spPr>
          <a:xfrm>
            <a:off x="5709721" y="2923408"/>
            <a:ext cx="772678" cy="0"/>
          </a:xfrm>
          <a:prstGeom prst="line">
            <a:avLst/>
          </a:prstGeom>
          <a:ln w="9525">
            <a:solidFill>
              <a:srgbClr val="6B728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res-05:edge"/>
          <p:cNvCxnSpPr/>
          <p:nvPr/>
        </p:nvCxnSpPr>
        <p:spPr>
          <a:xfrm>
            <a:off x="8731320" y="2923408"/>
            <a:ext cx="772679" cy="0"/>
          </a:xfrm>
          <a:prstGeom prst="line">
            <a:avLst/>
          </a:prstGeom>
          <a:ln w="9525">
            <a:solidFill>
              <a:srgbClr val="6B728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s-05:node"/>
          <p:cNvSpPr/>
          <p:nvPr/>
        </p:nvSpPr>
        <p:spPr>
          <a:xfrm>
            <a:off x="468000" y="2546022"/>
            <a:ext cx="2191321" cy="754773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s-05:node-text"/>
          <p:cNvSpPr txBox="1"/>
          <p:nvPr/>
        </p:nvSpPr>
        <p:spPr>
          <a:xfrm>
            <a:off x="655200" y="2546022"/>
            <a:ext cx="1816921" cy="75477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262B33"/>
                </a:solidFill>
              </a:rPr>
              <a:t>TGF-β signaling</a:t>
            </a:r>
          </a:p>
        </p:txBody>
      </p:sp>
      <p:sp>
        <p:nvSpPr>
          <p:cNvPr id="10" name="res-05:node"/>
          <p:cNvSpPr/>
          <p:nvPr/>
        </p:nvSpPr>
        <p:spPr>
          <a:xfrm>
            <a:off x="3489600" y="2312022"/>
            <a:ext cx="2191321" cy="1222773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s-05:node-text"/>
          <p:cNvSpPr txBox="1"/>
          <p:nvPr/>
        </p:nvSpPr>
        <p:spPr>
          <a:xfrm>
            <a:off x="3818298" y="2312022"/>
            <a:ext cx="1533925" cy="122277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FFFFFF"/>
                </a:solidFill>
              </a:rPr>
              <a:t>Border fibroblasts</a:t>
            </a:r>
          </a:p>
          <a:p>
            <a:pPr algn="ctr">
              <a:lnSpc>
                <a:spcPct val="115000"/>
              </a:lnSpc>
              <a:spcBef>
                <a:spcPts val="100"/>
              </a:spcBef>
            </a:pPr>
            <a:r>
              <a:rPr sz="1200" b="0" spc="-40">
                <a:solidFill>
                  <a:srgbClr val="FFFFFF"/>
                </a:solidFill>
              </a:rPr>
              <a:t>This study</a:t>
            </a:r>
          </a:p>
        </p:txBody>
      </p:sp>
      <p:sp>
        <p:nvSpPr>
          <p:cNvPr id="12" name="res-05:node"/>
          <p:cNvSpPr/>
          <p:nvPr/>
        </p:nvSpPr>
        <p:spPr>
          <a:xfrm>
            <a:off x="6511199" y="2546022"/>
            <a:ext cx="2191321" cy="754773"/>
          </a:xfrm>
          <a:prstGeom prst="roundRect">
            <a:avLst>
              <a:gd name="adj" fmla="val 50000"/>
            </a:avLst>
          </a:prstGeom>
          <a:solidFill>
            <a:srgbClr val="D8E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s-05:node-text"/>
          <p:cNvSpPr txBox="1"/>
          <p:nvPr/>
        </p:nvSpPr>
        <p:spPr>
          <a:xfrm>
            <a:off x="6698399" y="2546022"/>
            <a:ext cx="1816921" cy="75477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262B33"/>
                </a:solidFill>
              </a:rPr>
              <a:t>Collagen barrier</a:t>
            </a:r>
          </a:p>
        </p:txBody>
      </p:sp>
      <p:sp>
        <p:nvSpPr>
          <p:cNvPr id="14" name="res-05:node"/>
          <p:cNvSpPr/>
          <p:nvPr/>
        </p:nvSpPr>
        <p:spPr>
          <a:xfrm>
            <a:off x="9532799" y="2546022"/>
            <a:ext cx="2191321" cy="754773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s-05:node-text"/>
          <p:cNvSpPr txBox="1"/>
          <p:nvPr/>
        </p:nvSpPr>
        <p:spPr>
          <a:xfrm>
            <a:off x="9719999" y="2546022"/>
            <a:ext cx="1816921" cy="75477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262B33"/>
                </a:solidFill>
              </a:rPr>
              <a:t>T-cell exclusion</a:t>
            </a:r>
          </a:p>
        </p:txBody>
      </p:sp>
      <p:cxnSp>
        <p:nvCxnSpPr>
          <p:cNvPr id="16" name="res-05:legend"/>
          <p:cNvCxnSpPr/>
          <p:nvPr/>
        </p:nvCxnSpPr>
        <p:spPr>
          <a:xfrm>
            <a:off x="8944139" y="3836377"/>
            <a:ext cx="4212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s-05:legend-text"/>
          <p:cNvSpPr txBox="1"/>
          <p:nvPr/>
        </p:nvSpPr>
        <p:spPr>
          <a:xfrm>
            <a:off x="9458939" y="3745395"/>
            <a:ext cx="513177" cy="18196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spc="-40">
                <a:solidFill>
                  <a:srgbClr val="6B7280"/>
                </a:solidFill>
              </a:rPr>
              <a:t>Known</a:t>
            </a:r>
          </a:p>
        </p:txBody>
      </p:sp>
      <p:cxnSp>
        <p:nvCxnSpPr>
          <p:cNvPr id="18" name="res-05:legend"/>
          <p:cNvCxnSpPr/>
          <p:nvPr/>
        </p:nvCxnSpPr>
        <p:spPr>
          <a:xfrm>
            <a:off x="10252917" y="3836377"/>
            <a:ext cx="421200" cy="0"/>
          </a:xfrm>
          <a:prstGeom prst="line">
            <a:avLst/>
          </a:prstGeom>
          <a:ln w="9525">
            <a:solidFill>
              <a:srgbClr val="6B728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s-05:legend-text"/>
          <p:cNvSpPr txBox="1"/>
          <p:nvPr/>
        </p:nvSpPr>
        <p:spPr>
          <a:xfrm>
            <a:off x="10767717" y="3745395"/>
            <a:ext cx="956403" cy="18196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spc="-40">
                <a:solidFill>
                  <a:srgbClr val="6B7280"/>
                </a:solidFill>
              </a:rPr>
              <a:t>Hypothesized</a:t>
            </a:r>
          </a:p>
        </p:txBody>
      </p:sp>
      <p:cxnSp>
        <p:nvCxnSpPr>
          <p:cNvPr id="20" name="conclusion:line"/>
          <p:cNvCxnSpPr/>
          <p:nvPr/>
        </p:nvCxnSpPr>
        <p:spPr>
          <a:xfrm>
            <a:off x="468000" y="4143360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conclusion:text"/>
          <p:cNvSpPr txBox="1"/>
          <p:nvPr/>
        </p:nvSpPr>
        <p:spPr>
          <a:xfrm>
            <a:off x="468000" y="4341360"/>
            <a:ext cx="11256120" cy="304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6B7280"/>
                </a:solidFill>
              </a:rPr>
              <a:t>To test: do CD8 T cells enter the tumor when the barrier is removed?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3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Result 1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Immune cells gather in a band at the tumor border</a:t>
            </a:r>
          </a:p>
        </p:txBody>
      </p:sp>
      <p:pic>
        <p:nvPicPr>
          <p:cNvPr id="5" name="img-01:image" descr="spatial_clus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000" y="1584000"/>
            <a:ext cx="5661117" cy="4245838"/>
          </a:xfrm>
          <a:prstGeom prst="rect">
            <a:avLst/>
          </a:prstGeom>
          <a:ln w="9525">
            <a:solidFill>
              <a:srgbClr val="E2E5EA"/>
            </a:solidFill>
          </a:ln>
        </p:spPr>
      </p:pic>
      <p:sp>
        <p:nvSpPr>
          <p:cNvPr id="6" name="img-01:mark"/>
          <p:cNvSpPr/>
          <p:nvPr/>
        </p:nvSpPr>
        <p:spPr>
          <a:xfrm>
            <a:off x="2776280" y="4387628"/>
            <a:ext cx="252000" cy="2520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spc="-4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img-01:mark"/>
          <p:cNvSpPr/>
          <p:nvPr/>
        </p:nvSpPr>
        <p:spPr>
          <a:xfrm>
            <a:off x="2040335" y="3028960"/>
            <a:ext cx="252000" cy="2520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spc="-40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8" name="img-01:caption"/>
          <p:cNvSpPr txBox="1"/>
          <p:nvPr/>
        </p:nvSpPr>
        <p:spPr>
          <a:xfrm>
            <a:off x="468000" y="5901838"/>
            <a:ext cx="5661117" cy="2001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</a:rPr>
              <a:t>Section 2, 1,492 spots, 6 clusters (example data)</a:t>
            </a:r>
          </a:p>
        </p:txBody>
      </p:sp>
      <p:sp>
        <p:nvSpPr>
          <p:cNvPr id="9" name="list-01:highlight"/>
          <p:cNvSpPr/>
          <p:nvPr/>
        </p:nvSpPr>
        <p:spPr>
          <a:xfrm>
            <a:off x="8044080" y="1584000"/>
            <a:ext cx="3680040" cy="1617107"/>
          </a:xfrm>
          <a:prstGeom prst="rect">
            <a:avLst/>
          </a:prstGeom>
          <a:solidFill>
            <a:srgbClr val="E9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0" name="list-01:line"/>
          <p:cNvCxnSpPr/>
          <p:nvPr/>
        </p:nvCxnSpPr>
        <p:spPr>
          <a:xfrm>
            <a:off x="8044080" y="3201107"/>
            <a:ext cx="368004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list-01:marker"/>
          <p:cNvSpPr/>
          <p:nvPr/>
        </p:nvSpPr>
        <p:spPr>
          <a:xfrm>
            <a:off x="8044080" y="1945572"/>
            <a:ext cx="288000" cy="2880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12" name="list-01:title"/>
          <p:cNvSpPr txBox="1"/>
          <p:nvPr/>
        </p:nvSpPr>
        <p:spPr>
          <a:xfrm>
            <a:off x="8512080" y="1944000"/>
            <a:ext cx="321204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Border</a:t>
            </a:r>
          </a:p>
        </p:txBody>
      </p:sp>
      <p:sp>
        <p:nvSpPr>
          <p:cNvPr id="13" name="list-01:desc"/>
          <p:cNvSpPr txBox="1"/>
          <p:nvPr/>
        </p:nvSpPr>
        <p:spPr>
          <a:xfrm>
            <a:off x="8512080" y="2289145"/>
            <a:ext cx="3212040" cy="5699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Cluster 3, a thin band high in immune markers</a:t>
            </a:r>
          </a:p>
        </p:txBody>
      </p:sp>
      <p:sp>
        <p:nvSpPr>
          <p:cNvPr id="14" name="list-01:marker"/>
          <p:cNvSpPr/>
          <p:nvPr/>
        </p:nvSpPr>
        <p:spPr>
          <a:xfrm>
            <a:off x="8044080" y="3700670"/>
            <a:ext cx="288000" cy="2880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15" name="list-01:title"/>
          <p:cNvSpPr txBox="1"/>
          <p:nvPr/>
        </p:nvSpPr>
        <p:spPr>
          <a:xfrm>
            <a:off x="8512080" y="3699098"/>
            <a:ext cx="321204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Tumor core</a:t>
            </a:r>
          </a:p>
        </p:txBody>
      </p:sp>
      <p:sp>
        <p:nvSpPr>
          <p:cNvPr id="16" name="list-01:desc"/>
          <p:cNvSpPr txBox="1"/>
          <p:nvPr/>
        </p:nvSpPr>
        <p:spPr>
          <a:xfrm>
            <a:off x="8512080" y="4044243"/>
            <a:ext cx="321204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Clusters 1 · 2, low immune markers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4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Result 2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CD8 score is 3.2× higher at the border than in the core</a:t>
            </a:r>
          </a:p>
        </p:txBody>
      </p:sp>
      <p:graphicFrame>
        <p:nvGraphicFramePr>
          <p:cNvPr id="5" name="data-02:chart"/>
          <p:cNvGraphicFramePr>
            <a:graphicFrameLocks noGrp="1"/>
          </p:cNvGraphicFramePr>
          <p:nvPr/>
        </p:nvGraphicFramePr>
        <p:xfrm>
          <a:off x="468000" y="1584000"/>
          <a:ext cx="11256120" cy="417344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data-02:note"/>
          <p:cNvSpPr txBox="1"/>
          <p:nvPr/>
        </p:nvSpPr>
        <p:spPr>
          <a:xfrm>
            <a:off x="468000" y="5865445"/>
            <a:ext cx="11256120" cy="2365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 spc="-40">
                <a:solidFill>
                  <a:srgbClr val="6B7280"/>
                </a:solidFill>
              </a:rPr>
              <a:t>Mean of 12 marker genes. 4 sections.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5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Result 3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Responders have less than half the border fibroblast signal</a:t>
            </a:r>
          </a:p>
        </p:txBody>
      </p:sp>
      <p:graphicFrame>
        <p:nvGraphicFramePr>
          <p:cNvPr id="5" name="data-02:chart"/>
          <p:cNvGraphicFramePr>
            <a:graphicFrameLocks noGrp="1"/>
          </p:cNvGraphicFramePr>
          <p:nvPr/>
        </p:nvGraphicFramePr>
        <p:xfrm>
          <a:off x="468000" y="1584000"/>
          <a:ext cx="11256120" cy="417344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data-02:note"/>
          <p:cNvSpPr txBox="1"/>
          <p:nvPr/>
        </p:nvSpPr>
        <p:spPr>
          <a:xfrm>
            <a:off x="468000" y="5865445"/>
            <a:ext cx="11256120" cy="2365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 spc="-40">
                <a:solidFill>
                  <a:srgbClr val="6B7280"/>
                </a:solidFill>
              </a:rPr>
              <a:t>Pre-treatment biopsy sections, example values.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6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border fibroblast barrier may decide immunotherapy response</a:t>
            </a:r>
          </a:p>
        </p:txBody>
      </p:sp>
      <p:sp>
        <p:nvSpPr>
          <p:cNvPr id="5" name="logic-01:factor"/>
          <p:cNvSpPr/>
          <p:nvPr/>
        </p:nvSpPr>
        <p:spPr>
          <a:xfrm>
            <a:off x="468000" y="2024872"/>
            <a:ext cx="3608040" cy="1436613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logic-01:marker"/>
          <p:cNvSpPr/>
          <p:nvPr/>
        </p:nvSpPr>
        <p:spPr>
          <a:xfrm>
            <a:off x="608400" y="2212072"/>
            <a:ext cx="351000" cy="351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256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2563C9"/>
                </a:solidFill>
              </a:rPr>
              <a:t>1</a:t>
            </a:r>
          </a:p>
        </p:txBody>
      </p:sp>
      <p:sp>
        <p:nvSpPr>
          <p:cNvPr id="7" name="logic-01:factor-text"/>
          <p:cNvSpPr txBox="1"/>
          <p:nvPr/>
        </p:nvSpPr>
        <p:spPr>
          <a:xfrm>
            <a:off x="608400" y="2680072"/>
            <a:ext cx="3327240" cy="59421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1" spc="-40">
                <a:solidFill>
                  <a:srgbClr val="262B33"/>
                </a:solidFill>
              </a:rPr>
              <a:t>Gathered at the border</a:t>
            </a:r>
          </a:p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CD8 score 3.2× (border / core)</a:t>
            </a:r>
          </a:p>
        </p:txBody>
      </p:sp>
      <p:sp>
        <p:nvSpPr>
          <p:cNvPr id="8" name="logic-01:factor"/>
          <p:cNvSpPr/>
          <p:nvPr/>
        </p:nvSpPr>
        <p:spPr>
          <a:xfrm>
            <a:off x="4292040" y="2024872"/>
            <a:ext cx="3608040" cy="1436613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logic-01:marker"/>
          <p:cNvSpPr/>
          <p:nvPr/>
        </p:nvSpPr>
        <p:spPr>
          <a:xfrm>
            <a:off x="4432440" y="2212072"/>
            <a:ext cx="351000" cy="351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256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2563C9"/>
                </a:solidFill>
              </a:rPr>
              <a:t>2</a:t>
            </a:r>
          </a:p>
        </p:txBody>
      </p:sp>
      <p:sp>
        <p:nvSpPr>
          <p:cNvPr id="10" name="logic-01:factor-text"/>
          <p:cNvSpPr txBox="1"/>
          <p:nvPr/>
        </p:nvSpPr>
        <p:spPr>
          <a:xfrm>
            <a:off x="4432440" y="2680072"/>
            <a:ext cx="3327240" cy="59421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1" spc="-40">
                <a:solidFill>
                  <a:srgbClr val="262B33"/>
                </a:solidFill>
              </a:rPr>
              <a:t>Fibroblast signal</a:t>
            </a:r>
          </a:p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2.5× higher in non-responders</a:t>
            </a:r>
          </a:p>
        </p:txBody>
      </p:sp>
      <p:sp>
        <p:nvSpPr>
          <p:cNvPr id="11" name="logic-01:factor"/>
          <p:cNvSpPr/>
          <p:nvPr/>
        </p:nvSpPr>
        <p:spPr>
          <a:xfrm>
            <a:off x="8116080" y="2024872"/>
            <a:ext cx="3608040" cy="1436613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logic-01:marker"/>
          <p:cNvSpPr/>
          <p:nvPr/>
        </p:nvSpPr>
        <p:spPr>
          <a:xfrm>
            <a:off x="8256480" y="2212072"/>
            <a:ext cx="351000" cy="351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256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2563C9"/>
                </a:solidFill>
              </a:rPr>
              <a:t>3</a:t>
            </a:r>
          </a:p>
        </p:txBody>
      </p:sp>
      <p:sp>
        <p:nvSpPr>
          <p:cNvPr id="13" name="logic-01:factor-text"/>
          <p:cNvSpPr txBox="1"/>
          <p:nvPr/>
        </p:nvSpPr>
        <p:spPr>
          <a:xfrm>
            <a:off x="8256480" y="2680072"/>
            <a:ext cx="3327240" cy="59421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1" spc="-40">
                <a:solidFill>
                  <a:srgbClr val="262B33"/>
                </a:solidFill>
              </a:rPr>
              <a:t>Thin barrier in responders</a:t>
            </a:r>
          </a:p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All 6 responders below half</a:t>
            </a:r>
          </a:p>
        </p:txBody>
      </p:sp>
      <p:cxnSp>
        <p:nvCxnSpPr>
          <p:cNvPr id="14" name="logic-01:link"/>
          <p:cNvCxnSpPr/>
          <p:nvPr/>
        </p:nvCxnSpPr>
        <p:spPr>
          <a:xfrm>
            <a:off x="2272020" y="3461485"/>
            <a:ext cx="0" cy="3276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logic-01:link"/>
          <p:cNvCxnSpPr/>
          <p:nvPr/>
        </p:nvCxnSpPr>
        <p:spPr>
          <a:xfrm>
            <a:off x="6096060" y="3461485"/>
            <a:ext cx="0" cy="3276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logic-01:link"/>
          <p:cNvCxnSpPr/>
          <p:nvPr/>
        </p:nvCxnSpPr>
        <p:spPr>
          <a:xfrm>
            <a:off x="9920100" y="3461485"/>
            <a:ext cx="0" cy="3276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logic-01:link"/>
          <p:cNvCxnSpPr/>
          <p:nvPr/>
        </p:nvCxnSpPr>
        <p:spPr>
          <a:xfrm>
            <a:off x="2272020" y="3789085"/>
            <a:ext cx="7648080" cy="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logic-01:link"/>
          <p:cNvCxnSpPr/>
          <p:nvPr/>
        </p:nvCxnSpPr>
        <p:spPr>
          <a:xfrm>
            <a:off x="6096060" y="3789085"/>
            <a:ext cx="0" cy="32760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logic-01:conclusion"/>
          <p:cNvSpPr/>
          <p:nvPr/>
        </p:nvSpPr>
        <p:spPr>
          <a:xfrm>
            <a:off x="2380020" y="4116685"/>
            <a:ext cx="7432080" cy="1103571"/>
          </a:xfrm>
          <a:prstGeom prst="rect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logic-01:conclusion-text"/>
          <p:cNvSpPr txBox="1"/>
          <p:nvPr/>
        </p:nvSpPr>
        <p:spPr>
          <a:xfrm>
            <a:off x="2660820" y="4116685"/>
            <a:ext cx="6870480" cy="110357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800" b="1" spc="-40">
                <a:solidFill>
                  <a:srgbClr val="FFFFFF"/>
                </a:solidFill>
              </a:rPr>
              <a:t>Lowering the fibroblast barrier may improve immunotherapy response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7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 border immune niche decides immunotherapy response in colorectal cancer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Co-authors · HaLab</a:t>
            </a:r>
          </a:p>
          <a:p>
            <a:r>
              <a:t>Funding: example grant (grant no.)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aLab 블루 클린 16:9">
  <a:themeElements>
    <a:clrScheme name="HaLab 블루 클린 16:9">
      <a:dk1>
        <a:srgbClr val="262B33"/>
      </a:dk1>
      <a:lt1>
        <a:srgbClr val="FFFFFF"/>
      </a:lt1>
      <a:dk2>
        <a:srgbClr val="6B7280"/>
      </a:dk2>
      <a:lt2>
        <a:srgbClr val="FBFBFB"/>
      </a:lt2>
      <a:accent1>
        <a:srgbClr val="2563C9"/>
      </a:accent1>
      <a:accent2>
        <a:srgbClr val="14A884"/>
      </a:accent2>
      <a:accent3>
        <a:srgbClr val="36B3C2"/>
      </a:accent3>
      <a:accent4>
        <a:srgbClr val="FFD93D"/>
      </a:accent4>
      <a:accent5>
        <a:srgbClr val="A8C1E9"/>
      </a:accent5>
      <a:accent6>
        <a:srgbClr val="E2E5EA"/>
      </a:accent6>
      <a:hlink>
        <a:srgbClr val="2563C9"/>
      </a:hlink>
      <a:folHlink>
        <a:srgbClr val="36B3C2"/>
      </a:folHlink>
    </a:clrScheme>
    <a:fontScheme name="Pretendard">
      <a:majorFont>
        <a:latin typeface="Pretendard"/>
        <a:ea typeface="Pretendard"/>
        <a:cs typeface=""/>
        <a:font script="Hang" typeface="Pretendard"/>
      </a:majorFont>
      <a:minorFont>
        <a:latin typeface="Pretendard"/>
        <a:ea typeface="Pretendard"/>
        <a:cs typeface=""/>
        <a:font script="Hang" typeface="Pretendard"/>
      </a:minorFont>
    </a:fontScheme>
    <a:fmtScheme name="HaLab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9525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>
    <a:spDef>
      <a:spPr>
        <a:solidFill>
          <a:schemeClr val="bg1"/>
        </a:solidFill>
        <a:ln w="9525">
          <a:solidFill>
            <a:schemeClr val="accent6"/>
          </a:solidFill>
        </a:ln>
      </a:spPr>
      <a:bodyPr rtlCol="0" anchor="ctr"/>
      <a:lstStyle>
        <a:defPPr algn="ctr">
          <a:defRPr lang="ko-KR"/>
        </a:defPPr>
      </a:lstStyle>
      <a:style>
        <a:lnRef idx="0">
          <a:schemeClr val="accent6"/>
        </a:lnRef>
        <a:fillRef idx="0">
          <a:schemeClr val="bg1"/>
        </a:fillRef>
        <a:effectRef idx="0">
          <a:schemeClr val="accent1"/>
        </a:effectRef>
        <a:fontRef idx="minor">
          <a:schemeClr val="tx1"/>
        </a:fontRef>
      </a:style>
    </a:spDef>
    <a:lnDef>
      <a:spPr>
        <a:ln w="9525">
          <a:solidFill>
            <a:schemeClr val="tx2"/>
          </a:solidFill>
        </a:ln>
      </a:spPr>
      <a:bodyPr/>
      <a:lstStyle/>
      <a:style>
        <a:lnRef idx="0">
          <a:schemeClr val="tx2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lnSpc>
            <a:spcPct val="120000"/>
          </a:lnSpc>
          <a:defRPr lang="ko-KR" spc="-4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HaLab 블루 클린 16:9</dc:title>
  <dc:creator>HaLab</dc:creator>
</cp:coreProperties>
</file>