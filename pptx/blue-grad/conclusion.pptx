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(conclusion-a).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(conclusion-b).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(conclusion-c).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2563C9"/>
              </a:gs>
              <a:gs pos="50000">
                <a:srgbClr val="0E7C8A"/>
              </a:gs>
              <a:gs pos="100000">
                <a:srgbClr val="0D7A5A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2563C9"/>
              </a:gs>
              <a:gs pos="50000">
                <a:srgbClr val="0E7C8A"/>
              </a:gs>
              <a:gs pos="100000">
                <a:srgbClr val="0D7A5A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발표 시간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발표마다 쓸 수 있는 시간이 달라요</a:t>
            </a:r>
          </a:p>
        </p:txBody>
      </p:sp>
      <p:sp>
        <p:nvSpPr>
          <p:cNvPr id="5" name="data-04:value"/>
          <p:cNvSpPr txBox="1"/>
          <p:nvPr/>
        </p:nvSpPr>
        <p:spPr>
          <a:xfrm>
            <a:off x="468000" y="1947468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30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6" name="data-04:bar"/>
          <p:cNvSpPr/>
          <p:nvPr/>
        </p:nvSpPr>
        <p:spPr>
          <a:xfrm>
            <a:off x="2124000" y="2145468"/>
            <a:ext cx="4502448" cy="252000"/>
          </a:xfrm>
          <a:prstGeom prst="roundRect">
            <a:avLst>
              <a:gd name="adj" fmla="val 50000"/>
            </a:avLst>
          </a:prstGeom>
          <a:solidFill>
            <a:srgbClr val="719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data-04:label"/>
          <p:cNvSpPr txBox="1"/>
          <p:nvPr/>
        </p:nvSpPr>
        <p:spPr>
          <a:xfrm>
            <a:off x="6950448" y="2001468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Journal club</a:t>
            </a:r>
          </a:p>
        </p:txBody>
      </p:sp>
      <p:sp>
        <p:nvSpPr>
          <p:cNvPr id="8" name="data-04:desc"/>
          <p:cNvSpPr txBox="1"/>
          <p:nvPr/>
        </p:nvSpPr>
        <p:spPr>
          <a:xfrm>
            <a:off x="6950448" y="2289468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논문 한 편을 같이 공부</a:t>
            </a:r>
          </a:p>
        </p:txBody>
      </p:sp>
      <p:cxnSp>
        <p:nvCxnSpPr>
          <p:cNvPr id="9" name="data-04:line"/>
          <p:cNvCxnSpPr/>
          <p:nvPr/>
        </p:nvCxnSpPr>
        <p:spPr>
          <a:xfrm>
            <a:off x="468000" y="2748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ata-04:value"/>
          <p:cNvSpPr txBox="1"/>
          <p:nvPr/>
        </p:nvSpPr>
        <p:spPr>
          <a:xfrm>
            <a:off x="468000" y="2901468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15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11" name="data-04:bar"/>
          <p:cNvSpPr/>
          <p:nvPr/>
        </p:nvSpPr>
        <p:spPr>
          <a:xfrm>
            <a:off x="2124000" y="3099468"/>
            <a:ext cx="2251224" cy="252000"/>
          </a:xfrm>
          <a:prstGeom prst="roundRect">
            <a:avLst>
              <a:gd name="adj" fmla="val 50000"/>
            </a:avLst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data-04:label"/>
          <p:cNvSpPr txBox="1"/>
          <p:nvPr/>
        </p:nvSpPr>
        <p:spPr>
          <a:xfrm>
            <a:off x="6950448" y="2955468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Progress report</a:t>
            </a:r>
          </a:p>
        </p:txBody>
      </p:sp>
      <p:sp>
        <p:nvSpPr>
          <p:cNvPr id="13" name="data-04:desc"/>
          <p:cNvSpPr txBox="1"/>
          <p:nvPr/>
        </p:nvSpPr>
        <p:spPr>
          <a:xfrm>
            <a:off x="6950448" y="3243468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지난 결과와 다음 계획</a:t>
            </a:r>
          </a:p>
        </p:txBody>
      </p:sp>
      <p:cxnSp>
        <p:nvCxnSpPr>
          <p:cNvPr id="14" name="data-04:line"/>
          <p:cNvCxnSpPr/>
          <p:nvPr/>
        </p:nvCxnSpPr>
        <p:spPr>
          <a:xfrm>
            <a:off x="468000" y="3702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ata-04:value"/>
          <p:cNvSpPr txBox="1"/>
          <p:nvPr/>
        </p:nvSpPr>
        <p:spPr>
          <a:xfrm>
            <a:off x="468000" y="3855468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12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16" name="data-04:bar"/>
          <p:cNvSpPr/>
          <p:nvPr/>
        </p:nvSpPr>
        <p:spPr>
          <a:xfrm>
            <a:off x="2124000" y="4053468"/>
            <a:ext cx="1800979" cy="252000"/>
          </a:xfrm>
          <a:prstGeom prst="roundRect">
            <a:avLst>
              <a:gd name="adj" fmla="val 50000"/>
            </a:avLst>
          </a:prstGeom>
          <a:solidFill>
            <a:srgbClr val="A8C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data-04:label"/>
          <p:cNvSpPr txBox="1"/>
          <p:nvPr/>
        </p:nvSpPr>
        <p:spPr>
          <a:xfrm>
            <a:off x="6950448" y="3909468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학회 구두 발표</a:t>
            </a:r>
          </a:p>
        </p:txBody>
      </p:sp>
      <p:sp>
        <p:nvSpPr>
          <p:cNvPr id="18" name="data-04:desc"/>
          <p:cNvSpPr txBox="1"/>
          <p:nvPr/>
        </p:nvSpPr>
        <p:spPr>
          <a:xfrm>
            <a:off x="6950448" y="4197468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질의응답은 따로</a:t>
            </a:r>
          </a:p>
        </p:txBody>
      </p:sp>
      <p:cxnSp>
        <p:nvCxnSpPr>
          <p:cNvPr id="19" name="conclusion:line"/>
          <p:cNvCxnSpPr/>
          <p:nvPr/>
        </p:nvCxnSpPr>
        <p:spPr>
          <a:xfrm>
            <a:off x="468000" y="4872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nclusion:text"/>
          <p:cNvSpPr txBox="1"/>
          <p:nvPr/>
        </p:nvSpPr>
        <p:spPr>
          <a:xfrm>
            <a:off x="468000" y="5070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Progress report 15분</a:t>
            </a:r>
            <a:r>
              <a:rPr sz="1400" b="0" spc="-40">
                <a:solidFill>
                  <a:srgbClr val="6B7280"/>
                </a:solidFill>
              </a:rPr>
              <a:t>이면 12–15장, 데이터 장은 장마다 1.5–2분이에요.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분석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다섯 단계를 거쳐 차등발현 유전자를 얻어요</a:t>
            </a:r>
          </a:p>
        </p:txBody>
      </p:sp>
      <p:sp>
        <p:nvSpPr>
          <p:cNvPr id="5" name="res-03:bg"/>
          <p:cNvSpPr/>
          <p:nvPr/>
        </p:nvSpPr>
        <p:spPr>
          <a:xfrm>
            <a:off x="468000" y="1896468"/>
            <a:ext cx="2078424" cy="2862000"/>
          </a:xfrm>
          <a:prstGeom prst="rect">
            <a:avLst/>
          </a:prstGeom>
          <a:solidFill>
            <a:srgbClr val="E9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3:step"/>
          <p:cNvSpPr txBox="1"/>
          <p:nvPr/>
        </p:nvSpPr>
        <p:spPr>
          <a:xfrm>
            <a:off x="468000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1단계</a:t>
            </a:r>
          </a:p>
        </p:txBody>
      </p:sp>
      <p:sp>
        <p:nvSpPr>
          <p:cNvPr id="7" name="res-03:pill"/>
          <p:cNvSpPr/>
          <p:nvPr/>
        </p:nvSpPr>
        <p:spPr>
          <a:xfrm>
            <a:off x="792000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3:name"/>
          <p:cNvSpPr txBox="1"/>
          <p:nvPr/>
        </p:nvSpPr>
        <p:spPr>
          <a:xfrm>
            <a:off x="792000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2563C9"/>
                </a:solidFill>
              </a:rPr>
              <a:t>품질관리</a:t>
            </a:r>
          </a:p>
        </p:txBody>
      </p:sp>
      <p:sp>
        <p:nvSpPr>
          <p:cNvPr id="9" name="res-03:lines"/>
          <p:cNvSpPr txBox="1"/>
          <p:nvPr/>
        </p:nvSpPr>
        <p:spPr>
          <a:xfrm>
            <a:off x="648000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Scrublet · scater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count 행렬 → 걸러진 세포</a:t>
            </a:r>
          </a:p>
        </p:txBody>
      </p:sp>
      <p:sp>
        <p:nvSpPr>
          <p:cNvPr id="10" name="res-03:sep"/>
          <p:cNvSpPr txBox="1"/>
          <p:nvPr/>
        </p:nvSpPr>
        <p:spPr>
          <a:xfrm>
            <a:off x="2510424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A8C1E9"/>
                </a:solidFill>
              </a:rPr>
              <a:t>›</a:t>
            </a:r>
          </a:p>
        </p:txBody>
      </p:sp>
      <p:sp>
        <p:nvSpPr>
          <p:cNvPr id="11" name="res-03:bg"/>
          <p:cNvSpPr/>
          <p:nvPr/>
        </p:nvSpPr>
        <p:spPr>
          <a:xfrm>
            <a:off x="2762424" y="1896468"/>
            <a:ext cx="2078424" cy="2862000"/>
          </a:xfrm>
          <a:prstGeom prst="rect">
            <a:avLst/>
          </a:prstGeom>
          <a:solidFill>
            <a:srgbClr val="E9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3:step"/>
          <p:cNvSpPr txBox="1"/>
          <p:nvPr/>
        </p:nvSpPr>
        <p:spPr>
          <a:xfrm>
            <a:off x="2762424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2단계</a:t>
            </a:r>
          </a:p>
        </p:txBody>
      </p:sp>
      <p:sp>
        <p:nvSpPr>
          <p:cNvPr id="13" name="res-03:pill"/>
          <p:cNvSpPr/>
          <p:nvPr/>
        </p:nvSpPr>
        <p:spPr>
          <a:xfrm>
            <a:off x="3086424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3:name"/>
          <p:cNvSpPr txBox="1"/>
          <p:nvPr/>
        </p:nvSpPr>
        <p:spPr>
          <a:xfrm>
            <a:off x="3086424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2563C9"/>
                </a:solidFill>
              </a:rPr>
              <a:t>정규화</a:t>
            </a:r>
          </a:p>
        </p:txBody>
      </p:sp>
      <p:sp>
        <p:nvSpPr>
          <p:cNvPr id="15" name="res-03:lines"/>
          <p:cNvSpPr txBox="1"/>
          <p:nvPr/>
        </p:nvSpPr>
        <p:spPr>
          <a:xfrm>
            <a:off x="2942424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SCTransform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정규화 발현</a:t>
            </a:r>
          </a:p>
        </p:txBody>
      </p:sp>
      <p:sp>
        <p:nvSpPr>
          <p:cNvPr id="16" name="res-03:sep"/>
          <p:cNvSpPr txBox="1"/>
          <p:nvPr/>
        </p:nvSpPr>
        <p:spPr>
          <a:xfrm>
            <a:off x="4804848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A8C1E9"/>
                </a:solidFill>
              </a:rPr>
              <a:t>›</a:t>
            </a:r>
          </a:p>
        </p:txBody>
      </p:sp>
      <p:sp>
        <p:nvSpPr>
          <p:cNvPr id="17" name="res-03:bg"/>
          <p:cNvSpPr/>
          <p:nvPr/>
        </p:nvSpPr>
        <p:spPr>
          <a:xfrm>
            <a:off x="5056848" y="1896468"/>
            <a:ext cx="2078424" cy="2862000"/>
          </a:xfrm>
          <a:prstGeom prst="rect">
            <a:avLst/>
          </a:prstGeom>
          <a:solidFill>
            <a:srgbClr val="E9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3:step"/>
          <p:cNvSpPr txBox="1"/>
          <p:nvPr/>
        </p:nvSpPr>
        <p:spPr>
          <a:xfrm>
            <a:off x="5056848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3단계</a:t>
            </a:r>
          </a:p>
        </p:txBody>
      </p:sp>
      <p:sp>
        <p:nvSpPr>
          <p:cNvPr id="19" name="res-03:pill"/>
          <p:cNvSpPr/>
          <p:nvPr/>
        </p:nvSpPr>
        <p:spPr>
          <a:xfrm>
            <a:off x="5380848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s-03:name"/>
          <p:cNvSpPr txBox="1"/>
          <p:nvPr/>
        </p:nvSpPr>
        <p:spPr>
          <a:xfrm>
            <a:off x="5380848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2563C9"/>
                </a:solidFill>
              </a:rPr>
              <a:t>통합 · 군집</a:t>
            </a:r>
          </a:p>
        </p:txBody>
      </p:sp>
      <p:sp>
        <p:nvSpPr>
          <p:cNvPr id="21" name="res-03:lines"/>
          <p:cNvSpPr txBox="1"/>
          <p:nvPr/>
        </p:nvSpPr>
        <p:spPr>
          <a:xfrm>
            <a:off x="5236848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Harmony · Leiden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군집 번호</a:t>
            </a:r>
          </a:p>
        </p:txBody>
      </p:sp>
      <p:sp>
        <p:nvSpPr>
          <p:cNvPr id="22" name="res-03:sep"/>
          <p:cNvSpPr txBox="1"/>
          <p:nvPr/>
        </p:nvSpPr>
        <p:spPr>
          <a:xfrm>
            <a:off x="7099272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A8C1E9"/>
                </a:solidFill>
              </a:rPr>
              <a:t>›</a:t>
            </a:r>
          </a:p>
        </p:txBody>
      </p:sp>
      <p:sp>
        <p:nvSpPr>
          <p:cNvPr id="23" name="res-03:bg"/>
          <p:cNvSpPr/>
          <p:nvPr/>
        </p:nvSpPr>
        <p:spPr>
          <a:xfrm>
            <a:off x="7351272" y="1896468"/>
            <a:ext cx="2078424" cy="2862000"/>
          </a:xfrm>
          <a:prstGeom prst="rect">
            <a:avLst/>
          </a:prstGeom>
          <a:solidFill>
            <a:srgbClr val="E9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s-03:step"/>
          <p:cNvSpPr txBox="1"/>
          <p:nvPr/>
        </p:nvSpPr>
        <p:spPr>
          <a:xfrm>
            <a:off x="7351272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4단계</a:t>
            </a:r>
          </a:p>
        </p:txBody>
      </p:sp>
      <p:sp>
        <p:nvSpPr>
          <p:cNvPr id="25" name="res-03:pill"/>
          <p:cNvSpPr/>
          <p:nvPr/>
        </p:nvSpPr>
        <p:spPr>
          <a:xfrm>
            <a:off x="7675272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s-03:name"/>
          <p:cNvSpPr txBox="1"/>
          <p:nvPr/>
        </p:nvSpPr>
        <p:spPr>
          <a:xfrm>
            <a:off x="7675272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2563C9"/>
                </a:solidFill>
              </a:rPr>
              <a:t>세포 유형 주석</a:t>
            </a:r>
          </a:p>
        </p:txBody>
      </p:sp>
      <p:sp>
        <p:nvSpPr>
          <p:cNvPr id="27" name="res-03:lines"/>
          <p:cNvSpPr txBox="1"/>
          <p:nvPr/>
        </p:nvSpPr>
        <p:spPr>
          <a:xfrm>
            <a:off x="7531272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SingleR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세포 유형</a:t>
            </a:r>
          </a:p>
        </p:txBody>
      </p:sp>
      <p:sp>
        <p:nvSpPr>
          <p:cNvPr id="28" name="res-03:sep"/>
          <p:cNvSpPr txBox="1"/>
          <p:nvPr/>
        </p:nvSpPr>
        <p:spPr>
          <a:xfrm>
            <a:off x="9393696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A8C1E9"/>
                </a:solidFill>
              </a:rPr>
              <a:t>›</a:t>
            </a:r>
          </a:p>
        </p:txBody>
      </p:sp>
      <p:sp>
        <p:nvSpPr>
          <p:cNvPr id="29" name="res-03:bg"/>
          <p:cNvSpPr/>
          <p:nvPr/>
        </p:nvSpPr>
        <p:spPr>
          <a:xfrm>
            <a:off x="9645696" y="1896468"/>
            <a:ext cx="2078424" cy="2862000"/>
          </a:xfrm>
          <a:prstGeom prst="rect">
            <a:avLst/>
          </a:prstGeom>
          <a:solidFill>
            <a:srgbClr val="E9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s-03:step"/>
          <p:cNvSpPr txBox="1"/>
          <p:nvPr/>
        </p:nvSpPr>
        <p:spPr>
          <a:xfrm>
            <a:off x="9645696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5단계</a:t>
            </a:r>
          </a:p>
        </p:txBody>
      </p:sp>
      <p:sp>
        <p:nvSpPr>
          <p:cNvPr id="31" name="res-03:pill"/>
          <p:cNvSpPr/>
          <p:nvPr/>
        </p:nvSpPr>
        <p:spPr>
          <a:xfrm>
            <a:off x="9969696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s-03:name"/>
          <p:cNvSpPr txBox="1"/>
          <p:nvPr/>
        </p:nvSpPr>
        <p:spPr>
          <a:xfrm>
            <a:off x="9969696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2563C9"/>
                </a:solidFill>
              </a:rPr>
              <a:t>군 간 비교</a:t>
            </a:r>
          </a:p>
        </p:txBody>
      </p:sp>
      <p:sp>
        <p:nvSpPr>
          <p:cNvPr id="33" name="res-03:lines"/>
          <p:cNvSpPr txBox="1"/>
          <p:nvPr/>
        </p:nvSpPr>
        <p:spPr>
          <a:xfrm>
            <a:off x="9825696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pseudobulk DESeq2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차등발현 유전자</a:t>
            </a:r>
          </a:p>
        </p:txBody>
      </p:sp>
      <p:cxnSp>
        <p:nvCxnSpPr>
          <p:cNvPr id="34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onclusion:label"/>
          <p:cNvSpPr txBox="1"/>
          <p:nvPr/>
        </p:nvSpPr>
        <p:spPr>
          <a:xfrm>
            <a:off x="468000" y="5172468"/>
            <a:ext cx="2160000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최종 산출물</a:t>
            </a:r>
          </a:p>
        </p:txBody>
      </p:sp>
      <p:sp>
        <p:nvSpPr>
          <p:cNvPr id="36" name="conclusion:text"/>
          <p:cNvSpPr txBox="1"/>
          <p:nvPr/>
        </p:nvSpPr>
        <p:spPr>
          <a:xfrm>
            <a:off x="2808000" y="5172468"/>
            <a:ext cx="891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세포 유형별 차등발현 유전자 표와 volcano plot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계획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첫 논문까지 1년 반을 잡아요</a:t>
            </a:r>
          </a:p>
        </p:txBody>
      </p:sp>
      <p:sp>
        <p:nvSpPr>
          <p:cNvPr id="5" name="time-02:band"/>
          <p:cNvSpPr/>
          <p:nvPr/>
        </p:nvSpPr>
        <p:spPr>
          <a:xfrm>
            <a:off x="468000" y="2821765"/>
            <a:ext cx="11256120" cy="149760"/>
          </a:xfrm>
          <a:prstGeom prst="rect">
            <a:avLst/>
          </a:prstGeom>
          <a:gradFill rotWithShape="1">
            <a:gsLst>
              <a:gs pos="0">
                <a:srgbClr val="2563C9"/>
              </a:gs>
              <a:gs pos="100000">
                <a:srgbClr val="0D7A5A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ime-02:date"/>
          <p:cNvSpPr txBox="1"/>
          <p:nvPr/>
        </p:nvSpPr>
        <p:spPr>
          <a:xfrm>
            <a:off x="468000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2026. 3.</a:t>
            </a:r>
          </a:p>
        </p:txBody>
      </p:sp>
      <p:sp>
        <p:nvSpPr>
          <p:cNvPr id="7" name="time-02:marker"/>
          <p:cNvSpPr/>
          <p:nvPr/>
        </p:nvSpPr>
        <p:spPr>
          <a:xfrm>
            <a:off x="468000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46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464C7"/>
                </a:solidFill>
              </a:rPr>
              <a:t>1</a:t>
            </a:r>
          </a:p>
        </p:txBody>
      </p:sp>
      <p:cxnSp>
        <p:nvCxnSpPr>
          <p:cNvPr id="8" name="time-02:tick"/>
          <p:cNvCxnSpPr/>
          <p:nvPr/>
        </p:nvCxnSpPr>
        <p:spPr>
          <a:xfrm>
            <a:off x="678600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me-02:title"/>
          <p:cNvSpPr txBox="1"/>
          <p:nvPr/>
        </p:nvSpPr>
        <p:spPr>
          <a:xfrm>
            <a:off x="468000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연구실 합류</a:t>
            </a:r>
          </a:p>
        </p:txBody>
      </p:sp>
      <p:sp>
        <p:nvSpPr>
          <p:cNvPr id="10" name="time-02:desc"/>
          <p:cNvSpPr txBox="1"/>
          <p:nvPr/>
        </p:nvSpPr>
        <p:spPr>
          <a:xfrm>
            <a:off x="468000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분야 탐색 · 기본 분석 익히기</a:t>
            </a:r>
          </a:p>
        </p:txBody>
      </p:sp>
      <p:sp>
        <p:nvSpPr>
          <p:cNvPr id="11" name="time-02:date"/>
          <p:cNvSpPr txBox="1"/>
          <p:nvPr/>
        </p:nvSpPr>
        <p:spPr>
          <a:xfrm>
            <a:off x="2719224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2026. 7.</a:t>
            </a:r>
          </a:p>
        </p:txBody>
      </p:sp>
      <p:sp>
        <p:nvSpPr>
          <p:cNvPr id="12" name="time-02:marker"/>
          <p:cNvSpPr/>
          <p:nvPr/>
        </p:nvSpPr>
        <p:spPr>
          <a:xfrm>
            <a:off x="2719224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B6E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B6EAD"/>
                </a:solidFill>
              </a:rPr>
              <a:t>2</a:t>
            </a:r>
          </a:p>
        </p:txBody>
      </p:sp>
      <p:cxnSp>
        <p:nvCxnSpPr>
          <p:cNvPr id="13" name="time-02:tick"/>
          <p:cNvCxnSpPr/>
          <p:nvPr/>
        </p:nvCxnSpPr>
        <p:spPr>
          <a:xfrm>
            <a:off x="2929824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me-02:title"/>
          <p:cNvSpPr txBox="1"/>
          <p:nvPr/>
        </p:nvSpPr>
        <p:spPr>
          <a:xfrm>
            <a:off x="2719224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주제 확정</a:t>
            </a:r>
          </a:p>
        </p:txBody>
      </p:sp>
      <p:sp>
        <p:nvSpPr>
          <p:cNvPr id="15" name="time-02:desc"/>
          <p:cNvSpPr txBox="1"/>
          <p:nvPr/>
        </p:nvSpPr>
        <p:spPr>
          <a:xfrm>
            <a:off x="2719224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 질문과 데이터 정하기</a:t>
            </a:r>
          </a:p>
        </p:txBody>
      </p:sp>
      <p:sp>
        <p:nvSpPr>
          <p:cNvPr id="16" name="time-02:date"/>
          <p:cNvSpPr txBox="1"/>
          <p:nvPr/>
        </p:nvSpPr>
        <p:spPr>
          <a:xfrm>
            <a:off x="4970448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2026. 12.</a:t>
            </a:r>
          </a:p>
        </p:txBody>
      </p:sp>
      <p:sp>
        <p:nvSpPr>
          <p:cNvPr id="17" name="time-02:marker"/>
          <p:cNvSpPr/>
          <p:nvPr/>
        </p:nvSpPr>
        <p:spPr>
          <a:xfrm>
            <a:off x="4970448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278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27894"/>
                </a:solidFill>
              </a:rPr>
              <a:t>3</a:t>
            </a:r>
          </a:p>
        </p:txBody>
      </p:sp>
      <p:cxnSp>
        <p:nvCxnSpPr>
          <p:cNvPr id="18" name="time-02:tick"/>
          <p:cNvCxnSpPr/>
          <p:nvPr/>
        </p:nvCxnSpPr>
        <p:spPr>
          <a:xfrm>
            <a:off x="5181048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ime-02:title"/>
          <p:cNvSpPr txBox="1"/>
          <p:nvPr/>
        </p:nvSpPr>
        <p:spPr>
          <a:xfrm>
            <a:off x="4970448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첫 결과 발표</a:t>
            </a:r>
          </a:p>
        </p:txBody>
      </p:sp>
      <p:sp>
        <p:nvSpPr>
          <p:cNvPr id="20" name="time-02:desc"/>
          <p:cNvSpPr txBox="1"/>
          <p:nvPr/>
        </p:nvSpPr>
        <p:spPr>
          <a:xfrm>
            <a:off x="4970448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랩미팅 Progress report</a:t>
            </a:r>
          </a:p>
        </p:txBody>
      </p:sp>
      <p:sp>
        <p:nvSpPr>
          <p:cNvPr id="21" name="time-02:date"/>
          <p:cNvSpPr txBox="1"/>
          <p:nvPr/>
        </p:nvSpPr>
        <p:spPr>
          <a:xfrm>
            <a:off x="7221672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2027. 5.</a:t>
            </a:r>
          </a:p>
        </p:txBody>
      </p:sp>
      <p:sp>
        <p:nvSpPr>
          <p:cNvPr id="22" name="time-02:marker"/>
          <p:cNvSpPr/>
          <p:nvPr/>
        </p:nvSpPr>
        <p:spPr>
          <a:xfrm>
            <a:off x="7221672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E7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E7C7F"/>
                </a:solidFill>
              </a:rPr>
              <a:t>4</a:t>
            </a:r>
          </a:p>
        </p:txBody>
      </p:sp>
      <p:cxnSp>
        <p:nvCxnSpPr>
          <p:cNvPr id="23" name="time-02:tick"/>
          <p:cNvCxnSpPr/>
          <p:nvPr/>
        </p:nvCxnSpPr>
        <p:spPr>
          <a:xfrm>
            <a:off x="7432272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ime-02:title"/>
          <p:cNvSpPr txBox="1"/>
          <p:nvPr/>
        </p:nvSpPr>
        <p:spPr>
          <a:xfrm>
            <a:off x="7221672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학회 포스터</a:t>
            </a:r>
          </a:p>
        </p:txBody>
      </p:sp>
      <p:sp>
        <p:nvSpPr>
          <p:cNvPr id="25" name="time-02:desc"/>
          <p:cNvSpPr txBox="1"/>
          <p:nvPr/>
        </p:nvSpPr>
        <p:spPr>
          <a:xfrm>
            <a:off x="7221672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연구실 밖 첫 발표</a:t>
            </a:r>
          </a:p>
        </p:txBody>
      </p:sp>
      <p:sp>
        <p:nvSpPr>
          <p:cNvPr id="26" name="time-02:date"/>
          <p:cNvSpPr txBox="1"/>
          <p:nvPr/>
        </p:nvSpPr>
        <p:spPr>
          <a:xfrm>
            <a:off x="9472896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2027. 10.</a:t>
            </a:r>
          </a:p>
        </p:txBody>
      </p:sp>
      <p:sp>
        <p:nvSpPr>
          <p:cNvPr id="27" name="time-02:marker"/>
          <p:cNvSpPr/>
          <p:nvPr/>
        </p:nvSpPr>
        <p:spPr>
          <a:xfrm>
            <a:off x="9472896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D7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D7B6B"/>
                </a:solidFill>
              </a:rPr>
              <a:t>5</a:t>
            </a:r>
          </a:p>
        </p:txBody>
      </p:sp>
      <p:cxnSp>
        <p:nvCxnSpPr>
          <p:cNvPr id="28" name="time-02:tick"/>
          <p:cNvCxnSpPr/>
          <p:nvPr/>
        </p:nvCxnSpPr>
        <p:spPr>
          <a:xfrm>
            <a:off x="9683496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ime-02:title"/>
          <p:cNvSpPr txBox="1"/>
          <p:nvPr/>
        </p:nvSpPr>
        <p:spPr>
          <a:xfrm>
            <a:off x="9472896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논문 투고</a:t>
            </a:r>
          </a:p>
        </p:txBody>
      </p:sp>
      <p:sp>
        <p:nvSpPr>
          <p:cNvPr id="30" name="time-02:desc"/>
          <p:cNvSpPr txBox="1"/>
          <p:nvPr/>
        </p:nvSpPr>
        <p:spPr>
          <a:xfrm>
            <a:off x="9472896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첫 논문 원고 완성</a:t>
            </a:r>
          </a:p>
        </p:txBody>
      </p:sp>
      <p:cxnSp>
        <p:nvCxnSpPr>
          <p:cNvPr id="31" name="conclusion:line"/>
          <p:cNvCxnSpPr/>
          <p:nvPr/>
        </p:nvCxnSpPr>
        <p:spPr>
          <a:xfrm>
            <a:off x="468000" y="443646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onclusion:text"/>
          <p:cNvSpPr txBox="1"/>
          <p:nvPr/>
        </p:nvSpPr>
        <p:spPr>
          <a:xfrm>
            <a:off x="468000" y="4634469"/>
            <a:ext cx="7944687" cy="6419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주제를 정한 뒤에는 결과가 나오는 대로 랩미팅에서 보여 주고 피드백을 받아요.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 spc="-40">
                <a:solidFill>
                  <a:srgbClr val="6B7280"/>
                </a:solidFill>
              </a:rPr>
              <a:t>학회 포스터 초록은 내기 1주 전에 미리 알려 주세요.</a:t>
            </a:r>
          </a:p>
        </p:txBody>
      </p:sp>
      <p:sp>
        <p:nvSpPr>
          <p:cNvPr id="33" name="conclusion:callout"/>
          <p:cNvSpPr/>
          <p:nvPr/>
        </p:nvSpPr>
        <p:spPr>
          <a:xfrm>
            <a:off x="8628687" y="4634469"/>
            <a:ext cx="3095433" cy="864000"/>
          </a:xfrm>
          <a:prstGeom prst="rect">
            <a:avLst/>
          </a:prstGeom>
          <a:solidFill>
            <a:srgbClr val="FFD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conclusion:callout-text"/>
          <p:cNvSpPr txBox="1"/>
          <p:nvPr/>
        </p:nvSpPr>
        <p:spPr>
          <a:xfrm>
            <a:off x="8736687" y="4634469"/>
            <a:ext cx="2879433" cy="86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0D2250"/>
                </a:solidFill>
                <a:latin typeface="Pretendard Medium"/>
                <a:ea typeface="Pretendard Medium"/>
                <a:cs typeface="Pretendard Medium"/>
              </a:rPr>
              <a:t>투고 목표</a:t>
            </a:r>
          </a:p>
          <a:p>
            <a:pPr algn="ctr">
              <a:lnSpc>
                <a:spcPct val="125000"/>
              </a:lnSpc>
            </a:pPr>
            <a:r>
              <a:rPr sz="2000" b="1" spc="-40">
                <a:solidFill>
                  <a:srgbClr val="0D2250"/>
                </a:solidFill>
              </a:rPr>
              <a:t>2027년 10월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블루 클린 16:9">
  <a:themeElements>
    <a:clrScheme name="HaLab 블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563C9"/>
      </a:accent1>
      <a:accent2>
        <a:srgbClr val="14A884"/>
      </a:accent2>
      <a:accent3>
        <a:srgbClr val="36B3C2"/>
      </a:accent3>
      <a:accent4>
        <a:srgbClr val="FFD93D"/>
      </a:accent4>
      <a:accent5>
        <a:srgbClr val="A8C1E9"/>
      </a:accent5>
      <a:accent6>
        <a:srgbClr val="E2E5EA"/>
      </a:accent6>
      <a:hlink>
        <a:srgbClr val="2563C9"/>
      </a:hlink>
      <a:folHlink>
        <a:srgbClr val="36B3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블루 클린 16:9</dc:title>
  <dc:creator>HaLab</dc:creator>
</cp:coreProperties>
</file>