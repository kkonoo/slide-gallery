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3"/>
            <c:spPr>
              <a:solidFill>
                <a:srgbClr val="B0283C"/>
              </a:solidFill>
            </c:spPr>
          </c:dPt>
          <c:dLbls>
            <c:dLbl>
              <c:idx val="3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B0283C"/>
                        </a:solidFill>
                        <a:latin typeface="Pretendard"/>
                      </a:rPr>
                      <a:t>0.86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SPOTlight</c:v>
                </c:pt>
                <c:pt idx="1">
                  <c:v>RCTD</c:v>
                </c:pt>
                <c:pt idx="2">
                  <c:v>cell2location</c:v>
                </c:pt>
                <c:pt idx="3">
                  <c:v>New method</c:v>
                </c:pt>
              </c:strCache>
            </c:strRef>
          </c:cat>
          <c:val>
            <c:numRef>
              <c:f>Sheet1!$B$2:$B$5</c:f>
              <c:numCache>
                <c:formatCode>0.00</c:formatCode>
                <c:ptCount val="4"/>
                <c:pt idx="0">
                  <c:v>0.62</c:v>
                </c:pt>
                <c:pt idx="1">
                  <c:v>0.71</c:v>
                </c:pt>
                <c:pt idx="2">
                  <c:v>0.74</c:v>
                </c:pt>
                <c:pt idx="3">
                  <c:v>0.86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b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Pearson r (2,000 synthetic spots)</a:t>
                </a:r>
              </a:p>
            </c:rich>
          </c:tx>
          <c:layout/>
          <c:overlay val="0"/>
        </c:title>
        <c:numFmt formatCode="0.0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B0283C"/>
              </a:gs>
              <a:gs pos="100000">
                <a:srgbClr val="C2531F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B0283C"/>
              </a:gs>
              <a:gs pos="100000">
                <a:srgbClr val="C2531F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Journal club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Reference-free spot deconvolution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Example paper (fictional) · 2026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2026. 10. 16.</a:t>
            </a:r>
          </a:p>
          <a:p>
            <a:r>
              <a:t>PhD student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Background · Question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Each spot mixes several cells, and that is the starting point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Known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A Visium spot (55 μm) mixes 5–10 cells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Gap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Current deconvolution misses cell states that are not in the reference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Question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Can we separate cell states without a reference?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Background · Question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Both existing methods work only with a reference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cell2location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RCTD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588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Single-cell required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58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Reference data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Single-cell required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38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Not detected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38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New cell states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Not detected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4172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About 2 h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4172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Speed (4,000 spots)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About 20 min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Study design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Spatial and single-cell data come from the same patients</a:t>
            </a:r>
          </a:p>
        </p:txBody>
      </p:sp>
      <p:sp>
        <p:nvSpPr>
          <p:cNvPr id="5" name="res-01:marker"/>
          <p:cNvSpPr/>
          <p:nvPr/>
        </p:nvSpPr>
        <p:spPr>
          <a:xfrm>
            <a:off x="46800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1</a:t>
            </a:r>
          </a:p>
        </p:txBody>
      </p:sp>
      <p:sp>
        <p:nvSpPr>
          <p:cNvPr id="6" name="res-01:title"/>
          <p:cNvSpPr txBox="1"/>
          <p:nvPr/>
        </p:nvSpPr>
        <p:spPr>
          <a:xfrm>
            <a:off x="95940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Cohort</a:t>
            </a:r>
          </a:p>
        </p:txBody>
      </p:sp>
      <p:sp>
        <p:nvSpPr>
          <p:cNvPr id="7" name="res-01:column"/>
          <p:cNvSpPr/>
          <p:nvPr/>
        </p:nvSpPr>
        <p:spPr>
          <a:xfrm>
            <a:off x="46800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1:text"/>
          <p:cNvSpPr txBox="1"/>
          <p:nvPr/>
        </p:nvSpPr>
        <p:spPr>
          <a:xfrm>
            <a:off x="655200" y="3175014"/>
            <a:ext cx="2115630" cy="8818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8 colorectal cancer patients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Surgical tissue · same block</a:t>
            </a:r>
          </a:p>
        </p:txBody>
      </p:sp>
      <p:sp>
        <p:nvSpPr>
          <p:cNvPr id="9" name="res-01:evidence"/>
          <p:cNvSpPr txBox="1"/>
          <p:nvPr/>
        </p:nvSpPr>
        <p:spPr>
          <a:xfrm>
            <a:off x="46800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n = 8 · 16 sections</a:t>
            </a:r>
          </a:p>
        </p:txBody>
      </p:sp>
      <p:cxnSp>
        <p:nvCxnSpPr>
          <p:cNvPr id="10" name="res-01:link"/>
          <p:cNvCxnSpPr/>
          <p:nvPr/>
        </p:nvCxnSpPr>
        <p:spPr>
          <a:xfrm>
            <a:off x="302823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s-01:marker"/>
          <p:cNvSpPr/>
          <p:nvPr/>
        </p:nvSpPr>
        <p:spPr>
          <a:xfrm>
            <a:off x="339003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2</a:t>
            </a:r>
          </a:p>
        </p:txBody>
      </p:sp>
      <p:sp>
        <p:nvSpPr>
          <p:cNvPr id="12" name="res-01:title"/>
          <p:cNvSpPr txBox="1"/>
          <p:nvPr/>
        </p:nvSpPr>
        <p:spPr>
          <a:xfrm>
            <a:off x="388143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Comparison</a:t>
            </a:r>
          </a:p>
        </p:txBody>
      </p:sp>
      <p:sp>
        <p:nvSpPr>
          <p:cNvPr id="13" name="res-01:column"/>
          <p:cNvSpPr/>
          <p:nvPr/>
        </p:nvSpPr>
        <p:spPr>
          <a:xfrm>
            <a:off x="339003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1:group"/>
          <p:cNvSpPr/>
          <p:nvPr/>
        </p:nvSpPr>
        <p:spPr>
          <a:xfrm>
            <a:off x="3577230" y="2887107"/>
            <a:ext cx="2115630" cy="673011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1:group-text"/>
          <p:cNvSpPr txBox="1"/>
          <p:nvPr/>
        </p:nvSpPr>
        <p:spPr>
          <a:xfrm>
            <a:off x="3670830" y="2887107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Visium spatial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16 sections</a:t>
            </a:r>
          </a:p>
        </p:txBody>
      </p:sp>
      <p:sp>
        <p:nvSpPr>
          <p:cNvPr id="16" name="res-01:group"/>
          <p:cNvSpPr/>
          <p:nvPr/>
        </p:nvSpPr>
        <p:spPr>
          <a:xfrm>
            <a:off x="3577230" y="3653718"/>
            <a:ext cx="2115630" cy="673011"/>
          </a:xfrm>
          <a:prstGeom prst="rect">
            <a:avLst/>
          </a:prstGeom>
          <a:solidFill>
            <a:srgbClr val="E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s-01:group-text"/>
          <p:cNvSpPr txBox="1"/>
          <p:nvPr/>
        </p:nvSpPr>
        <p:spPr>
          <a:xfrm>
            <a:off x="3670830" y="3653718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6B7280"/>
                </a:solidFill>
              </a:rPr>
              <a:t>scRNA-seq reference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60,000 cells</a:t>
            </a:r>
          </a:p>
        </p:txBody>
      </p:sp>
      <p:sp>
        <p:nvSpPr>
          <p:cNvPr id="18" name="res-01:evidence"/>
          <p:cNvSpPr txBox="1"/>
          <p:nvPr/>
        </p:nvSpPr>
        <p:spPr>
          <a:xfrm>
            <a:off x="339003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Both methods on the same tissue</a:t>
            </a:r>
          </a:p>
        </p:txBody>
      </p:sp>
      <p:cxnSp>
        <p:nvCxnSpPr>
          <p:cNvPr id="19" name="res-01:link"/>
          <p:cNvCxnSpPr/>
          <p:nvPr/>
        </p:nvCxnSpPr>
        <p:spPr>
          <a:xfrm>
            <a:off x="595026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s-01:marker"/>
          <p:cNvSpPr/>
          <p:nvPr/>
        </p:nvSpPr>
        <p:spPr>
          <a:xfrm>
            <a:off x="631206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3</a:t>
            </a:r>
          </a:p>
        </p:txBody>
      </p:sp>
      <p:sp>
        <p:nvSpPr>
          <p:cNvPr id="21" name="res-01:title"/>
          <p:cNvSpPr txBox="1"/>
          <p:nvPr/>
        </p:nvSpPr>
        <p:spPr>
          <a:xfrm>
            <a:off x="680346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Measure</a:t>
            </a:r>
          </a:p>
        </p:txBody>
      </p:sp>
      <p:sp>
        <p:nvSpPr>
          <p:cNvPr id="22" name="res-01:column"/>
          <p:cNvSpPr/>
          <p:nvPr/>
        </p:nvSpPr>
        <p:spPr>
          <a:xfrm>
            <a:off x="631206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s-01:text"/>
          <p:cNvSpPr txBox="1"/>
          <p:nvPr/>
        </p:nvSpPr>
        <p:spPr>
          <a:xfrm>
            <a:off x="6499260" y="3323013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Cell-state proportions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8 states per spot</a:t>
            </a:r>
          </a:p>
        </p:txBody>
      </p:sp>
      <p:sp>
        <p:nvSpPr>
          <p:cNvPr id="24" name="res-01:evidence"/>
          <p:cNvSpPr txBox="1"/>
          <p:nvPr/>
        </p:nvSpPr>
        <p:spPr>
          <a:xfrm>
            <a:off x="631206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About 30,000 spots</a:t>
            </a:r>
          </a:p>
        </p:txBody>
      </p:sp>
      <p:cxnSp>
        <p:nvCxnSpPr>
          <p:cNvPr id="25" name="res-01:link"/>
          <p:cNvCxnSpPr/>
          <p:nvPr/>
        </p:nvCxnSpPr>
        <p:spPr>
          <a:xfrm>
            <a:off x="887229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s-01:marker"/>
          <p:cNvSpPr/>
          <p:nvPr/>
        </p:nvSpPr>
        <p:spPr>
          <a:xfrm>
            <a:off x="923409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4</a:t>
            </a:r>
          </a:p>
        </p:txBody>
      </p:sp>
      <p:sp>
        <p:nvSpPr>
          <p:cNvPr id="27" name="res-01:title"/>
          <p:cNvSpPr txBox="1"/>
          <p:nvPr/>
        </p:nvSpPr>
        <p:spPr>
          <a:xfrm>
            <a:off x="972549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Analysis</a:t>
            </a:r>
          </a:p>
        </p:txBody>
      </p:sp>
      <p:sp>
        <p:nvSpPr>
          <p:cNvPr id="28" name="res-01:column"/>
          <p:cNvSpPr/>
          <p:nvPr/>
        </p:nvSpPr>
        <p:spPr>
          <a:xfrm>
            <a:off x="923409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s-01:text"/>
          <p:cNvSpPr txBox="1"/>
          <p:nvPr/>
        </p:nvSpPr>
        <p:spPr>
          <a:xfrm>
            <a:off x="9421290" y="3323013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Benchmark · biology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Synthetic spots · real tissue</a:t>
            </a:r>
          </a:p>
        </p:txBody>
      </p:sp>
      <p:sp>
        <p:nvSpPr>
          <p:cNvPr id="30" name="res-01:evidence"/>
          <p:cNvSpPr txBox="1"/>
          <p:nvPr/>
        </p:nvSpPr>
        <p:spPr>
          <a:xfrm>
            <a:off x="923409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Compared with 4 methods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1 · Method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Adding spatial neighbors splits spots into cell states</a:t>
            </a:r>
          </a:p>
        </p:txBody>
      </p:sp>
      <p:sp>
        <p:nvSpPr>
          <p:cNvPr id="5" name="res-03:bg"/>
          <p:cNvSpPr/>
          <p:nvPr/>
        </p:nvSpPr>
        <p:spPr>
          <a:xfrm>
            <a:off x="468000" y="2140783"/>
            <a:ext cx="2652030" cy="2847650"/>
          </a:xfrm>
          <a:prstGeom prst="rect">
            <a:avLst/>
          </a:prstGeom>
          <a:solidFill>
            <a:srgbClr val="F7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3:step"/>
          <p:cNvSpPr txBox="1"/>
          <p:nvPr/>
        </p:nvSpPr>
        <p:spPr>
          <a:xfrm>
            <a:off x="46800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1</a:t>
            </a:r>
          </a:p>
        </p:txBody>
      </p:sp>
      <p:sp>
        <p:nvSpPr>
          <p:cNvPr id="7" name="res-03:pill"/>
          <p:cNvSpPr/>
          <p:nvPr/>
        </p:nvSpPr>
        <p:spPr>
          <a:xfrm>
            <a:off x="79200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3:name"/>
          <p:cNvSpPr txBox="1"/>
          <p:nvPr/>
        </p:nvSpPr>
        <p:spPr>
          <a:xfrm>
            <a:off x="79200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B0283C"/>
                </a:solidFill>
              </a:rPr>
              <a:t>Spot expression</a:t>
            </a:r>
          </a:p>
        </p:txBody>
      </p:sp>
      <p:sp>
        <p:nvSpPr>
          <p:cNvPr id="9" name="res-03:lines"/>
          <p:cNvSpPr txBox="1"/>
          <p:nvPr/>
        </p:nvSpPr>
        <p:spPr>
          <a:xfrm>
            <a:off x="64800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Visium counts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normalized expression</a:t>
            </a:r>
          </a:p>
        </p:txBody>
      </p:sp>
      <p:sp>
        <p:nvSpPr>
          <p:cNvPr id="10" name="res-03:sep"/>
          <p:cNvSpPr txBox="1"/>
          <p:nvPr/>
        </p:nvSpPr>
        <p:spPr>
          <a:xfrm>
            <a:off x="308403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DFA9B1"/>
                </a:solidFill>
              </a:rPr>
              <a:t>›</a:t>
            </a:r>
          </a:p>
        </p:txBody>
      </p:sp>
      <p:sp>
        <p:nvSpPr>
          <p:cNvPr id="11" name="res-03:bg"/>
          <p:cNvSpPr/>
          <p:nvPr/>
        </p:nvSpPr>
        <p:spPr>
          <a:xfrm>
            <a:off x="3336030" y="2140783"/>
            <a:ext cx="2652030" cy="2847650"/>
          </a:xfrm>
          <a:prstGeom prst="rect">
            <a:avLst/>
          </a:prstGeom>
          <a:solidFill>
            <a:srgbClr val="F7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3:step"/>
          <p:cNvSpPr txBox="1"/>
          <p:nvPr/>
        </p:nvSpPr>
        <p:spPr>
          <a:xfrm>
            <a:off x="333603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2</a:t>
            </a:r>
          </a:p>
        </p:txBody>
      </p:sp>
      <p:sp>
        <p:nvSpPr>
          <p:cNvPr id="13" name="res-03:pill"/>
          <p:cNvSpPr/>
          <p:nvPr/>
        </p:nvSpPr>
        <p:spPr>
          <a:xfrm>
            <a:off x="366003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3:name"/>
          <p:cNvSpPr txBox="1"/>
          <p:nvPr/>
        </p:nvSpPr>
        <p:spPr>
          <a:xfrm>
            <a:off x="366003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B0283C"/>
                </a:solidFill>
              </a:rPr>
              <a:t>Neighbor graph</a:t>
            </a:r>
          </a:p>
        </p:txBody>
      </p:sp>
      <p:sp>
        <p:nvSpPr>
          <p:cNvPr id="15" name="res-03:lines"/>
          <p:cNvSpPr txBox="1"/>
          <p:nvPr/>
        </p:nvSpPr>
        <p:spPr>
          <a:xfrm>
            <a:off x="351603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6 adjacent spots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spatial graph</a:t>
            </a:r>
          </a:p>
        </p:txBody>
      </p:sp>
      <p:sp>
        <p:nvSpPr>
          <p:cNvPr id="16" name="res-03:sep"/>
          <p:cNvSpPr txBox="1"/>
          <p:nvPr/>
        </p:nvSpPr>
        <p:spPr>
          <a:xfrm>
            <a:off x="595206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DFA9B1"/>
                </a:solidFill>
              </a:rPr>
              <a:t>›</a:t>
            </a:r>
          </a:p>
        </p:txBody>
      </p:sp>
      <p:sp>
        <p:nvSpPr>
          <p:cNvPr id="17" name="res-03:bg"/>
          <p:cNvSpPr/>
          <p:nvPr/>
        </p:nvSpPr>
        <p:spPr>
          <a:xfrm>
            <a:off x="6204060" y="2140783"/>
            <a:ext cx="2652030" cy="2847650"/>
          </a:xfrm>
          <a:prstGeom prst="rect">
            <a:avLst/>
          </a:prstGeom>
          <a:solidFill>
            <a:srgbClr val="F1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3:step"/>
          <p:cNvSpPr txBox="1"/>
          <p:nvPr/>
        </p:nvSpPr>
        <p:spPr>
          <a:xfrm>
            <a:off x="620406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3</a:t>
            </a:r>
          </a:p>
        </p:txBody>
      </p:sp>
      <p:sp>
        <p:nvSpPr>
          <p:cNvPr id="19" name="res-03:pill"/>
          <p:cNvSpPr/>
          <p:nvPr/>
        </p:nvSpPr>
        <p:spPr>
          <a:xfrm>
            <a:off x="6469316" y="2554783"/>
            <a:ext cx="2121519" cy="396000"/>
          </a:xfrm>
          <a:prstGeom prst="roundRect">
            <a:avLst>
              <a:gd name="adj" fmla="val 50000"/>
            </a:avLst>
          </a:prstGeom>
          <a:solidFill>
            <a:srgbClr val="B0283C"/>
          </a:solidFill>
          <a:ln w="12700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s-03:name"/>
          <p:cNvSpPr txBox="1"/>
          <p:nvPr/>
        </p:nvSpPr>
        <p:spPr>
          <a:xfrm>
            <a:off x="6469316" y="2554783"/>
            <a:ext cx="2121519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FFFFFF"/>
                </a:solidFill>
              </a:rPr>
              <a:t>State decomposition</a:t>
            </a:r>
          </a:p>
        </p:txBody>
      </p:sp>
      <p:sp>
        <p:nvSpPr>
          <p:cNvPr id="21" name="res-03:lines"/>
          <p:cNvSpPr txBox="1"/>
          <p:nvPr/>
        </p:nvSpPr>
        <p:spPr>
          <a:xfrm>
            <a:off x="638406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Graph-regularized NMF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state proportions per spot</a:t>
            </a:r>
          </a:p>
        </p:txBody>
      </p:sp>
      <p:sp>
        <p:nvSpPr>
          <p:cNvPr id="22" name="res-03:sep"/>
          <p:cNvSpPr txBox="1"/>
          <p:nvPr/>
        </p:nvSpPr>
        <p:spPr>
          <a:xfrm>
            <a:off x="882009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DFA9B1"/>
                </a:solidFill>
              </a:rPr>
              <a:t>›</a:t>
            </a:r>
          </a:p>
        </p:txBody>
      </p:sp>
      <p:sp>
        <p:nvSpPr>
          <p:cNvPr id="23" name="res-03:bg"/>
          <p:cNvSpPr/>
          <p:nvPr/>
        </p:nvSpPr>
        <p:spPr>
          <a:xfrm>
            <a:off x="9072090" y="2140783"/>
            <a:ext cx="2652030" cy="2847650"/>
          </a:xfrm>
          <a:prstGeom prst="rect">
            <a:avLst/>
          </a:prstGeom>
          <a:solidFill>
            <a:srgbClr val="F7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s-03:step"/>
          <p:cNvSpPr txBox="1"/>
          <p:nvPr/>
        </p:nvSpPr>
        <p:spPr>
          <a:xfrm>
            <a:off x="907209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4</a:t>
            </a:r>
          </a:p>
        </p:txBody>
      </p:sp>
      <p:sp>
        <p:nvSpPr>
          <p:cNvPr id="25" name="res-03:pill"/>
          <p:cNvSpPr/>
          <p:nvPr/>
        </p:nvSpPr>
        <p:spPr>
          <a:xfrm>
            <a:off x="939609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s-03:name"/>
          <p:cNvSpPr txBox="1"/>
          <p:nvPr/>
        </p:nvSpPr>
        <p:spPr>
          <a:xfrm>
            <a:off x="939609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B0283C"/>
                </a:solidFill>
              </a:rPr>
              <a:t>Annotation</a:t>
            </a:r>
          </a:p>
        </p:txBody>
      </p:sp>
      <p:sp>
        <p:nvSpPr>
          <p:cNvPr id="27" name="res-03:lines"/>
          <p:cNvSpPr txBox="1"/>
          <p:nvPr/>
        </p:nvSpPr>
        <p:spPr>
          <a:xfrm>
            <a:off x="925209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Marker genes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state names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3 · Benchmark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new method is the most accurate on synthetic data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Redrawn from Figure 3B (example values).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4 · Real tissue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new state runs as a band along the tumor border</a:t>
            </a:r>
          </a:p>
        </p:txBody>
      </p:sp>
      <p:pic>
        <p:nvPicPr>
          <p:cNvPr id="5" name="res-04:figur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60" y="1878647"/>
            <a:ext cx="3524400" cy="2643300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res-04:mark"/>
          <p:cNvSpPr/>
          <p:nvPr/>
        </p:nvSpPr>
        <p:spPr>
          <a:xfrm>
            <a:off x="5461668" y="3332462"/>
            <a:ext cx="1057320" cy="792990"/>
          </a:xfrm>
          <a:prstGeom prst="rect">
            <a:avLst/>
          </a:prstGeom>
          <a:noFill/>
          <a:ln w="19050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s-04:mark-label"/>
          <p:cNvSpPr txBox="1"/>
          <p:nvPr/>
        </p:nvSpPr>
        <p:spPr>
          <a:xfrm>
            <a:off x="5461668" y="3066062"/>
            <a:ext cx="655594" cy="223200"/>
          </a:xfrm>
          <a:prstGeom prst="rect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spc="-40">
                <a:solidFill>
                  <a:srgbClr val="B0283C"/>
                </a:solidFill>
              </a:rPr>
              <a:t>State 5</a:t>
            </a:r>
          </a:p>
        </p:txBody>
      </p:sp>
      <p:sp>
        <p:nvSpPr>
          <p:cNvPr id="8" name="res-04:caption"/>
          <p:cNvSpPr txBox="1"/>
          <p:nvPr/>
        </p:nvSpPr>
        <p:spPr>
          <a:xfrm>
            <a:off x="4333860" y="4593947"/>
            <a:ext cx="7390260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Fig. 4B · colorectal cancer section 2, 1,492 spots (example image)</a:t>
            </a:r>
          </a:p>
        </p:txBody>
      </p:sp>
      <p:cxnSp>
        <p:nvCxnSpPr>
          <p:cNvPr id="9" name="conclusion:line"/>
          <p:cNvCxnSpPr/>
          <p:nvPr/>
        </p:nvCxnSpPr>
        <p:spPr>
          <a:xfrm>
            <a:off x="468000" y="501010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clusion:text"/>
          <p:cNvSpPr txBox="1"/>
          <p:nvPr/>
        </p:nvSpPr>
        <p:spPr>
          <a:xfrm>
            <a:off x="468000" y="5208109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State 5, absent from the reference, appears </a:t>
            </a:r>
            <a:r>
              <a:rPr sz="1400" b="1" spc="-40">
                <a:solidFill>
                  <a:srgbClr val="262B33"/>
                </a:solidFill>
              </a:rPr>
              <a:t>only at the border</a:t>
            </a:r>
            <a:r>
              <a:rPr sz="1400" b="0" spc="-40">
                <a:solidFill>
                  <a:srgbClr val="6B7280"/>
                </a:solidFill>
              </a:rPr>
              <a:t>. Existing methods lumped it in with fibroblasts.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Limitations · Open questions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 do not yet know whether the new states are real cells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Validation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The 3 new states were not checked by immunostaining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Resolution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Not tested on small spots such as Visium HD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Compute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Over 20,000 spots needs more than 64 GB of memory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Link to our research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Worth trying first on our colorectal Visium data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>
          <a:xfrm>
            <a:off x="468000" y="2484404"/>
            <a:ext cx="5448060" cy="360000"/>
          </a:xfrm>
        </p:spPr>
        <p:txBody>
          <a:bodyPr/>
          <a:lstStyle/>
          <a:p>
            <a:r>
              <a:t>What to borrow</a:t>
            </a:r>
            <a:r>
              <a:rPr sz="1300" b="0" spc="-40">
                <a:solidFill>
                  <a:srgbClr val="B0283C"/>
                </a:solidFill>
                <a:latin typeface="Pretendard Medium"/>
                <a:ea typeface="Pretendard Medium"/>
                <a:cs typeface="Pretendard Medium"/>
              </a:rPr>
              <a:t>   For our data now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6"/>
          </p:nvPr>
        </p:nvSpPr>
        <p:spPr>
          <a:xfrm>
            <a:off x="468000" y="3060404"/>
            <a:ext cx="5448060" cy="332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Split border spots into states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Test on sections 3 · 4, which have no reference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Reuse the neighbor graph as is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>
          <a:xfrm>
            <a:off x="6276060" y="2484404"/>
            <a:ext cx="5448060" cy="360000"/>
          </a:xfrm>
        </p:spPr>
        <p:txBody>
          <a:bodyPr/>
          <a:lstStyle/>
          <a:p>
            <a:r>
              <a:t>Discussion</a:t>
            </a:r>
            <a:r>
              <a:rPr sz="1300" b="0" spc="-40">
                <a:solidFill>
                  <a:srgbClr val="B0283C"/>
                </a:solidFill>
                <a:latin typeface="Pretendard Medium"/>
                <a:ea typeface="Pretendard Medium"/>
                <a:cs typeface="Pretendard Medium"/>
              </a:rPr>
              <a:t>   To talk about together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8"/>
          </p:nvPr>
        </p:nvSpPr>
        <p:spPr>
          <a:xfrm>
            <a:off x="6276060" y="3060404"/>
            <a:ext cx="5448060" cy="332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How would we validate the new states?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Is it still needed with smaller spots?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Can our GPU server run it?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크림슨 클린 16:9">
  <a:themeElements>
    <a:clrScheme name="HaLab 크림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B0283C"/>
      </a:accent1>
      <a:accent2>
        <a:srgbClr val="CC7380"/>
      </a:accent2>
      <a:accent3>
        <a:srgbClr val="DFA9B1"/>
      </a:accent3>
      <a:accent4>
        <a:srgbClr val="2E9CCA"/>
      </a:accent4>
      <a:accent5>
        <a:srgbClr val="DFA9B1"/>
      </a:accent5>
      <a:accent6>
        <a:srgbClr val="E2E5EA"/>
      </a:accent6>
      <a:hlink>
        <a:srgbClr val="B0283C"/>
      </a:hlink>
      <a:folHlink>
        <a:srgbClr val="DFA9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