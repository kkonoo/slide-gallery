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요약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4개 조직에서 14개 세포 군집을 찾았다</a:t>
            </a:r>
          </a:p>
        </p:txBody>
      </p:sp>
      <p:cxnSp>
        <p:nvCxnSpPr>
          <p:cNvPr id="5" name="data-01:rule"/>
          <p:cNvCxnSpPr/>
          <p:nvPr/>
        </p:nvCxnSpPr>
        <p:spPr>
          <a:xfrm>
            <a:off x="468000" y="2140306"/>
            <a:ext cx="3608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1:value"/>
          <p:cNvSpPr txBox="1"/>
          <p:nvPr/>
        </p:nvSpPr>
        <p:spPr>
          <a:xfrm>
            <a:off x="468000" y="2338306"/>
            <a:ext cx="2525204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48,210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3036404" y="284610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개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320134"/>
            <a:ext cx="3536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QC 통과 세포</a:t>
            </a:r>
          </a:p>
        </p:txBody>
      </p:sp>
      <p:cxnSp>
        <p:nvCxnSpPr>
          <p:cNvPr id="9" name="data-01:rule"/>
          <p:cNvCxnSpPr/>
          <p:nvPr/>
        </p:nvCxnSpPr>
        <p:spPr>
          <a:xfrm>
            <a:off x="4292040" y="2140306"/>
            <a:ext cx="3608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1:value"/>
          <p:cNvSpPr txBox="1"/>
          <p:nvPr/>
        </p:nvSpPr>
        <p:spPr>
          <a:xfrm>
            <a:off x="4292040" y="2338306"/>
            <a:ext cx="2478686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21,543</a:t>
            </a:r>
          </a:p>
        </p:txBody>
      </p:sp>
      <p:sp>
        <p:nvSpPr>
          <p:cNvPr id="11" name="data-01:unit"/>
          <p:cNvSpPr txBox="1"/>
          <p:nvPr/>
        </p:nvSpPr>
        <p:spPr>
          <a:xfrm>
            <a:off x="6813926" y="284610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개</a:t>
            </a:r>
          </a:p>
        </p:txBody>
      </p:sp>
      <p:sp>
        <p:nvSpPr>
          <p:cNvPr id="12" name="data-01:label"/>
          <p:cNvSpPr txBox="1"/>
          <p:nvPr/>
        </p:nvSpPr>
        <p:spPr>
          <a:xfrm>
            <a:off x="4292040" y="3320134"/>
            <a:ext cx="3536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검출 유전자</a:t>
            </a:r>
          </a:p>
        </p:txBody>
      </p:sp>
      <p:sp>
        <p:nvSpPr>
          <p:cNvPr id="13" name="data-01:rule"/>
          <p:cNvSpPr/>
          <p:nvPr/>
        </p:nvSpPr>
        <p:spPr>
          <a:xfrm>
            <a:off x="8116080" y="2122306"/>
            <a:ext cx="3608040" cy="36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ata-01:value"/>
          <p:cNvSpPr txBox="1"/>
          <p:nvPr/>
        </p:nvSpPr>
        <p:spPr>
          <a:xfrm>
            <a:off x="8116080" y="2338306"/>
            <a:ext cx="883840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B0283C"/>
                </a:solidFill>
              </a:rPr>
              <a:t>14</a:t>
            </a:r>
          </a:p>
        </p:txBody>
      </p:sp>
      <p:sp>
        <p:nvSpPr>
          <p:cNvPr id="15" name="data-01:unit"/>
          <p:cNvSpPr txBox="1"/>
          <p:nvPr/>
        </p:nvSpPr>
        <p:spPr>
          <a:xfrm>
            <a:off x="9043120" y="284610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개</a:t>
            </a:r>
          </a:p>
        </p:txBody>
      </p:sp>
      <p:sp>
        <p:nvSpPr>
          <p:cNvPr id="16" name="data-01:label"/>
          <p:cNvSpPr txBox="1"/>
          <p:nvPr/>
        </p:nvSpPr>
        <p:spPr>
          <a:xfrm>
            <a:off x="8116080" y="3320134"/>
            <a:ext cx="3536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 군집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52279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4720792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군집 수는 기존 아틀라스(9개)보다 5개 많고, 새 군집 5개는 모두 염증 조직에서만 나왔다.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모델 성능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모델은 외부 검증에서도 정확도 0.94를 지켰다</a:t>
            </a:r>
          </a:p>
        </p:txBody>
      </p:sp>
      <p:sp>
        <p:nvSpPr>
          <p:cNvPr id="5" name="data-01:title"/>
          <p:cNvSpPr txBox="1"/>
          <p:nvPr/>
        </p:nvSpPr>
        <p:spPr>
          <a:xfrm>
            <a:off x="468000" y="2346090"/>
            <a:ext cx="1125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외부 검증 코호트 (3개 병원, 2025)</a:t>
            </a:r>
          </a:p>
        </p:txBody>
      </p:sp>
      <p:cxnSp>
        <p:nvCxnSpPr>
          <p:cNvPr id="6" name="data-01:rule"/>
          <p:cNvCxnSpPr/>
          <p:nvPr/>
        </p:nvCxnSpPr>
        <p:spPr>
          <a:xfrm>
            <a:off x="468000" y="2817235"/>
            <a:ext cx="265203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a-01:value"/>
          <p:cNvSpPr txBox="1"/>
          <p:nvPr/>
        </p:nvSpPr>
        <p:spPr>
          <a:xfrm>
            <a:off x="468000" y="3015235"/>
            <a:ext cx="2026864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1,204</a:t>
            </a:r>
          </a:p>
        </p:txBody>
      </p:sp>
      <p:sp>
        <p:nvSpPr>
          <p:cNvPr id="8" name="data-01:unit"/>
          <p:cNvSpPr txBox="1"/>
          <p:nvPr/>
        </p:nvSpPr>
        <p:spPr>
          <a:xfrm>
            <a:off x="2538064" y="352303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명</a:t>
            </a:r>
          </a:p>
        </p:txBody>
      </p:sp>
      <p:sp>
        <p:nvSpPr>
          <p:cNvPr id="9" name="data-01:label"/>
          <p:cNvSpPr txBox="1"/>
          <p:nvPr/>
        </p:nvSpPr>
        <p:spPr>
          <a:xfrm>
            <a:off x="46800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검증 환자 수</a:t>
            </a:r>
          </a:p>
        </p:txBody>
      </p:sp>
      <p:sp>
        <p:nvSpPr>
          <p:cNvPr id="10" name="data-01:desc"/>
          <p:cNvSpPr txBox="1"/>
          <p:nvPr/>
        </p:nvSpPr>
        <p:spPr>
          <a:xfrm>
            <a:off x="46800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3개 병원 합계</a:t>
            </a:r>
          </a:p>
        </p:txBody>
      </p:sp>
      <p:sp>
        <p:nvSpPr>
          <p:cNvPr id="11" name="data-01:rule"/>
          <p:cNvSpPr/>
          <p:nvPr/>
        </p:nvSpPr>
        <p:spPr>
          <a:xfrm>
            <a:off x="3336030" y="2799235"/>
            <a:ext cx="2652030" cy="36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1:value"/>
          <p:cNvSpPr txBox="1"/>
          <p:nvPr/>
        </p:nvSpPr>
        <p:spPr>
          <a:xfrm>
            <a:off x="3336030" y="3015235"/>
            <a:ext cx="1692616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B0283C"/>
                </a:solidFill>
              </a:rPr>
              <a:t>0.94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333603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AUROC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333603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내부 검증 0.95</a:t>
            </a:r>
          </a:p>
        </p:txBody>
      </p:sp>
      <p:cxnSp>
        <p:nvCxnSpPr>
          <p:cNvPr id="15" name="data-01:rule"/>
          <p:cNvCxnSpPr/>
          <p:nvPr/>
        </p:nvCxnSpPr>
        <p:spPr>
          <a:xfrm>
            <a:off x="6204060" y="2817235"/>
            <a:ext cx="265203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ata-01:value"/>
          <p:cNvSpPr txBox="1"/>
          <p:nvPr/>
        </p:nvSpPr>
        <p:spPr>
          <a:xfrm>
            <a:off x="6204060" y="3015235"/>
            <a:ext cx="1479041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89.1</a:t>
            </a:r>
          </a:p>
        </p:txBody>
      </p:sp>
      <p:sp>
        <p:nvSpPr>
          <p:cNvPr id="17" name="data-01:unit"/>
          <p:cNvSpPr txBox="1"/>
          <p:nvPr/>
        </p:nvSpPr>
        <p:spPr>
          <a:xfrm>
            <a:off x="7726301" y="3523032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8" name="data-01:label"/>
          <p:cNvSpPr txBox="1"/>
          <p:nvPr/>
        </p:nvSpPr>
        <p:spPr>
          <a:xfrm>
            <a:off x="620406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민감도</a:t>
            </a:r>
          </a:p>
        </p:txBody>
      </p:sp>
      <p:sp>
        <p:nvSpPr>
          <p:cNvPr id="19" name="data-01:desc"/>
          <p:cNvSpPr txBox="1"/>
          <p:nvPr/>
        </p:nvSpPr>
        <p:spPr>
          <a:xfrm>
            <a:off x="620406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특이도 86.4%</a:t>
            </a:r>
          </a:p>
        </p:txBody>
      </p:sp>
      <p:cxnSp>
        <p:nvCxnSpPr>
          <p:cNvPr id="20" name="data-01:rule"/>
          <p:cNvCxnSpPr/>
          <p:nvPr/>
        </p:nvCxnSpPr>
        <p:spPr>
          <a:xfrm>
            <a:off x="9072090" y="2817235"/>
            <a:ext cx="265203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ata-01:value"/>
          <p:cNvSpPr txBox="1"/>
          <p:nvPr/>
        </p:nvSpPr>
        <p:spPr>
          <a:xfrm>
            <a:off x="9072090" y="3015235"/>
            <a:ext cx="848121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12</a:t>
            </a:r>
          </a:p>
        </p:txBody>
      </p:sp>
      <p:sp>
        <p:nvSpPr>
          <p:cNvPr id="22" name="data-01:unit"/>
          <p:cNvSpPr txBox="1"/>
          <p:nvPr/>
        </p:nvSpPr>
        <p:spPr>
          <a:xfrm>
            <a:off x="9963411" y="352303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초</a:t>
            </a:r>
          </a:p>
        </p:txBody>
      </p:sp>
      <p:sp>
        <p:nvSpPr>
          <p:cNvPr id="23" name="data-01:label"/>
          <p:cNvSpPr txBox="1"/>
          <p:nvPr/>
        </p:nvSpPr>
        <p:spPr>
          <a:xfrm>
            <a:off x="907209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환자당 추론 시간</a:t>
            </a:r>
          </a:p>
        </p:txBody>
      </p:sp>
      <p:sp>
        <p:nvSpPr>
          <p:cNvPr id="24" name="data-01:desc"/>
          <p:cNvSpPr txBox="1"/>
          <p:nvPr/>
        </p:nvSpPr>
        <p:spPr>
          <a:xfrm>
            <a:off x="907209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GPU 1장 기준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성과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SCI 논문 9편, 특허 4건을 냈다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436483"/>
            <a:ext cx="5520060" cy="36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652483"/>
            <a:ext cx="618493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B0283C"/>
                </a:solidFill>
              </a:rPr>
              <a:t>9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129693" y="3305365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편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816277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SCI 논문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4150622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목표 10편 · 상위 10% 저널 4편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45448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652483"/>
            <a:ext cx="631895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4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6879155" y="3305365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건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816277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특허 출원·등록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4150622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등록 1건 포함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