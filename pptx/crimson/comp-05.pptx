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도구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표본이 적고 공변량이 많은 이번 설계에는 DESeq2 가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2344020" y="1896468"/>
            <a:ext cx="3126700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2344020" y="1896468"/>
            <a:ext cx="3126700" cy="8491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2022468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DESeq2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edgeR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limma-voom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745613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745613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적합한 표본 수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10개 이상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2488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248827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공변량 처리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 + 가중치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375204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3752040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(표본 60개)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4분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1분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30초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25525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255254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문서 · 사용 사례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가장 많다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질환 3종 × 군당 6명이라 표본이 적고, 나이 · 성별 · 배치를 함께 보정해야 해서 DESeq2 로 정한다.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예산 안에서 환자 수를 가장 많이 확보하는 설계안 C 로 간다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6830155" y="2014952"/>
            <a:ext cx="2446983" cy="3225145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6830155" y="2014952"/>
            <a:ext cx="2446983" cy="8491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042681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044190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A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5489663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4491172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B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7936646" y="2140952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6938155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설계안 C</a:t>
            </a:r>
          </a:p>
        </p:txBody>
      </p:sp>
      <p:sp>
        <p:nvSpPr>
          <p:cNvPr id="13" name="comp-05:marker"/>
          <p:cNvSpPr/>
          <p:nvPr/>
        </p:nvSpPr>
        <p:spPr>
          <a:xfrm>
            <a:off x="10383629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14" name="comp-05:option"/>
          <p:cNvSpPr txBox="1"/>
          <p:nvPr/>
        </p:nvSpPr>
        <p:spPr>
          <a:xfrm>
            <a:off x="9385137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D</a:t>
            </a:r>
          </a:p>
        </p:txBody>
      </p:sp>
      <p:cxnSp>
        <p:nvCxnSpPr>
          <p:cNvPr id="15" name="comp-05:head-rule"/>
          <p:cNvCxnSpPr/>
          <p:nvPr/>
        </p:nvCxnSpPr>
        <p:spPr>
          <a:xfrm>
            <a:off x="468000" y="2864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5:criterion"/>
          <p:cNvSpPr txBox="1"/>
          <p:nvPr/>
        </p:nvSpPr>
        <p:spPr>
          <a:xfrm>
            <a:off x="468000" y="2864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 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2044190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12명</a:t>
            </a:r>
          </a:p>
        </p:txBody>
      </p:sp>
      <p:sp>
        <p:nvSpPr>
          <p:cNvPr id="18" name="comp-05:value"/>
          <p:cNvSpPr txBox="1"/>
          <p:nvPr/>
        </p:nvSpPr>
        <p:spPr>
          <a:xfrm>
            <a:off x="4491172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18명</a:t>
            </a:r>
          </a:p>
        </p:txBody>
      </p:sp>
      <p:sp>
        <p:nvSpPr>
          <p:cNvPr id="19" name="comp-05:value"/>
          <p:cNvSpPr txBox="1"/>
          <p:nvPr/>
        </p:nvSpPr>
        <p:spPr>
          <a:xfrm>
            <a:off x="6938155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24명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9385137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16명</a:t>
            </a:r>
          </a:p>
        </p:txBody>
      </p:sp>
      <p:cxnSp>
        <p:nvCxnSpPr>
          <p:cNvPr id="21" name="comp-05:row-rule"/>
          <p:cNvCxnSpPr/>
          <p:nvPr/>
        </p:nvCxnSpPr>
        <p:spPr>
          <a:xfrm>
            <a:off x="468000" y="365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5:criterion"/>
          <p:cNvSpPr txBox="1"/>
          <p:nvPr/>
        </p:nvSpPr>
        <p:spPr>
          <a:xfrm>
            <a:off x="468000" y="3656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환자당 시점</a:t>
            </a:r>
          </a:p>
        </p:txBody>
      </p:sp>
      <p:sp>
        <p:nvSpPr>
          <p:cNvPr id="23" name="comp-05:value"/>
          <p:cNvSpPr txBox="1"/>
          <p:nvPr/>
        </p:nvSpPr>
        <p:spPr>
          <a:xfrm>
            <a:off x="2044190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3시점</a:t>
            </a:r>
          </a:p>
        </p:txBody>
      </p:sp>
      <p:sp>
        <p:nvSpPr>
          <p:cNvPr id="24" name="comp-05:value"/>
          <p:cNvSpPr txBox="1"/>
          <p:nvPr/>
        </p:nvSpPr>
        <p:spPr>
          <a:xfrm>
            <a:off x="4491172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6938155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9385137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1시점</a:t>
            </a:r>
          </a:p>
        </p:txBody>
      </p:sp>
      <p:cxnSp>
        <p:nvCxnSpPr>
          <p:cNvPr id="27" name="comp-05:row-rule"/>
          <p:cNvCxnSpPr/>
          <p:nvPr/>
        </p:nvCxnSpPr>
        <p:spPr>
          <a:xfrm>
            <a:off x="468000" y="444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5:criterion"/>
          <p:cNvSpPr txBox="1"/>
          <p:nvPr/>
        </p:nvSpPr>
        <p:spPr>
          <a:xfrm>
            <a:off x="468000" y="4448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총 비용</a:t>
            </a:r>
          </a:p>
        </p:txBody>
      </p:sp>
      <p:sp>
        <p:nvSpPr>
          <p:cNvPr id="29" name="comp-05:value"/>
          <p:cNvSpPr txBox="1"/>
          <p:nvPr/>
        </p:nvSpPr>
        <p:spPr>
          <a:xfrm>
            <a:off x="2044190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1.8억 원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4491172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2.1억 원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6938155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1.9억 원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9385137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1.2억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단위 해상도와 유전자 수를 함께 보면 Xenium 이 가장 균형이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5470720" y="1584000"/>
            <a:ext cx="3126700" cy="4518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5470720" y="1584000"/>
            <a:ext cx="3126700" cy="1067504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스팟 55 µm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1710000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Xenium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FFFFFF"/>
                </a:solidFill>
              </a:rPr>
              <a:t>세포 단위 이미징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Stereo-seq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DNB 0.5 µm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651504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651504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해상도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스팟당 1–10세포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세포 하나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세포 이하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34160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341603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측정 유전자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패널 약 5,000개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403170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4031702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절편당 비용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150만 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400만 원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300만 원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7218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7218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FFPE 검체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제한적</a:t>
            </a:r>
          </a:p>
        </p:txBody>
      </p:sp>
      <p:cxnSp>
        <p:nvCxnSpPr>
          <p:cNvPr id="33" name="comp-05:row-rule"/>
          <p:cNvCxnSpPr/>
          <p:nvPr/>
        </p:nvCxnSpPr>
        <p:spPr>
          <a:xfrm>
            <a:off x="468000" y="54119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mp-05:criterion"/>
          <p:cNvSpPr txBox="1"/>
          <p:nvPr/>
        </p:nvSpPr>
        <p:spPr>
          <a:xfrm>
            <a:off x="468000" y="54119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학내 장비</a:t>
            </a:r>
          </a:p>
        </p:txBody>
      </p:sp>
      <p:sp>
        <p:nvSpPr>
          <p:cNvPr id="35" name="comp-05:value"/>
          <p:cNvSpPr txBox="1"/>
          <p:nvPr/>
        </p:nvSpPr>
        <p:spPr>
          <a:xfrm>
            <a:off x="24520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있음</a:t>
            </a:r>
          </a:p>
        </p:txBody>
      </p:sp>
      <p:sp>
        <p:nvSpPr>
          <p:cNvPr id="36" name="comp-05:value"/>
          <p:cNvSpPr txBox="1"/>
          <p:nvPr/>
        </p:nvSpPr>
        <p:spPr>
          <a:xfrm>
            <a:off x="55787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공동 장비</a:t>
            </a:r>
          </a:p>
        </p:txBody>
      </p:sp>
      <p:sp>
        <p:nvSpPr>
          <p:cNvPr id="37" name="comp-05:value"/>
          <p:cNvSpPr txBox="1"/>
          <p:nvPr/>
        </p:nvSpPr>
        <p:spPr>
          <a:xfrm>
            <a:off x="87054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외부 의뢰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