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점수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2563C9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2563C9"/>
                        </a:solidFill>
                        <a:latin typeface="Pretendard"/>
                      </a:rPr>
                      <a:t>3.2배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정상</c:v>
                </c:pt>
                <c:pt idx="1">
                  <c:v>종양 안쪽</c:v>
                </c:pt>
                <c:pt idx="2">
                  <c:v>경계부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상대 점수 (종양 안쪽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섬유아세포 신호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0"/>
            <c:spPr>
              <a:solidFill>
                <a:srgbClr val="2563C9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2563C9"/>
                        </a:solidFill>
                        <a:latin typeface="Pretendard"/>
                      </a:rPr>
                      <a:t>0.4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반응군 (n = 6)</c:v>
                </c:pt>
                <c:pt idx="1">
                  <c:v>비반응군 (n = 9)</c:v>
                </c:pt>
              </c:strCache>
            </c:strRef>
          </c:cat>
          <c:val>
            <c:numRef>
              <c:f>Sheet1!$B$2:$B$3</c:f>
              <c:numCache>
                <c:formatCode>0.0</c:formatCode>
                <c:ptCount val="2"/>
                <c:pt idx="0">
                  <c:v>0.4</c:v>
                </c:pt>
                <c:pt idx="1">
                  <c:v>1.0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경계부 섬유아세포 신호 (비반응군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2563C9"/>
            </a:gs>
            <a:gs pos="100000">
              <a:srgbClr val="4D84DE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2563C9"/>
            </a:gs>
            <a:gs pos="100000">
              <a:srgbClr val="4D84DE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2563C9"/>
            </a:gs>
            <a:gs pos="100000">
              <a:srgbClr val="4D84DE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2026 한국유전체학회 · 구두 발표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경계부 면역 틈새가 면역항암 반응을 가른다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공간전사체 4개 절편 분석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2026. 11. 6.</a:t>
            </a:r>
          </a:p>
          <a:p>
            <a:r>
              <a:t>HaLab 발표자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왜 중요한가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면역항암제는 대장암 환자 10명 중 1명에게만 들어요</a:t>
            </a:r>
          </a:p>
        </p:txBody>
      </p:sp>
      <p:sp>
        <p:nvSpPr>
          <p:cNvPr id="5" name="data-01:rule"/>
          <p:cNvSpPr/>
          <p:nvPr/>
        </p:nvSpPr>
        <p:spPr>
          <a:xfrm>
            <a:off x="468000" y="2043710"/>
            <a:ext cx="5520060" cy="36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1:value"/>
          <p:cNvSpPr txBox="1"/>
          <p:nvPr/>
        </p:nvSpPr>
        <p:spPr>
          <a:xfrm>
            <a:off x="468000" y="2259710"/>
            <a:ext cx="1058112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2563C9"/>
                </a:solidFill>
              </a:rPr>
              <a:t>10</a:t>
            </a:r>
          </a:p>
        </p:txBody>
      </p:sp>
      <p:sp>
        <p:nvSpPr>
          <p:cNvPr id="7" name="data-01:unit"/>
          <p:cNvSpPr txBox="1"/>
          <p:nvPr/>
        </p:nvSpPr>
        <p:spPr>
          <a:xfrm>
            <a:off x="1569312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8" name="data-01:label"/>
          <p:cNvSpPr txBox="1"/>
          <p:nvPr/>
        </p:nvSpPr>
        <p:spPr>
          <a:xfrm>
            <a:off x="46800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면역항암제 반응률</a:t>
            </a:r>
          </a:p>
        </p:txBody>
      </p:sp>
      <p:sp>
        <p:nvSpPr>
          <p:cNvPr id="9" name="data-01:desc"/>
          <p:cNvSpPr txBox="1"/>
          <p:nvPr/>
        </p:nvSpPr>
        <p:spPr>
          <a:xfrm>
            <a:off x="46800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전이성 대장암 (예시 수치)</a:t>
            </a:r>
          </a:p>
        </p:txBody>
      </p:sp>
      <p:cxnSp>
        <p:nvCxnSpPr>
          <p:cNvPr id="10" name="data-01:rule"/>
          <p:cNvCxnSpPr/>
          <p:nvPr/>
        </p:nvCxnSpPr>
        <p:spPr>
          <a:xfrm>
            <a:off x="6204060" y="206171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a-01:value"/>
          <p:cNvSpPr txBox="1"/>
          <p:nvPr/>
        </p:nvSpPr>
        <p:spPr>
          <a:xfrm>
            <a:off x="6204060" y="2259710"/>
            <a:ext cx="1217060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262B33"/>
                </a:solidFill>
              </a:rPr>
              <a:t>90</a:t>
            </a:r>
          </a:p>
        </p:txBody>
      </p:sp>
      <p:sp>
        <p:nvSpPr>
          <p:cNvPr id="12" name="data-01:unit"/>
          <p:cNvSpPr txBox="1"/>
          <p:nvPr/>
        </p:nvSpPr>
        <p:spPr>
          <a:xfrm>
            <a:off x="7464320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13" name="data-01:label"/>
          <p:cNvSpPr txBox="1"/>
          <p:nvPr/>
        </p:nvSpPr>
        <p:spPr>
          <a:xfrm>
            <a:off x="620406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반응하지 않는 환자</a:t>
            </a:r>
          </a:p>
        </p:txBody>
      </p:sp>
      <p:sp>
        <p:nvSpPr>
          <p:cNvPr id="14" name="data-01:desc"/>
          <p:cNvSpPr txBox="1"/>
          <p:nvPr/>
        </p:nvSpPr>
        <p:spPr>
          <a:xfrm>
            <a:off x="620406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MSI 검사로는 절반만 가려냄</a:t>
            </a:r>
          </a:p>
        </p:txBody>
      </p:sp>
      <p:cxnSp>
        <p:nvCxnSpPr>
          <p:cNvPr id="15" name="conclusion:line"/>
          <p:cNvCxnSpPr/>
          <p:nvPr/>
        </p:nvCxnSpPr>
        <p:spPr>
          <a:xfrm>
            <a:off x="468000" y="467998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nclusion:text"/>
          <p:cNvSpPr txBox="1"/>
          <p:nvPr/>
        </p:nvSpPr>
        <p:spPr>
          <a:xfrm>
            <a:off x="468000" y="487798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나머지 90%는 </a:t>
            </a:r>
            <a:r>
              <a:rPr sz="1400" b="1" spc="-40">
                <a:solidFill>
                  <a:srgbClr val="262B33"/>
                </a:solidFill>
              </a:rPr>
              <a:t>왜</a:t>
            </a:r>
            <a:r>
              <a:rPr sz="1400" b="0" spc="-40">
                <a:solidFill>
                  <a:srgbClr val="6B7280"/>
                </a:solidFill>
              </a:rPr>
              <a:t> 반응하지 않을까?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가설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섬유아세포 장벽이 T세포가 종양 안으로 들어가는 걸 막아요</a:t>
            </a:r>
          </a:p>
        </p:txBody>
      </p:sp>
      <p:cxnSp>
        <p:nvCxnSpPr>
          <p:cNvPr id="5" name="res-05:edge"/>
          <p:cNvCxnSpPr/>
          <p:nvPr/>
        </p:nvCxnSpPr>
        <p:spPr>
          <a:xfrm>
            <a:off x="2464461" y="2922938"/>
            <a:ext cx="1070892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res-05:edge"/>
          <p:cNvCxnSpPr/>
          <p:nvPr/>
        </p:nvCxnSpPr>
        <p:spPr>
          <a:xfrm>
            <a:off x="5560614" y="2922938"/>
            <a:ext cx="1070892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res-05:edge"/>
          <p:cNvCxnSpPr/>
          <p:nvPr/>
        </p:nvCxnSpPr>
        <p:spPr>
          <a:xfrm>
            <a:off x="8656767" y="2922938"/>
            <a:ext cx="1070892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s-05:node"/>
          <p:cNvSpPr/>
          <p:nvPr/>
        </p:nvSpPr>
        <p:spPr>
          <a:xfrm>
            <a:off x="468000" y="2545552"/>
            <a:ext cx="196766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s-05:node-text"/>
          <p:cNvSpPr txBox="1"/>
          <p:nvPr/>
        </p:nvSpPr>
        <p:spPr>
          <a:xfrm>
            <a:off x="655200" y="2545552"/>
            <a:ext cx="159326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TGF-β 신호</a:t>
            </a:r>
          </a:p>
        </p:txBody>
      </p:sp>
      <p:sp>
        <p:nvSpPr>
          <p:cNvPr id="10" name="res-05:node"/>
          <p:cNvSpPr/>
          <p:nvPr/>
        </p:nvSpPr>
        <p:spPr>
          <a:xfrm>
            <a:off x="3564153" y="2312963"/>
            <a:ext cx="1967661" cy="121995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s-05:node-text"/>
          <p:cNvSpPr txBox="1"/>
          <p:nvPr/>
        </p:nvSpPr>
        <p:spPr>
          <a:xfrm>
            <a:off x="3859302" y="2312963"/>
            <a:ext cx="1377363" cy="1219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경계부 섬유아세포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이번 연구</a:t>
            </a:r>
          </a:p>
        </p:txBody>
      </p:sp>
      <p:sp>
        <p:nvSpPr>
          <p:cNvPr id="12" name="res-05:node"/>
          <p:cNvSpPr/>
          <p:nvPr/>
        </p:nvSpPr>
        <p:spPr>
          <a:xfrm>
            <a:off x="6660306" y="2545552"/>
            <a:ext cx="1967661" cy="754773"/>
          </a:xfrm>
          <a:prstGeom prst="roundRect">
            <a:avLst>
              <a:gd name="adj" fmla="val 50000"/>
            </a:avLst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s-05:node-text"/>
          <p:cNvSpPr txBox="1"/>
          <p:nvPr/>
        </p:nvSpPr>
        <p:spPr>
          <a:xfrm>
            <a:off x="6847506" y="2545552"/>
            <a:ext cx="159326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콜라겐 장벽</a:t>
            </a:r>
          </a:p>
        </p:txBody>
      </p:sp>
      <p:sp>
        <p:nvSpPr>
          <p:cNvPr id="14" name="res-05:node"/>
          <p:cNvSpPr/>
          <p:nvPr/>
        </p:nvSpPr>
        <p:spPr>
          <a:xfrm>
            <a:off x="9756459" y="2545552"/>
            <a:ext cx="196766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5:node-text"/>
          <p:cNvSpPr txBox="1"/>
          <p:nvPr/>
        </p:nvSpPr>
        <p:spPr>
          <a:xfrm>
            <a:off x="9943659" y="2545552"/>
            <a:ext cx="159326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T세포 침투 실패</a:t>
            </a:r>
          </a:p>
        </p:txBody>
      </p:sp>
      <p:cxnSp>
        <p:nvCxnSpPr>
          <p:cNvPr id="16" name="res-05:legend"/>
          <p:cNvCxnSpPr/>
          <p:nvPr/>
        </p:nvCxnSpPr>
        <p:spPr>
          <a:xfrm>
            <a:off x="9063673" y="3834496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s-05:legend-text"/>
          <p:cNvSpPr txBox="1"/>
          <p:nvPr/>
        </p:nvSpPr>
        <p:spPr>
          <a:xfrm>
            <a:off x="9578473" y="3743513"/>
            <a:ext cx="738340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알려진 경로</a:t>
            </a:r>
          </a:p>
        </p:txBody>
      </p:sp>
      <p:cxnSp>
        <p:nvCxnSpPr>
          <p:cNvPr id="18" name="res-05:legend"/>
          <p:cNvCxnSpPr/>
          <p:nvPr/>
        </p:nvCxnSpPr>
        <p:spPr>
          <a:xfrm>
            <a:off x="10597614" y="3834496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s-05:legend-text"/>
          <p:cNvSpPr txBox="1"/>
          <p:nvPr/>
        </p:nvSpPr>
        <p:spPr>
          <a:xfrm>
            <a:off x="11112414" y="3743513"/>
            <a:ext cx="611706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가설 경로</a:t>
            </a:r>
          </a:p>
        </p:txBody>
      </p:sp>
      <p:cxnSp>
        <p:nvCxnSpPr>
          <p:cNvPr id="20" name="conclusion:line"/>
          <p:cNvCxnSpPr/>
          <p:nvPr/>
        </p:nvCxnSpPr>
        <p:spPr>
          <a:xfrm>
            <a:off x="468000" y="414147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onclusion:text"/>
          <p:cNvSpPr txBox="1"/>
          <p:nvPr/>
        </p:nvSpPr>
        <p:spPr>
          <a:xfrm>
            <a:off x="468000" y="433947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확인할 것: 장벽을 없애면 CD8 T세포가 종양 안으로 들어가는가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경계부에 면역세포가 띠처럼 모여 있어요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절편 2, 스팟 1,492개, 클러스터 6개 (예시 데이터)</a:t>
            </a:r>
          </a:p>
        </p:txBody>
      </p:sp>
      <p:sp>
        <p:nvSpPr>
          <p:cNvPr id="9" name="list-01:highlight"/>
          <p:cNvSpPr/>
          <p:nvPr/>
        </p:nvSpPr>
        <p:spPr>
          <a:xfrm>
            <a:off x="8044080" y="1584000"/>
            <a:ext cx="3680040" cy="1341126"/>
          </a:xfrm>
          <a:prstGeom prst="rect">
            <a:avLst/>
          </a:prstGeom>
          <a:solidFill>
            <a:srgbClr val="E9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0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경계부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클러스터 3, 면역세포 표지가 높은 얇은 띠</a:t>
            </a:r>
          </a:p>
        </p:txBody>
      </p:sp>
      <p:sp>
        <p:nvSpPr>
          <p:cNvPr id="14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종양 안쪽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클러스터 1 · 2, 면역 표지 낮음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경계부 CD8 점수가 종양 안쪽보다 3.2배 높아요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표지 유전자 12개 평균. 절편 4개.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반응군은 경계부 섬유아세포 신호가 절반 이하예요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치료 전 생검 절편, 예시 수치.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결론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경계부 섬유아세포 장벽이 면역항암 반응을 가를 수 있어요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138600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32580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793800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경계부에 몰림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CD8 점수 3.2배 (경계부 / 안쪽)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138600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32580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793800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섬유아세포 신호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비반응군에서 2.5배 높음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138600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32580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793800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반응군은 장벽이 얇음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반응군 6명 모두 신호 절반 이하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575213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575213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575213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3902813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3902813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230413"/>
            <a:ext cx="7432080" cy="762386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230413"/>
            <a:ext cx="6870480" cy="7623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섬유아세포 장벽을 낮추면 면역항암 반응이 늘 수 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대장암 경계부의 면역 틈새가 면역항암 반응을 가른다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공동저자 · HaLab</a:t>
            </a:r>
          </a:p>
          <a:p>
            <a:r>
              <a:t>연구비: 예시 과제 (과제 번호)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리치 16:9">
  <a:themeElements>
    <a:clrScheme name="HaLab 블루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리치 16:9</dc:title>
  <dc:creator>HaLab</dc:creator>
</cp:coreProperties>
</file>