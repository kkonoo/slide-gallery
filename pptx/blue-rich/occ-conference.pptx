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CD8 score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2"/>
            <c:spPr>
              <a:solidFill>
                <a:srgbClr val="2563C9"/>
              </a:solidFill>
            </c:spPr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2563C9"/>
                        </a:solidFill>
                        <a:latin typeface="Pretendard"/>
                      </a:rPr>
                      <a:t>3.2×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Normal</c:v>
                </c:pt>
                <c:pt idx="1">
                  <c:v>Tumor core</c:v>
                </c:pt>
                <c:pt idx="2">
                  <c:v>Border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0.8</c:v>
                </c:pt>
                <c:pt idx="1">
                  <c:v>1.0</c:v>
                </c:pt>
                <c:pt idx="2">
                  <c:v>3.2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Relative score (tumor core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Fibroblast signal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0"/>
            <c:spPr>
              <a:solidFill>
                <a:srgbClr val="2563C9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2563C9"/>
                        </a:solidFill>
                        <a:latin typeface="Pretendard"/>
                      </a:rPr>
                      <a:t>0.4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Responders (n = 6)</c:v>
                </c:pt>
                <c:pt idx="1">
                  <c:v>Non-responders (n = 9)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0.4</c:v>
                </c:pt>
                <c:pt idx="1">
                  <c:v>1.0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Border fibroblast signal (non-responders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bg>
      <p:bgPr>
        <a:gradFill rotWithShape="1">
          <a:gsLst>
            <a:gs pos="0">
              <a:srgbClr val="2563C9"/>
            </a:gs>
            <a:gs pos="100000">
              <a:srgbClr val="4D84DE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3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6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bg>
      <p:bgPr>
        <a:gradFill rotWithShape="1">
          <a:gsLst>
            <a:gs pos="0">
              <a:srgbClr val="2563C9"/>
            </a:gs>
            <a:gs pos="100000">
              <a:srgbClr val="4D84DE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8E3F5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8E3F5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bg>
      <p:bgPr>
        <a:gradFill rotWithShape="1">
          <a:gsLst>
            <a:gs pos="0">
              <a:srgbClr val="2563C9"/>
            </a:gs>
            <a:gs pos="100000">
              <a:srgbClr val="4D84DE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3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4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5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Annual meeting 2026 · Oral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Border niches gate immunotherapy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Spatial transcriptomics of 4 colorectal cancer sections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2026. 11. 6.</a:t>
            </a:r>
          </a:p>
          <a:p>
            <a:r>
              <a:t>HaLab presenter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Why it matters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Immunotherapy helps only 1 in 10 colorectal cancer patients</a:t>
            </a:r>
          </a:p>
        </p:txBody>
      </p:sp>
      <p:sp>
        <p:nvSpPr>
          <p:cNvPr id="5" name="data-01:rule"/>
          <p:cNvSpPr/>
          <p:nvPr/>
        </p:nvSpPr>
        <p:spPr>
          <a:xfrm>
            <a:off x="468000" y="2043710"/>
            <a:ext cx="5520060" cy="36000"/>
          </a:xfrm>
          <a:prstGeom prst="rect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ata-01:value"/>
          <p:cNvSpPr txBox="1"/>
          <p:nvPr/>
        </p:nvSpPr>
        <p:spPr>
          <a:xfrm>
            <a:off x="468000" y="2259710"/>
            <a:ext cx="1058112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563C9"/>
                </a:solidFill>
              </a:rPr>
              <a:t>10</a:t>
            </a:r>
          </a:p>
        </p:txBody>
      </p:sp>
      <p:sp>
        <p:nvSpPr>
          <p:cNvPr id="7" name="data-01:unit"/>
          <p:cNvSpPr txBox="1"/>
          <p:nvPr/>
        </p:nvSpPr>
        <p:spPr>
          <a:xfrm>
            <a:off x="1569312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2563C9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8" name="data-01:label"/>
          <p:cNvSpPr txBox="1"/>
          <p:nvPr/>
        </p:nvSpPr>
        <p:spPr>
          <a:xfrm>
            <a:off x="46800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Respond to immunotherapy</a:t>
            </a:r>
          </a:p>
        </p:txBody>
      </p:sp>
      <p:sp>
        <p:nvSpPr>
          <p:cNvPr id="9" name="data-01:desc"/>
          <p:cNvSpPr txBox="1"/>
          <p:nvPr/>
        </p:nvSpPr>
        <p:spPr>
          <a:xfrm>
            <a:off x="46800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Metastatic colorectal cancer (example)</a:t>
            </a:r>
          </a:p>
        </p:txBody>
      </p:sp>
      <p:cxnSp>
        <p:nvCxnSpPr>
          <p:cNvPr id="10" name="data-01:rule"/>
          <p:cNvCxnSpPr/>
          <p:nvPr/>
        </p:nvCxnSpPr>
        <p:spPr>
          <a:xfrm>
            <a:off x="6204060" y="2061710"/>
            <a:ext cx="552006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a-01:value"/>
          <p:cNvSpPr txBox="1"/>
          <p:nvPr/>
        </p:nvSpPr>
        <p:spPr>
          <a:xfrm>
            <a:off x="6204060" y="2259710"/>
            <a:ext cx="1217060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62B33"/>
                </a:solidFill>
              </a:rPr>
              <a:t>90</a:t>
            </a:r>
          </a:p>
        </p:txBody>
      </p:sp>
      <p:sp>
        <p:nvSpPr>
          <p:cNvPr id="12" name="data-01:unit"/>
          <p:cNvSpPr txBox="1"/>
          <p:nvPr/>
        </p:nvSpPr>
        <p:spPr>
          <a:xfrm>
            <a:off x="7464320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13" name="data-01:label"/>
          <p:cNvSpPr txBox="1"/>
          <p:nvPr/>
        </p:nvSpPr>
        <p:spPr>
          <a:xfrm>
            <a:off x="620406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Do not respond</a:t>
            </a:r>
          </a:p>
        </p:txBody>
      </p:sp>
      <p:sp>
        <p:nvSpPr>
          <p:cNvPr id="14" name="data-01:desc"/>
          <p:cNvSpPr txBox="1"/>
          <p:nvPr/>
        </p:nvSpPr>
        <p:spPr>
          <a:xfrm>
            <a:off x="620406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MSI testing explains only half</a:t>
            </a:r>
          </a:p>
        </p:txBody>
      </p:sp>
      <p:cxnSp>
        <p:nvCxnSpPr>
          <p:cNvPr id="15" name="conclusion:line"/>
          <p:cNvCxnSpPr/>
          <p:nvPr/>
        </p:nvCxnSpPr>
        <p:spPr>
          <a:xfrm>
            <a:off x="468000" y="4679985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nclusion:text"/>
          <p:cNvSpPr txBox="1"/>
          <p:nvPr/>
        </p:nvSpPr>
        <p:spPr>
          <a:xfrm>
            <a:off x="468000" y="4877985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1" spc="-40">
                <a:solidFill>
                  <a:srgbClr val="262B33"/>
                </a:solidFill>
              </a:rPr>
              <a:t>Why</a:t>
            </a:r>
            <a:r>
              <a:rPr sz="1400" b="0" spc="-40">
                <a:solidFill>
                  <a:srgbClr val="6B7280"/>
                </a:solidFill>
              </a:rPr>
              <a:t> do the other 90% not respond?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Hypothesis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fibroblast barrier keeps T cells out of the tumor</a:t>
            </a:r>
          </a:p>
        </p:txBody>
      </p:sp>
      <p:cxnSp>
        <p:nvCxnSpPr>
          <p:cNvPr id="5" name="res-05:edge"/>
          <p:cNvCxnSpPr/>
          <p:nvPr/>
        </p:nvCxnSpPr>
        <p:spPr>
          <a:xfrm>
            <a:off x="2688121" y="2923408"/>
            <a:ext cx="772679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res-05:edge"/>
          <p:cNvCxnSpPr/>
          <p:nvPr/>
        </p:nvCxnSpPr>
        <p:spPr>
          <a:xfrm>
            <a:off x="5709721" y="2923408"/>
            <a:ext cx="772678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res-05:edge"/>
          <p:cNvCxnSpPr/>
          <p:nvPr/>
        </p:nvCxnSpPr>
        <p:spPr>
          <a:xfrm>
            <a:off x="8731320" y="2923408"/>
            <a:ext cx="772679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-05:node"/>
          <p:cNvSpPr/>
          <p:nvPr/>
        </p:nvSpPr>
        <p:spPr>
          <a:xfrm>
            <a:off x="468000" y="2546022"/>
            <a:ext cx="219132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s-05:node-text"/>
          <p:cNvSpPr txBox="1"/>
          <p:nvPr/>
        </p:nvSpPr>
        <p:spPr>
          <a:xfrm>
            <a:off x="655200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TGF-β signaling</a:t>
            </a:r>
          </a:p>
        </p:txBody>
      </p:sp>
      <p:sp>
        <p:nvSpPr>
          <p:cNvPr id="10" name="res-05:node"/>
          <p:cNvSpPr/>
          <p:nvPr/>
        </p:nvSpPr>
        <p:spPr>
          <a:xfrm>
            <a:off x="3489600" y="2312022"/>
            <a:ext cx="2191321" cy="1222773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s-05:node-text"/>
          <p:cNvSpPr txBox="1"/>
          <p:nvPr/>
        </p:nvSpPr>
        <p:spPr>
          <a:xfrm>
            <a:off x="3818298" y="2312022"/>
            <a:ext cx="1533925" cy="1222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FFFFFF"/>
                </a:solidFill>
              </a:rPr>
              <a:t>Border fibroblasts</a:t>
            </a:r>
          </a:p>
          <a:p>
            <a:pPr algn="ctr">
              <a:lnSpc>
                <a:spcPct val="115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This study</a:t>
            </a:r>
          </a:p>
        </p:txBody>
      </p:sp>
      <p:sp>
        <p:nvSpPr>
          <p:cNvPr id="12" name="res-05:node"/>
          <p:cNvSpPr/>
          <p:nvPr/>
        </p:nvSpPr>
        <p:spPr>
          <a:xfrm>
            <a:off x="6511199" y="2546022"/>
            <a:ext cx="2191321" cy="754773"/>
          </a:xfrm>
          <a:prstGeom prst="roundRect">
            <a:avLst>
              <a:gd name="adj" fmla="val 50000"/>
            </a:avLst>
          </a:prstGeom>
          <a:solidFill>
            <a:srgbClr val="D8E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s-05:node-text"/>
          <p:cNvSpPr txBox="1"/>
          <p:nvPr/>
        </p:nvSpPr>
        <p:spPr>
          <a:xfrm>
            <a:off x="6698399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Collagen barrier</a:t>
            </a:r>
          </a:p>
        </p:txBody>
      </p:sp>
      <p:sp>
        <p:nvSpPr>
          <p:cNvPr id="14" name="res-05:node"/>
          <p:cNvSpPr/>
          <p:nvPr/>
        </p:nvSpPr>
        <p:spPr>
          <a:xfrm>
            <a:off x="9532799" y="2546022"/>
            <a:ext cx="219132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5:node-text"/>
          <p:cNvSpPr txBox="1"/>
          <p:nvPr/>
        </p:nvSpPr>
        <p:spPr>
          <a:xfrm>
            <a:off x="9719999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T-cell exclusion</a:t>
            </a:r>
          </a:p>
        </p:txBody>
      </p:sp>
      <p:cxnSp>
        <p:nvCxnSpPr>
          <p:cNvPr id="16" name="res-05:legend"/>
          <p:cNvCxnSpPr/>
          <p:nvPr/>
        </p:nvCxnSpPr>
        <p:spPr>
          <a:xfrm>
            <a:off x="8944139" y="3836377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s-05:legend-text"/>
          <p:cNvSpPr txBox="1"/>
          <p:nvPr/>
        </p:nvSpPr>
        <p:spPr>
          <a:xfrm>
            <a:off x="9458939" y="3745395"/>
            <a:ext cx="513177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Known</a:t>
            </a:r>
          </a:p>
        </p:txBody>
      </p:sp>
      <p:cxnSp>
        <p:nvCxnSpPr>
          <p:cNvPr id="18" name="res-05:legend"/>
          <p:cNvCxnSpPr/>
          <p:nvPr/>
        </p:nvCxnSpPr>
        <p:spPr>
          <a:xfrm>
            <a:off x="10252917" y="3836377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s-05:legend-text"/>
          <p:cNvSpPr txBox="1"/>
          <p:nvPr/>
        </p:nvSpPr>
        <p:spPr>
          <a:xfrm>
            <a:off x="10767717" y="3745395"/>
            <a:ext cx="956403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Hypothesized</a:t>
            </a:r>
          </a:p>
        </p:txBody>
      </p:sp>
      <p:cxnSp>
        <p:nvCxnSpPr>
          <p:cNvPr id="20" name="conclusion:line"/>
          <p:cNvCxnSpPr/>
          <p:nvPr/>
        </p:nvCxnSpPr>
        <p:spPr>
          <a:xfrm>
            <a:off x="468000" y="414336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clusion:text"/>
          <p:cNvSpPr txBox="1"/>
          <p:nvPr/>
        </p:nvSpPr>
        <p:spPr>
          <a:xfrm>
            <a:off x="468000" y="4341360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To test: do CD8 T cells enter the tumor when the barrier is removed?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Immune cells gather in a band at the tumor border</a:t>
            </a:r>
          </a:p>
        </p:txBody>
      </p:sp>
      <p:pic>
        <p:nvPicPr>
          <p:cNvPr id="5" name="img-01:imag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584000"/>
            <a:ext cx="5661117" cy="424583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img-01:mark"/>
          <p:cNvSpPr/>
          <p:nvPr/>
        </p:nvSpPr>
        <p:spPr>
          <a:xfrm>
            <a:off x="2776280" y="4387628"/>
            <a:ext cx="252000" cy="2520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img-01:mark"/>
          <p:cNvSpPr/>
          <p:nvPr/>
        </p:nvSpPr>
        <p:spPr>
          <a:xfrm>
            <a:off x="2040335" y="3028960"/>
            <a:ext cx="252000" cy="2520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8" name="img-01:caption"/>
          <p:cNvSpPr txBox="1"/>
          <p:nvPr/>
        </p:nvSpPr>
        <p:spPr>
          <a:xfrm>
            <a:off x="468000" y="5901838"/>
            <a:ext cx="5661117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Section 2, 1,492 spots, 6 clusters (example data)</a:t>
            </a:r>
          </a:p>
        </p:txBody>
      </p:sp>
      <p:sp>
        <p:nvSpPr>
          <p:cNvPr id="9" name="list-01:highlight"/>
          <p:cNvSpPr/>
          <p:nvPr/>
        </p:nvSpPr>
        <p:spPr>
          <a:xfrm>
            <a:off x="8044080" y="1584000"/>
            <a:ext cx="3680040" cy="1617107"/>
          </a:xfrm>
          <a:prstGeom prst="rect">
            <a:avLst/>
          </a:prstGeom>
          <a:solidFill>
            <a:srgbClr val="E9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list-01:line"/>
          <p:cNvCxnSpPr/>
          <p:nvPr/>
        </p:nvCxnSpPr>
        <p:spPr>
          <a:xfrm>
            <a:off x="8044080" y="3201107"/>
            <a:ext cx="368004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ist-01:marker"/>
          <p:cNvSpPr/>
          <p:nvPr/>
        </p:nvSpPr>
        <p:spPr>
          <a:xfrm>
            <a:off x="8044080" y="1945572"/>
            <a:ext cx="288000" cy="2880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list-01:title"/>
          <p:cNvSpPr txBox="1"/>
          <p:nvPr/>
        </p:nvSpPr>
        <p:spPr>
          <a:xfrm>
            <a:off x="8512080" y="1944000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Border</a:t>
            </a:r>
          </a:p>
        </p:txBody>
      </p:sp>
      <p:sp>
        <p:nvSpPr>
          <p:cNvPr id="13" name="list-01:desc"/>
          <p:cNvSpPr txBox="1"/>
          <p:nvPr/>
        </p:nvSpPr>
        <p:spPr>
          <a:xfrm>
            <a:off x="8512080" y="2289145"/>
            <a:ext cx="3212040" cy="5699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Cluster 3, a thin band high in immune markers</a:t>
            </a:r>
          </a:p>
        </p:txBody>
      </p:sp>
      <p:sp>
        <p:nvSpPr>
          <p:cNvPr id="14" name="list-01:marker"/>
          <p:cNvSpPr/>
          <p:nvPr/>
        </p:nvSpPr>
        <p:spPr>
          <a:xfrm>
            <a:off x="8044080" y="3700670"/>
            <a:ext cx="288000" cy="2880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list-01:title"/>
          <p:cNvSpPr txBox="1"/>
          <p:nvPr/>
        </p:nvSpPr>
        <p:spPr>
          <a:xfrm>
            <a:off x="8512080" y="3699098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Tumor core</a:t>
            </a:r>
          </a:p>
        </p:txBody>
      </p:sp>
      <p:sp>
        <p:nvSpPr>
          <p:cNvPr id="16" name="list-01:desc"/>
          <p:cNvSpPr txBox="1"/>
          <p:nvPr/>
        </p:nvSpPr>
        <p:spPr>
          <a:xfrm>
            <a:off x="8512080" y="4044243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Clusters 1 · 2, low immune markers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CD8 score is 3.2× higher at the border than in the core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Mean of 12 marker genes. 4 sections.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Responders have less than half the border fibroblast signal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Pre-treatment biopsy sections, example values.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border fibroblast barrier may decide immunotherapy response</a:t>
            </a:r>
          </a:p>
        </p:txBody>
      </p:sp>
      <p:sp>
        <p:nvSpPr>
          <p:cNvPr id="5" name="logic-01:factor"/>
          <p:cNvSpPr/>
          <p:nvPr/>
        </p:nvSpPr>
        <p:spPr>
          <a:xfrm>
            <a:off x="46800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1:marker"/>
          <p:cNvSpPr/>
          <p:nvPr/>
        </p:nvSpPr>
        <p:spPr>
          <a:xfrm>
            <a:off x="60840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563C9"/>
                </a:solidFill>
              </a:rPr>
              <a:t>1</a:t>
            </a:r>
          </a:p>
        </p:txBody>
      </p:sp>
      <p:sp>
        <p:nvSpPr>
          <p:cNvPr id="7" name="logic-01:factor-text"/>
          <p:cNvSpPr txBox="1"/>
          <p:nvPr/>
        </p:nvSpPr>
        <p:spPr>
          <a:xfrm>
            <a:off x="60840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Gathered at the border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CD8 score 3.2× (border / core)</a:t>
            </a:r>
          </a:p>
        </p:txBody>
      </p:sp>
      <p:sp>
        <p:nvSpPr>
          <p:cNvPr id="8" name="logic-01:factor"/>
          <p:cNvSpPr/>
          <p:nvPr/>
        </p:nvSpPr>
        <p:spPr>
          <a:xfrm>
            <a:off x="429204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ogic-01:marker"/>
          <p:cNvSpPr/>
          <p:nvPr/>
        </p:nvSpPr>
        <p:spPr>
          <a:xfrm>
            <a:off x="443244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563C9"/>
                </a:solidFill>
              </a:rPr>
              <a:t>2</a:t>
            </a:r>
          </a:p>
        </p:txBody>
      </p:sp>
      <p:sp>
        <p:nvSpPr>
          <p:cNvPr id="10" name="logic-01:factor-text"/>
          <p:cNvSpPr txBox="1"/>
          <p:nvPr/>
        </p:nvSpPr>
        <p:spPr>
          <a:xfrm>
            <a:off x="443244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Fibroblast signal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2.5× higher in non-responders</a:t>
            </a:r>
          </a:p>
        </p:txBody>
      </p:sp>
      <p:sp>
        <p:nvSpPr>
          <p:cNvPr id="11" name="logic-01:factor"/>
          <p:cNvSpPr/>
          <p:nvPr/>
        </p:nvSpPr>
        <p:spPr>
          <a:xfrm>
            <a:off x="811608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ogic-01:marker"/>
          <p:cNvSpPr/>
          <p:nvPr/>
        </p:nvSpPr>
        <p:spPr>
          <a:xfrm>
            <a:off x="825648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563C9"/>
                </a:solidFill>
              </a:rPr>
              <a:t>3</a:t>
            </a:r>
          </a:p>
        </p:txBody>
      </p:sp>
      <p:sp>
        <p:nvSpPr>
          <p:cNvPr id="13" name="logic-01:factor-text"/>
          <p:cNvSpPr txBox="1"/>
          <p:nvPr/>
        </p:nvSpPr>
        <p:spPr>
          <a:xfrm>
            <a:off x="825648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Thin barrier in responders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All 6 responders below half</a:t>
            </a:r>
          </a:p>
        </p:txBody>
      </p:sp>
      <p:cxnSp>
        <p:nvCxnSpPr>
          <p:cNvPr id="14" name="logic-01:link"/>
          <p:cNvCxnSpPr/>
          <p:nvPr/>
        </p:nvCxnSpPr>
        <p:spPr>
          <a:xfrm>
            <a:off x="227202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ogic-01:link"/>
          <p:cNvCxnSpPr/>
          <p:nvPr/>
        </p:nvCxnSpPr>
        <p:spPr>
          <a:xfrm>
            <a:off x="609606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ogic-01:link"/>
          <p:cNvCxnSpPr/>
          <p:nvPr/>
        </p:nvCxnSpPr>
        <p:spPr>
          <a:xfrm>
            <a:off x="992010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ogic-01:link"/>
          <p:cNvCxnSpPr/>
          <p:nvPr/>
        </p:nvCxnSpPr>
        <p:spPr>
          <a:xfrm>
            <a:off x="2272020" y="3789085"/>
            <a:ext cx="764808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ogic-01:link"/>
          <p:cNvCxnSpPr/>
          <p:nvPr/>
        </p:nvCxnSpPr>
        <p:spPr>
          <a:xfrm>
            <a:off x="6096060" y="3789085"/>
            <a:ext cx="0" cy="32760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ogic-01:conclusion"/>
          <p:cNvSpPr/>
          <p:nvPr/>
        </p:nvSpPr>
        <p:spPr>
          <a:xfrm>
            <a:off x="2380020" y="4116685"/>
            <a:ext cx="7432080" cy="1103571"/>
          </a:xfrm>
          <a:prstGeom prst="rect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ogic-01:conclusion-text"/>
          <p:cNvSpPr txBox="1"/>
          <p:nvPr/>
        </p:nvSpPr>
        <p:spPr>
          <a:xfrm>
            <a:off x="2660820" y="4116685"/>
            <a:ext cx="6870480" cy="110357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 spc="-40">
                <a:solidFill>
                  <a:srgbClr val="FFFFFF"/>
                </a:solidFill>
              </a:rPr>
              <a:t>Lowering the fibroblast barrier may improve immunotherapy response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border immune niche decides immunotherapy response in colorectal cancer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Co-authors · HaLab</a:t>
            </a:r>
          </a:p>
          <a:p>
            <a:r>
              <a:t>Funding: example grant (grant no.)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블루 리치 16:9">
  <a:themeElements>
    <a:clrScheme name="HaLab 블루 리치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2563C9"/>
      </a:accent1>
      <a:accent2>
        <a:srgbClr val="14A884"/>
      </a:accent2>
      <a:accent3>
        <a:srgbClr val="36B3C2"/>
      </a:accent3>
      <a:accent4>
        <a:srgbClr val="FFD93D"/>
      </a:accent4>
      <a:accent5>
        <a:srgbClr val="A8C1E9"/>
      </a:accent5>
      <a:accent6>
        <a:srgbClr val="E2E5EA"/>
      </a:accent6>
      <a:hlink>
        <a:srgbClr val="2563C9"/>
      </a:hlink>
      <a:folHlink>
        <a:srgbClr val="36B3C2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블루 리치 16:9</dc:title>
  <dc:creator>HaLab</dc:creator>
</cp:coreProperties>
</file>