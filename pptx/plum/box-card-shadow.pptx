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(comp-03-a).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(people-01-a).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(logic-01-a).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(logic-03-a).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공간 군집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공간 정보를 넣은 분할로 병리 주석과의 일치도가 0.62에서 0.81로 올랐다</a:t>
            </a:r>
          </a:p>
        </p:txBody>
      </p:sp>
      <p:sp>
        <p:nvSpPr>
          <p:cNvPr id="5" name="comp-03:panel"/>
          <p:cNvSpPr/>
          <p:nvPr/>
        </p:nvSpPr>
        <p:spPr>
          <a:xfrm>
            <a:off x="46800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comp-03:tag"/>
          <p:cNvSpPr/>
          <p:nvPr/>
        </p:nvSpPr>
        <p:spPr>
          <a:xfrm>
            <a:off x="68400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omp-03:tag-text"/>
          <p:cNvSpPr txBox="1"/>
          <p:nvPr/>
        </p:nvSpPr>
        <p:spPr>
          <a:xfrm>
            <a:off x="68400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6B7280"/>
                </a:solidFill>
              </a:rPr>
              <a:t>전</a:t>
            </a:r>
          </a:p>
        </p:txBody>
      </p:sp>
      <p:sp>
        <p:nvSpPr>
          <p:cNvPr id="8" name="comp-03:title"/>
          <p:cNvSpPr txBox="1"/>
          <p:nvPr/>
        </p:nvSpPr>
        <p:spPr>
          <a:xfrm>
            <a:off x="113463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발현만 쓴 분할 (Leiden)</a:t>
            </a:r>
          </a:p>
        </p:txBody>
      </p:sp>
      <p:pic>
        <p:nvPicPr>
          <p:cNvPr id="9" name="comp-03:image" descr="comp-03-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1197" y="2235145"/>
            <a:ext cx="3033666" cy="2273975"/>
          </a:xfrm>
          <a:prstGeom prst="rect">
            <a:avLst/>
          </a:prstGeom>
        </p:spPr>
      </p:pic>
      <p:cxnSp>
        <p:nvCxnSpPr>
          <p:cNvPr id="10" name="comp-03:metric-rule"/>
          <p:cNvCxnSpPr/>
          <p:nvPr/>
        </p:nvCxnSpPr>
        <p:spPr>
          <a:xfrm>
            <a:off x="68400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mp-03:metric-label"/>
          <p:cNvSpPr txBox="1"/>
          <p:nvPr/>
        </p:nvSpPr>
        <p:spPr>
          <a:xfrm>
            <a:off x="68400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12" name="comp-03:metric-value"/>
          <p:cNvSpPr txBox="1"/>
          <p:nvPr/>
        </p:nvSpPr>
        <p:spPr>
          <a:xfrm>
            <a:off x="487223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0" spc="-40">
                <a:solidFill>
                  <a:srgbClr val="6B7280"/>
                </a:solidFill>
              </a:rPr>
              <a:t>0.62</a:t>
            </a:r>
          </a:p>
        </p:txBody>
      </p:sp>
      <p:cxnSp>
        <p:nvCxnSpPr>
          <p:cNvPr id="13" name="comp-03:metric-rule"/>
          <p:cNvCxnSpPr/>
          <p:nvPr/>
        </p:nvCxnSpPr>
        <p:spPr>
          <a:xfrm>
            <a:off x="68400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omp-03:metric-label"/>
          <p:cNvSpPr txBox="1"/>
          <p:nvPr/>
        </p:nvSpPr>
        <p:spPr>
          <a:xfrm>
            <a:off x="68400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15" name="comp-03:metric-value"/>
          <p:cNvSpPr txBox="1"/>
          <p:nvPr/>
        </p:nvSpPr>
        <p:spPr>
          <a:xfrm>
            <a:off x="487223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18%</a:t>
            </a:r>
          </a:p>
        </p:txBody>
      </p:sp>
      <p:cxnSp>
        <p:nvCxnSpPr>
          <p:cNvPr id="16" name="comp-03:metric-rule"/>
          <p:cNvCxnSpPr/>
          <p:nvPr/>
        </p:nvCxnSpPr>
        <p:spPr>
          <a:xfrm>
            <a:off x="68400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omp-03:metric-label"/>
          <p:cNvSpPr txBox="1"/>
          <p:nvPr/>
        </p:nvSpPr>
        <p:spPr>
          <a:xfrm>
            <a:off x="68400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18" name="comp-03:metric-value"/>
          <p:cNvSpPr txBox="1"/>
          <p:nvPr/>
        </p:nvSpPr>
        <p:spPr>
          <a:xfrm>
            <a:off x="487223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</a:rPr>
              <a:t>7</a:t>
            </a:r>
          </a:p>
        </p:txBody>
      </p:sp>
      <p:sp>
        <p:nvSpPr>
          <p:cNvPr id="19" name="comp-03:panel"/>
          <p:cNvSpPr/>
          <p:nvPr/>
        </p:nvSpPr>
        <p:spPr>
          <a:xfrm>
            <a:off x="6204060" y="1584000"/>
            <a:ext cx="5520060" cy="45180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comp-03:tag"/>
          <p:cNvSpPr/>
          <p:nvPr/>
        </p:nvSpPr>
        <p:spPr>
          <a:xfrm>
            <a:off x="6420060" y="1819572"/>
            <a:ext cx="342634" cy="252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omp-03:tag-text"/>
          <p:cNvSpPr txBox="1"/>
          <p:nvPr/>
        </p:nvSpPr>
        <p:spPr>
          <a:xfrm>
            <a:off x="6420060" y="1819572"/>
            <a:ext cx="342634" cy="25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1" spc="-40">
                <a:solidFill>
                  <a:srgbClr val="7A2E6B"/>
                </a:solidFill>
              </a:rPr>
              <a:t>후</a:t>
            </a:r>
          </a:p>
        </p:txBody>
      </p:sp>
      <p:sp>
        <p:nvSpPr>
          <p:cNvPr id="22" name="comp-03:title"/>
          <p:cNvSpPr txBox="1"/>
          <p:nvPr/>
        </p:nvSpPr>
        <p:spPr>
          <a:xfrm>
            <a:off x="6870694" y="1800000"/>
            <a:ext cx="4637426" cy="2911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공간 이웃을 반영한 분할</a:t>
            </a:r>
          </a:p>
        </p:txBody>
      </p:sp>
      <p:pic>
        <p:nvPicPr>
          <p:cNvPr id="23" name="comp-03:image" descr="comp-03-af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7257" y="2235145"/>
            <a:ext cx="3033666" cy="2273975"/>
          </a:xfrm>
          <a:prstGeom prst="rect">
            <a:avLst/>
          </a:prstGeom>
        </p:spPr>
      </p:pic>
      <p:cxnSp>
        <p:nvCxnSpPr>
          <p:cNvPr id="24" name="comp-03:metric-rule"/>
          <p:cNvCxnSpPr/>
          <p:nvPr/>
        </p:nvCxnSpPr>
        <p:spPr>
          <a:xfrm>
            <a:off x="6420060" y="461712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comp-03:metric-label"/>
          <p:cNvSpPr txBox="1"/>
          <p:nvPr/>
        </p:nvSpPr>
        <p:spPr>
          <a:xfrm>
            <a:off x="6420060" y="4617120"/>
            <a:ext cx="4188233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병리 주석 일치도 (ARI)</a:t>
            </a:r>
          </a:p>
        </p:txBody>
      </p:sp>
      <p:sp>
        <p:nvSpPr>
          <p:cNvPr id="26" name="comp-03:metric-value"/>
          <p:cNvSpPr txBox="1"/>
          <p:nvPr/>
        </p:nvSpPr>
        <p:spPr>
          <a:xfrm>
            <a:off x="10608293" y="4617120"/>
            <a:ext cx="899827" cy="5042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2600" b="1" spc="-40">
                <a:solidFill>
                  <a:srgbClr val="7A2E6B"/>
                </a:solidFill>
              </a:rPr>
              <a:t>0.81</a:t>
            </a:r>
          </a:p>
        </p:txBody>
      </p:sp>
      <p:cxnSp>
        <p:nvCxnSpPr>
          <p:cNvPr id="27" name="comp-03:metric-rule"/>
          <p:cNvCxnSpPr/>
          <p:nvPr/>
        </p:nvCxnSpPr>
        <p:spPr>
          <a:xfrm>
            <a:off x="6420060" y="512136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comp-03:metric-label"/>
          <p:cNvSpPr txBox="1"/>
          <p:nvPr/>
        </p:nvSpPr>
        <p:spPr>
          <a:xfrm>
            <a:off x="6420060" y="512136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고립 스팟 비율</a:t>
            </a:r>
          </a:p>
        </p:txBody>
      </p:sp>
      <p:sp>
        <p:nvSpPr>
          <p:cNvPr id="29" name="comp-03:metric-value"/>
          <p:cNvSpPr txBox="1"/>
          <p:nvPr/>
        </p:nvSpPr>
        <p:spPr>
          <a:xfrm>
            <a:off x="10608293" y="512136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4%</a:t>
            </a:r>
          </a:p>
        </p:txBody>
      </p:sp>
      <p:cxnSp>
        <p:nvCxnSpPr>
          <p:cNvPr id="30" name="comp-03:metric-rule"/>
          <p:cNvCxnSpPr/>
          <p:nvPr/>
        </p:nvCxnSpPr>
        <p:spPr>
          <a:xfrm>
            <a:off x="6420060" y="5503680"/>
            <a:ext cx="5088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comp-03:metric-label"/>
          <p:cNvSpPr txBox="1"/>
          <p:nvPr/>
        </p:nvSpPr>
        <p:spPr>
          <a:xfrm>
            <a:off x="6420060" y="5503680"/>
            <a:ext cx="4188233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군집 수</a:t>
            </a:r>
          </a:p>
        </p:txBody>
      </p:sp>
      <p:sp>
        <p:nvSpPr>
          <p:cNvPr id="32" name="comp-03:metric-value"/>
          <p:cNvSpPr txBox="1"/>
          <p:nvPr/>
        </p:nvSpPr>
        <p:spPr>
          <a:xfrm>
            <a:off x="10608293" y="5503680"/>
            <a:ext cx="899827" cy="382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sz="1800" b="1" spc="-40">
                <a:solidFill>
                  <a:srgbClr val="262B33"/>
                </a:solidFill>
              </a:rPr>
              <a:t>5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연구진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네 명이 시료 · 실험 · 분석 · 데이터를 나눠 맡아요</a:t>
            </a:r>
          </a:p>
        </p:txBody>
      </p:sp>
      <p:sp>
        <p:nvSpPr>
          <p:cNvPr id="5" name="people-01:card"/>
          <p:cNvSpPr/>
          <p:nvPr/>
        </p:nvSpPr>
        <p:spPr>
          <a:xfrm>
            <a:off x="468000" y="1584000"/>
            <a:ext cx="4727570" cy="4596654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00" y="1800000"/>
            <a:ext cx="2160000" cy="2160000"/>
          </a:xfrm>
          <a:prstGeom prst="rect">
            <a:avLst/>
          </a:prstGeom>
        </p:spPr>
      </p:pic>
      <p:sp>
        <p:nvSpPr>
          <p:cNvPr id="7" name="people-01:name"/>
          <p:cNvSpPr txBox="1"/>
          <p:nvPr/>
        </p:nvSpPr>
        <p:spPr>
          <a:xfrm>
            <a:off x="684000" y="4068000"/>
            <a:ext cx="4295570" cy="36393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2000" b="1" spc="-40">
                <a:solidFill>
                  <a:srgbClr val="7A2E6B"/>
                </a:solidFill>
              </a:rPr>
              <a:t>홍길동</a:t>
            </a:r>
          </a:p>
        </p:txBody>
      </p:sp>
      <p:sp>
        <p:nvSpPr>
          <p:cNvPr id="8" name="people-01:role"/>
          <p:cNvSpPr/>
          <p:nvPr/>
        </p:nvSpPr>
        <p:spPr>
          <a:xfrm>
            <a:off x="684000" y="4467931"/>
            <a:ext cx="794290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people-01:role-text"/>
          <p:cNvSpPr txBox="1"/>
          <p:nvPr/>
        </p:nvSpPr>
        <p:spPr>
          <a:xfrm>
            <a:off x="684000" y="4467931"/>
            <a:ext cx="794290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연구책임자</a:t>
            </a:r>
          </a:p>
        </p:txBody>
      </p:sp>
      <p:sp>
        <p:nvSpPr>
          <p:cNvPr id="10" name="people-01:affil"/>
          <p:cNvSpPr txBox="1"/>
          <p:nvPr/>
        </p:nvSpPr>
        <p:spPr>
          <a:xfrm>
            <a:off x="684000" y="4737931"/>
            <a:ext cx="429557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교수</a:t>
            </a:r>
          </a:p>
        </p:txBody>
      </p:sp>
      <p:sp>
        <p:nvSpPr>
          <p:cNvPr id="11" name="people-01:bio"/>
          <p:cNvSpPr txBox="1"/>
          <p:nvPr/>
        </p:nvSpPr>
        <p:spPr>
          <a:xfrm>
            <a:off x="684000" y="5074343"/>
            <a:ext cx="4295570" cy="768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단일세포 · 공간전사체 분석 총괄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미세환경 연구 12년</a:t>
            </a:r>
          </a:p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공간전사체 연구실 운영 (2018–)</a:t>
            </a:r>
          </a:p>
        </p:txBody>
      </p:sp>
      <p:sp>
        <p:nvSpPr>
          <p:cNvPr id="12" name="people-01:card"/>
          <p:cNvSpPr/>
          <p:nvPr/>
        </p:nvSpPr>
        <p:spPr>
          <a:xfrm>
            <a:off x="5411570" y="1584000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1800000"/>
            <a:ext cx="956218" cy="956218"/>
          </a:xfrm>
          <a:prstGeom prst="rect">
            <a:avLst/>
          </a:prstGeom>
        </p:spPr>
      </p:pic>
      <p:sp>
        <p:nvSpPr>
          <p:cNvPr id="14" name="people-01:name"/>
          <p:cNvSpPr txBox="1"/>
          <p:nvPr/>
        </p:nvSpPr>
        <p:spPr>
          <a:xfrm>
            <a:off x="6763788" y="1800000"/>
            <a:ext cx="1429972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A</a:t>
            </a:r>
          </a:p>
        </p:txBody>
      </p:sp>
      <p:sp>
        <p:nvSpPr>
          <p:cNvPr id="15" name="people-01:role"/>
          <p:cNvSpPr/>
          <p:nvPr/>
        </p:nvSpPr>
        <p:spPr>
          <a:xfrm>
            <a:off x="8337761" y="1864769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people-01:role-text"/>
          <p:cNvSpPr txBox="1"/>
          <p:nvPr/>
        </p:nvSpPr>
        <p:spPr>
          <a:xfrm>
            <a:off x="8337761" y="1864769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임상 시료</a:t>
            </a:r>
          </a:p>
        </p:txBody>
      </p:sp>
      <p:sp>
        <p:nvSpPr>
          <p:cNvPr id="17" name="people-01:affil"/>
          <p:cNvSpPr txBox="1"/>
          <p:nvPr/>
        </p:nvSpPr>
        <p:spPr>
          <a:xfrm>
            <a:off x="6763788" y="2163538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○○병원 병리과</a:t>
            </a:r>
          </a:p>
        </p:txBody>
      </p:sp>
      <p:sp>
        <p:nvSpPr>
          <p:cNvPr id="18" name="people-01:bio"/>
          <p:cNvSpPr txBox="1"/>
          <p:nvPr/>
        </p:nvSpPr>
        <p:spPr>
          <a:xfrm>
            <a:off x="6763788" y="2499950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대장암 조직 은행 운영</a:t>
            </a:r>
          </a:p>
        </p:txBody>
      </p:sp>
      <p:sp>
        <p:nvSpPr>
          <p:cNvPr id="19" name="people-01:card"/>
          <p:cNvSpPr/>
          <p:nvPr/>
        </p:nvSpPr>
        <p:spPr>
          <a:xfrm>
            <a:off x="5411570" y="3188218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0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3404218"/>
            <a:ext cx="956218" cy="956218"/>
          </a:xfrm>
          <a:prstGeom prst="rect">
            <a:avLst/>
          </a:prstGeom>
        </p:spPr>
      </p:pic>
      <p:sp>
        <p:nvSpPr>
          <p:cNvPr id="21" name="people-01:name"/>
          <p:cNvSpPr txBox="1"/>
          <p:nvPr/>
        </p:nvSpPr>
        <p:spPr>
          <a:xfrm>
            <a:off x="6763788" y="3404218"/>
            <a:ext cx="1409588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B</a:t>
            </a:r>
          </a:p>
        </p:txBody>
      </p:sp>
      <p:sp>
        <p:nvSpPr>
          <p:cNvPr id="22" name="people-01:role"/>
          <p:cNvSpPr/>
          <p:nvPr/>
        </p:nvSpPr>
        <p:spPr>
          <a:xfrm>
            <a:off x="8317377" y="3468987"/>
            <a:ext cx="707658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people-01:role-text"/>
          <p:cNvSpPr txBox="1"/>
          <p:nvPr/>
        </p:nvSpPr>
        <p:spPr>
          <a:xfrm>
            <a:off x="8317377" y="3468987"/>
            <a:ext cx="707658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실험 검증</a:t>
            </a:r>
          </a:p>
        </p:txBody>
      </p:sp>
      <p:sp>
        <p:nvSpPr>
          <p:cNvPr id="24" name="people-01:affil"/>
          <p:cNvSpPr txBox="1"/>
          <p:nvPr/>
        </p:nvSpPr>
        <p:spPr>
          <a:xfrm>
            <a:off x="6763788" y="3767756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생명과학과</a:t>
            </a:r>
          </a:p>
        </p:txBody>
      </p:sp>
      <p:sp>
        <p:nvSpPr>
          <p:cNvPr id="25" name="people-01:bio"/>
          <p:cNvSpPr txBox="1"/>
          <p:nvPr/>
        </p:nvSpPr>
        <p:spPr>
          <a:xfrm>
            <a:off x="6763788" y="4104168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오가노이드 · CRISPR 검증</a:t>
            </a:r>
          </a:p>
        </p:txBody>
      </p:sp>
      <p:sp>
        <p:nvSpPr>
          <p:cNvPr id="26" name="people-01:card"/>
          <p:cNvSpPr/>
          <p:nvPr/>
        </p:nvSpPr>
        <p:spPr>
          <a:xfrm>
            <a:off x="5411570" y="4792436"/>
            <a:ext cx="6312550" cy="1388218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eople-01:photo" descr="per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570" y="5008436"/>
            <a:ext cx="956218" cy="956218"/>
          </a:xfrm>
          <a:prstGeom prst="rect">
            <a:avLst/>
          </a:prstGeom>
        </p:spPr>
      </p:pic>
      <p:sp>
        <p:nvSpPr>
          <p:cNvPr id="28" name="people-01:name"/>
          <p:cNvSpPr txBox="1"/>
          <p:nvPr/>
        </p:nvSpPr>
        <p:spPr>
          <a:xfrm>
            <a:off x="6763788" y="5008436"/>
            <a:ext cx="1431446" cy="3275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참여연구원 C</a:t>
            </a:r>
          </a:p>
        </p:txBody>
      </p:sp>
      <p:sp>
        <p:nvSpPr>
          <p:cNvPr id="29" name="people-01:role"/>
          <p:cNvSpPr/>
          <p:nvPr/>
        </p:nvSpPr>
        <p:spPr>
          <a:xfrm>
            <a:off x="8339234" y="5073205"/>
            <a:ext cx="823316" cy="198000"/>
          </a:xfrm>
          <a:prstGeom prst="roundRect">
            <a:avLst>
              <a:gd name="adj" fmla="val 50000"/>
            </a:avLst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people-01:role-text"/>
          <p:cNvSpPr txBox="1"/>
          <p:nvPr/>
        </p:nvSpPr>
        <p:spPr>
          <a:xfrm>
            <a:off x="8339234" y="5073205"/>
            <a:ext cx="823316" cy="19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데이터 관리</a:t>
            </a:r>
          </a:p>
        </p:txBody>
      </p:sp>
      <p:sp>
        <p:nvSpPr>
          <p:cNvPr id="31" name="people-01:affil"/>
          <p:cNvSpPr txBox="1"/>
          <p:nvPr/>
        </p:nvSpPr>
        <p:spPr>
          <a:xfrm>
            <a:off x="6763788" y="5371974"/>
            <a:ext cx="4744332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○○대학교 의과대학 연구교수</a:t>
            </a:r>
          </a:p>
        </p:txBody>
      </p:sp>
      <p:sp>
        <p:nvSpPr>
          <p:cNvPr id="32" name="people-01:bio"/>
          <p:cNvSpPr txBox="1"/>
          <p:nvPr/>
        </p:nvSpPr>
        <p:spPr>
          <a:xfrm>
            <a:off x="6763788" y="5708386"/>
            <a:ext cx="4744332" cy="2562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300" b="0" spc="-40">
                <a:solidFill>
                  <a:srgbClr val="262B33"/>
                </a:solidFill>
              </a:rPr>
              <a:t>데이터 표준화 · 공개 저장소 등록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세포 유형 주석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클러스터 3은 어떤 세포일까요?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FOXP3 발현 상위 5%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클러스터 3 세포의 FOXP3 발현이 전체 세포 중 상위 5%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Treg 표지 점수 0.8 이상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조절 T세포 표지 유전자 세트 점수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053178"/>
            <a:ext cx="3608040" cy="1692881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234000" dist="3744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240378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08378"/>
            <a:ext cx="3327240" cy="8504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자동 주석 일치율 92%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참조 데이터 기반 세포 유형 주석과 비교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746059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4073659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4073659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401259"/>
            <a:ext cx="7432080" cy="762386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401259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클러스터 3은 면역 억제 조절 T세포다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 필요성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왜 메타게놈 분석이 필요할까요?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배경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장내 미생물 구성은 대장암 위험과 연관된다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80000" dist="28800" dir="5400000" algn="t" rotWithShape="0">
              <a:srgbClr val="1F2937">
                <a:alpha val="11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한계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16S 분석은 균주 수준의 기능을 구분하지 못한다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목표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메타게놈으로 대장암 관련 균주의 기능 유전자를 규명한다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