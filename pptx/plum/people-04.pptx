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(people-04-a).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(people-04-b).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(people-04-c).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(people-04-d).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추진 체계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네 기관이 시료부터 검증까지 한 단계씩 주관한다</a:t>
            </a:r>
          </a:p>
        </p:txBody>
      </p:sp>
      <p:sp>
        <p:nvSpPr>
          <p:cNvPr id="5" name="people-04:role"/>
          <p:cNvSpPr txBox="1"/>
          <p:nvPr/>
        </p:nvSpPr>
        <p:spPr>
          <a:xfrm>
            <a:off x="3241469" y="1896468"/>
            <a:ext cx="1994663" cy="29075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시료 확보</a:t>
            </a:r>
          </a:p>
        </p:txBody>
      </p:sp>
      <p:sp>
        <p:nvSpPr>
          <p:cNvPr id="6" name="people-04:role"/>
          <p:cNvSpPr txBox="1"/>
          <p:nvPr/>
        </p:nvSpPr>
        <p:spPr>
          <a:xfrm>
            <a:off x="5380132" y="1896468"/>
            <a:ext cx="1994663" cy="29075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라이브러리 제작</a:t>
            </a:r>
          </a:p>
        </p:txBody>
      </p:sp>
      <p:sp>
        <p:nvSpPr>
          <p:cNvPr id="7" name="people-04:role"/>
          <p:cNvSpPr txBox="1"/>
          <p:nvPr/>
        </p:nvSpPr>
        <p:spPr>
          <a:xfrm>
            <a:off x="7518794" y="1896468"/>
            <a:ext cx="1994663" cy="29075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군집 분석</a:t>
            </a:r>
          </a:p>
        </p:txBody>
      </p:sp>
      <p:sp>
        <p:nvSpPr>
          <p:cNvPr id="8" name="people-04:role"/>
          <p:cNvSpPr txBox="1"/>
          <p:nvPr/>
        </p:nvSpPr>
        <p:spPr>
          <a:xfrm>
            <a:off x="9657457" y="1896468"/>
            <a:ext cx="1994663" cy="29075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검증 실험</a:t>
            </a:r>
          </a:p>
        </p:txBody>
      </p:sp>
      <p:cxnSp>
        <p:nvCxnSpPr>
          <p:cNvPr id="9" name="people-04:head-rule"/>
          <p:cNvCxnSpPr/>
          <p:nvPr/>
        </p:nvCxnSpPr>
        <p:spPr>
          <a:xfrm>
            <a:off x="468000" y="2277220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people-04:name"/>
          <p:cNvSpPr txBox="1"/>
          <p:nvPr/>
        </p:nvSpPr>
        <p:spPr>
          <a:xfrm>
            <a:off x="468000" y="2277220"/>
            <a:ext cx="2557469" cy="62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 대학병원</a:t>
            </a:r>
          </a:p>
        </p:txBody>
      </p:sp>
      <p:sp>
        <p:nvSpPr>
          <p:cNvPr id="11" name="people-04:mark"/>
          <p:cNvSpPr/>
          <p:nvPr/>
        </p:nvSpPr>
        <p:spPr>
          <a:xfrm>
            <a:off x="3932166" y="2355895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people-04:mark-text"/>
          <p:cNvSpPr txBox="1"/>
          <p:nvPr/>
        </p:nvSpPr>
        <p:spPr>
          <a:xfrm>
            <a:off x="3932166" y="2355895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13" name="people-04:cell-text"/>
          <p:cNvSpPr txBox="1"/>
          <p:nvPr/>
        </p:nvSpPr>
        <p:spPr>
          <a:xfrm>
            <a:off x="3223469" y="2618695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환자 120명 모집</a:t>
            </a:r>
          </a:p>
        </p:txBody>
      </p:sp>
      <p:sp>
        <p:nvSpPr>
          <p:cNvPr id="14" name="people-04:mark"/>
          <p:cNvSpPr/>
          <p:nvPr/>
        </p:nvSpPr>
        <p:spPr>
          <a:xfrm>
            <a:off x="10348155" y="2355895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people-04:mark-text"/>
          <p:cNvSpPr txBox="1"/>
          <p:nvPr/>
        </p:nvSpPr>
        <p:spPr>
          <a:xfrm>
            <a:off x="10348155" y="2355895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7A2E6B"/>
                </a:solidFill>
              </a:rPr>
              <a:t>참여</a:t>
            </a:r>
          </a:p>
        </p:txBody>
      </p:sp>
      <p:sp>
        <p:nvSpPr>
          <p:cNvPr id="16" name="people-04:cell-text"/>
          <p:cNvSpPr txBox="1"/>
          <p:nvPr/>
        </p:nvSpPr>
        <p:spPr>
          <a:xfrm>
            <a:off x="9639457" y="2618695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임상 정보 대조</a:t>
            </a:r>
          </a:p>
        </p:txBody>
      </p:sp>
      <p:cxnSp>
        <p:nvCxnSpPr>
          <p:cNvPr id="17" name="people-04:row-rule"/>
          <p:cNvCxnSpPr/>
          <p:nvPr/>
        </p:nvCxnSpPr>
        <p:spPr>
          <a:xfrm>
            <a:off x="468000" y="2897532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people-04:name"/>
          <p:cNvSpPr txBox="1"/>
          <p:nvPr/>
        </p:nvSpPr>
        <p:spPr>
          <a:xfrm>
            <a:off x="468000" y="2897532"/>
            <a:ext cx="2557469" cy="62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 연구소</a:t>
            </a:r>
          </a:p>
        </p:txBody>
      </p:sp>
      <p:sp>
        <p:nvSpPr>
          <p:cNvPr id="19" name="people-04:mark"/>
          <p:cNvSpPr/>
          <p:nvPr/>
        </p:nvSpPr>
        <p:spPr>
          <a:xfrm>
            <a:off x="3932166" y="2976207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people-04:mark-text"/>
          <p:cNvSpPr txBox="1"/>
          <p:nvPr/>
        </p:nvSpPr>
        <p:spPr>
          <a:xfrm>
            <a:off x="3932166" y="2976207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7A2E6B"/>
                </a:solidFill>
              </a:rPr>
              <a:t>참여</a:t>
            </a:r>
          </a:p>
        </p:txBody>
      </p:sp>
      <p:sp>
        <p:nvSpPr>
          <p:cNvPr id="21" name="people-04:cell-text"/>
          <p:cNvSpPr txBox="1"/>
          <p:nvPr/>
        </p:nvSpPr>
        <p:spPr>
          <a:xfrm>
            <a:off x="3223469" y="3239007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조직 해리</a:t>
            </a:r>
          </a:p>
        </p:txBody>
      </p:sp>
      <p:sp>
        <p:nvSpPr>
          <p:cNvPr id="22" name="people-04:mark"/>
          <p:cNvSpPr/>
          <p:nvPr/>
        </p:nvSpPr>
        <p:spPr>
          <a:xfrm>
            <a:off x="6070829" y="2976207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4:mark-text"/>
          <p:cNvSpPr txBox="1"/>
          <p:nvPr/>
        </p:nvSpPr>
        <p:spPr>
          <a:xfrm>
            <a:off x="6070829" y="2976207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24" name="people-04:cell-text"/>
          <p:cNvSpPr txBox="1"/>
          <p:nvPr/>
        </p:nvSpPr>
        <p:spPr>
          <a:xfrm>
            <a:off x="5362132" y="3239007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10x 라이브러리</a:t>
            </a:r>
          </a:p>
        </p:txBody>
      </p:sp>
      <p:cxnSp>
        <p:nvCxnSpPr>
          <p:cNvPr id="25" name="people-04:row-rule"/>
          <p:cNvCxnSpPr/>
          <p:nvPr/>
        </p:nvCxnSpPr>
        <p:spPr>
          <a:xfrm>
            <a:off x="468000" y="3517844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people-04:name"/>
          <p:cNvSpPr txBox="1"/>
          <p:nvPr/>
        </p:nvSpPr>
        <p:spPr>
          <a:xfrm>
            <a:off x="468000" y="3517844"/>
            <a:ext cx="2557469" cy="62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 대학 (주관기관)</a:t>
            </a:r>
          </a:p>
        </p:txBody>
      </p:sp>
      <p:sp>
        <p:nvSpPr>
          <p:cNvPr id="27" name="people-04:mark"/>
          <p:cNvSpPr/>
          <p:nvPr/>
        </p:nvSpPr>
        <p:spPr>
          <a:xfrm>
            <a:off x="6070829" y="3596519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people-04:mark-text"/>
          <p:cNvSpPr txBox="1"/>
          <p:nvPr/>
        </p:nvSpPr>
        <p:spPr>
          <a:xfrm>
            <a:off x="6070829" y="3596519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7A2E6B"/>
                </a:solidFill>
              </a:rPr>
              <a:t>참여</a:t>
            </a:r>
          </a:p>
        </p:txBody>
      </p:sp>
      <p:sp>
        <p:nvSpPr>
          <p:cNvPr id="29" name="people-04:cell-text"/>
          <p:cNvSpPr txBox="1"/>
          <p:nvPr/>
        </p:nvSpPr>
        <p:spPr>
          <a:xfrm>
            <a:off x="5362132" y="3859319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품질 관리</a:t>
            </a:r>
          </a:p>
        </p:txBody>
      </p:sp>
      <p:sp>
        <p:nvSpPr>
          <p:cNvPr id="30" name="people-04:mark"/>
          <p:cNvSpPr/>
          <p:nvPr/>
        </p:nvSpPr>
        <p:spPr>
          <a:xfrm>
            <a:off x="8209492" y="3596519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people-04:mark-text"/>
          <p:cNvSpPr txBox="1"/>
          <p:nvPr/>
        </p:nvSpPr>
        <p:spPr>
          <a:xfrm>
            <a:off x="8209492" y="3596519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2" name="people-04:cell-text"/>
          <p:cNvSpPr txBox="1"/>
          <p:nvPr/>
        </p:nvSpPr>
        <p:spPr>
          <a:xfrm>
            <a:off x="7500794" y="3859319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통합 · 군집</a:t>
            </a:r>
          </a:p>
        </p:txBody>
      </p:sp>
      <p:sp>
        <p:nvSpPr>
          <p:cNvPr id="33" name="people-04:mark"/>
          <p:cNvSpPr/>
          <p:nvPr/>
        </p:nvSpPr>
        <p:spPr>
          <a:xfrm>
            <a:off x="10348155" y="3596519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people-04:mark-text"/>
          <p:cNvSpPr txBox="1"/>
          <p:nvPr/>
        </p:nvSpPr>
        <p:spPr>
          <a:xfrm>
            <a:off x="10348155" y="3596519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7A2E6B"/>
                </a:solidFill>
              </a:rPr>
              <a:t>참여</a:t>
            </a:r>
          </a:p>
        </p:txBody>
      </p:sp>
      <p:sp>
        <p:nvSpPr>
          <p:cNvPr id="35" name="people-04:cell-text"/>
          <p:cNvSpPr txBox="1"/>
          <p:nvPr/>
        </p:nvSpPr>
        <p:spPr>
          <a:xfrm>
            <a:off x="9639457" y="3859319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후보 선정</a:t>
            </a:r>
          </a:p>
        </p:txBody>
      </p:sp>
      <p:cxnSp>
        <p:nvCxnSpPr>
          <p:cNvPr id="36" name="people-04:row-rule"/>
          <p:cNvCxnSpPr/>
          <p:nvPr/>
        </p:nvCxnSpPr>
        <p:spPr>
          <a:xfrm>
            <a:off x="468000" y="413815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people-04:name"/>
          <p:cNvSpPr txBox="1"/>
          <p:nvPr/>
        </p:nvSpPr>
        <p:spPr>
          <a:xfrm>
            <a:off x="468000" y="4138156"/>
            <a:ext cx="2557469" cy="62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D 기업</a:t>
            </a:r>
          </a:p>
        </p:txBody>
      </p:sp>
      <p:sp>
        <p:nvSpPr>
          <p:cNvPr id="38" name="people-04:mark"/>
          <p:cNvSpPr/>
          <p:nvPr/>
        </p:nvSpPr>
        <p:spPr>
          <a:xfrm>
            <a:off x="8209492" y="4216831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people-04:mark-text"/>
          <p:cNvSpPr txBox="1"/>
          <p:nvPr/>
        </p:nvSpPr>
        <p:spPr>
          <a:xfrm>
            <a:off x="8209492" y="4216831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7A2E6B"/>
                </a:solidFill>
              </a:rPr>
              <a:t>참여</a:t>
            </a:r>
          </a:p>
        </p:txBody>
      </p:sp>
      <p:sp>
        <p:nvSpPr>
          <p:cNvPr id="40" name="people-04:cell-text"/>
          <p:cNvSpPr txBox="1"/>
          <p:nvPr/>
        </p:nvSpPr>
        <p:spPr>
          <a:xfrm>
            <a:off x="7500794" y="4479631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클라우드 분석</a:t>
            </a:r>
          </a:p>
        </p:txBody>
      </p:sp>
      <p:sp>
        <p:nvSpPr>
          <p:cNvPr id="41" name="people-04:mark"/>
          <p:cNvSpPr/>
          <p:nvPr/>
        </p:nvSpPr>
        <p:spPr>
          <a:xfrm>
            <a:off x="10348155" y="4216831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people-04:mark-text"/>
          <p:cNvSpPr txBox="1"/>
          <p:nvPr/>
        </p:nvSpPr>
        <p:spPr>
          <a:xfrm>
            <a:off x="10348155" y="4216831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43" name="people-04:cell-text"/>
          <p:cNvSpPr txBox="1"/>
          <p:nvPr/>
        </p:nvSpPr>
        <p:spPr>
          <a:xfrm>
            <a:off x="9639457" y="4479631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다중 염색 검증</a:t>
            </a:r>
          </a:p>
        </p:txBody>
      </p:sp>
      <p:cxnSp>
        <p:nvCxnSpPr>
          <p:cNvPr id="44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매달 네 기관이 데이터 회의를 열고, 원자료는 C 대학 서버 한 곳에 모은다.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연구실 역할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다섯 명이 실험 · 분석 · 관리를 겹치지 않게 맡는다</a:t>
            </a:r>
          </a:p>
        </p:txBody>
      </p:sp>
      <p:sp>
        <p:nvSpPr>
          <p:cNvPr id="5" name="people-04:role"/>
          <p:cNvSpPr txBox="1"/>
          <p:nvPr/>
        </p:nvSpPr>
        <p:spPr>
          <a:xfrm>
            <a:off x="3241469" y="1584000"/>
            <a:ext cx="2707550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습식 실험</a:t>
            </a:r>
          </a:p>
        </p:txBody>
      </p:sp>
      <p:sp>
        <p:nvSpPr>
          <p:cNvPr id="6" name="people-04:role"/>
          <p:cNvSpPr txBox="1"/>
          <p:nvPr/>
        </p:nvSpPr>
        <p:spPr>
          <a:xfrm>
            <a:off x="6093019" y="1584000"/>
            <a:ext cx="2707550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데이터 분석</a:t>
            </a:r>
          </a:p>
        </p:txBody>
      </p:sp>
      <p:sp>
        <p:nvSpPr>
          <p:cNvPr id="7" name="people-04:role"/>
          <p:cNvSpPr txBox="1"/>
          <p:nvPr/>
        </p:nvSpPr>
        <p:spPr>
          <a:xfrm>
            <a:off x="8944570" y="1584000"/>
            <a:ext cx="2707550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장비 · 시약 관리</a:t>
            </a:r>
          </a:p>
        </p:txBody>
      </p:sp>
      <p:cxnSp>
        <p:nvCxnSpPr>
          <p:cNvPr id="8" name="people-04:head-rule"/>
          <p:cNvCxnSpPr/>
          <p:nvPr/>
        </p:nvCxnSpPr>
        <p:spPr>
          <a:xfrm>
            <a:off x="468000" y="2055145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eople-04:name"/>
          <p:cNvSpPr txBox="1"/>
          <p:nvPr/>
        </p:nvSpPr>
        <p:spPr>
          <a:xfrm>
            <a:off x="468000" y="2055145"/>
            <a:ext cx="2557469" cy="80937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김OO (박사과정)</a:t>
            </a:r>
          </a:p>
        </p:txBody>
      </p:sp>
      <p:sp>
        <p:nvSpPr>
          <p:cNvPr id="10" name="people-04:mark"/>
          <p:cNvSpPr/>
          <p:nvPr/>
        </p:nvSpPr>
        <p:spPr>
          <a:xfrm>
            <a:off x="4266658" y="2306830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people-04:mark-text"/>
          <p:cNvSpPr txBox="1"/>
          <p:nvPr/>
        </p:nvSpPr>
        <p:spPr>
          <a:xfrm>
            <a:off x="4266658" y="2306830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12" name="people-04:mark"/>
          <p:cNvSpPr/>
          <p:nvPr/>
        </p:nvSpPr>
        <p:spPr>
          <a:xfrm>
            <a:off x="7118208" y="2306830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people-04:mark-text"/>
          <p:cNvSpPr txBox="1"/>
          <p:nvPr/>
        </p:nvSpPr>
        <p:spPr>
          <a:xfrm>
            <a:off x="7118208" y="2306830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7A2E6B"/>
                </a:solidFill>
              </a:rPr>
              <a:t>참여</a:t>
            </a:r>
          </a:p>
        </p:txBody>
      </p:sp>
      <p:cxnSp>
        <p:nvCxnSpPr>
          <p:cNvPr id="14" name="people-04:row-rule"/>
          <p:cNvCxnSpPr/>
          <p:nvPr/>
        </p:nvCxnSpPr>
        <p:spPr>
          <a:xfrm>
            <a:off x="468000" y="286451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people-04:name"/>
          <p:cNvSpPr txBox="1"/>
          <p:nvPr/>
        </p:nvSpPr>
        <p:spPr>
          <a:xfrm>
            <a:off x="468000" y="2864516"/>
            <a:ext cx="2557469" cy="80937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이OO (석사과정)</a:t>
            </a:r>
          </a:p>
        </p:txBody>
      </p:sp>
      <p:sp>
        <p:nvSpPr>
          <p:cNvPr id="16" name="people-04:mark"/>
          <p:cNvSpPr/>
          <p:nvPr/>
        </p:nvSpPr>
        <p:spPr>
          <a:xfrm>
            <a:off x="4266658" y="3116201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people-04:mark-text"/>
          <p:cNvSpPr txBox="1"/>
          <p:nvPr/>
        </p:nvSpPr>
        <p:spPr>
          <a:xfrm>
            <a:off x="4266658" y="3116201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7A2E6B"/>
                </a:solidFill>
              </a:rPr>
              <a:t>참여</a:t>
            </a:r>
          </a:p>
        </p:txBody>
      </p:sp>
      <p:sp>
        <p:nvSpPr>
          <p:cNvPr id="18" name="people-04:mark"/>
          <p:cNvSpPr/>
          <p:nvPr/>
        </p:nvSpPr>
        <p:spPr>
          <a:xfrm>
            <a:off x="9969758" y="3116201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people-04:mark-text"/>
          <p:cNvSpPr txBox="1"/>
          <p:nvPr/>
        </p:nvSpPr>
        <p:spPr>
          <a:xfrm>
            <a:off x="9969758" y="3116201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cxnSp>
        <p:nvCxnSpPr>
          <p:cNvPr id="20" name="people-04:row-rule"/>
          <p:cNvCxnSpPr/>
          <p:nvPr/>
        </p:nvCxnSpPr>
        <p:spPr>
          <a:xfrm>
            <a:off x="468000" y="367388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people-04:name"/>
          <p:cNvSpPr txBox="1"/>
          <p:nvPr/>
        </p:nvSpPr>
        <p:spPr>
          <a:xfrm>
            <a:off x="468000" y="3673887"/>
            <a:ext cx="2557469" cy="80937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박OO (석사과정)</a:t>
            </a:r>
          </a:p>
        </p:txBody>
      </p:sp>
      <p:sp>
        <p:nvSpPr>
          <p:cNvPr id="22" name="people-04:mark"/>
          <p:cNvSpPr/>
          <p:nvPr/>
        </p:nvSpPr>
        <p:spPr>
          <a:xfrm>
            <a:off x="7118208" y="3925572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4:mark-text"/>
          <p:cNvSpPr txBox="1"/>
          <p:nvPr/>
        </p:nvSpPr>
        <p:spPr>
          <a:xfrm>
            <a:off x="7118208" y="3925572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cxnSp>
        <p:nvCxnSpPr>
          <p:cNvPr id="24" name="people-04:row-rule"/>
          <p:cNvCxnSpPr/>
          <p:nvPr/>
        </p:nvCxnSpPr>
        <p:spPr>
          <a:xfrm>
            <a:off x="468000" y="448325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people-04:name"/>
          <p:cNvSpPr txBox="1"/>
          <p:nvPr/>
        </p:nvSpPr>
        <p:spPr>
          <a:xfrm>
            <a:off x="468000" y="4483258"/>
            <a:ext cx="2557469" cy="80937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최OO (연구원)</a:t>
            </a:r>
          </a:p>
        </p:txBody>
      </p:sp>
      <p:sp>
        <p:nvSpPr>
          <p:cNvPr id="26" name="people-04:mark"/>
          <p:cNvSpPr/>
          <p:nvPr/>
        </p:nvSpPr>
        <p:spPr>
          <a:xfrm>
            <a:off x="4266658" y="4734943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people-04:mark-text"/>
          <p:cNvSpPr txBox="1"/>
          <p:nvPr/>
        </p:nvSpPr>
        <p:spPr>
          <a:xfrm>
            <a:off x="4266658" y="4734943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7A2E6B"/>
                </a:solidFill>
              </a:rPr>
              <a:t>참여</a:t>
            </a:r>
          </a:p>
        </p:txBody>
      </p:sp>
      <p:sp>
        <p:nvSpPr>
          <p:cNvPr id="28" name="people-04:mark"/>
          <p:cNvSpPr/>
          <p:nvPr/>
        </p:nvSpPr>
        <p:spPr>
          <a:xfrm>
            <a:off x="9969758" y="4734943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people-04:mark-text"/>
          <p:cNvSpPr txBox="1"/>
          <p:nvPr/>
        </p:nvSpPr>
        <p:spPr>
          <a:xfrm>
            <a:off x="9969758" y="4734943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7A2E6B"/>
                </a:solidFill>
              </a:rPr>
              <a:t>참여</a:t>
            </a:r>
          </a:p>
        </p:txBody>
      </p:sp>
      <p:cxnSp>
        <p:nvCxnSpPr>
          <p:cNvPr id="30" name="people-04:row-rule"/>
          <p:cNvCxnSpPr/>
          <p:nvPr/>
        </p:nvCxnSpPr>
        <p:spPr>
          <a:xfrm>
            <a:off x="468000" y="529262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people-04:name"/>
          <p:cNvSpPr txBox="1"/>
          <p:nvPr/>
        </p:nvSpPr>
        <p:spPr>
          <a:xfrm>
            <a:off x="468000" y="5292629"/>
            <a:ext cx="2557469" cy="80937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정OO (학부 연구생)</a:t>
            </a:r>
          </a:p>
        </p:txBody>
      </p:sp>
      <p:sp>
        <p:nvSpPr>
          <p:cNvPr id="32" name="people-04:mark"/>
          <p:cNvSpPr/>
          <p:nvPr/>
        </p:nvSpPr>
        <p:spPr>
          <a:xfrm>
            <a:off x="4266658" y="5544314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people-04:mark-text"/>
          <p:cNvSpPr txBox="1"/>
          <p:nvPr/>
        </p:nvSpPr>
        <p:spPr>
          <a:xfrm>
            <a:off x="4266658" y="5544314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7A2E6B"/>
                </a:solidFill>
              </a:rPr>
              <a:t>참여</a:t>
            </a:r>
          </a:p>
        </p:txBody>
      </p:sp>
      <p:sp>
        <p:nvSpPr>
          <p:cNvPr id="34" name="people-04:mark"/>
          <p:cNvSpPr/>
          <p:nvPr/>
        </p:nvSpPr>
        <p:spPr>
          <a:xfrm>
            <a:off x="7118208" y="5544314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people-04:mark-text"/>
          <p:cNvSpPr txBox="1"/>
          <p:nvPr/>
        </p:nvSpPr>
        <p:spPr>
          <a:xfrm>
            <a:off x="7118208" y="5544314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7A2E6B"/>
                </a:solidFill>
              </a:rPr>
              <a:t>참여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컨소시엄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기관이 다섯 세부 과제를 나눠 주관한다</a:t>
            </a:r>
          </a:p>
        </p:txBody>
      </p:sp>
      <p:sp>
        <p:nvSpPr>
          <p:cNvPr id="5" name="people-04:role"/>
          <p:cNvSpPr txBox="1"/>
          <p:nvPr/>
        </p:nvSpPr>
        <p:spPr>
          <a:xfrm>
            <a:off x="3241469" y="1924952"/>
            <a:ext cx="1566930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코호트</a:t>
            </a:r>
          </a:p>
        </p:txBody>
      </p:sp>
      <p:sp>
        <p:nvSpPr>
          <p:cNvPr id="6" name="people-04:role"/>
          <p:cNvSpPr txBox="1"/>
          <p:nvPr/>
        </p:nvSpPr>
        <p:spPr>
          <a:xfrm>
            <a:off x="4952399" y="1924952"/>
            <a:ext cx="1566930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유전체</a:t>
            </a:r>
          </a:p>
        </p:txBody>
      </p:sp>
      <p:sp>
        <p:nvSpPr>
          <p:cNvPr id="7" name="people-04:role"/>
          <p:cNvSpPr txBox="1"/>
          <p:nvPr/>
        </p:nvSpPr>
        <p:spPr>
          <a:xfrm>
            <a:off x="6663329" y="1924952"/>
            <a:ext cx="1566930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 전사체</a:t>
            </a:r>
          </a:p>
        </p:txBody>
      </p:sp>
      <p:sp>
        <p:nvSpPr>
          <p:cNvPr id="8" name="people-04:role"/>
          <p:cNvSpPr txBox="1"/>
          <p:nvPr/>
        </p:nvSpPr>
        <p:spPr>
          <a:xfrm>
            <a:off x="8374260" y="1924952"/>
            <a:ext cx="1566930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AI 모델</a:t>
            </a:r>
          </a:p>
        </p:txBody>
      </p:sp>
      <p:sp>
        <p:nvSpPr>
          <p:cNvPr id="9" name="people-04:role"/>
          <p:cNvSpPr txBox="1"/>
          <p:nvPr/>
        </p:nvSpPr>
        <p:spPr>
          <a:xfrm>
            <a:off x="10085190" y="1924952"/>
            <a:ext cx="1566930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임상 검증</a:t>
            </a:r>
          </a:p>
        </p:txBody>
      </p:sp>
      <p:cxnSp>
        <p:nvCxnSpPr>
          <p:cNvPr id="10" name="people-04:head-rule"/>
          <p:cNvCxnSpPr/>
          <p:nvPr/>
        </p:nvCxnSpPr>
        <p:spPr>
          <a:xfrm>
            <a:off x="468000" y="2396097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people-04:name"/>
          <p:cNvSpPr txBox="1"/>
          <p:nvPr/>
        </p:nvSpPr>
        <p:spPr>
          <a:xfrm>
            <a:off x="468000" y="2396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 대학</a:t>
            </a:r>
          </a:p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단일세포 · 공간 분석</a:t>
            </a:r>
          </a:p>
        </p:txBody>
      </p:sp>
      <p:sp>
        <p:nvSpPr>
          <p:cNvPr id="12" name="people-04:mark"/>
          <p:cNvSpPr/>
          <p:nvPr/>
        </p:nvSpPr>
        <p:spPr>
          <a:xfrm>
            <a:off x="5407278" y="2747097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people-04:mark-text"/>
          <p:cNvSpPr txBox="1"/>
          <p:nvPr/>
        </p:nvSpPr>
        <p:spPr>
          <a:xfrm>
            <a:off x="5407278" y="2747097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7A2E6B"/>
                </a:solidFill>
              </a:rPr>
              <a:t>참여</a:t>
            </a:r>
          </a:p>
        </p:txBody>
      </p:sp>
      <p:sp>
        <p:nvSpPr>
          <p:cNvPr id="14" name="people-04:mark"/>
          <p:cNvSpPr/>
          <p:nvPr/>
        </p:nvSpPr>
        <p:spPr>
          <a:xfrm>
            <a:off x="7118208" y="2747097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people-04:mark-text"/>
          <p:cNvSpPr txBox="1"/>
          <p:nvPr/>
        </p:nvSpPr>
        <p:spPr>
          <a:xfrm>
            <a:off x="7118208" y="2747097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16" name="people-04:mark"/>
          <p:cNvSpPr/>
          <p:nvPr/>
        </p:nvSpPr>
        <p:spPr>
          <a:xfrm>
            <a:off x="8829138" y="2747097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people-04:mark-text"/>
          <p:cNvSpPr txBox="1"/>
          <p:nvPr/>
        </p:nvSpPr>
        <p:spPr>
          <a:xfrm>
            <a:off x="8829138" y="2747097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cxnSp>
        <p:nvCxnSpPr>
          <p:cNvPr id="18" name="people-04:row-rule"/>
          <p:cNvCxnSpPr/>
          <p:nvPr/>
        </p:nvCxnSpPr>
        <p:spPr>
          <a:xfrm>
            <a:off x="468000" y="3404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eople-04:name"/>
          <p:cNvSpPr txBox="1"/>
          <p:nvPr/>
        </p:nvSpPr>
        <p:spPr>
          <a:xfrm>
            <a:off x="468000" y="3404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 병원</a:t>
            </a:r>
          </a:p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환자 코호트 · 병리</a:t>
            </a:r>
          </a:p>
        </p:txBody>
      </p:sp>
      <p:sp>
        <p:nvSpPr>
          <p:cNvPr id="20" name="people-04:mark"/>
          <p:cNvSpPr/>
          <p:nvPr/>
        </p:nvSpPr>
        <p:spPr>
          <a:xfrm>
            <a:off x="3696347" y="3755097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people-04:mark-text"/>
          <p:cNvSpPr txBox="1"/>
          <p:nvPr/>
        </p:nvSpPr>
        <p:spPr>
          <a:xfrm>
            <a:off x="3696347" y="3755097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22" name="people-04:mark"/>
          <p:cNvSpPr/>
          <p:nvPr/>
        </p:nvSpPr>
        <p:spPr>
          <a:xfrm>
            <a:off x="7118208" y="3755097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4:mark-text"/>
          <p:cNvSpPr txBox="1"/>
          <p:nvPr/>
        </p:nvSpPr>
        <p:spPr>
          <a:xfrm>
            <a:off x="7118208" y="3755097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7A2E6B"/>
                </a:solidFill>
              </a:rPr>
              <a:t>참여</a:t>
            </a:r>
          </a:p>
        </p:txBody>
      </p:sp>
      <p:sp>
        <p:nvSpPr>
          <p:cNvPr id="24" name="people-04:mark"/>
          <p:cNvSpPr/>
          <p:nvPr/>
        </p:nvSpPr>
        <p:spPr>
          <a:xfrm>
            <a:off x="10540068" y="3755097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people-04:mark-text"/>
          <p:cNvSpPr txBox="1"/>
          <p:nvPr/>
        </p:nvSpPr>
        <p:spPr>
          <a:xfrm>
            <a:off x="10540068" y="3755097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cxnSp>
        <p:nvCxnSpPr>
          <p:cNvPr id="26" name="people-04:row-rule"/>
          <p:cNvCxnSpPr/>
          <p:nvPr/>
        </p:nvCxnSpPr>
        <p:spPr>
          <a:xfrm>
            <a:off x="468000" y="4412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people-04:name"/>
          <p:cNvSpPr txBox="1"/>
          <p:nvPr/>
        </p:nvSpPr>
        <p:spPr>
          <a:xfrm>
            <a:off x="468000" y="4412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 연구원</a:t>
            </a:r>
          </a:p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유전체 시퀀싱 센터</a:t>
            </a:r>
          </a:p>
        </p:txBody>
      </p:sp>
      <p:sp>
        <p:nvSpPr>
          <p:cNvPr id="28" name="people-04:mark"/>
          <p:cNvSpPr/>
          <p:nvPr/>
        </p:nvSpPr>
        <p:spPr>
          <a:xfrm>
            <a:off x="3696347" y="4763097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people-04:mark-text"/>
          <p:cNvSpPr txBox="1"/>
          <p:nvPr/>
        </p:nvSpPr>
        <p:spPr>
          <a:xfrm>
            <a:off x="3696347" y="4763097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7A2E6B"/>
                </a:solidFill>
              </a:rPr>
              <a:t>참여</a:t>
            </a:r>
          </a:p>
        </p:txBody>
      </p:sp>
      <p:sp>
        <p:nvSpPr>
          <p:cNvPr id="30" name="people-04:mark"/>
          <p:cNvSpPr/>
          <p:nvPr/>
        </p:nvSpPr>
        <p:spPr>
          <a:xfrm>
            <a:off x="5407278" y="4763097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people-04:mark-text"/>
          <p:cNvSpPr txBox="1"/>
          <p:nvPr/>
        </p:nvSpPr>
        <p:spPr>
          <a:xfrm>
            <a:off x="5407278" y="4763097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2" name="people-04:mark"/>
          <p:cNvSpPr/>
          <p:nvPr/>
        </p:nvSpPr>
        <p:spPr>
          <a:xfrm>
            <a:off x="8829138" y="4763097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people-04:mark-text"/>
          <p:cNvSpPr txBox="1"/>
          <p:nvPr/>
        </p:nvSpPr>
        <p:spPr>
          <a:xfrm>
            <a:off x="8829138" y="4763097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7A2E6B"/>
                </a:solidFill>
              </a:rPr>
              <a:t>참여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추진 체계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네 기관이 시료부터 검증까지 한 단계씩 주관한다</a:t>
            </a:r>
          </a:p>
        </p:txBody>
      </p:sp>
      <p:sp>
        <p:nvSpPr>
          <p:cNvPr id="5" name="people-04:role"/>
          <p:cNvSpPr txBox="1"/>
          <p:nvPr/>
        </p:nvSpPr>
        <p:spPr>
          <a:xfrm>
            <a:off x="3241469" y="1896468"/>
            <a:ext cx="1994663" cy="29075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시료 확보</a:t>
            </a:r>
          </a:p>
        </p:txBody>
      </p:sp>
      <p:sp>
        <p:nvSpPr>
          <p:cNvPr id="6" name="people-04:role"/>
          <p:cNvSpPr txBox="1"/>
          <p:nvPr/>
        </p:nvSpPr>
        <p:spPr>
          <a:xfrm>
            <a:off x="5380132" y="1896468"/>
            <a:ext cx="1994663" cy="29075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라이브러리 제작</a:t>
            </a:r>
          </a:p>
        </p:txBody>
      </p:sp>
      <p:sp>
        <p:nvSpPr>
          <p:cNvPr id="7" name="people-04:role"/>
          <p:cNvSpPr txBox="1"/>
          <p:nvPr/>
        </p:nvSpPr>
        <p:spPr>
          <a:xfrm>
            <a:off x="7518794" y="1896468"/>
            <a:ext cx="1994663" cy="29075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군집 분석</a:t>
            </a:r>
          </a:p>
        </p:txBody>
      </p:sp>
      <p:sp>
        <p:nvSpPr>
          <p:cNvPr id="8" name="people-04:role"/>
          <p:cNvSpPr txBox="1"/>
          <p:nvPr/>
        </p:nvSpPr>
        <p:spPr>
          <a:xfrm>
            <a:off x="9657457" y="1896468"/>
            <a:ext cx="1994663" cy="29075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검증 실험</a:t>
            </a:r>
          </a:p>
        </p:txBody>
      </p:sp>
      <p:cxnSp>
        <p:nvCxnSpPr>
          <p:cNvPr id="9" name="people-04:head-rule"/>
          <p:cNvCxnSpPr/>
          <p:nvPr/>
        </p:nvCxnSpPr>
        <p:spPr>
          <a:xfrm>
            <a:off x="468000" y="2277220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eople-04:logo" descr="logo-ho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2461376"/>
            <a:ext cx="678825" cy="252000"/>
          </a:xfrm>
          <a:prstGeom prst="rect">
            <a:avLst/>
          </a:prstGeom>
        </p:spPr>
      </p:pic>
      <p:sp>
        <p:nvSpPr>
          <p:cNvPr id="11" name="people-04:name"/>
          <p:cNvSpPr txBox="1"/>
          <p:nvPr/>
        </p:nvSpPr>
        <p:spPr>
          <a:xfrm>
            <a:off x="1355625" y="2277220"/>
            <a:ext cx="1669844" cy="62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 대학병원</a:t>
            </a:r>
          </a:p>
        </p:txBody>
      </p:sp>
      <p:sp>
        <p:nvSpPr>
          <p:cNvPr id="12" name="people-04:mark"/>
          <p:cNvSpPr/>
          <p:nvPr/>
        </p:nvSpPr>
        <p:spPr>
          <a:xfrm>
            <a:off x="3932166" y="2355895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people-04:mark-text"/>
          <p:cNvSpPr txBox="1"/>
          <p:nvPr/>
        </p:nvSpPr>
        <p:spPr>
          <a:xfrm>
            <a:off x="3932166" y="2355895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14" name="people-04:cell-text"/>
          <p:cNvSpPr txBox="1"/>
          <p:nvPr/>
        </p:nvSpPr>
        <p:spPr>
          <a:xfrm>
            <a:off x="3223469" y="2618695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환자 120명 모집</a:t>
            </a:r>
          </a:p>
        </p:txBody>
      </p:sp>
      <p:sp>
        <p:nvSpPr>
          <p:cNvPr id="15" name="people-04:mark"/>
          <p:cNvSpPr/>
          <p:nvPr/>
        </p:nvSpPr>
        <p:spPr>
          <a:xfrm>
            <a:off x="10348155" y="2355895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4:mark-text"/>
          <p:cNvSpPr txBox="1"/>
          <p:nvPr/>
        </p:nvSpPr>
        <p:spPr>
          <a:xfrm>
            <a:off x="10348155" y="2355895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7A2E6B"/>
                </a:solidFill>
              </a:rPr>
              <a:t>참여</a:t>
            </a:r>
          </a:p>
        </p:txBody>
      </p:sp>
      <p:sp>
        <p:nvSpPr>
          <p:cNvPr id="17" name="people-04:cell-text"/>
          <p:cNvSpPr txBox="1"/>
          <p:nvPr/>
        </p:nvSpPr>
        <p:spPr>
          <a:xfrm>
            <a:off x="9639457" y="2618695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임상 정보 대조</a:t>
            </a:r>
          </a:p>
        </p:txBody>
      </p:sp>
      <p:cxnSp>
        <p:nvCxnSpPr>
          <p:cNvPr id="18" name="people-04:row-rule"/>
          <p:cNvCxnSpPr/>
          <p:nvPr/>
        </p:nvCxnSpPr>
        <p:spPr>
          <a:xfrm>
            <a:off x="468000" y="2897532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eople-04:logo" descr="logo-l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00" y="3081688"/>
            <a:ext cx="779625" cy="252000"/>
          </a:xfrm>
          <a:prstGeom prst="rect">
            <a:avLst/>
          </a:prstGeom>
        </p:spPr>
      </p:pic>
      <p:sp>
        <p:nvSpPr>
          <p:cNvPr id="20" name="people-04:name"/>
          <p:cNvSpPr txBox="1"/>
          <p:nvPr/>
        </p:nvSpPr>
        <p:spPr>
          <a:xfrm>
            <a:off x="1355625" y="2897532"/>
            <a:ext cx="1669844" cy="62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 연구소</a:t>
            </a:r>
          </a:p>
        </p:txBody>
      </p:sp>
      <p:sp>
        <p:nvSpPr>
          <p:cNvPr id="21" name="people-04:mark"/>
          <p:cNvSpPr/>
          <p:nvPr/>
        </p:nvSpPr>
        <p:spPr>
          <a:xfrm>
            <a:off x="3932166" y="2976207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people-04:mark-text"/>
          <p:cNvSpPr txBox="1"/>
          <p:nvPr/>
        </p:nvSpPr>
        <p:spPr>
          <a:xfrm>
            <a:off x="3932166" y="2976207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7A2E6B"/>
                </a:solidFill>
              </a:rPr>
              <a:t>참여</a:t>
            </a:r>
          </a:p>
        </p:txBody>
      </p:sp>
      <p:sp>
        <p:nvSpPr>
          <p:cNvPr id="23" name="people-04:cell-text"/>
          <p:cNvSpPr txBox="1"/>
          <p:nvPr/>
        </p:nvSpPr>
        <p:spPr>
          <a:xfrm>
            <a:off x="3223469" y="3239007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조직 해리</a:t>
            </a:r>
          </a:p>
        </p:txBody>
      </p:sp>
      <p:sp>
        <p:nvSpPr>
          <p:cNvPr id="24" name="people-04:mark"/>
          <p:cNvSpPr/>
          <p:nvPr/>
        </p:nvSpPr>
        <p:spPr>
          <a:xfrm>
            <a:off x="6070829" y="2976207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people-04:mark-text"/>
          <p:cNvSpPr txBox="1"/>
          <p:nvPr/>
        </p:nvSpPr>
        <p:spPr>
          <a:xfrm>
            <a:off x="6070829" y="2976207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26" name="people-04:cell-text"/>
          <p:cNvSpPr txBox="1"/>
          <p:nvPr/>
        </p:nvSpPr>
        <p:spPr>
          <a:xfrm>
            <a:off x="5362132" y="3239007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10x 라이브러리</a:t>
            </a:r>
          </a:p>
        </p:txBody>
      </p:sp>
      <p:cxnSp>
        <p:nvCxnSpPr>
          <p:cNvPr id="27" name="people-04:row-rule"/>
          <p:cNvCxnSpPr/>
          <p:nvPr/>
        </p:nvCxnSpPr>
        <p:spPr>
          <a:xfrm>
            <a:off x="468000" y="3517844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people-04:logo" descr="logo-uni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000" y="3702000"/>
            <a:ext cx="779625" cy="252000"/>
          </a:xfrm>
          <a:prstGeom prst="rect">
            <a:avLst/>
          </a:prstGeom>
        </p:spPr>
      </p:pic>
      <p:sp>
        <p:nvSpPr>
          <p:cNvPr id="29" name="people-04:name"/>
          <p:cNvSpPr txBox="1"/>
          <p:nvPr/>
        </p:nvSpPr>
        <p:spPr>
          <a:xfrm>
            <a:off x="1355625" y="3517844"/>
            <a:ext cx="1669844" cy="62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 대학 (주관기관)</a:t>
            </a:r>
          </a:p>
        </p:txBody>
      </p:sp>
      <p:sp>
        <p:nvSpPr>
          <p:cNvPr id="30" name="people-04:mark"/>
          <p:cNvSpPr/>
          <p:nvPr/>
        </p:nvSpPr>
        <p:spPr>
          <a:xfrm>
            <a:off x="6070829" y="3596519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people-04:mark-text"/>
          <p:cNvSpPr txBox="1"/>
          <p:nvPr/>
        </p:nvSpPr>
        <p:spPr>
          <a:xfrm>
            <a:off x="6070829" y="3596519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7A2E6B"/>
                </a:solidFill>
              </a:rPr>
              <a:t>참여</a:t>
            </a:r>
          </a:p>
        </p:txBody>
      </p:sp>
      <p:sp>
        <p:nvSpPr>
          <p:cNvPr id="32" name="people-04:cell-text"/>
          <p:cNvSpPr txBox="1"/>
          <p:nvPr/>
        </p:nvSpPr>
        <p:spPr>
          <a:xfrm>
            <a:off x="5362132" y="3859319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품질 관리</a:t>
            </a:r>
          </a:p>
        </p:txBody>
      </p:sp>
      <p:sp>
        <p:nvSpPr>
          <p:cNvPr id="33" name="people-04:mark"/>
          <p:cNvSpPr/>
          <p:nvPr/>
        </p:nvSpPr>
        <p:spPr>
          <a:xfrm>
            <a:off x="8209492" y="3596519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people-04:mark-text"/>
          <p:cNvSpPr txBox="1"/>
          <p:nvPr/>
        </p:nvSpPr>
        <p:spPr>
          <a:xfrm>
            <a:off x="8209492" y="3596519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5" name="people-04:cell-text"/>
          <p:cNvSpPr txBox="1"/>
          <p:nvPr/>
        </p:nvSpPr>
        <p:spPr>
          <a:xfrm>
            <a:off x="7500794" y="3859319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통합 · 군집</a:t>
            </a:r>
          </a:p>
        </p:txBody>
      </p:sp>
      <p:sp>
        <p:nvSpPr>
          <p:cNvPr id="36" name="people-04:mark"/>
          <p:cNvSpPr/>
          <p:nvPr/>
        </p:nvSpPr>
        <p:spPr>
          <a:xfrm>
            <a:off x="10348155" y="3596519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people-04:mark-text"/>
          <p:cNvSpPr txBox="1"/>
          <p:nvPr/>
        </p:nvSpPr>
        <p:spPr>
          <a:xfrm>
            <a:off x="10348155" y="3596519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7A2E6B"/>
                </a:solidFill>
              </a:rPr>
              <a:t>참여</a:t>
            </a:r>
          </a:p>
        </p:txBody>
      </p:sp>
      <p:sp>
        <p:nvSpPr>
          <p:cNvPr id="38" name="people-04:cell-text"/>
          <p:cNvSpPr txBox="1"/>
          <p:nvPr/>
        </p:nvSpPr>
        <p:spPr>
          <a:xfrm>
            <a:off x="9639457" y="3859319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후보 선정</a:t>
            </a:r>
          </a:p>
        </p:txBody>
      </p:sp>
      <p:cxnSp>
        <p:nvCxnSpPr>
          <p:cNvPr id="39" name="people-04:row-rule"/>
          <p:cNvCxnSpPr/>
          <p:nvPr/>
        </p:nvCxnSpPr>
        <p:spPr>
          <a:xfrm>
            <a:off x="468000" y="413815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0" name="people-04:logo" descr="logo-c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000" y="4322312"/>
            <a:ext cx="779625" cy="252000"/>
          </a:xfrm>
          <a:prstGeom prst="rect">
            <a:avLst/>
          </a:prstGeom>
        </p:spPr>
      </p:pic>
      <p:sp>
        <p:nvSpPr>
          <p:cNvPr id="41" name="people-04:name"/>
          <p:cNvSpPr txBox="1"/>
          <p:nvPr/>
        </p:nvSpPr>
        <p:spPr>
          <a:xfrm>
            <a:off x="1355625" y="4138156"/>
            <a:ext cx="1669844" cy="62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D 기업</a:t>
            </a:r>
          </a:p>
        </p:txBody>
      </p:sp>
      <p:sp>
        <p:nvSpPr>
          <p:cNvPr id="42" name="people-04:mark"/>
          <p:cNvSpPr/>
          <p:nvPr/>
        </p:nvSpPr>
        <p:spPr>
          <a:xfrm>
            <a:off x="8209492" y="4216831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people-04:mark-text"/>
          <p:cNvSpPr txBox="1"/>
          <p:nvPr/>
        </p:nvSpPr>
        <p:spPr>
          <a:xfrm>
            <a:off x="8209492" y="4216831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7A2E6B"/>
                </a:solidFill>
              </a:rPr>
              <a:t>참여</a:t>
            </a:r>
          </a:p>
        </p:txBody>
      </p:sp>
      <p:sp>
        <p:nvSpPr>
          <p:cNvPr id="44" name="people-04:cell-text"/>
          <p:cNvSpPr txBox="1"/>
          <p:nvPr/>
        </p:nvSpPr>
        <p:spPr>
          <a:xfrm>
            <a:off x="7500794" y="4479631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클라우드 분석</a:t>
            </a:r>
          </a:p>
        </p:txBody>
      </p:sp>
      <p:sp>
        <p:nvSpPr>
          <p:cNvPr id="45" name="people-04:mark"/>
          <p:cNvSpPr/>
          <p:nvPr/>
        </p:nvSpPr>
        <p:spPr>
          <a:xfrm>
            <a:off x="10348155" y="4216831"/>
            <a:ext cx="613268" cy="234000"/>
          </a:xfrm>
          <a:prstGeom prst="roundRect">
            <a:avLst>
              <a:gd name="adj" fmla="val 50000"/>
            </a:avLst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people-04:mark-text"/>
          <p:cNvSpPr txBox="1"/>
          <p:nvPr/>
        </p:nvSpPr>
        <p:spPr>
          <a:xfrm>
            <a:off x="10348155" y="4216831"/>
            <a:ext cx="613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47" name="people-04:cell-text"/>
          <p:cNvSpPr txBox="1"/>
          <p:nvPr/>
        </p:nvSpPr>
        <p:spPr>
          <a:xfrm>
            <a:off x="9639457" y="4479631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다중 염색 검증</a:t>
            </a:r>
          </a:p>
        </p:txBody>
      </p:sp>
      <p:cxnSp>
        <p:nvCxnSpPr>
          <p:cNvPr id="48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매달 네 기관이 데이터 회의를 열고, 원자료는 C 대학 서버 한 곳에 모은다.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플럼 클린 16:9">
  <a:themeElements>
    <a:clrScheme name="HaLab 플럼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2E6B"/>
      </a:accent1>
      <a:accent2>
        <a:srgbClr val="A9779F"/>
      </a:accent2>
      <a:accent3>
        <a:srgbClr val="CAABC4"/>
      </a:accent3>
      <a:accent4>
        <a:srgbClr val="2BB3A6"/>
      </a:accent4>
      <a:accent5>
        <a:srgbClr val="CAABC4"/>
      </a:accent5>
      <a:accent6>
        <a:srgbClr val="E2E5EA"/>
      </a:accent6>
      <a:hlink>
        <a:srgbClr val="7A2E6B"/>
      </a:hlink>
      <a:folHlink>
        <a:srgbClr val="CAABC4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