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AEB1B9"/>
            </a:solidFill>
            <a:ln>
              <a:noFill/>
            </a:ln>
          </c:spPr>
          <c:dPt>
            <c:idx val="3"/>
            <c:spPr>
              <a:solidFill>
                <a:srgbClr val="7A2E6B"/>
              </a:solidFill>
            </c:spPr>
          </c:dPt>
          <c:dLbls>
            <c:dLbl>
              <c:idx val="3"/>
              <c:tx>
                <c:rich>
                  <a:bodyPr/>
                  <a:lstStyle/>
                  <a:p>
                    <a:r>
                      <a:rPr sz="2400" b="1">
                        <a:solidFill>
                          <a:srgbClr val="7A2E6B"/>
                        </a:solidFill>
                        <a:latin typeface="Pretendard"/>
                      </a:rPr>
                      <a:t>0.86</a:t>
                    </a:r>
                  </a:p>
                </c:rich>
              </c:tx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SPOTlight</c:v>
                </c:pt>
                <c:pt idx="1">
                  <c:v>RCTD</c:v>
                </c:pt>
                <c:pt idx="2">
                  <c:v>cell2location</c:v>
                </c:pt>
                <c:pt idx="3">
                  <c:v>New method</c:v>
                </c:pt>
              </c:strCache>
            </c:strRef>
          </c:cat>
          <c:val>
            <c:numRef>
              <c:f>Sheet1!$B$2:$B$5</c:f>
              <c:numCache>
                <c:formatCode>0.00</c:formatCode>
                <c:ptCount val="4"/>
                <c:pt idx="0">
                  <c:v>0.62</c:v>
                </c:pt>
                <c:pt idx="1">
                  <c:v>0.71</c:v>
                </c:pt>
                <c:pt idx="2">
                  <c:v>0.74</c:v>
                </c:pt>
                <c:pt idx="3">
                  <c:v>0.86</c:v>
                </c:pt>
              </c:numCache>
            </c:numRef>
          </c:val>
        </c:ser>
        <c:gapWidth val="70"/>
        <c:axId val="2068027336"/>
        <c:axId val="2113994440"/>
      </c:barChart>
      <c:catAx>
        <c:axId val="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E2E5EA"/>
            </a:solidFill>
          </a:ln>
        </c:spPr>
        <c:txPr>
          <a:bodyPr/>
          <a:lstStyle/>
          <a:p>
            <a:pPr>
              <a:defRPr sz="1200" b="0">
                <a:solidFill>
                  <a:srgbClr val="262B33"/>
                </a:solidFill>
                <a:latin typeface="Pretendard"/>
              </a:defRPr>
            </a:pPr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/>
        <c:delete val="0"/>
        <c:axPos val="b"/>
        <c:majorGridlines>
          <c:spPr>
            <a:ln w="6350">
              <a:solidFill>
                <a:srgbClr val="E2E5EA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1200" b="0">
                    <a:solidFill>
                      <a:srgbClr val="6B7280"/>
                    </a:solidFill>
                    <a:latin typeface="Pretendard"/>
                  </a:rPr>
                  <a:t>Pearson r (2,000 synthetic spots)</a:t>
                </a:r>
              </a:p>
            </c:rich>
          </c:tx>
          <c:layout/>
          <c:overlay val="0"/>
        </c:title>
        <c:numFmt formatCode="0.00" sourceLinked="0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 b="0">
                <a:solidFill>
                  <a:srgbClr val="6B7280"/>
                </a:solidFill>
                <a:latin typeface="Pretendard"/>
              </a:defRPr>
            </a:pPr>
          </a:p>
        </c:txPr>
        <c:crossAx val="2068027336"/>
        <c:crosses val="autoZero"/>
      </c:valAx>
    </c:plotArea>
    <c:dispBlanksAs val="gap"/>
  </c:chart>
  <c:txPr>
    <a:bodyPr/>
    <a:lstStyle/>
    <a:p>
      <a:pPr>
        <a:defRPr sz="1200" b="0">
          <a:solidFill>
            <a:srgbClr val="6B7280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덱 (Journal club).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E7D9E4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HaLab Journal club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Reference-free spot deconvolution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Example paper (fictional) ·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r>
              <a:t>2026. 10. 16.</a:t>
            </a:r>
          </a:p>
          <a:p>
            <a:r>
              <a:t>PhD student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Each spot mixes several cells, and that is the starting point</a:t>
            </a:r>
          </a:p>
        </p:txBody>
      </p:sp>
      <p:sp>
        <p:nvSpPr>
          <p:cNvPr id="5" name="logic-03:row"/>
          <p:cNvSpPr/>
          <p:nvPr/>
        </p:nvSpPr>
        <p:spPr>
          <a:xfrm>
            <a:off x="468000" y="2118000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logic-03:marker"/>
          <p:cNvSpPr/>
          <p:nvPr/>
        </p:nvSpPr>
        <p:spPr>
          <a:xfrm>
            <a:off x="648000" y="2350364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7" name="logic-03:label"/>
          <p:cNvSpPr txBox="1"/>
          <p:nvPr/>
        </p:nvSpPr>
        <p:spPr>
          <a:xfrm>
            <a:off x="1044000" y="2118000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Known</a:t>
            </a:r>
          </a:p>
        </p:txBody>
      </p:sp>
      <p:sp>
        <p:nvSpPr>
          <p:cNvPr id="8" name="logic-03:text"/>
          <p:cNvSpPr txBox="1"/>
          <p:nvPr/>
        </p:nvSpPr>
        <p:spPr>
          <a:xfrm>
            <a:off x="2268000" y="2118000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A Visium spot (55 μm) mixes 5–10 cells</a:t>
            </a:r>
          </a:p>
        </p:txBody>
      </p:sp>
      <p:cxnSp>
        <p:nvCxnSpPr>
          <p:cNvPr id="9" name="logic-03:link"/>
          <p:cNvCxnSpPr/>
          <p:nvPr/>
        </p:nvCxnSpPr>
        <p:spPr>
          <a:xfrm>
            <a:off x="792000" y="2870727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ogic-03:row"/>
          <p:cNvSpPr/>
          <p:nvPr/>
        </p:nvSpPr>
        <p:spPr>
          <a:xfrm>
            <a:off x="468000" y="3086727"/>
            <a:ext cx="11256120" cy="752727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logic-03:marker"/>
          <p:cNvSpPr/>
          <p:nvPr/>
        </p:nvSpPr>
        <p:spPr>
          <a:xfrm>
            <a:off x="648000" y="331909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logic-03:label"/>
          <p:cNvSpPr txBox="1"/>
          <p:nvPr/>
        </p:nvSpPr>
        <p:spPr>
          <a:xfrm>
            <a:off x="1044000" y="3086727"/>
            <a:ext cx="115200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Gap</a:t>
            </a:r>
          </a:p>
        </p:txBody>
      </p:sp>
      <p:sp>
        <p:nvSpPr>
          <p:cNvPr id="13" name="logic-03:text"/>
          <p:cNvSpPr txBox="1"/>
          <p:nvPr/>
        </p:nvSpPr>
        <p:spPr>
          <a:xfrm>
            <a:off x="2268000" y="3086727"/>
            <a:ext cx="9240120" cy="752727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262B33"/>
                </a:solidFill>
              </a:rPr>
              <a:t>Current deconvolution misses cell states that are not in the reference</a:t>
            </a:r>
          </a:p>
        </p:txBody>
      </p:sp>
      <p:cxnSp>
        <p:nvCxnSpPr>
          <p:cNvPr id="14" name="logic-03:link"/>
          <p:cNvCxnSpPr/>
          <p:nvPr/>
        </p:nvCxnSpPr>
        <p:spPr>
          <a:xfrm>
            <a:off x="792000" y="3839455"/>
            <a:ext cx="0" cy="216000"/>
          </a:xfrm>
          <a:prstGeom prst="line">
            <a:avLst/>
          </a:prstGeom>
          <a:ln w="9525"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logic-03:row"/>
          <p:cNvSpPr/>
          <p:nvPr/>
        </p:nvSpPr>
        <p:spPr>
          <a:xfrm>
            <a:off x="468000" y="4055455"/>
            <a:ext cx="11256120" cy="978545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logic-03:marker"/>
          <p:cNvSpPr/>
          <p:nvPr/>
        </p:nvSpPr>
        <p:spPr>
          <a:xfrm>
            <a:off x="648000" y="4400727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17" name="logic-03:label"/>
          <p:cNvSpPr txBox="1"/>
          <p:nvPr/>
        </p:nvSpPr>
        <p:spPr>
          <a:xfrm>
            <a:off x="1044000" y="4055455"/>
            <a:ext cx="115200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8" name="logic-03:text"/>
          <p:cNvSpPr txBox="1"/>
          <p:nvPr/>
        </p:nvSpPr>
        <p:spPr>
          <a:xfrm>
            <a:off x="2268000" y="4055455"/>
            <a:ext cx="9240120" cy="978545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35000"/>
              </a:lnSpc>
            </a:pPr>
            <a:r>
              <a:rPr sz="1800" b="1" spc="-40">
                <a:solidFill>
                  <a:srgbClr val="FFFFFF"/>
                </a:solidFill>
              </a:rPr>
              <a:t>Can we separate cell states without a reference?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Background · Question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Both existing methods work only with a reference</a:t>
            </a:r>
          </a:p>
        </p:txBody>
      </p:sp>
      <p:sp>
        <p:nvSpPr>
          <p:cNvPr id="5" name="comp-02:head"/>
          <p:cNvSpPr txBox="1"/>
          <p:nvPr/>
        </p:nvSpPr>
        <p:spPr>
          <a:xfrm>
            <a:off x="468000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cell2location</a:t>
            </a:r>
          </a:p>
        </p:txBody>
      </p:sp>
      <p:sp>
        <p:nvSpPr>
          <p:cNvPr id="6" name="comp-02:head"/>
          <p:cNvSpPr txBox="1"/>
          <p:nvPr/>
        </p:nvSpPr>
        <p:spPr>
          <a:xfrm>
            <a:off x="7221672" y="2152821"/>
            <a:ext cx="4502448" cy="38153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800" b="1" spc="-40">
                <a:solidFill>
                  <a:srgbClr val="262B33"/>
                </a:solidFill>
              </a:rPr>
              <a:t>RCTD</a:t>
            </a:r>
          </a:p>
        </p:txBody>
      </p:sp>
      <p:cxnSp>
        <p:nvCxnSpPr>
          <p:cNvPr id="7" name="comp-02:head-rule"/>
          <p:cNvCxnSpPr/>
          <p:nvPr/>
        </p:nvCxnSpPr>
        <p:spPr>
          <a:xfrm>
            <a:off x="468000" y="2588359"/>
            <a:ext cx="11256120" cy="0"/>
          </a:xfrm>
          <a:prstGeom prst="line">
            <a:avLst/>
          </a:prstGeom>
          <a:ln w="12700">
            <a:solidFill>
              <a:srgbClr val="262B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omp-02:value"/>
          <p:cNvSpPr txBox="1"/>
          <p:nvPr/>
        </p:nvSpPr>
        <p:spPr>
          <a:xfrm>
            <a:off x="612000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sp>
        <p:nvSpPr>
          <p:cNvPr id="9" name="comp-02:item"/>
          <p:cNvSpPr txBox="1"/>
          <p:nvPr/>
        </p:nvSpPr>
        <p:spPr>
          <a:xfrm>
            <a:off x="5042448" y="2588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Reference data</a:t>
            </a:r>
          </a:p>
        </p:txBody>
      </p:sp>
      <p:sp>
        <p:nvSpPr>
          <p:cNvPr id="10" name="comp-02:value"/>
          <p:cNvSpPr txBox="1"/>
          <p:nvPr/>
        </p:nvSpPr>
        <p:spPr>
          <a:xfrm>
            <a:off x="7365672" y="2588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Single-cell required</a:t>
            </a:r>
          </a:p>
        </p:txBody>
      </p:sp>
      <p:cxnSp>
        <p:nvCxnSpPr>
          <p:cNvPr id="11" name="comp-02:row-rule"/>
          <p:cNvCxnSpPr/>
          <p:nvPr/>
        </p:nvCxnSpPr>
        <p:spPr>
          <a:xfrm>
            <a:off x="468000" y="3380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mp-02:value"/>
          <p:cNvSpPr txBox="1"/>
          <p:nvPr/>
        </p:nvSpPr>
        <p:spPr>
          <a:xfrm>
            <a:off x="612000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sp>
        <p:nvSpPr>
          <p:cNvPr id="13" name="comp-02:item"/>
          <p:cNvSpPr txBox="1"/>
          <p:nvPr/>
        </p:nvSpPr>
        <p:spPr>
          <a:xfrm>
            <a:off x="5042448" y="3380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New cell states</a:t>
            </a:r>
          </a:p>
        </p:txBody>
      </p:sp>
      <p:sp>
        <p:nvSpPr>
          <p:cNvPr id="14" name="comp-02:value"/>
          <p:cNvSpPr txBox="1"/>
          <p:nvPr/>
        </p:nvSpPr>
        <p:spPr>
          <a:xfrm>
            <a:off x="7365672" y="3380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Not detected</a:t>
            </a:r>
          </a:p>
        </p:txBody>
      </p:sp>
      <p:cxnSp>
        <p:nvCxnSpPr>
          <p:cNvPr id="15" name="comp-02:row-rule"/>
          <p:cNvCxnSpPr/>
          <p:nvPr/>
        </p:nvCxnSpPr>
        <p:spPr>
          <a:xfrm>
            <a:off x="468000" y="417235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omp-02:value"/>
          <p:cNvSpPr txBox="1"/>
          <p:nvPr/>
        </p:nvSpPr>
        <p:spPr>
          <a:xfrm>
            <a:off x="612000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 h</a:t>
            </a:r>
          </a:p>
        </p:txBody>
      </p:sp>
      <p:sp>
        <p:nvSpPr>
          <p:cNvPr id="17" name="comp-02:item"/>
          <p:cNvSpPr txBox="1"/>
          <p:nvPr/>
        </p:nvSpPr>
        <p:spPr>
          <a:xfrm>
            <a:off x="5042448" y="4172359"/>
            <a:ext cx="2107224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5000"/>
              </a:lnSpc>
            </a:pPr>
            <a:r>
              <a:rPr sz="13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Speed (4,000 spots)</a:t>
            </a:r>
          </a:p>
        </p:txBody>
      </p:sp>
      <p:sp>
        <p:nvSpPr>
          <p:cNvPr id="18" name="comp-02:value"/>
          <p:cNvSpPr txBox="1"/>
          <p:nvPr/>
        </p:nvSpPr>
        <p:spPr>
          <a:xfrm>
            <a:off x="7365672" y="4172359"/>
            <a:ext cx="4214448" cy="79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30000"/>
              </a:lnSpc>
            </a:pPr>
            <a:r>
              <a:rPr sz="1400" b="0" spc="-40">
                <a:solidFill>
                  <a:srgbClr val="262B33"/>
                </a:solidFill>
              </a:rPr>
              <a:t>About 20 min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Study design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Spatial and single-cell data come from the same patients</a:t>
            </a:r>
          </a:p>
        </p:txBody>
      </p:sp>
      <p:sp>
        <p:nvSpPr>
          <p:cNvPr id="5" name="res-01:marker"/>
          <p:cNvSpPr/>
          <p:nvPr/>
        </p:nvSpPr>
        <p:spPr>
          <a:xfrm>
            <a:off x="46800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1</a:t>
            </a:r>
          </a:p>
        </p:txBody>
      </p:sp>
      <p:sp>
        <p:nvSpPr>
          <p:cNvPr id="6" name="res-01:title"/>
          <p:cNvSpPr txBox="1"/>
          <p:nvPr/>
        </p:nvSpPr>
        <p:spPr>
          <a:xfrm>
            <a:off x="95940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Cohort</a:t>
            </a:r>
          </a:p>
        </p:txBody>
      </p:sp>
      <p:sp>
        <p:nvSpPr>
          <p:cNvPr id="7" name="res-01:column"/>
          <p:cNvSpPr/>
          <p:nvPr/>
        </p:nvSpPr>
        <p:spPr>
          <a:xfrm>
            <a:off x="46800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1:text"/>
          <p:cNvSpPr txBox="1"/>
          <p:nvPr/>
        </p:nvSpPr>
        <p:spPr>
          <a:xfrm>
            <a:off x="655200" y="3175014"/>
            <a:ext cx="2115630" cy="8818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8 colorectal cancer patients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Surgical tissue · same block</a:t>
            </a:r>
          </a:p>
        </p:txBody>
      </p:sp>
      <p:sp>
        <p:nvSpPr>
          <p:cNvPr id="9" name="res-01:evidence"/>
          <p:cNvSpPr txBox="1"/>
          <p:nvPr/>
        </p:nvSpPr>
        <p:spPr>
          <a:xfrm>
            <a:off x="46800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n = 8 · 16 sections</a:t>
            </a:r>
          </a:p>
        </p:txBody>
      </p:sp>
      <p:cxnSp>
        <p:nvCxnSpPr>
          <p:cNvPr id="10" name="res-01:link"/>
          <p:cNvCxnSpPr/>
          <p:nvPr/>
        </p:nvCxnSpPr>
        <p:spPr>
          <a:xfrm>
            <a:off x="302823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s-01:marker"/>
          <p:cNvSpPr/>
          <p:nvPr/>
        </p:nvSpPr>
        <p:spPr>
          <a:xfrm>
            <a:off x="339003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2</a:t>
            </a:r>
          </a:p>
        </p:txBody>
      </p:sp>
      <p:sp>
        <p:nvSpPr>
          <p:cNvPr id="12" name="res-01:title"/>
          <p:cNvSpPr txBox="1"/>
          <p:nvPr/>
        </p:nvSpPr>
        <p:spPr>
          <a:xfrm>
            <a:off x="388143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Comparison</a:t>
            </a:r>
          </a:p>
        </p:txBody>
      </p:sp>
      <p:sp>
        <p:nvSpPr>
          <p:cNvPr id="13" name="res-01:column"/>
          <p:cNvSpPr/>
          <p:nvPr/>
        </p:nvSpPr>
        <p:spPr>
          <a:xfrm>
            <a:off x="339003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1:group"/>
          <p:cNvSpPr/>
          <p:nvPr/>
        </p:nvSpPr>
        <p:spPr>
          <a:xfrm>
            <a:off x="3577230" y="2887107"/>
            <a:ext cx="2115630" cy="673011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s-01:group-text"/>
          <p:cNvSpPr txBox="1"/>
          <p:nvPr/>
        </p:nvSpPr>
        <p:spPr>
          <a:xfrm>
            <a:off x="3670830" y="2887107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FFFFFF"/>
                </a:solidFill>
              </a:rPr>
              <a:t>Visium spatial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FFFFFF"/>
                </a:solidFill>
              </a:rPr>
              <a:t>16 sections</a:t>
            </a:r>
          </a:p>
        </p:txBody>
      </p:sp>
      <p:sp>
        <p:nvSpPr>
          <p:cNvPr id="16" name="res-01:group"/>
          <p:cNvSpPr/>
          <p:nvPr/>
        </p:nvSpPr>
        <p:spPr>
          <a:xfrm>
            <a:off x="3577230" y="3653718"/>
            <a:ext cx="2115630" cy="673011"/>
          </a:xfrm>
          <a:prstGeom prst="rect">
            <a:avLst/>
          </a:prstGeom>
          <a:solidFill>
            <a:srgbClr val="EDEE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s-01:group-text"/>
          <p:cNvSpPr txBox="1"/>
          <p:nvPr/>
        </p:nvSpPr>
        <p:spPr>
          <a:xfrm>
            <a:off x="3670830" y="3653718"/>
            <a:ext cx="1928430" cy="673011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400" b="1" spc="-40">
                <a:solidFill>
                  <a:srgbClr val="6B7280"/>
                </a:solidFill>
              </a:rPr>
              <a:t>scRNA-seq reference</a:t>
            </a:r>
          </a:p>
          <a:p>
            <a:pPr algn="ctr">
              <a:lnSpc>
                <a:spcPct val="120000"/>
              </a:lnSpc>
              <a:spcBef>
                <a:spcPts val="100"/>
              </a:spcBef>
            </a:pPr>
            <a:r>
              <a:rPr sz="1200" b="0" spc="-40">
                <a:solidFill>
                  <a:srgbClr val="6B7280"/>
                </a:solidFill>
              </a:rPr>
              <a:t>60,000 cells</a:t>
            </a:r>
          </a:p>
        </p:txBody>
      </p:sp>
      <p:sp>
        <p:nvSpPr>
          <p:cNvPr id="18" name="res-01:evidence"/>
          <p:cNvSpPr txBox="1"/>
          <p:nvPr/>
        </p:nvSpPr>
        <p:spPr>
          <a:xfrm>
            <a:off x="339003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Both methods on the same tissue</a:t>
            </a:r>
          </a:p>
        </p:txBody>
      </p:sp>
      <p:cxnSp>
        <p:nvCxnSpPr>
          <p:cNvPr id="19" name="res-01:link"/>
          <p:cNvCxnSpPr/>
          <p:nvPr/>
        </p:nvCxnSpPr>
        <p:spPr>
          <a:xfrm>
            <a:off x="595026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es-01:marker"/>
          <p:cNvSpPr/>
          <p:nvPr/>
        </p:nvSpPr>
        <p:spPr>
          <a:xfrm>
            <a:off x="631206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3</a:t>
            </a:r>
          </a:p>
        </p:txBody>
      </p:sp>
      <p:sp>
        <p:nvSpPr>
          <p:cNvPr id="21" name="res-01:title"/>
          <p:cNvSpPr txBox="1"/>
          <p:nvPr/>
        </p:nvSpPr>
        <p:spPr>
          <a:xfrm>
            <a:off x="680346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Measure</a:t>
            </a:r>
          </a:p>
        </p:txBody>
      </p:sp>
      <p:sp>
        <p:nvSpPr>
          <p:cNvPr id="22" name="res-01:column"/>
          <p:cNvSpPr/>
          <p:nvPr/>
        </p:nvSpPr>
        <p:spPr>
          <a:xfrm>
            <a:off x="631206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es-01:text"/>
          <p:cNvSpPr txBox="1"/>
          <p:nvPr/>
        </p:nvSpPr>
        <p:spPr>
          <a:xfrm>
            <a:off x="649926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Cell-state proportions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8 states per spot</a:t>
            </a:r>
          </a:p>
        </p:txBody>
      </p:sp>
      <p:sp>
        <p:nvSpPr>
          <p:cNvPr id="24" name="res-01:evidence"/>
          <p:cNvSpPr txBox="1"/>
          <p:nvPr/>
        </p:nvSpPr>
        <p:spPr>
          <a:xfrm>
            <a:off x="631206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About 30,000 spots</a:t>
            </a:r>
          </a:p>
        </p:txBody>
      </p:sp>
      <p:cxnSp>
        <p:nvCxnSpPr>
          <p:cNvPr id="25" name="res-01:link"/>
          <p:cNvCxnSpPr/>
          <p:nvPr/>
        </p:nvCxnSpPr>
        <p:spPr>
          <a:xfrm>
            <a:off x="8872290" y="3606918"/>
            <a:ext cx="291600" cy="0"/>
          </a:xfrm>
          <a:prstGeom prst="line">
            <a:avLst/>
          </a:prstGeom>
          <a:ln w="9525">
            <a:solidFill>
              <a:srgbClr val="6B728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s-01:marker"/>
          <p:cNvSpPr/>
          <p:nvPr/>
        </p:nvSpPr>
        <p:spPr>
          <a:xfrm>
            <a:off x="9234090" y="2185107"/>
            <a:ext cx="374400" cy="3744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7A2E6B"/>
                </a:solidFill>
              </a:rPr>
              <a:t>4</a:t>
            </a:r>
          </a:p>
        </p:txBody>
      </p:sp>
      <p:sp>
        <p:nvSpPr>
          <p:cNvPr id="27" name="res-01:title"/>
          <p:cNvSpPr txBox="1"/>
          <p:nvPr/>
        </p:nvSpPr>
        <p:spPr>
          <a:xfrm>
            <a:off x="9725490" y="2185107"/>
            <a:ext cx="1998630" cy="3744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Analysis</a:t>
            </a:r>
          </a:p>
        </p:txBody>
      </p:sp>
      <p:sp>
        <p:nvSpPr>
          <p:cNvPr id="28" name="res-01:column"/>
          <p:cNvSpPr/>
          <p:nvPr/>
        </p:nvSpPr>
        <p:spPr>
          <a:xfrm>
            <a:off x="9234090" y="2699907"/>
            <a:ext cx="2490030" cy="1814021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es-01:text"/>
          <p:cNvSpPr txBox="1"/>
          <p:nvPr/>
        </p:nvSpPr>
        <p:spPr>
          <a:xfrm>
            <a:off x="9421290" y="3323013"/>
            <a:ext cx="2115630" cy="585809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2000"/>
              </a:lnSpc>
            </a:pPr>
            <a:r>
              <a:rPr sz="1600" b="1" spc="-40">
                <a:solidFill>
                  <a:srgbClr val="262B33"/>
                </a:solidFill>
              </a:rPr>
              <a:t>Benchmark · biology</a:t>
            </a:r>
          </a:p>
          <a:p>
            <a:pPr algn="ctr">
              <a:lnSpc>
                <a:spcPct val="122000"/>
              </a:lnSpc>
              <a:spcBef>
                <a:spcPts val="200"/>
              </a:spcBef>
            </a:pPr>
            <a:r>
              <a:rPr sz="1300" b="0" spc="-40">
                <a:solidFill>
                  <a:srgbClr val="6B7280"/>
                </a:solidFill>
              </a:rPr>
              <a:t>Synthetic spots · real tissue</a:t>
            </a:r>
          </a:p>
        </p:txBody>
      </p:sp>
      <p:sp>
        <p:nvSpPr>
          <p:cNvPr id="30" name="res-01:evidence"/>
          <p:cNvSpPr txBox="1"/>
          <p:nvPr/>
        </p:nvSpPr>
        <p:spPr>
          <a:xfrm>
            <a:off x="9234090" y="4654328"/>
            <a:ext cx="2490030" cy="24545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spc="-40">
                <a:solidFill>
                  <a:srgbClr val="6B7280"/>
                </a:solidFill>
              </a:rPr>
              <a:t>Compared with 4 methods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1 · Method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Adding spatial neighbors splits spots into cell states</a:t>
            </a:r>
          </a:p>
        </p:txBody>
      </p:sp>
      <p:sp>
        <p:nvSpPr>
          <p:cNvPr id="5" name="res-03:bg"/>
          <p:cNvSpPr/>
          <p:nvPr/>
        </p:nvSpPr>
        <p:spPr>
          <a:xfrm>
            <a:off x="46800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s-03:step"/>
          <p:cNvSpPr txBox="1"/>
          <p:nvPr/>
        </p:nvSpPr>
        <p:spPr>
          <a:xfrm>
            <a:off x="46800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1</a:t>
            </a:r>
          </a:p>
        </p:txBody>
      </p:sp>
      <p:sp>
        <p:nvSpPr>
          <p:cNvPr id="7" name="res-03:pill"/>
          <p:cNvSpPr/>
          <p:nvPr/>
        </p:nvSpPr>
        <p:spPr>
          <a:xfrm>
            <a:off x="79200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s-03:name"/>
          <p:cNvSpPr txBox="1"/>
          <p:nvPr/>
        </p:nvSpPr>
        <p:spPr>
          <a:xfrm>
            <a:off x="79200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Spot expression</a:t>
            </a:r>
          </a:p>
        </p:txBody>
      </p:sp>
      <p:sp>
        <p:nvSpPr>
          <p:cNvPr id="9" name="res-03:lines"/>
          <p:cNvSpPr txBox="1"/>
          <p:nvPr/>
        </p:nvSpPr>
        <p:spPr>
          <a:xfrm>
            <a:off x="64800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Visium counts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normalized expression</a:t>
            </a:r>
          </a:p>
        </p:txBody>
      </p:sp>
      <p:sp>
        <p:nvSpPr>
          <p:cNvPr id="10" name="res-03:sep"/>
          <p:cNvSpPr txBox="1"/>
          <p:nvPr/>
        </p:nvSpPr>
        <p:spPr>
          <a:xfrm>
            <a:off x="308403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1" name="res-03:bg"/>
          <p:cNvSpPr/>
          <p:nvPr/>
        </p:nvSpPr>
        <p:spPr>
          <a:xfrm>
            <a:off x="333603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s-03:step"/>
          <p:cNvSpPr txBox="1"/>
          <p:nvPr/>
        </p:nvSpPr>
        <p:spPr>
          <a:xfrm>
            <a:off x="333603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2</a:t>
            </a:r>
          </a:p>
        </p:txBody>
      </p:sp>
      <p:sp>
        <p:nvSpPr>
          <p:cNvPr id="13" name="res-03:pill"/>
          <p:cNvSpPr/>
          <p:nvPr/>
        </p:nvSpPr>
        <p:spPr>
          <a:xfrm>
            <a:off x="366003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s-03:name"/>
          <p:cNvSpPr txBox="1"/>
          <p:nvPr/>
        </p:nvSpPr>
        <p:spPr>
          <a:xfrm>
            <a:off x="366003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Neighbor graph</a:t>
            </a:r>
          </a:p>
        </p:txBody>
      </p:sp>
      <p:sp>
        <p:nvSpPr>
          <p:cNvPr id="15" name="res-03:lines"/>
          <p:cNvSpPr txBox="1"/>
          <p:nvPr/>
        </p:nvSpPr>
        <p:spPr>
          <a:xfrm>
            <a:off x="351603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6 adjacent spots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spatial graph</a:t>
            </a:r>
          </a:p>
        </p:txBody>
      </p:sp>
      <p:sp>
        <p:nvSpPr>
          <p:cNvPr id="16" name="res-03:sep"/>
          <p:cNvSpPr txBox="1"/>
          <p:nvPr/>
        </p:nvSpPr>
        <p:spPr>
          <a:xfrm>
            <a:off x="595206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17" name="res-03:bg"/>
          <p:cNvSpPr/>
          <p:nvPr/>
        </p:nvSpPr>
        <p:spPr>
          <a:xfrm>
            <a:off x="6204060" y="2140783"/>
            <a:ext cx="2652030" cy="2847650"/>
          </a:xfrm>
          <a:prstGeom prst="rect">
            <a:avLst/>
          </a:prstGeom>
          <a:solidFill>
            <a:srgbClr val="E7D9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s-03:step"/>
          <p:cNvSpPr txBox="1"/>
          <p:nvPr/>
        </p:nvSpPr>
        <p:spPr>
          <a:xfrm>
            <a:off x="620406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3</a:t>
            </a:r>
          </a:p>
        </p:txBody>
      </p:sp>
      <p:sp>
        <p:nvSpPr>
          <p:cNvPr id="19" name="res-03:pill"/>
          <p:cNvSpPr/>
          <p:nvPr/>
        </p:nvSpPr>
        <p:spPr>
          <a:xfrm>
            <a:off x="6469316" y="2554783"/>
            <a:ext cx="2121519" cy="396000"/>
          </a:xfrm>
          <a:prstGeom prst="roundRect">
            <a:avLst>
              <a:gd name="adj" fmla="val 50000"/>
            </a:avLst>
          </a:prstGeom>
          <a:solidFill>
            <a:srgbClr val="7A2E6B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s-03:name"/>
          <p:cNvSpPr txBox="1"/>
          <p:nvPr/>
        </p:nvSpPr>
        <p:spPr>
          <a:xfrm>
            <a:off x="6469316" y="2554783"/>
            <a:ext cx="2121519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FFFFFF"/>
                </a:solidFill>
              </a:rPr>
              <a:t>State decomposition</a:t>
            </a:r>
          </a:p>
        </p:txBody>
      </p:sp>
      <p:sp>
        <p:nvSpPr>
          <p:cNvPr id="21" name="res-03:lines"/>
          <p:cNvSpPr txBox="1"/>
          <p:nvPr/>
        </p:nvSpPr>
        <p:spPr>
          <a:xfrm>
            <a:off x="638406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Graph-regularized NMF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proportions per spot</a:t>
            </a:r>
          </a:p>
        </p:txBody>
      </p:sp>
      <p:sp>
        <p:nvSpPr>
          <p:cNvPr id="22" name="res-03:sep"/>
          <p:cNvSpPr txBox="1"/>
          <p:nvPr/>
        </p:nvSpPr>
        <p:spPr>
          <a:xfrm>
            <a:off x="8820090" y="2518783"/>
            <a:ext cx="288000" cy="46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2400" b="0" spc="-40">
                <a:solidFill>
                  <a:srgbClr val="CAABC4"/>
                </a:solidFill>
              </a:rPr>
              <a:t>›</a:t>
            </a:r>
          </a:p>
        </p:txBody>
      </p:sp>
      <p:sp>
        <p:nvSpPr>
          <p:cNvPr id="23" name="res-03:bg"/>
          <p:cNvSpPr/>
          <p:nvPr/>
        </p:nvSpPr>
        <p:spPr>
          <a:xfrm>
            <a:off x="9072090" y="2140783"/>
            <a:ext cx="2652030" cy="2847650"/>
          </a:xfrm>
          <a:prstGeom prst="rect">
            <a:avLst/>
          </a:prstGeom>
          <a:solidFill>
            <a:srgbClr val="F2EA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es-03:step"/>
          <p:cNvSpPr txBox="1"/>
          <p:nvPr/>
        </p:nvSpPr>
        <p:spPr>
          <a:xfrm>
            <a:off x="9072090" y="2284783"/>
            <a:ext cx="2652030" cy="2160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  <a:latin typeface="Pretendard Medium"/>
                <a:ea typeface="Pretendard Medium"/>
                <a:cs typeface="Pretendard Medium"/>
              </a:rPr>
              <a:t>Step 4</a:t>
            </a:r>
          </a:p>
        </p:txBody>
      </p:sp>
      <p:sp>
        <p:nvSpPr>
          <p:cNvPr id="25" name="res-03:pill"/>
          <p:cNvSpPr/>
          <p:nvPr/>
        </p:nvSpPr>
        <p:spPr>
          <a:xfrm>
            <a:off x="9396090" y="2554783"/>
            <a:ext cx="2004030" cy="396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s-03:name"/>
          <p:cNvSpPr txBox="1"/>
          <p:nvPr/>
        </p:nvSpPr>
        <p:spPr>
          <a:xfrm>
            <a:off x="9396090" y="2554783"/>
            <a:ext cx="2004030" cy="3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500" b="1" spc="-40">
                <a:solidFill>
                  <a:srgbClr val="7A2E6B"/>
                </a:solidFill>
              </a:rPr>
              <a:t>Annotation</a:t>
            </a:r>
          </a:p>
        </p:txBody>
      </p:sp>
      <p:sp>
        <p:nvSpPr>
          <p:cNvPr id="27" name="res-03:lines"/>
          <p:cNvSpPr txBox="1"/>
          <p:nvPr/>
        </p:nvSpPr>
        <p:spPr>
          <a:xfrm>
            <a:off x="9252090" y="3184783"/>
            <a:ext cx="2292030" cy="63365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Marker genes</a:t>
            </a:r>
          </a:p>
          <a:p>
            <a:pPr algn="ctr">
              <a:lnSpc>
                <a:spcPct val="145000"/>
              </a:lnSpc>
            </a:pPr>
            <a:r>
              <a:rPr sz="1400" b="0" spc="-40">
                <a:solidFill>
                  <a:srgbClr val="262B33"/>
                </a:solidFill>
              </a:rPr>
              <a:t>→ state names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3 · Benchmark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new method is the most accurate on synthetic data</a:t>
            </a:r>
          </a:p>
        </p:txBody>
      </p:sp>
      <p:graphicFrame>
        <p:nvGraphicFramePr>
          <p:cNvPr id="5" name="data-02:chart"/>
          <p:cNvGraphicFramePr>
            <a:graphicFrameLocks noGrp="1"/>
          </p:cNvGraphicFramePr>
          <p:nvPr/>
        </p:nvGraphicFramePr>
        <p:xfrm>
          <a:off x="468000" y="1584000"/>
          <a:ext cx="11256120" cy="4173445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data-02:note"/>
          <p:cNvSpPr txBox="1"/>
          <p:nvPr/>
        </p:nvSpPr>
        <p:spPr>
          <a:xfrm>
            <a:off x="468000" y="5865445"/>
            <a:ext cx="11256120" cy="23655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200" b="0" spc="-40">
                <a:solidFill>
                  <a:srgbClr val="6B7280"/>
                </a:solidFill>
              </a:rPr>
              <a:t>Redrawn from Figure 3B (example values).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Figure 4 · Real tissue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new state runs as a band along the tumor border</a:t>
            </a:r>
          </a:p>
        </p:txBody>
      </p:sp>
      <p:pic>
        <p:nvPicPr>
          <p:cNvPr id="5" name="res-04:figure" descr="spatial_clust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3860" y="1878647"/>
            <a:ext cx="3524400" cy="2643300"/>
          </a:xfrm>
          <a:prstGeom prst="rect">
            <a:avLst/>
          </a:prstGeom>
          <a:ln w="9525">
            <a:solidFill>
              <a:srgbClr val="E2E5EA"/>
            </a:solidFill>
          </a:ln>
        </p:spPr>
      </p:pic>
      <p:sp>
        <p:nvSpPr>
          <p:cNvPr id="6" name="res-04:mark"/>
          <p:cNvSpPr/>
          <p:nvPr/>
        </p:nvSpPr>
        <p:spPr>
          <a:xfrm>
            <a:off x="5461668" y="3332462"/>
            <a:ext cx="1057320" cy="792990"/>
          </a:xfrm>
          <a:prstGeom prst="rect">
            <a:avLst/>
          </a:prstGeom>
          <a:noFill/>
          <a:ln w="19050">
            <a:solidFill>
              <a:srgbClr val="7A2E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es-04:mark-label"/>
          <p:cNvSpPr txBox="1"/>
          <p:nvPr/>
        </p:nvSpPr>
        <p:spPr>
          <a:xfrm>
            <a:off x="5461668" y="3066062"/>
            <a:ext cx="655594" cy="223200"/>
          </a:xfrm>
          <a:prstGeom prst="rect">
            <a:avLst/>
          </a:prstGeom>
          <a:solidFill>
            <a:srgbClr val="FFFFFF"/>
          </a:solidFill>
          <a:ln w="9525">
            <a:solidFill>
              <a:srgbClr val="7A2E6B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1" spc="-40">
                <a:solidFill>
                  <a:srgbClr val="7A2E6B"/>
                </a:solidFill>
              </a:rPr>
              <a:t>State 5</a:t>
            </a:r>
          </a:p>
        </p:txBody>
      </p:sp>
      <p:sp>
        <p:nvSpPr>
          <p:cNvPr id="8" name="res-04:caption"/>
          <p:cNvSpPr txBox="1"/>
          <p:nvPr/>
        </p:nvSpPr>
        <p:spPr>
          <a:xfrm>
            <a:off x="4333860" y="4593947"/>
            <a:ext cx="7390260" cy="20016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100" b="0" spc="-40">
                <a:solidFill>
                  <a:srgbClr val="6B7280"/>
                </a:solidFill>
              </a:rPr>
              <a:t>Fig. 4B · colorectal cancer section 2, 1,492 spots (example image)</a:t>
            </a:r>
          </a:p>
        </p:txBody>
      </p:sp>
      <p:cxnSp>
        <p:nvCxnSpPr>
          <p:cNvPr id="9" name="conclusion:line"/>
          <p:cNvCxnSpPr/>
          <p:nvPr/>
        </p:nvCxnSpPr>
        <p:spPr>
          <a:xfrm>
            <a:off x="468000" y="5010109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onclusion:text"/>
          <p:cNvSpPr txBox="1"/>
          <p:nvPr/>
        </p:nvSpPr>
        <p:spPr>
          <a:xfrm>
            <a:off x="468000" y="5208109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State 5, absent from the reference, appears </a:t>
            </a:r>
            <a:r>
              <a:rPr sz="1400" b="1" spc="-40">
                <a:solidFill>
                  <a:srgbClr val="262B33"/>
                </a:solidFill>
              </a:rPr>
              <a:t>only at the border</a:t>
            </a:r>
            <a:r>
              <a:rPr sz="1400" b="0" spc="-40">
                <a:solidFill>
                  <a:srgbClr val="6B7280"/>
                </a:solidFill>
              </a:rPr>
              <a:t>. Existing methods lumped it in with fibroblasts.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Limitations · Open questions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 do not yet know whether the new states are real cells</a:t>
            </a:r>
          </a:p>
        </p:txBody>
      </p:sp>
      <p:cxnSp>
        <p:nvCxnSpPr>
          <p:cNvPr id="5" name="list-01:line"/>
          <p:cNvCxnSpPr/>
          <p:nvPr/>
        </p:nvCxnSpPr>
        <p:spPr>
          <a:xfrm>
            <a:off x="468000" y="2964000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ist-01:marker"/>
          <p:cNvSpPr/>
          <p:nvPr/>
        </p:nvSpPr>
        <p:spPr>
          <a:xfrm>
            <a:off x="468000" y="1984446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list-01:title"/>
          <p:cNvSpPr txBox="1"/>
          <p:nvPr/>
        </p:nvSpPr>
        <p:spPr>
          <a:xfrm>
            <a:off x="936000" y="1982874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Validation</a:t>
            </a:r>
          </a:p>
        </p:txBody>
      </p:sp>
      <p:sp>
        <p:nvSpPr>
          <p:cNvPr id="8" name="list-01:desc"/>
          <p:cNvSpPr txBox="1"/>
          <p:nvPr/>
        </p:nvSpPr>
        <p:spPr>
          <a:xfrm>
            <a:off x="936000" y="2328019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The 3 new states were not checked by immunostaining</a:t>
            </a:r>
          </a:p>
        </p:txBody>
      </p:sp>
      <p:cxnSp>
        <p:nvCxnSpPr>
          <p:cNvPr id="9" name="list-01:line"/>
          <p:cNvCxnSpPr/>
          <p:nvPr/>
        </p:nvCxnSpPr>
        <p:spPr>
          <a:xfrm>
            <a:off x="468000" y="4305126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ist-01:marker"/>
          <p:cNvSpPr/>
          <p:nvPr/>
        </p:nvSpPr>
        <p:spPr>
          <a:xfrm>
            <a:off x="468000" y="3325573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list-01:title"/>
          <p:cNvSpPr txBox="1"/>
          <p:nvPr/>
        </p:nvSpPr>
        <p:spPr>
          <a:xfrm>
            <a:off x="936000" y="3324000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Resolution</a:t>
            </a:r>
          </a:p>
        </p:txBody>
      </p:sp>
      <p:sp>
        <p:nvSpPr>
          <p:cNvPr id="12" name="list-01:desc"/>
          <p:cNvSpPr txBox="1"/>
          <p:nvPr/>
        </p:nvSpPr>
        <p:spPr>
          <a:xfrm>
            <a:off x="936000" y="3669145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Not tested on small spots such as Visium HD</a:t>
            </a:r>
          </a:p>
        </p:txBody>
      </p:sp>
      <p:sp>
        <p:nvSpPr>
          <p:cNvPr id="13" name="list-01:marker"/>
          <p:cNvSpPr/>
          <p:nvPr/>
        </p:nvSpPr>
        <p:spPr>
          <a:xfrm>
            <a:off x="468000" y="4666699"/>
            <a:ext cx="288000" cy="288000"/>
          </a:xfrm>
          <a:prstGeom prst="rect">
            <a:avLst/>
          </a:prstGeom>
          <a:solidFill>
            <a:srgbClr val="7A2E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 spc="-4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list-01:title"/>
          <p:cNvSpPr txBox="1"/>
          <p:nvPr/>
        </p:nvSpPr>
        <p:spPr>
          <a:xfrm>
            <a:off x="936000" y="4665126"/>
            <a:ext cx="10788120" cy="291145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</a:pPr>
            <a:r>
              <a:rPr sz="1600" b="1" spc="-40">
                <a:solidFill>
                  <a:srgbClr val="262B33"/>
                </a:solidFill>
              </a:rPr>
              <a:t>Compute</a:t>
            </a:r>
          </a:p>
        </p:txBody>
      </p:sp>
      <p:sp>
        <p:nvSpPr>
          <p:cNvPr id="15" name="list-01:desc"/>
          <p:cNvSpPr txBox="1"/>
          <p:nvPr/>
        </p:nvSpPr>
        <p:spPr>
          <a:xfrm>
            <a:off x="936000" y="5010271"/>
            <a:ext cx="10788120" cy="2939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</a:pPr>
            <a:r>
              <a:rPr sz="1400" b="0" spc="-40">
                <a:solidFill>
                  <a:srgbClr val="6B7280"/>
                </a:solidFill>
              </a:rPr>
              <a:t>Over 20,000 spots needs more than 64 GB of memory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Link to our research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Worth trying first on our colorectal Visium data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>
          <a:xfrm>
            <a:off x="468000" y="2484404"/>
            <a:ext cx="5448060" cy="360000"/>
          </a:xfrm>
        </p:spPr>
        <p:txBody>
          <a:bodyPr/>
          <a:lstStyle/>
          <a:p>
            <a:r>
              <a:t>What to borrow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For our data now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6"/>
          </p:nvPr>
        </p:nvSpPr>
        <p:spPr>
          <a:xfrm>
            <a:off x="46800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Split border spots into states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Test on sections 3 · 4, which have no reference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Reuse the neighbor graph as is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>
          <a:xfrm>
            <a:off x="6276060" y="2484404"/>
            <a:ext cx="5448060" cy="360000"/>
          </a:xfrm>
        </p:spPr>
        <p:txBody>
          <a:bodyPr/>
          <a:lstStyle/>
          <a:p>
            <a:r>
              <a:t>Discussion</a:t>
            </a:r>
            <a:r>
              <a:rPr sz="1300" b="0" spc="-40">
                <a:solidFill>
                  <a:srgbClr val="7A2E6B"/>
                </a:solidFill>
                <a:latin typeface="Pretendard Medium"/>
                <a:ea typeface="Pretendard Medium"/>
                <a:cs typeface="Pretendard Medium"/>
              </a:rPr>
              <a:t>   To talk about together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idx="18"/>
          </p:nvPr>
        </p:nvSpPr>
        <p:spPr>
          <a:xfrm>
            <a:off x="6276060" y="3060404"/>
            <a:ext cx="5448060" cy="3329596"/>
          </a:xfrm>
        </p:spPr>
        <p:txBody>
          <a:bodyPr/>
          <a:lstStyle/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How would we validate the new states?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Is it still needed with smaller spots?</a:t>
            </a:r>
          </a:p>
          <a:p>
            <a:pPr>
              <a:lnSpc>
                <a:spcPct val="135000"/>
              </a:lnSpc>
              <a:spcBef>
                <a:spcPts val="1000"/>
              </a:spcBef>
            </a:pPr>
            <a:r>
              <a:rPr sz="1400" spc="-40">
                <a:solidFill>
                  <a:srgbClr val="262B33"/>
                </a:solidFill>
              </a:rPr>
              <a:t>Can our GPU server run it?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9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플럼 클린 16:9">
  <a:themeElements>
    <a:clrScheme name="HaLab 플럼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7A2E6B"/>
      </a:accent1>
      <a:accent2>
        <a:srgbClr val="A9779F"/>
      </a:accent2>
      <a:accent3>
        <a:srgbClr val="CAABC4"/>
      </a:accent3>
      <a:accent4>
        <a:srgbClr val="2BB3A6"/>
      </a:accent4>
      <a:accent5>
        <a:srgbClr val="CAABC4"/>
      </a:accent5>
      <a:accent6>
        <a:srgbClr val="E2E5EA"/>
      </a:accent6>
      <a:hlink>
        <a:srgbClr val="7A2E6B"/>
      </a:hlink>
      <a:folHlink>
        <a:srgbClr val="CAABC4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