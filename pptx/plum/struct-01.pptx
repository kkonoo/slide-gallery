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체계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기관이 회로의 다른 면을 맡아요</a:t>
            </a:r>
          </a:p>
        </p:txBody>
      </p:sp>
      <p:sp>
        <p:nvSpPr>
          <p:cNvPr id="5" name="struct-01:node"/>
          <p:cNvSpPr/>
          <p:nvPr/>
        </p:nvSpPr>
        <p:spPr>
          <a:xfrm>
            <a:off x="3844836" y="2263629"/>
            <a:ext cx="4502448" cy="958757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1:node-text"/>
          <p:cNvSpPr txBox="1"/>
          <p:nvPr/>
        </p:nvSpPr>
        <p:spPr>
          <a:xfrm>
            <a:off x="3985236" y="2497629"/>
            <a:ext cx="4221648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총괄 연구실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FFFFFF"/>
                </a:solidFill>
              </a:rPr>
              <a:t>해마–편도체 회로 기억 공고화 과제 총괄</a:t>
            </a:r>
          </a:p>
        </p:txBody>
      </p:sp>
      <p:sp>
        <p:nvSpPr>
          <p:cNvPr id="7" name="struct-01:node"/>
          <p:cNvSpPr/>
          <p:nvPr/>
        </p:nvSpPr>
        <p:spPr>
          <a:xfrm>
            <a:off x="8908884" y="2263629"/>
            <a:ext cx="2815236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1:node-text"/>
          <p:cNvSpPr txBox="1"/>
          <p:nvPr/>
        </p:nvSpPr>
        <p:spPr>
          <a:xfrm>
            <a:off x="9049284" y="2497629"/>
            <a:ext cx="2534436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자문단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통계 · 동물실험 윤리 자문</a:t>
            </a:r>
          </a:p>
        </p:txBody>
      </p:sp>
      <p:cxnSp>
        <p:nvCxnSpPr>
          <p:cNvPr id="9" name="struct-01:partner-link"/>
          <p:cNvCxnSpPr/>
          <p:nvPr/>
        </p:nvCxnSpPr>
        <p:spPr>
          <a:xfrm>
            <a:off x="8347284" y="2743007"/>
            <a:ext cx="5616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1:link"/>
          <p:cNvCxnSpPr/>
          <p:nvPr/>
        </p:nvCxnSpPr>
        <p:spPr>
          <a:xfrm>
            <a:off x="6096060" y="3222386"/>
            <a:ext cx="0" cy="23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uct-01:link"/>
          <p:cNvCxnSpPr/>
          <p:nvPr/>
        </p:nvCxnSpPr>
        <p:spPr>
          <a:xfrm>
            <a:off x="2272020" y="3456386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uct-01:link"/>
          <p:cNvCxnSpPr/>
          <p:nvPr/>
        </p:nvCxnSpPr>
        <p:spPr>
          <a:xfrm>
            <a:off x="227202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1:node"/>
          <p:cNvSpPr/>
          <p:nvPr/>
        </p:nvSpPr>
        <p:spPr>
          <a:xfrm>
            <a:off x="46800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1:node-text"/>
          <p:cNvSpPr txBox="1"/>
          <p:nvPr/>
        </p:nvSpPr>
        <p:spPr>
          <a:xfrm>
            <a:off x="60840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참여기관 A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광유전학으로 회로 조작</a:t>
            </a:r>
          </a:p>
        </p:txBody>
      </p:sp>
      <p:cxnSp>
        <p:nvCxnSpPr>
          <p:cNvPr id="15" name="struct-01:link"/>
          <p:cNvCxnSpPr/>
          <p:nvPr/>
        </p:nvCxnSpPr>
        <p:spPr>
          <a:xfrm>
            <a:off x="609606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1:node"/>
          <p:cNvSpPr/>
          <p:nvPr/>
        </p:nvSpPr>
        <p:spPr>
          <a:xfrm>
            <a:off x="429204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struct-01:node-text"/>
          <p:cNvSpPr txBox="1"/>
          <p:nvPr/>
        </p:nvSpPr>
        <p:spPr>
          <a:xfrm>
            <a:off x="443244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참여기관 B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생체 내 전기생리 기록</a:t>
            </a:r>
          </a:p>
        </p:txBody>
      </p:sp>
      <p:cxnSp>
        <p:nvCxnSpPr>
          <p:cNvPr id="18" name="struct-01:link"/>
          <p:cNvCxnSpPr/>
          <p:nvPr/>
        </p:nvCxnSpPr>
        <p:spPr>
          <a:xfrm>
            <a:off x="992010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ruct-01:node"/>
          <p:cNvSpPr/>
          <p:nvPr/>
        </p:nvSpPr>
        <p:spPr>
          <a:xfrm>
            <a:off x="811608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1:node-text"/>
          <p:cNvSpPr txBox="1"/>
          <p:nvPr/>
        </p:nvSpPr>
        <p:spPr>
          <a:xfrm>
            <a:off x="825648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참여기관 C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바이러스 표지로 회로 추적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연구팀 구성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세부과제 세 개를 책임자 세 명이 맡아요</a:t>
            </a:r>
          </a:p>
        </p:txBody>
      </p:sp>
      <p:sp>
        <p:nvSpPr>
          <p:cNvPr id="5" name="struct-01:node"/>
          <p:cNvSpPr/>
          <p:nvPr/>
        </p:nvSpPr>
        <p:spPr>
          <a:xfrm>
            <a:off x="3844836" y="1962617"/>
            <a:ext cx="4502448" cy="958757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1:node-text"/>
          <p:cNvSpPr txBox="1"/>
          <p:nvPr/>
        </p:nvSpPr>
        <p:spPr>
          <a:xfrm>
            <a:off x="3985236" y="2196617"/>
            <a:ext cx="4221648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총괄 책임자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FFFFFF"/>
                </a:solidFill>
              </a:rPr>
              <a:t>단일세포 아틀라스 과제 총괄</a:t>
            </a:r>
          </a:p>
        </p:txBody>
      </p:sp>
      <p:cxnSp>
        <p:nvCxnSpPr>
          <p:cNvPr id="7" name="struct-01:link"/>
          <p:cNvCxnSpPr/>
          <p:nvPr/>
        </p:nvCxnSpPr>
        <p:spPr>
          <a:xfrm>
            <a:off x="6096060" y="2921374"/>
            <a:ext cx="0" cy="23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uct-01:link"/>
          <p:cNvCxnSpPr/>
          <p:nvPr/>
        </p:nvCxnSpPr>
        <p:spPr>
          <a:xfrm>
            <a:off x="2272020" y="3155374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uct-01:link"/>
          <p:cNvCxnSpPr/>
          <p:nvPr/>
        </p:nvCxnSpPr>
        <p:spPr>
          <a:xfrm>
            <a:off x="2272020" y="3155374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truct-01:node"/>
          <p:cNvSpPr/>
          <p:nvPr/>
        </p:nvSpPr>
        <p:spPr>
          <a:xfrm>
            <a:off x="468000" y="3482974"/>
            <a:ext cx="3608040" cy="186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struct-01:node-text"/>
          <p:cNvSpPr txBox="1"/>
          <p:nvPr/>
        </p:nvSpPr>
        <p:spPr>
          <a:xfrm>
            <a:off x="608400" y="3716974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세부과제 1 책임자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시료 준비</a:t>
            </a:r>
          </a:p>
        </p:txBody>
      </p:sp>
      <p:cxnSp>
        <p:nvCxnSpPr>
          <p:cNvPr id="12" name="struct-01:node-rule"/>
          <p:cNvCxnSpPr/>
          <p:nvPr/>
        </p:nvCxnSpPr>
        <p:spPr>
          <a:xfrm>
            <a:off x="608400" y="4371530"/>
            <a:ext cx="33272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1:node-items"/>
          <p:cNvSpPr txBox="1"/>
          <p:nvPr/>
        </p:nvSpPr>
        <p:spPr>
          <a:xfrm>
            <a:off x="608400" y="4465130"/>
            <a:ext cx="3327240" cy="4928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박사후연구원 1</a:t>
            </a:r>
          </a:p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대학원생 2</a:t>
            </a:r>
          </a:p>
        </p:txBody>
      </p:sp>
      <p:cxnSp>
        <p:nvCxnSpPr>
          <p:cNvPr id="14" name="struct-01:link"/>
          <p:cNvCxnSpPr/>
          <p:nvPr/>
        </p:nvCxnSpPr>
        <p:spPr>
          <a:xfrm>
            <a:off x="6096060" y="3155374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ruct-01:node"/>
          <p:cNvSpPr/>
          <p:nvPr/>
        </p:nvSpPr>
        <p:spPr>
          <a:xfrm>
            <a:off x="4292040" y="3482974"/>
            <a:ext cx="3608040" cy="186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1:node-text"/>
          <p:cNvSpPr txBox="1"/>
          <p:nvPr/>
        </p:nvSpPr>
        <p:spPr>
          <a:xfrm>
            <a:off x="4432440" y="3716974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세부과제 2 책임자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단일세포 분석</a:t>
            </a:r>
          </a:p>
        </p:txBody>
      </p:sp>
      <p:cxnSp>
        <p:nvCxnSpPr>
          <p:cNvPr id="17" name="struct-01:node-rule"/>
          <p:cNvCxnSpPr/>
          <p:nvPr/>
        </p:nvCxnSpPr>
        <p:spPr>
          <a:xfrm>
            <a:off x="4432440" y="4371530"/>
            <a:ext cx="33272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ruct-01:node-items"/>
          <p:cNvSpPr txBox="1"/>
          <p:nvPr/>
        </p:nvSpPr>
        <p:spPr>
          <a:xfrm>
            <a:off x="4432440" y="4465130"/>
            <a:ext cx="3327240" cy="4928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연구교수 1</a:t>
            </a:r>
          </a:p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대학원생 3</a:t>
            </a:r>
          </a:p>
        </p:txBody>
      </p:sp>
      <p:cxnSp>
        <p:nvCxnSpPr>
          <p:cNvPr id="19" name="struct-01:link"/>
          <p:cNvCxnSpPr/>
          <p:nvPr/>
        </p:nvCxnSpPr>
        <p:spPr>
          <a:xfrm>
            <a:off x="9920100" y="3155374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truct-01:node"/>
          <p:cNvSpPr/>
          <p:nvPr/>
        </p:nvSpPr>
        <p:spPr>
          <a:xfrm>
            <a:off x="8116080" y="3482974"/>
            <a:ext cx="3608040" cy="186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struct-01:node-text"/>
          <p:cNvSpPr txBox="1"/>
          <p:nvPr/>
        </p:nvSpPr>
        <p:spPr>
          <a:xfrm>
            <a:off x="8256480" y="3716974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세부과제 3 책임자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세포 유형 검증</a:t>
            </a:r>
          </a:p>
        </p:txBody>
      </p:sp>
      <p:cxnSp>
        <p:nvCxnSpPr>
          <p:cNvPr id="22" name="struct-01:node-rule"/>
          <p:cNvCxnSpPr/>
          <p:nvPr/>
        </p:nvCxnSpPr>
        <p:spPr>
          <a:xfrm>
            <a:off x="8256480" y="4371530"/>
            <a:ext cx="33272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struct-01:node-items"/>
          <p:cNvSpPr txBox="1"/>
          <p:nvPr/>
        </p:nvSpPr>
        <p:spPr>
          <a:xfrm>
            <a:off x="8256480" y="4465130"/>
            <a:ext cx="3327240" cy="7392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박사후연구원 1</a:t>
            </a:r>
          </a:p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연구원 1</a:t>
            </a:r>
          </a:p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대학원생 1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