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(flow-07-a).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(flow-07-b).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(flow-07-c).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실험 일정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발현 대기 3주가 전체 일정의 절반을 차지한다</a:t>
            </a:r>
          </a:p>
        </p:txBody>
      </p:sp>
      <p:sp>
        <p:nvSpPr>
          <p:cNvPr id="5" name="flow-07:bar"/>
          <p:cNvSpPr/>
          <p:nvPr/>
        </p:nvSpPr>
        <p:spPr>
          <a:xfrm>
            <a:off x="468000" y="2286537"/>
            <a:ext cx="540000" cy="540000"/>
          </a:xfrm>
          <a:prstGeom prst="rect">
            <a:avLst/>
          </a:prstGeom>
          <a:solidFill>
            <a:srgbClr val="CAA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7:marker"/>
          <p:cNvSpPr/>
          <p:nvPr/>
        </p:nvSpPr>
        <p:spPr>
          <a:xfrm>
            <a:off x="59400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1</a:t>
            </a:r>
          </a:p>
        </p:txBody>
      </p:sp>
      <p:sp>
        <p:nvSpPr>
          <p:cNvPr id="7" name="flow-07:bar"/>
          <p:cNvSpPr/>
          <p:nvPr/>
        </p:nvSpPr>
        <p:spPr>
          <a:xfrm>
            <a:off x="1026000" y="2286537"/>
            <a:ext cx="5070060" cy="540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7:marker"/>
          <p:cNvSpPr/>
          <p:nvPr/>
        </p:nvSpPr>
        <p:spPr>
          <a:xfrm>
            <a:off x="3408030" y="1908537"/>
            <a:ext cx="288000" cy="288000"/>
          </a:xfrm>
          <a:prstGeom prst="ellipse">
            <a:avLst/>
          </a:prstGeom>
          <a:solidFill>
            <a:srgbClr val="7A2E6B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flow-07:bar"/>
          <p:cNvSpPr/>
          <p:nvPr/>
        </p:nvSpPr>
        <p:spPr>
          <a:xfrm>
            <a:off x="6114060" y="2286537"/>
            <a:ext cx="1678020" cy="540000"/>
          </a:xfrm>
          <a:prstGeom prst="rect">
            <a:avLst/>
          </a:prstGeom>
          <a:solidFill>
            <a:srgbClr val="CAA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7:marker"/>
          <p:cNvSpPr/>
          <p:nvPr/>
        </p:nvSpPr>
        <p:spPr>
          <a:xfrm>
            <a:off x="680007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3</a:t>
            </a:r>
          </a:p>
        </p:txBody>
      </p:sp>
      <p:sp>
        <p:nvSpPr>
          <p:cNvPr id="11" name="flow-07:bar"/>
          <p:cNvSpPr/>
          <p:nvPr/>
        </p:nvSpPr>
        <p:spPr>
          <a:xfrm>
            <a:off x="7810080" y="2286537"/>
            <a:ext cx="522000" cy="540000"/>
          </a:xfrm>
          <a:prstGeom prst="rect">
            <a:avLst/>
          </a:prstGeom>
          <a:solidFill>
            <a:srgbClr val="CAA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7:marker"/>
          <p:cNvSpPr/>
          <p:nvPr/>
        </p:nvSpPr>
        <p:spPr>
          <a:xfrm>
            <a:off x="791808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4</a:t>
            </a:r>
          </a:p>
        </p:txBody>
      </p:sp>
      <p:sp>
        <p:nvSpPr>
          <p:cNvPr id="13" name="flow-07:bar"/>
          <p:cNvSpPr/>
          <p:nvPr/>
        </p:nvSpPr>
        <p:spPr>
          <a:xfrm>
            <a:off x="8350080" y="2286537"/>
            <a:ext cx="3374040" cy="540000"/>
          </a:xfrm>
          <a:prstGeom prst="rect">
            <a:avLst/>
          </a:prstGeom>
          <a:solidFill>
            <a:srgbClr val="CAA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flow-07:marker"/>
          <p:cNvSpPr/>
          <p:nvPr/>
        </p:nvSpPr>
        <p:spPr>
          <a:xfrm>
            <a:off x="988410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5</a:t>
            </a:r>
          </a:p>
        </p:txBody>
      </p:sp>
      <p:cxnSp>
        <p:nvCxnSpPr>
          <p:cNvPr id="15" name="flow-07:axis"/>
          <p:cNvCxnSpPr/>
          <p:nvPr/>
        </p:nvCxnSpPr>
        <p:spPr>
          <a:xfrm>
            <a:off x="468000" y="2934537"/>
            <a:ext cx="171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flow-07:axis"/>
          <p:cNvCxnSpPr/>
          <p:nvPr/>
        </p:nvCxnSpPr>
        <p:spPr>
          <a:xfrm>
            <a:off x="837000" y="2934537"/>
            <a:ext cx="7126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flow-07:axis"/>
          <p:cNvCxnSpPr/>
          <p:nvPr/>
        </p:nvCxnSpPr>
        <p:spPr>
          <a:xfrm>
            <a:off x="8161080" y="2934537"/>
            <a:ext cx="356304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flow-07:tick"/>
          <p:cNvCxnSpPr/>
          <p:nvPr/>
        </p:nvCxnSpPr>
        <p:spPr>
          <a:xfrm>
            <a:off x="46800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flow-07:tick"/>
          <p:cNvCxnSpPr/>
          <p:nvPr/>
        </p:nvCxnSpPr>
        <p:spPr>
          <a:xfrm>
            <a:off x="100800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flow-07:tick"/>
          <p:cNvCxnSpPr/>
          <p:nvPr/>
        </p:nvCxnSpPr>
        <p:spPr>
          <a:xfrm>
            <a:off x="609606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flow-07:tick"/>
          <p:cNvCxnSpPr/>
          <p:nvPr/>
        </p:nvCxnSpPr>
        <p:spPr>
          <a:xfrm>
            <a:off x="779208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flow-07:tick"/>
          <p:cNvCxnSpPr/>
          <p:nvPr/>
        </p:nvCxnSpPr>
        <p:spPr>
          <a:xfrm>
            <a:off x="833208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flow-07:tick"/>
          <p:cNvCxnSpPr/>
          <p:nvPr/>
        </p:nvCxnSpPr>
        <p:spPr>
          <a:xfrm>
            <a:off x="1172412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flow-07:break"/>
          <p:cNvSpPr txBox="1"/>
          <p:nvPr/>
        </p:nvSpPr>
        <p:spPr>
          <a:xfrm>
            <a:off x="63900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sp>
        <p:nvSpPr>
          <p:cNvPr id="25" name="flow-07:break"/>
          <p:cNvSpPr txBox="1"/>
          <p:nvPr/>
        </p:nvSpPr>
        <p:spPr>
          <a:xfrm>
            <a:off x="796308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cxnSp>
        <p:nvCxnSpPr>
          <p:cNvPr id="26" name="flow-07:leader"/>
          <p:cNvCxnSpPr/>
          <p:nvPr/>
        </p:nvCxnSpPr>
        <p:spPr>
          <a:xfrm>
            <a:off x="738000" y="3078537"/>
            <a:ext cx="370492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low-07:label"/>
          <p:cNvSpPr txBox="1"/>
          <p:nvPr/>
        </p:nvSpPr>
        <p:spPr>
          <a:xfrm>
            <a:off x="468000" y="3906537"/>
            <a:ext cx="1280984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바이러스 주입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1일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AAV 정위 주입</a:t>
            </a:r>
          </a:p>
        </p:txBody>
      </p:sp>
      <p:cxnSp>
        <p:nvCxnSpPr>
          <p:cNvPr id="28" name="flow-07:leader"/>
          <p:cNvCxnSpPr/>
          <p:nvPr/>
        </p:nvCxnSpPr>
        <p:spPr>
          <a:xfrm>
            <a:off x="3552030" y="2988537"/>
            <a:ext cx="0" cy="864000"/>
          </a:xfrm>
          <a:prstGeom prst="line">
            <a:avLst/>
          </a:prstGeom>
          <a:ln w="9525">
            <a:solidFill>
              <a:srgbClr val="7A2E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flow-07:label"/>
          <p:cNvSpPr txBox="1"/>
          <p:nvPr/>
        </p:nvSpPr>
        <p:spPr>
          <a:xfrm>
            <a:off x="2889438" y="3906537"/>
            <a:ext cx="1325184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7A2E6B"/>
                </a:solidFill>
              </a:rPr>
              <a:t>발현 대기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7A2E6B"/>
                </a:solidFill>
              </a:rPr>
              <a:t>3주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회복 · 발현 안정화</a:t>
            </a:r>
          </a:p>
        </p:txBody>
      </p:sp>
      <p:cxnSp>
        <p:nvCxnSpPr>
          <p:cNvPr id="30" name="flow-07:leader"/>
          <p:cNvCxnSpPr/>
          <p:nvPr/>
        </p:nvCxnSpPr>
        <p:spPr>
          <a:xfrm flipH="1">
            <a:off x="6849891" y="2988537"/>
            <a:ext cx="94179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flow-07:label"/>
          <p:cNvSpPr txBox="1"/>
          <p:nvPr/>
        </p:nvSpPr>
        <p:spPr>
          <a:xfrm>
            <a:off x="6229476" y="3906537"/>
            <a:ext cx="1240830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행동 실험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1주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광유전 자극 5회</a:t>
            </a:r>
          </a:p>
        </p:txBody>
      </p:sp>
      <p:cxnSp>
        <p:nvCxnSpPr>
          <p:cNvPr id="32" name="flow-07:leader"/>
          <p:cNvCxnSpPr/>
          <p:nvPr/>
        </p:nvCxnSpPr>
        <p:spPr>
          <a:xfrm>
            <a:off x="8062080" y="3078537"/>
            <a:ext cx="94179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flow-07:label"/>
          <p:cNvSpPr txBox="1"/>
          <p:nvPr/>
        </p:nvSpPr>
        <p:spPr>
          <a:xfrm>
            <a:off x="7686306" y="3906537"/>
            <a:ext cx="939906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조직 채취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1일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핵 분리</a:t>
            </a:r>
          </a:p>
        </p:txBody>
      </p:sp>
      <p:cxnSp>
        <p:nvCxnSpPr>
          <p:cNvPr id="34" name="flow-07:leader"/>
          <p:cNvCxnSpPr/>
          <p:nvPr/>
        </p:nvCxnSpPr>
        <p:spPr>
          <a:xfrm>
            <a:off x="10028100" y="2988537"/>
            <a:ext cx="0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flow-07:label"/>
          <p:cNvSpPr txBox="1"/>
          <p:nvPr/>
        </p:nvSpPr>
        <p:spPr>
          <a:xfrm>
            <a:off x="9314882" y="3906537"/>
            <a:ext cx="1426437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snRNA-seq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2주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라이브러리 · 시퀀싱</a:t>
            </a:r>
          </a:p>
        </p:txBody>
      </p:sp>
      <p:cxnSp>
        <p:nvCxnSpPr>
          <p:cNvPr id="36" name="conclusion:line"/>
          <p:cNvCxnSpPr/>
          <p:nvPr/>
        </p:nvCxnSpPr>
        <p:spPr>
          <a:xfrm>
            <a:off x="468000" y="495033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onclusion:text"/>
          <p:cNvSpPr txBox="1"/>
          <p:nvPr/>
        </p:nvSpPr>
        <p:spPr>
          <a:xfrm>
            <a:off x="468000" y="5148330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전체 약 6주. 발현 대기 중에 행동 장비 보정을 끝내 둔다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임상 검체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검체 처리는 수령 후 2주 안에 끝난다</a:t>
            </a:r>
          </a:p>
        </p:txBody>
      </p:sp>
      <p:sp>
        <p:nvSpPr>
          <p:cNvPr id="5" name="flow-07:bar"/>
          <p:cNvSpPr/>
          <p:nvPr/>
        </p:nvSpPr>
        <p:spPr>
          <a:xfrm>
            <a:off x="468000" y="2602702"/>
            <a:ext cx="1608017" cy="540000"/>
          </a:xfrm>
          <a:prstGeom prst="rect">
            <a:avLst/>
          </a:prstGeom>
          <a:solidFill>
            <a:srgbClr val="CAA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7:marker"/>
          <p:cNvSpPr/>
          <p:nvPr/>
        </p:nvSpPr>
        <p:spPr>
          <a:xfrm>
            <a:off x="1128009" y="2224702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1</a:t>
            </a:r>
          </a:p>
        </p:txBody>
      </p:sp>
      <p:sp>
        <p:nvSpPr>
          <p:cNvPr id="7" name="flow-07:bar"/>
          <p:cNvSpPr/>
          <p:nvPr/>
        </p:nvSpPr>
        <p:spPr>
          <a:xfrm>
            <a:off x="2094017" y="2602702"/>
            <a:ext cx="2394026" cy="540000"/>
          </a:xfrm>
          <a:prstGeom prst="rect">
            <a:avLst/>
          </a:prstGeom>
          <a:solidFill>
            <a:srgbClr val="CAA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7:marker"/>
          <p:cNvSpPr/>
          <p:nvPr/>
        </p:nvSpPr>
        <p:spPr>
          <a:xfrm>
            <a:off x="3138030" y="2224702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2</a:t>
            </a:r>
          </a:p>
        </p:txBody>
      </p:sp>
      <p:sp>
        <p:nvSpPr>
          <p:cNvPr id="9" name="flow-07:bar"/>
          <p:cNvSpPr/>
          <p:nvPr/>
        </p:nvSpPr>
        <p:spPr>
          <a:xfrm>
            <a:off x="4506043" y="2602702"/>
            <a:ext cx="5610060" cy="540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7:marker"/>
          <p:cNvSpPr/>
          <p:nvPr/>
        </p:nvSpPr>
        <p:spPr>
          <a:xfrm>
            <a:off x="7158073" y="2224702"/>
            <a:ext cx="288000" cy="288000"/>
          </a:xfrm>
          <a:prstGeom prst="ellipse">
            <a:avLst/>
          </a:prstGeom>
          <a:solidFill>
            <a:srgbClr val="7A2E6B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flow-07:bar"/>
          <p:cNvSpPr/>
          <p:nvPr/>
        </p:nvSpPr>
        <p:spPr>
          <a:xfrm>
            <a:off x="10134103" y="2602702"/>
            <a:ext cx="1590017" cy="540000"/>
          </a:xfrm>
          <a:prstGeom prst="rect">
            <a:avLst/>
          </a:prstGeom>
          <a:solidFill>
            <a:srgbClr val="CAA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7:marker"/>
          <p:cNvSpPr/>
          <p:nvPr/>
        </p:nvSpPr>
        <p:spPr>
          <a:xfrm>
            <a:off x="10776111" y="2224702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4</a:t>
            </a:r>
          </a:p>
        </p:txBody>
      </p:sp>
      <p:cxnSp>
        <p:nvCxnSpPr>
          <p:cNvPr id="13" name="flow-07:axis"/>
          <p:cNvCxnSpPr/>
          <p:nvPr/>
        </p:nvCxnSpPr>
        <p:spPr>
          <a:xfrm>
            <a:off x="468000" y="3250702"/>
            <a:ext cx="1125612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flow-07:tick"/>
          <p:cNvCxnSpPr/>
          <p:nvPr/>
        </p:nvCxnSpPr>
        <p:spPr>
          <a:xfrm>
            <a:off x="468000" y="3142702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flow-07:tick"/>
          <p:cNvCxnSpPr/>
          <p:nvPr/>
        </p:nvCxnSpPr>
        <p:spPr>
          <a:xfrm>
            <a:off x="2076017" y="3142702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flow-07:tick"/>
          <p:cNvCxnSpPr/>
          <p:nvPr/>
        </p:nvCxnSpPr>
        <p:spPr>
          <a:xfrm>
            <a:off x="4488043" y="3142702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flow-07:tick"/>
          <p:cNvCxnSpPr/>
          <p:nvPr/>
        </p:nvCxnSpPr>
        <p:spPr>
          <a:xfrm>
            <a:off x="10116103" y="3142702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flow-07:tick"/>
          <p:cNvCxnSpPr/>
          <p:nvPr/>
        </p:nvCxnSpPr>
        <p:spPr>
          <a:xfrm>
            <a:off x="11724120" y="3142702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flow-07:leader"/>
          <p:cNvCxnSpPr/>
          <p:nvPr/>
        </p:nvCxnSpPr>
        <p:spPr>
          <a:xfrm>
            <a:off x="1272009" y="3304702"/>
            <a:ext cx="0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flow-07:label"/>
          <p:cNvSpPr txBox="1"/>
          <p:nvPr/>
        </p:nvSpPr>
        <p:spPr>
          <a:xfrm>
            <a:off x="802055" y="4222702"/>
            <a:ext cx="939906" cy="5978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검체 수령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2일</a:t>
            </a:r>
          </a:p>
        </p:txBody>
      </p:sp>
      <p:cxnSp>
        <p:nvCxnSpPr>
          <p:cNvPr id="21" name="flow-07:leader"/>
          <p:cNvCxnSpPr/>
          <p:nvPr/>
        </p:nvCxnSpPr>
        <p:spPr>
          <a:xfrm>
            <a:off x="3282030" y="3304702"/>
            <a:ext cx="0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flow-07:label"/>
          <p:cNvSpPr txBox="1"/>
          <p:nvPr/>
        </p:nvSpPr>
        <p:spPr>
          <a:xfrm>
            <a:off x="2774037" y="4222702"/>
            <a:ext cx="1015986" cy="5978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DNA 추출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3일</a:t>
            </a:r>
          </a:p>
        </p:txBody>
      </p:sp>
      <p:cxnSp>
        <p:nvCxnSpPr>
          <p:cNvPr id="23" name="flow-07:leader"/>
          <p:cNvCxnSpPr/>
          <p:nvPr/>
        </p:nvCxnSpPr>
        <p:spPr>
          <a:xfrm>
            <a:off x="7302073" y="3304702"/>
            <a:ext cx="0" cy="864000"/>
          </a:xfrm>
          <a:prstGeom prst="line">
            <a:avLst/>
          </a:prstGeom>
          <a:ln w="9525">
            <a:solidFill>
              <a:srgbClr val="7A2E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flow-07:label"/>
          <p:cNvSpPr txBox="1"/>
          <p:nvPr/>
        </p:nvSpPr>
        <p:spPr>
          <a:xfrm>
            <a:off x="6938265" y="4222702"/>
            <a:ext cx="727616" cy="5978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7A2E6B"/>
                </a:solidFill>
              </a:rPr>
              <a:t>시퀀싱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7A2E6B"/>
                </a:solidFill>
              </a:rPr>
              <a:t>7일</a:t>
            </a:r>
          </a:p>
        </p:txBody>
      </p:sp>
      <p:cxnSp>
        <p:nvCxnSpPr>
          <p:cNvPr id="25" name="flow-07:leader"/>
          <p:cNvCxnSpPr/>
          <p:nvPr/>
        </p:nvCxnSpPr>
        <p:spPr>
          <a:xfrm>
            <a:off x="10920111" y="3304702"/>
            <a:ext cx="0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flow-07:label"/>
          <p:cNvSpPr txBox="1"/>
          <p:nvPr/>
        </p:nvSpPr>
        <p:spPr>
          <a:xfrm>
            <a:off x="10450158" y="4222702"/>
            <a:ext cx="939906" cy="5978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변이 분석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2일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세포 배양 실험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약물 처리 48시간이 실험 하루 일정을 정한다</a:t>
            </a:r>
          </a:p>
        </p:txBody>
      </p:sp>
      <p:sp>
        <p:nvSpPr>
          <p:cNvPr id="5" name="flow-07:bar"/>
          <p:cNvSpPr/>
          <p:nvPr/>
        </p:nvSpPr>
        <p:spPr>
          <a:xfrm>
            <a:off x="468000" y="2286537"/>
            <a:ext cx="540000" cy="540000"/>
          </a:xfrm>
          <a:prstGeom prst="rect">
            <a:avLst/>
          </a:prstGeom>
          <a:solidFill>
            <a:srgbClr val="CAA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7:marker"/>
          <p:cNvSpPr/>
          <p:nvPr/>
        </p:nvSpPr>
        <p:spPr>
          <a:xfrm>
            <a:off x="59400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1</a:t>
            </a:r>
          </a:p>
        </p:txBody>
      </p:sp>
      <p:sp>
        <p:nvSpPr>
          <p:cNvPr id="7" name="flow-07:bar"/>
          <p:cNvSpPr/>
          <p:nvPr/>
        </p:nvSpPr>
        <p:spPr>
          <a:xfrm>
            <a:off x="1026000" y="2286537"/>
            <a:ext cx="3014040" cy="540000"/>
          </a:xfrm>
          <a:prstGeom prst="rect">
            <a:avLst/>
          </a:prstGeom>
          <a:solidFill>
            <a:srgbClr val="CAA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7:marker"/>
          <p:cNvSpPr/>
          <p:nvPr/>
        </p:nvSpPr>
        <p:spPr>
          <a:xfrm>
            <a:off x="238002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2</a:t>
            </a:r>
          </a:p>
        </p:txBody>
      </p:sp>
      <p:sp>
        <p:nvSpPr>
          <p:cNvPr id="9" name="flow-07:bar"/>
          <p:cNvSpPr/>
          <p:nvPr/>
        </p:nvSpPr>
        <p:spPr>
          <a:xfrm>
            <a:off x="4058040" y="2286537"/>
            <a:ext cx="6046080" cy="540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7:marker"/>
          <p:cNvSpPr/>
          <p:nvPr/>
        </p:nvSpPr>
        <p:spPr>
          <a:xfrm>
            <a:off x="6928080" y="1908537"/>
            <a:ext cx="288000" cy="288000"/>
          </a:xfrm>
          <a:prstGeom prst="ellipse">
            <a:avLst/>
          </a:prstGeom>
          <a:solidFill>
            <a:srgbClr val="7A2E6B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flow-07:bar"/>
          <p:cNvSpPr/>
          <p:nvPr/>
        </p:nvSpPr>
        <p:spPr>
          <a:xfrm>
            <a:off x="10122120" y="2286537"/>
            <a:ext cx="522000" cy="540000"/>
          </a:xfrm>
          <a:prstGeom prst="rect">
            <a:avLst/>
          </a:prstGeom>
          <a:solidFill>
            <a:srgbClr val="CAA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7:marker"/>
          <p:cNvSpPr/>
          <p:nvPr/>
        </p:nvSpPr>
        <p:spPr>
          <a:xfrm>
            <a:off x="1023012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4</a:t>
            </a:r>
          </a:p>
        </p:txBody>
      </p:sp>
      <p:sp>
        <p:nvSpPr>
          <p:cNvPr id="13" name="flow-07:bar"/>
          <p:cNvSpPr/>
          <p:nvPr/>
        </p:nvSpPr>
        <p:spPr>
          <a:xfrm>
            <a:off x="10662120" y="2286537"/>
            <a:ext cx="522000" cy="540000"/>
          </a:xfrm>
          <a:prstGeom prst="rect">
            <a:avLst/>
          </a:prstGeom>
          <a:solidFill>
            <a:srgbClr val="CAA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flow-07:marker"/>
          <p:cNvSpPr/>
          <p:nvPr/>
        </p:nvSpPr>
        <p:spPr>
          <a:xfrm>
            <a:off x="1077012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5</a:t>
            </a:r>
          </a:p>
        </p:txBody>
      </p:sp>
      <p:sp>
        <p:nvSpPr>
          <p:cNvPr id="15" name="flow-07:bar"/>
          <p:cNvSpPr/>
          <p:nvPr/>
        </p:nvSpPr>
        <p:spPr>
          <a:xfrm>
            <a:off x="11202120" y="2286537"/>
            <a:ext cx="522000" cy="540000"/>
          </a:xfrm>
          <a:prstGeom prst="rect">
            <a:avLst/>
          </a:prstGeom>
          <a:solidFill>
            <a:srgbClr val="CAA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flow-07:marker"/>
          <p:cNvSpPr/>
          <p:nvPr/>
        </p:nvSpPr>
        <p:spPr>
          <a:xfrm>
            <a:off x="1131012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6</a:t>
            </a:r>
          </a:p>
        </p:txBody>
      </p:sp>
      <p:cxnSp>
        <p:nvCxnSpPr>
          <p:cNvPr id="17" name="flow-07:axis"/>
          <p:cNvCxnSpPr/>
          <p:nvPr/>
        </p:nvCxnSpPr>
        <p:spPr>
          <a:xfrm>
            <a:off x="468000" y="2934537"/>
            <a:ext cx="171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flow-07:axis"/>
          <p:cNvCxnSpPr/>
          <p:nvPr/>
        </p:nvCxnSpPr>
        <p:spPr>
          <a:xfrm>
            <a:off x="837000" y="2934537"/>
            <a:ext cx="943812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flow-07:axis"/>
          <p:cNvCxnSpPr/>
          <p:nvPr/>
        </p:nvCxnSpPr>
        <p:spPr>
          <a:xfrm>
            <a:off x="10473120" y="2934537"/>
            <a:ext cx="342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flow-07:axis"/>
          <p:cNvCxnSpPr/>
          <p:nvPr/>
        </p:nvCxnSpPr>
        <p:spPr>
          <a:xfrm>
            <a:off x="11013120" y="2934537"/>
            <a:ext cx="342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flow-07:axis"/>
          <p:cNvCxnSpPr/>
          <p:nvPr/>
        </p:nvCxnSpPr>
        <p:spPr>
          <a:xfrm>
            <a:off x="11553120" y="2934537"/>
            <a:ext cx="171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flow-07:tick"/>
          <p:cNvCxnSpPr/>
          <p:nvPr/>
        </p:nvCxnSpPr>
        <p:spPr>
          <a:xfrm>
            <a:off x="46800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flow-07:tick"/>
          <p:cNvCxnSpPr/>
          <p:nvPr/>
        </p:nvCxnSpPr>
        <p:spPr>
          <a:xfrm>
            <a:off x="100800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flow-07:tick"/>
          <p:cNvCxnSpPr/>
          <p:nvPr/>
        </p:nvCxnSpPr>
        <p:spPr>
          <a:xfrm>
            <a:off x="404004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flow-07:tick"/>
          <p:cNvCxnSpPr/>
          <p:nvPr/>
        </p:nvCxnSpPr>
        <p:spPr>
          <a:xfrm>
            <a:off x="1010412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flow-07:tick"/>
          <p:cNvCxnSpPr/>
          <p:nvPr/>
        </p:nvCxnSpPr>
        <p:spPr>
          <a:xfrm>
            <a:off x="1064412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flow-07:tick"/>
          <p:cNvCxnSpPr/>
          <p:nvPr/>
        </p:nvCxnSpPr>
        <p:spPr>
          <a:xfrm>
            <a:off x="1118412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flow-07:tick"/>
          <p:cNvCxnSpPr/>
          <p:nvPr/>
        </p:nvCxnSpPr>
        <p:spPr>
          <a:xfrm>
            <a:off x="1172412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flow-07:break"/>
          <p:cNvSpPr txBox="1"/>
          <p:nvPr/>
        </p:nvSpPr>
        <p:spPr>
          <a:xfrm>
            <a:off x="63900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sp>
        <p:nvSpPr>
          <p:cNvPr id="30" name="flow-07:break"/>
          <p:cNvSpPr txBox="1"/>
          <p:nvPr/>
        </p:nvSpPr>
        <p:spPr>
          <a:xfrm>
            <a:off x="1027512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sp>
        <p:nvSpPr>
          <p:cNvPr id="31" name="flow-07:break"/>
          <p:cNvSpPr txBox="1"/>
          <p:nvPr/>
        </p:nvSpPr>
        <p:spPr>
          <a:xfrm>
            <a:off x="1081512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sp>
        <p:nvSpPr>
          <p:cNvPr id="32" name="flow-07:break"/>
          <p:cNvSpPr txBox="1"/>
          <p:nvPr/>
        </p:nvSpPr>
        <p:spPr>
          <a:xfrm>
            <a:off x="1135512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cxnSp>
        <p:nvCxnSpPr>
          <p:cNvPr id="33" name="flow-07:leader"/>
          <p:cNvCxnSpPr/>
          <p:nvPr/>
        </p:nvCxnSpPr>
        <p:spPr>
          <a:xfrm>
            <a:off x="738000" y="3078537"/>
            <a:ext cx="436010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flow-07:label"/>
          <p:cNvSpPr txBox="1"/>
          <p:nvPr/>
        </p:nvSpPr>
        <p:spPr>
          <a:xfrm>
            <a:off x="468000" y="3906537"/>
            <a:ext cx="1412021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세포 분주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1시간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96웰 · 웰당 1만 개</a:t>
            </a:r>
          </a:p>
        </p:txBody>
      </p:sp>
      <p:cxnSp>
        <p:nvCxnSpPr>
          <p:cNvPr id="35" name="flow-07:leader"/>
          <p:cNvCxnSpPr/>
          <p:nvPr/>
        </p:nvCxnSpPr>
        <p:spPr>
          <a:xfrm>
            <a:off x="2524020" y="2988537"/>
            <a:ext cx="85051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low-07:label"/>
          <p:cNvSpPr txBox="1"/>
          <p:nvPr/>
        </p:nvSpPr>
        <p:spPr>
          <a:xfrm>
            <a:off x="2096021" y="3906537"/>
            <a:ext cx="1026100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부착 대기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24시간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37℃ 배양기</a:t>
            </a:r>
          </a:p>
        </p:txBody>
      </p:sp>
      <p:cxnSp>
        <p:nvCxnSpPr>
          <p:cNvPr id="37" name="flow-07:leader"/>
          <p:cNvCxnSpPr/>
          <p:nvPr/>
        </p:nvCxnSpPr>
        <p:spPr>
          <a:xfrm>
            <a:off x="7072080" y="2988537"/>
            <a:ext cx="0" cy="864000"/>
          </a:xfrm>
          <a:prstGeom prst="line">
            <a:avLst/>
          </a:prstGeom>
          <a:ln w="9525">
            <a:solidFill>
              <a:srgbClr val="7A2E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flow-07:label"/>
          <p:cNvSpPr txBox="1"/>
          <p:nvPr/>
        </p:nvSpPr>
        <p:spPr>
          <a:xfrm>
            <a:off x="6418147" y="3906537"/>
            <a:ext cx="1307867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7A2E6B"/>
                </a:solidFill>
              </a:rPr>
              <a:t>약물 처리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7A2E6B"/>
                </a:solidFill>
              </a:rPr>
              <a:t>48시간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8개 농도 · 3반복</a:t>
            </a:r>
          </a:p>
        </p:txBody>
      </p:sp>
      <p:cxnSp>
        <p:nvCxnSpPr>
          <p:cNvPr id="39" name="flow-07:leader"/>
          <p:cNvCxnSpPr/>
          <p:nvPr/>
        </p:nvCxnSpPr>
        <p:spPr>
          <a:xfrm flipH="1">
            <a:off x="8594799" y="3078537"/>
            <a:ext cx="1779321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flow-07:label"/>
          <p:cNvSpPr txBox="1"/>
          <p:nvPr/>
        </p:nvSpPr>
        <p:spPr>
          <a:xfrm>
            <a:off x="8193861" y="3906537"/>
            <a:ext cx="801877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세척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0.5시간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PBS 2회</a:t>
            </a:r>
          </a:p>
        </p:txBody>
      </p:sp>
      <p:cxnSp>
        <p:nvCxnSpPr>
          <p:cNvPr id="41" name="flow-07:leader"/>
          <p:cNvCxnSpPr/>
          <p:nvPr/>
        </p:nvCxnSpPr>
        <p:spPr>
          <a:xfrm flipH="1">
            <a:off x="9774689" y="3078537"/>
            <a:ext cx="1139431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flow-07:label"/>
          <p:cNvSpPr txBox="1"/>
          <p:nvPr/>
        </p:nvSpPr>
        <p:spPr>
          <a:xfrm>
            <a:off x="9211738" y="3906537"/>
            <a:ext cx="1125902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생존율 측정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2시간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CCK-8 흡광도</a:t>
            </a:r>
          </a:p>
        </p:txBody>
      </p:sp>
      <p:cxnSp>
        <p:nvCxnSpPr>
          <p:cNvPr id="43" name="flow-07:leader"/>
          <p:cNvCxnSpPr/>
          <p:nvPr/>
        </p:nvCxnSpPr>
        <p:spPr>
          <a:xfrm flipH="1">
            <a:off x="11138880" y="3078537"/>
            <a:ext cx="315240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flow-07:label"/>
          <p:cNvSpPr txBox="1"/>
          <p:nvPr/>
        </p:nvSpPr>
        <p:spPr>
          <a:xfrm>
            <a:off x="10553640" y="3906537"/>
            <a:ext cx="1170481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분석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3시간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IC50 곡선 맞춤</a:t>
            </a:r>
          </a:p>
        </p:txBody>
      </p:sp>
      <p:cxnSp>
        <p:nvCxnSpPr>
          <p:cNvPr id="45" name="conclusion:line"/>
          <p:cNvCxnSpPr/>
          <p:nvPr/>
        </p:nvCxnSpPr>
        <p:spPr>
          <a:xfrm>
            <a:off x="468000" y="495033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conclusion:text"/>
          <p:cNvSpPr txBox="1"/>
          <p:nvPr/>
        </p:nvSpPr>
        <p:spPr>
          <a:xfrm>
            <a:off x="468000" y="5148330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처리 시작을 월요일 오전에 맞추면 수요일 오후에 측정할 수 있다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플럼 클린 16:9">
  <a:themeElements>
    <a:clrScheme name="HaLab 플럼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2E6B"/>
      </a:accent1>
      <a:accent2>
        <a:srgbClr val="A9779F"/>
      </a:accent2>
      <a:accent3>
        <a:srgbClr val="CAABC4"/>
      </a:accent3>
      <a:accent4>
        <a:srgbClr val="2BB3A6"/>
      </a:accent4>
      <a:accent5>
        <a:srgbClr val="CAABC4"/>
      </a:accent5>
      <a:accent6>
        <a:srgbClr val="E2E5EA"/>
      </a:accent6>
      <a:hlink>
        <a:srgbClr val="7A2E6B"/>
      </a:hlink>
      <a:folHlink>
        <a:srgbClr val="CAABC4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