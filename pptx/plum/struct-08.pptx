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분석 인프라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표준 파이프라인 층이 서버와 웹 도구를 잇는다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792456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92912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792456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공유 웹 도구</a:t>
            </a:r>
          </a:p>
        </p:txBody>
      </p:sp>
      <p:sp>
        <p:nvSpPr>
          <p:cNvPr id="8" name="struct-08:item"/>
          <p:cNvSpPr/>
          <p:nvPr/>
        </p:nvSpPr>
        <p:spPr>
          <a:xfrm>
            <a:off x="4988507" y="1938127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8:item-text"/>
          <p:cNvSpPr txBox="1"/>
          <p:nvPr/>
        </p:nvSpPr>
        <p:spPr>
          <a:xfrm>
            <a:off x="4988507" y="1938127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시각화 앱</a:t>
            </a:r>
          </a:p>
        </p:txBody>
      </p:sp>
      <p:sp>
        <p:nvSpPr>
          <p:cNvPr id="10" name="struct-08:item"/>
          <p:cNvSpPr/>
          <p:nvPr/>
        </p:nvSpPr>
        <p:spPr>
          <a:xfrm>
            <a:off x="5989305" y="1938127"/>
            <a:ext cx="77318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8:item-text"/>
          <p:cNvSpPr txBox="1"/>
          <p:nvPr/>
        </p:nvSpPr>
        <p:spPr>
          <a:xfrm>
            <a:off x="5989305" y="1938127"/>
            <a:ext cx="77318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랩 위키</a:t>
            </a:r>
          </a:p>
        </p:txBody>
      </p:sp>
      <p:sp>
        <p:nvSpPr>
          <p:cNvPr id="12" name="struct-08:item"/>
          <p:cNvSpPr/>
          <p:nvPr/>
        </p:nvSpPr>
        <p:spPr>
          <a:xfrm>
            <a:off x="6852494" y="1938127"/>
            <a:ext cx="104840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ruct-08:item-text"/>
          <p:cNvSpPr txBox="1"/>
          <p:nvPr/>
        </p:nvSpPr>
        <p:spPr>
          <a:xfrm>
            <a:off x="6852494" y="1938127"/>
            <a:ext cx="104840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갤러리</a:t>
            </a:r>
          </a:p>
        </p:txBody>
      </p:sp>
      <p:sp>
        <p:nvSpPr>
          <p:cNvPr id="14" name="struct-08:layer"/>
          <p:cNvSpPr/>
          <p:nvPr/>
        </p:nvSpPr>
        <p:spPr>
          <a:xfrm>
            <a:off x="2719224" y="2569798"/>
            <a:ext cx="6753672" cy="842012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truct-08:marker"/>
          <p:cNvSpPr/>
          <p:nvPr/>
        </p:nvSpPr>
        <p:spPr>
          <a:xfrm>
            <a:off x="2899224" y="284680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6" name="struct-08:name"/>
          <p:cNvSpPr txBox="1"/>
          <p:nvPr/>
        </p:nvSpPr>
        <p:spPr>
          <a:xfrm>
            <a:off x="3313224" y="2569798"/>
            <a:ext cx="1531283" cy="8420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표준 파이프라인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4988507" y="2855804"/>
            <a:ext cx="134272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4988507" y="2855804"/>
            <a:ext cx="134272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nf-core rnaseq</a:t>
            </a:r>
          </a:p>
        </p:txBody>
      </p:sp>
      <p:sp>
        <p:nvSpPr>
          <p:cNvPr id="19" name="struct-08:item"/>
          <p:cNvSpPr/>
          <p:nvPr/>
        </p:nvSpPr>
        <p:spPr>
          <a:xfrm>
            <a:off x="6421230" y="2855804"/>
            <a:ext cx="10540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item-text"/>
          <p:cNvSpPr txBox="1"/>
          <p:nvPr/>
        </p:nvSpPr>
        <p:spPr>
          <a:xfrm>
            <a:off x="6421230" y="2855804"/>
            <a:ext cx="10540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scRNA QC</a:t>
            </a:r>
          </a:p>
        </p:txBody>
      </p:sp>
      <p:sp>
        <p:nvSpPr>
          <p:cNvPr id="21" name="struct-08:item"/>
          <p:cNvSpPr/>
          <p:nvPr/>
        </p:nvSpPr>
        <p:spPr>
          <a:xfrm>
            <a:off x="7565277" y="2855804"/>
            <a:ext cx="135998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8:item-text"/>
          <p:cNvSpPr txBox="1"/>
          <p:nvPr/>
        </p:nvSpPr>
        <p:spPr>
          <a:xfrm>
            <a:off x="7565277" y="2855804"/>
            <a:ext cx="135998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공통 참조 유전체</a:t>
            </a:r>
          </a:p>
        </p:txBody>
      </p:sp>
      <p:sp>
        <p:nvSpPr>
          <p:cNvPr id="23" name="struct-08:layer"/>
          <p:cNvSpPr/>
          <p:nvPr/>
        </p:nvSpPr>
        <p:spPr>
          <a:xfrm>
            <a:off x="2719224" y="3627810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marker"/>
          <p:cNvSpPr/>
          <p:nvPr/>
        </p:nvSpPr>
        <p:spPr>
          <a:xfrm>
            <a:off x="2899224" y="376448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25" name="struct-08:name"/>
          <p:cNvSpPr txBox="1"/>
          <p:nvPr/>
        </p:nvSpPr>
        <p:spPr>
          <a:xfrm>
            <a:off x="3313224" y="3627810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원자료 저장소</a:t>
            </a:r>
          </a:p>
        </p:txBody>
      </p:sp>
      <p:sp>
        <p:nvSpPr>
          <p:cNvPr id="26" name="struct-08:item"/>
          <p:cNvSpPr/>
          <p:nvPr/>
        </p:nvSpPr>
        <p:spPr>
          <a:xfrm>
            <a:off x="4988507" y="3773481"/>
            <a:ext cx="114788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truct-08:item-text"/>
          <p:cNvSpPr txBox="1"/>
          <p:nvPr/>
        </p:nvSpPr>
        <p:spPr>
          <a:xfrm>
            <a:off x="4988507" y="3773481"/>
            <a:ext cx="114788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NAS 400TB</a:t>
            </a:r>
          </a:p>
        </p:txBody>
      </p:sp>
      <p:sp>
        <p:nvSpPr>
          <p:cNvPr id="28" name="struct-08:item"/>
          <p:cNvSpPr/>
          <p:nvPr/>
        </p:nvSpPr>
        <p:spPr>
          <a:xfrm>
            <a:off x="6226389" y="3773481"/>
            <a:ext cx="1242685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8:item-text"/>
          <p:cNvSpPr txBox="1"/>
          <p:nvPr/>
        </p:nvSpPr>
        <p:spPr>
          <a:xfrm>
            <a:off x="6226389" y="3773481"/>
            <a:ext cx="1242685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FASTQ · BAM</a:t>
            </a:r>
          </a:p>
        </p:txBody>
      </p:sp>
      <p:sp>
        <p:nvSpPr>
          <p:cNvPr id="30" name="struct-08:item"/>
          <p:cNvSpPr/>
          <p:nvPr/>
        </p:nvSpPr>
        <p:spPr>
          <a:xfrm>
            <a:off x="7559074" y="3773481"/>
            <a:ext cx="89802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8:item-text"/>
          <p:cNvSpPr txBox="1"/>
          <p:nvPr/>
        </p:nvSpPr>
        <p:spPr>
          <a:xfrm>
            <a:off x="7559074" y="3773481"/>
            <a:ext cx="89802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백업 2벌</a:t>
            </a:r>
          </a:p>
        </p:txBody>
      </p:sp>
      <p:sp>
        <p:nvSpPr>
          <p:cNvPr id="32" name="struct-08:layer"/>
          <p:cNvSpPr/>
          <p:nvPr/>
        </p:nvSpPr>
        <p:spPr>
          <a:xfrm>
            <a:off x="2719224" y="4405151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truct-08:marker"/>
          <p:cNvSpPr/>
          <p:nvPr/>
        </p:nvSpPr>
        <p:spPr>
          <a:xfrm>
            <a:off x="2899224" y="454182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34" name="struct-08:name"/>
          <p:cNvSpPr txBox="1"/>
          <p:nvPr/>
        </p:nvSpPr>
        <p:spPr>
          <a:xfrm>
            <a:off x="3313224" y="4405151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계산 서버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4988507" y="4550822"/>
            <a:ext cx="1256281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4988507" y="4550822"/>
            <a:ext cx="1256281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CPU 서버 4대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6334788" y="4550822"/>
            <a:ext cx="129476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6334788" y="4550822"/>
            <a:ext cx="129476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GPU A100 × 8</a:t>
            </a:r>
          </a:p>
        </p:txBody>
      </p:sp>
      <p:sp>
        <p:nvSpPr>
          <p:cNvPr id="39" name="struct-08:item"/>
          <p:cNvSpPr/>
          <p:nvPr/>
        </p:nvSpPr>
        <p:spPr>
          <a:xfrm>
            <a:off x="7719550" y="4550822"/>
            <a:ext cx="118601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struct-08:item-text"/>
          <p:cNvSpPr txBox="1"/>
          <p:nvPr/>
        </p:nvSpPr>
        <p:spPr>
          <a:xfrm>
            <a:off x="7719550" y="4550822"/>
            <a:ext cx="118601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작업 스케줄러</a:t>
            </a:r>
          </a:p>
        </p:txBody>
      </p:sp>
      <p:cxnSp>
        <p:nvCxnSpPr>
          <p:cNvPr id="41" name="conclusion:line"/>
          <p:cNvCxnSpPr/>
          <p:nvPr/>
        </p:nvCxnSpPr>
        <p:spPr>
          <a:xfrm>
            <a:off x="468000" y="518249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onclusion:text"/>
          <p:cNvSpPr txBox="1"/>
          <p:nvPr/>
        </p:nvSpPr>
        <p:spPr>
          <a:xfrm>
            <a:off x="468000" y="538049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새 학생도 파이프라인 층만 익히면 서버 설정 없이 분석을 시작한다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· 유전체 자료를 한 저장소에 모으는 것이 먼저다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896468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209961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896468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결과 공유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625477" y="2110928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요약 통계와 그림만 밖으로 내보낸다</a:t>
            </a:r>
          </a:p>
        </p:txBody>
      </p:sp>
      <p:sp>
        <p:nvSpPr>
          <p:cNvPr id="9" name="struct-08:layer"/>
          <p:cNvSpPr/>
          <p:nvPr/>
        </p:nvSpPr>
        <p:spPr>
          <a:xfrm>
            <a:off x="2719224" y="2806754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marker"/>
          <p:cNvSpPr/>
          <p:nvPr/>
        </p:nvSpPr>
        <p:spPr>
          <a:xfrm>
            <a:off x="2899224" y="300989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1" name="struct-08:name"/>
          <p:cNvSpPr txBox="1"/>
          <p:nvPr/>
        </p:nvSpPr>
        <p:spPr>
          <a:xfrm>
            <a:off x="3313224" y="2806754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분석 환경</a:t>
            </a:r>
          </a:p>
        </p:txBody>
      </p:sp>
      <p:sp>
        <p:nvSpPr>
          <p:cNvPr id="12" name="struct-08:desc"/>
          <p:cNvSpPr txBox="1"/>
          <p:nvPr/>
        </p:nvSpPr>
        <p:spPr>
          <a:xfrm>
            <a:off x="4625477" y="3021213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R · Python 노트북, 승인된 사람만 접근</a:t>
            </a:r>
          </a:p>
        </p:txBody>
      </p:sp>
      <p:sp>
        <p:nvSpPr>
          <p:cNvPr id="13" name="struct-08:layer"/>
          <p:cNvSpPr/>
          <p:nvPr/>
        </p:nvSpPr>
        <p:spPr>
          <a:xfrm>
            <a:off x="2719224" y="3717039"/>
            <a:ext cx="6753672" cy="1041429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8:marker"/>
          <p:cNvSpPr/>
          <p:nvPr/>
        </p:nvSpPr>
        <p:spPr>
          <a:xfrm>
            <a:off x="2899224" y="409375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15" name="struct-08:name"/>
          <p:cNvSpPr txBox="1"/>
          <p:nvPr/>
        </p:nvSpPr>
        <p:spPr>
          <a:xfrm>
            <a:off x="3313224" y="3717039"/>
            <a:ext cx="1168253" cy="10414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통합 저장소</a:t>
            </a:r>
          </a:p>
        </p:txBody>
      </p:sp>
      <p:sp>
        <p:nvSpPr>
          <p:cNvPr id="16" name="struct-08:desc"/>
          <p:cNvSpPr txBox="1"/>
          <p:nvPr/>
        </p:nvSpPr>
        <p:spPr>
          <a:xfrm>
            <a:off x="4625477" y="4105070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FFFFFF"/>
                </a:solidFill>
              </a:rPr>
              <a:t>임상 정보와 유전체 자료를 같은 환자 ID로 묶는다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1차년도에는 맨 아래 통합 저장소 구축에 예산의 60%를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구조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예측 모델은 다섯 층으로 나눠 따로 검증한다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5840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8054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5840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해석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443962" y="18167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변수 기여도와 위험군 나눔</a:t>
            </a:r>
          </a:p>
        </p:txBody>
      </p:sp>
      <p:sp>
        <p:nvSpPr>
          <p:cNvPr id="9" name="struct-08:item"/>
          <p:cNvSpPr/>
          <p:nvPr/>
        </p:nvSpPr>
        <p:spPr>
          <a:xfrm>
            <a:off x="6773048" y="1814400"/>
            <a:ext cx="726914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item-text"/>
          <p:cNvSpPr txBox="1"/>
          <p:nvPr/>
        </p:nvSpPr>
        <p:spPr>
          <a:xfrm>
            <a:off x="6773048" y="1814400"/>
            <a:ext cx="726914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SHAP</a:t>
            </a:r>
          </a:p>
        </p:txBody>
      </p:sp>
      <p:sp>
        <p:nvSpPr>
          <p:cNvPr id="11" name="struct-08:layer"/>
          <p:cNvSpPr/>
          <p:nvPr/>
        </p:nvSpPr>
        <p:spPr>
          <a:xfrm>
            <a:off x="2719224" y="25308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8:marker"/>
          <p:cNvSpPr/>
          <p:nvPr/>
        </p:nvSpPr>
        <p:spPr>
          <a:xfrm>
            <a:off x="2899224" y="27522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13" name="struct-08:name"/>
          <p:cNvSpPr txBox="1"/>
          <p:nvPr/>
        </p:nvSpPr>
        <p:spPr>
          <a:xfrm>
            <a:off x="3313224" y="25308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예측 모델</a:t>
            </a:r>
          </a:p>
        </p:txBody>
      </p:sp>
      <p:sp>
        <p:nvSpPr>
          <p:cNvPr id="14" name="struct-08:desc"/>
          <p:cNvSpPr txBox="1"/>
          <p:nvPr/>
        </p:nvSpPr>
        <p:spPr>
          <a:xfrm>
            <a:off x="4443962" y="27635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생존 위험 점수</a:t>
            </a:r>
          </a:p>
        </p:txBody>
      </p:sp>
      <p:sp>
        <p:nvSpPr>
          <p:cNvPr id="15" name="struct-08:item"/>
          <p:cNvSpPr/>
          <p:nvPr/>
        </p:nvSpPr>
        <p:spPr>
          <a:xfrm>
            <a:off x="6773048" y="2761200"/>
            <a:ext cx="9095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8:item-text"/>
          <p:cNvSpPr txBox="1"/>
          <p:nvPr/>
        </p:nvSpPr>
        <p:spPr>
          <a:xfrm>
            <a:off x="6773048" y="2761200"/>
            <a:ext cx="9095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Cox 모형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7772556" y="2761200"/>
            <a:ext cx="1084766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7772556" y="2761200"/>
            <a:ext cx="1084766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랜덤 생존 숲</a:t>
            </a:r>
          </a:p>
        </p:txBody>
      </p:sp>
      <p:sp>
        <p:nvSpPr>
          <p:cNvPr id="19" name="struct-08:layer"/>
          <p:cNvSpPr/>
          <p:nvPr/>
        </p:nvSpPr>
        <p:spPr>
          <a:xfrm>
            <a:off x="2719224" y="34776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marker"/>
          <p:cNvSpPr/>
          <p:nvPr/>
        </p:nvSpPr>
        <p:spPr>
          <a:xfrm>
            <a:off x="2899224" y="3699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21" name="struct-08:name"/>
          <p:cNvSpPr txBox="1"/>
          <p:nvPr/>
        </p:nvSpPr>
        <p:spPr>
          <a:xfrm>
            <a:off x="3313224" y="34776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특징 선택</a:t>
            </a:r>
          </a:p>
        </p:txBody>
      </p:sp>
      <p:sp>
        <p:nvSpPr>
          <p:cNvPr id="22" name="struct-08:desc"/>
          <p:cNvSpPr txBox="1"/>
          <p:nvPr/>
        </p:nvSpPr>
        <p:spPr>
          <a:xfrm>
            <a:off x="4443962" y="37103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안정성 선택 200회</a:t>
            </a:r>
          </a:p>
        </p:txBody>
      </p:sp>
      <p:sp>
        <p:nvSpPr>
          <p:cNvPr id="23" name="struct-08:item"/>
          <p:cNvSpPr/>
          <p:nvPr/>
        </p:nvSpPr>
        <p:spPr>
          <a:xfrm>
            <a:off x="6773048" y="3708000"/>
            <a:ext cx="8207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item-text"/>
          <p:cNvSpPr txBox="1"/>
          <p:nvPr/>
        </p:nvSpPr>
        <p:spPr>
          <a:xfrm>
            <a:off x="6773048" y="3708000"/>
            <a:ext cx="8207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LASSO</a:t>
            </a:r>
          </a:p>
        </p:txBody>
      </p:sp>
      <p:sp>
        <p:nvSpPr>
          <p:cNvPr id="25" name="struct-08:layer"/>
          <p:cNvSpPr/>
          <p:nvPr/>
        </p:nvSpPr>
        <p:spPr>
          <a:xfrm>
            <a:off x="2719224" y="44244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8:marker"/>
          <p:cNvSpPr/>
          <p:nvPr/>
        </p:nvSpPr>
        <p:spPr>
          <a:xfrm>
            <a:off x="2899224" y="46458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27" name="struct-08:name"/>
          <p:cNvSpPr txBox="1"/>
          <p:nvPr/>
        </p:nvSpPr>
        <p:spPr>
          <a:xfrm>
            <a:off x="3313224" y="44244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전처리</a:t>
            </a:r>
          </a:p>
        </p:txBody>
      </p:sp>
      <p:sp>
        <p:nvSpPr>
          <p:cNvPr id="28" name="struct-08:desc"/>
          <p:cNvSpPr txBox="1"/>
          <p:nvPr/>
        </p:nvSpPr>
        <p:spPr>
          <a:xfrm>
            <a:off x="4443962" y="46571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정규화 · 배치 보정</a:t>
            </a:r>
          </a:p>
        </p:txBody>
      </p:sp>
      <p:sp>
        <p:nvSpPr>
          <p:cNvPr id="29" name="struct-08:item"/>
          <p:cNvSpPr/>
          <p:nvPr/>
        </p:nvSpPr>
        <p:spPr>
          <a:xfrm>
            <a:off x="6773048" y="4654800"/>
            <a:ext cx="88604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truct-08:item-text"/>
          <p:cNvSpPr txBox="1"/>
          <p:nvPr/>
        </p:nvSpPr>
        <p:spPr>
          <a:xfrm>
            <a:off x="6773048" y="4654800"/>
            <a:ext cx="88604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ComBat</a:t>
            </a:r>
          </a:p>
        </p:txBody>
      </p:sp>
      <p:sp>
        <p:nvSpPr>
          <p:cNvPr id="31" name="struct-08:layer"/>
          <p:cNvSpPr/>
          <p:nvPr/>
        </p:nvSpPr>
        <p:spPr>
          <a:xfrm>
            <a:off x="2719224" y="53712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struct-08:marker"/>
          <p:cNvSpPr/>
          <p:nvPr/>
        </p:nvSpPr>
        <p:spPr>
          <a:xfrm>
            <a:off x="2899224" y="55926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33" name="struct-08:name"/>
          <p:cNvSpPr txBox="1"/>
          <p:nvPr/>
        </p:nvSpPr>
        <p:spPr>
          <a:xfrm>
            <a:off x="3313224" y="53712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입력 자료</a:t>
            </a:r>
          </a:p>
        </p:txBody>
      </p:sp>
      <p:sp>
        <p:nvSpPr>
          <p:cNvPr id="34" name="struct-08:desc"/>
          <p:cNvSpPr txBox="1"/>
          <p:nvPr/>
        </p:nvSpPr>
        <p:spPr>
          <a:xfrm>
            <a:off x="4443962" y="56039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전사체 · 임상 변수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6773048" y="5601600"/>
            <a:ext cx="95416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6773048" y="5601600"/>
            <a:ext cx="95416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RNA-seq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7817215" y="5601600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7817215" y="5601600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검사 수치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