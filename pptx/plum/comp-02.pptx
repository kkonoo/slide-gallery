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(comp-02-a).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(comp-02-b).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방법 고르기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세포 수가 중요하면 10x, 감도가 중요하면 Smart-seq2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10x Chromium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Smart-seq2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324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수천–수만 개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324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세포 수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수십–수백 개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116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낮음 (3′ 말단 계수)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116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유전자 감도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높음 (전장 전사체)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3908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낮음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390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세포당 비용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높음</a:t>
            </a:r>
          </a:p>
        </p:txBody>
      </p:sp>
      <p:cxnSp>
        <p:nvCxnSpPr>
          <p:cNvPr id="19" name="comp-02:row-rule"/>
          <p:cNvCxnSpPr/>
          <p:nvPr/>
        </p:nvCxnSpPr>
        <p:spPr>
          <a:xfrm>
            <a:off x="468000" y="470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mp-02:value"/>
          <p:cNvSpPr txBox="1"/>
          <p:nvPr/>
        </p:nvSpPr>
        <p:spPr>
          <a:xfrm>
            <a:off x="612000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높음 (미세유체 자동화)</a:t>
            </a:r>
          </a:p>
        </p:txBody>
      </p:sp>
      <p:sp>
        <p:nvSpPr>
          <p:cNvPr id="21" name="comp-02:item"/>
          <p:cNvSpPr txBox="1"/>
          <p:nvPr/>
        </p:nvSpPr>
        <p:spPr>
          <a:xfrm>
            <a:off x="5042448" y="470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시료 처리량</a:t>
            </a:r>
          </a:p>
        </p:txBody>
      </p:sp>
      <p:sp>
        <p:nvSpPr>
          <p:cNvPr id="22" name="comp-02:value"/>
          <p:cNvSpPr txBox="1"/>
          <p:nvPr/>
        </p:nvSpPr>
        <p:spPr>
          <a:xfrm>
            <a:off x="7365672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낮음 (플레이트 분주)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제안 방법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칼슘 이미징으로 수백 개 세포를 한 번에 기록해요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2152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6B7280"/>
                </a:solidFill>
              </a:rPr>
              <a:t>패치클램프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2152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7A2E6B"/>
                </a:solidFill>
              </a:rPr>
              <a:t>2광자 칼슘 이미징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588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58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밀리초 (활동전위 단위)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58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시간 해상도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58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수십–수백 밀리초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38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38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1–2개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38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동시 기록 세포 수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38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수백 개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4172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4172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높음 (전극 접촉)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4172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침습성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4172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낮음 (광학 측정)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플럼 클린 16:9">
  <a:themeElements>
    <a:clrScheme name="HaLab 플럼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2E6B"/>
      </a:accent1>
      <a:accent2>
        <a:srgbClr val="A9779F"/>
      </a:accent2>
      <a:accent3>
        <a:srgbClr val="CAABC4"/>
      </a:accent3>
      <a:accent4>
        <a:srgbClr val="2BB3A6"/>
      </a:accent4>
      <a:accent5>
        <a:srgbClr val="CAABC4"/>
      </a:accent5>
      <a:accent6>
        <a:srgbClr val="E2E5EA"/>
      </a:accent6>
      <a:hlink>
        <a:srgbClr val="7A2E6B"/>
      </a:hlink>
      <a:folHlink>
        <a:srgbClr val="CAABC4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