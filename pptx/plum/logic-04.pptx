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목표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목표 하나를 세 가지 분석으로 나눠요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질환군–대조군 발현 차이로 진단 후보 유전자 도출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차등발현 분석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RNA-seq 정량 · 정규화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질환군 vs 대조군 DEG 선정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경로 풍부화 분석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GO · KEGG 풍부화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핵심 경로의 후보 유전자 추림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독립 코호트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코호트에서 발현 재현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진단 성능 (AUC)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목표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조기진단 마커를 발굴 · 검증 · 임상 적용 순서로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1821611"/>
            <a:ext cx="5628060" cy="71558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1821611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대장암 조기진단 마커 확보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5371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2817997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098797"/>
            <a:ext cx="3608040" cy="618745"/>
          </a:xfrm>
          <a:prstGeom prst="rect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244369"/>
            <a:ext cx="327600" cy="3276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발굴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조직 · 혈액 다중오믹스 측정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후보 마커 20개 선정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717541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098797"/>
            <a:ext cx="3608040" cy="618745"/>
          </a:xfrm>
          <a:prstGeom prst="rect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244369"/>
            <a:ext cx="327600" cy="3276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검증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 300명 검증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표적 측정법 개발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logic-04:task"/>
          <p:cNvSpPr/>
          <p:nvPr/>
        </p:nvSpPr>
        <p:spPr>
          <a:xfrm>
            <a:off x="4666440" y="5146365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logic-04:task-text"/>
          <p:cNvSpPr txBox="1"/>
          <p:nvPr/>
        </p:nvSpPr>
        <p:spPr>
          <a:xfrm>
            <a:off x="4806840" y="5146365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재현성 · 정밀도 평가</a:t>
            </a:r>
          </a:p>
        </p:txBody>
      </p:sp>
      <p:cxnSp>
        <p:nvCxnSpPr>
          <p:cNvPr id="32" name="logic-04:link"/>
          <p:cNvCxnSpPr/>
          <p:nvPr/>
        </p:nvCxnSpPr>
        <p:spPr>
          <a:xfrm>
            <a:off x="4479240" y="5386571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ogic-04:link"/>
          <p:cNvCxnSpPr/>
          <p:nvPr/>
        </p:nvCxnSpPr>
        <p:spPr>
          <a:xfrm>
            <a:off x="4479240" y="3717541"/>
            <a:ext cx="0" cy="166903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ogic-04:link"/>
          <p:cNvCxnSpPr/>
          <p:nvPr/>
        </p:nvCxnSpPr>
        <p:spPr>
          <a:xfrm>
            <a:off x="992010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ogic-04:strategy"/>
          <p:cNvSpPr/>
          <p:nvPr/>
        </p:nvSpPr>
        <p:spPr>
          <a:xfrm>
            <a:off x="8116080" y="3098797"/>
            <a:ext cx="3608040" cy="618745"/>
          </a:xfrm>
          <a:prstGeom prst="rect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marker"/>
          <p:cNvSpPr/>
          <p:nvPr/>
        </p:nvSpPr>
        <p:spPr>
          <a:xfrm>
            <a:off x="8256480" y="3244369"/>
            <a:ext cx="327600" cy="3276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7" name="logic-04:strategy-text"/>
          <p:cNvSpPr txBox="1"/>
          <p:nvPr/>
        </p:nvSpPr>
        <p:spPr>
          <a:xfrm>
            <a:off x="872448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임상 적용</a:t>
            </a:r>
          </a:p>
        </p:txBody>
      </p:sp>
      <p:sp>
        <p:nvSpPr>
          <p:cNvPr id="38" name="logic-04:task"/>
          <p:cNvSpPr/>
          <p:nvPr/>
        </p:nvSpPr>
        <p:spPr>
          <a:xfrm>
            <a:off x="849048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다기관 전향 연구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logic-04:task"/>
          <p:cNvSpPr/>
          <p:nvPr/>
        </p:nvSpPr>
        <p:spPr>
          <a:xfrm>
            <a:off x="849048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logic-04:task-text"/>
          <p:cNvSpPr txBox="1"/>
          <p:nvPr/>
        </p:nvSpPr>
        <p:spPr>
          <a:xfrm>
            <a:off x="863088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진단 키트 기술 이전</a:t>
            </a:r>
          </a:p>
        </p:txBody>
      </p:sp>
      <p:cxnSp>
        <p:nvCxnSpPr>
          <p:cNvPr id="43" name="logic-04:link"/>
          <p:cNvCxnSpPr/>
          <p:nvPr/>
        </p:nvCxnSpPr>
        <p:spPr>
          <a:xfrm>
            <a:off x="830328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ogic-04:link"/>
          <p:cNvCxnSpPr/>
          <p:nvPr/>
        </p:nvCxnSpPr>
        <p:spPr>
          <a:xfrm>
            <a:off x="8303280" y="3717541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