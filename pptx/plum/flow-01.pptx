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(flow-01-c).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(flow-01-d).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단일세포 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품질 필터링이 결과를 좌우해요</a:t>
            </a:r>
          </a:p>
        </p:txBody>
      </p:sp>
      <p:cxnSp>
        <p:nvCxnSpPr>
          <p:cNvPr id="5" name="flow-01:line"/>
          <p:cNvCxnSpPr/>
          <p:nvPr/>
        </p:nvCxnSpPr>
        <p:spPr>
          <a:xfrm>
            <a:off x="702000" y="2816041"/>
            <a:ext cx="9004896" cy="0"/>
          </a:xfrm>
          <a:prstGeom prst="line">
            <a:avLst/>
          </a:prstGeom>
          <a:ln w="15875">
            <a:solidFill>
              <a:srgbClr val="CAABC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-01:marker"/>
          <p:cNvSpPr/>
          <p:nvPr/>
        </p:nvSpPr>
        <p:spPr>
          <a:xfrm>
            <a:off x="468000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1</a:t>
            </a:r>
          </a:p>
        </p:txBody>
      </p:sp>
      <p:sp>
        <p:nvSpPr>
          <p:cNvPr id="7" name="flow-01:title"/>
          <p:cNvSpPr txBox="1"/>
          <p:nvPr/>
        </p:nvSpPr>
        <p:spPr>
          <a:xfrm>
            <a:off x="468000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세포 분리</a:t>
            </a:r>
          </a:p>
        </p:txBody>
      </p:sp>
      <p:sp>
        <p:nvSpPr>
          <p:cNvPr id="8" name="flow-01:desc"/>
          <p:cNvSpPr txBox="1"/>
          <p:nvPr/>
        </p:nvSpPr>
        <p:spPr>
          <a:xfrm>
            <a:off x="468000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조직을 효소로 풀어 단일세포 현탁액</a:t>
            </a:r>
          </a:p>
        </p:txBody>
      </p:sp>
      <p:sp>
        <p:nvSpPr>
          <p:cNvPr id="9" name="flow-01:marker"/>
          <p:cNvSpPr/>
          <p:nvPr/>
        </p:nvSpPr>
        <p:spPr>
          <a:xfrm>
            <a:off x="2719224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2</a:t>
            </a:r>
          </a:p>
        </p:txBody>
      </p:sp>
      <p:sp>
        <p:nvSpPr>
          <p:cNvPr id="10" name="flow-01:title"/>
          <p:cNvSpPr txBox="1"/>
          <p:nvPr/>
        </p:nvSpPr>
        <p:spPr>
          <a:xfrm>
            <a:off x="2719224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라이브러리 제작</a:t>
            </a:r>
          </a:p>
        </p:txBody>
      </p:sp>
      <p:sp>
        <p:nvSpPr>
          <p:cNvPr id="11" name="flow-01:desc"/>
          <p:cNvSpPr txBox="1"/>
          <p:nvPr/>
        </p:nvSpPr>
        <p:spPr>
          <a:xfrm>
            <a:off x="2719224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세포마다 바코드를 붙여 cDNA 증폭</a:t>
            </a:r>
          </a:p>
        </p:txBody>
      </p:sp>
      <p:sp>
        <p:nvSpPr>
          <p:cNvPr id="12" name="flow-01:marker"/>
          <p:cNvSpPr/>
          <p:nvPr/>
        </p:nvSpPr>
        <p:spPr>
          <a:xfrm>
            <a:off x="4970448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3</a:t>
            </a:r>
          </a:p>
        </p:txBody>
      </p:sp>
      <p:sp>
        <p:nvSpPr>
          <p:cNvPr id="13" name="flow-01:title"/>
          <p:cNvSpPr txBox="1"/>
          <p:nvPr/>
        </p:nvSpPr>
        <p:spPr>
          <a:xfrm>
            <a:off x="4970448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시퀀싱</a:t>
            </a:r>
          </a:p>
        </p:txBody>
      </p:sp>
      <p:sp>
        <p:nvSpPr>
          <p:cNvPr id="14" name="flow-01:desc"/>
          <p:cNvSpPr txBox="1"/>
          <p:nvPr/>
        </p:nvSpPr>
        <p:spPr>
          <a:xfrm>
            <a:off x="4970448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세포당 2–5만 리드</a:t>
            </a:r>
          </a:p>
        </p:txBody>
      </p:sp>
      <p:sp>
        <p:nvSpPr>
          <p:cNvPr id="15" name="flow-01:marker"/>
          <p:cNvSpPr/>
          <p:nvPr/>
        </p:nvSpPr>
        <p:spPr>
          <a:xfrm>
            <a:off x="7221672" y="2582041"/>
            <a:ext cx="468000" cy="468000"/>
          </a:xfrm>
          <a:prstGeom prst="ellipse">
            <a:avLst/>
          </a:prstGeom>
          <a:solidFill>
            <a:srgbClr val="7A2E6B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flow-01:title"/>
          <p:cNvSpPr txBox="1"/>
          <p:nvPr/>
        </p:nvSpPr>
        <p:spPr>
          <a:xfrm>
            <a:off x="7221672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7A2E6B"/>
                </a:solidFill>
              </a:rPr>
              <a:t>품질 필터링</a:t>
            </a:r>
          </a:p>
        </p:txBody>
      </p:sp>
      <p:sp>
        <p:nvSpPr>
          <p:cNvPr id="17" name="flow-01:desc"/>
          <p:cNvSpPr txBox="1"/>
          <p:nvPr/>
        </p:nvSpPr>
        <p:spPr>
          <a:xfrm>
            <a:off x="7221672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죽은 세포 · 이중 세포 제거</a:t>
            </a:r>
          </a:p>
        </p:txBody>
      </p:sp>
      <p:sp>
        <p:nvSpPr>
          <p:cNvPr id="18" name="flow-01:marker"/>
          <p:cNvSpPr/>
          <p:nvPr/>
        </p:nvSpPr>
        <p:spPr>
          <a:xfrm>
            <a:off x="9472896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5</a:t>
            </a:r>
          </a:p>
        </p:txBody>
      </p:sp>
      <p:sp>
        <p:nvSpPr>
          <p:cNvPr id="19" name="flow-01:title"/>
          <p:cNvSpPr txBox="1"/>
          <p:nvPr/>
        </p:nvSpPr>
        <p:spPr>
          <a:xfrm>
            <a:off x="9472896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군집 분석</a:t>
            </a:r>
          </a:p>
        </p:txBody>
      </p:sp>
      <p:sp>
        <p:nvSpPr>
          <p:cNvPr id="20" name="flow-01:desc"/>
          <p:cNvSpPr txBox="1"/>
          <p:nvPr/>
        </p:nvSpPr>
        <p:spPr>
          <a:xfrm>
            <a:off x="9472896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비슷한 발현끼리 묶어 세포 유형 찾기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단일세포 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단일세포 전사체 분석은 다섯 단계예요</a:t>
            </a:r>
          </a:p>
        </p:txBody>
      </p:sp>
      <p:cxnSp>
        <p:nvCxnSpPr>
          <p:cNvPr id="5" name="flow-01:line"/>
          <p:cNvCxnSpPr/>
          <p:nvPr/>
        </p:nvCxnSpPr>
        <p:spPr>
          <a:xfrm>
            <a:off x="702000" y="2816041"/>
            <a:ext cx="9004896" cy="0"/>
          </a:xfrm>
          <a:prstGeom prst="line">
            <a:avLst/>
          </a:prstGeom>
          <a:ln w="15875">
            <a:solidFill>
              <a:srgbClr val="CAABC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-01:marker"/>
          <p:cNvSpPr/>
          <p:nvPr/>
        </p:nvSpPr>
        <p:spPr>
          <a:xfrm>
            <a:off x="468000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1</a:t>
            </a:r>
          </a:p>
        </p:txBody>
      </p:sp>
      <p:sp>
        <p:nvSpPr>
          <p:cNvPr id="7" name="flow-01:title"/>
          <p:cNvSpPr txBox="1"/>
          <p:nvPr/>
        </p:nvSpPr>
        <p:spPr>
          <a:xfrm>
            <a:off x="468000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세포 분리</a:t>
            </a:r>
          </a:p>
        </p:txBody>
      </p:sp>
      <p:sp>
        <p:nvSpPr>
          <p:cNvPr id="8" name="flow-01:desc"/>
          <p:cNvSpPr txBox="1"/>
          <p:nvPr/>
        </p:nvSpPr>
        <p:spPr>
          <a:xfrm>
            <a:off x="468000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조직을 효소로 풀어 단일세포 현탁액</a:t>
            </a:r>
          </a:p>
        </p:txBody>
      </p:sp>
      <p:sp>
        <p:nvSpPr>
          <p:cNvPr id="9" name="flow-01:marker"/>
          <p:cNvSpPr/>
          <p:nvPr/>
        </p:nvSpPr>
        <p:spPr>
          <a:xfrm>
            <a:off x="2719224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2</a:t>
            </a:r>
          </a:p>
        </p:txBody>
      </p:sp>
      <p:sp>
        <p:nvSpPr>
          <p:cNvPr id="10" name="flow-01:title"/>
          <p:cNvSpPr txBox="1"/>
          <p:nvPr/>
        </p:nvSpPr>
        <p:spPr>
          <a:xfrm>
            <a:off x="2719224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라이브러리 제작</a:t>
            </a:r>
          </a:p>
        </p:txBody>
      </p:sp>
      <p:sp>
        <p:nvSpPr>
          <p:cNvPr id="11" name="flow-01:desc"/>
          <p:cNvSpPr txBox="1"/>
          <p:nvPr/>
        </p:nvSpPr>
        <p:spPr>
          <a:xfrm>
            <a:off x="2719224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세포마다 바코드를 붙여 cDNA 증폭</a:t>
            </a:r>
          </a:p>
        </p:txBody>
      </p:sp>
      <p:sp>
        <p:nvSpPr>
          <p:cNvPr id="12" name="flow-01:marker"/>
          <p:cNvSpPr/>
          <p:nvPr/>
        </p:nvSpPr>
        <p:spPr>
          <a:xfrm>
            <a:off x="4970448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3</a:t>
            </a:r>
          </a:p>
        </p:txBody>
      </p:sp>
      <p:sp>
        <p:nvSpPr>
          <p:cNvPr id="13" name="flow-01:title"/>
          <p:cNvSpPr txBox="1"/>
          <p:nvPr/>
        </p:nvSpPr>
        <p:spPr>
          <a:xfrm>
            <a:off x="4970448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시퀀싱</a:t>
            </a:r>
          </a:p>
        </p:txBody>
      </p:sp>
      <p:sp>
        <p:nvSpPr>
          <p:cNvPr id="14" name="flow-01:desc"/>
          <p:cNvSpPr txBox="1"/>
          <p:nvPr/>
        </p:nvSpPr>
        <p:spPr>
          <a:xfrm>
            <a:off x="4970448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세포당 2–5만 리드</a:t>
            </a:r>
          </a:p>
        </p:txBody>
      </p:sp>
      <p:sp>
        <p:nvSpPr>
          <p:cNvPr id="15" name="flow-01:marker"/>
          <p:cNvSpPr/>
          <p:nvPr/>
        </p:nvSpPr>
        <p:spPr>
          <a:xfrm>
            <a:off x="7221672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4</a:t>
            </a:r>
          </a:p>
        </p:txBody>
      </p:sp>
      <p:sp>
        <p:nvSpPr>
          <p:cNvPr id="16" name="flow-01:title"/>
          <p:cNvSpPr txBox="1"/>
          <p:nvPr/>
        </p:nvSpPr>
        <p:spPr>
          <a:xfrm>
            <a:off x="7221672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품질 필터링</a:t>
            </a:r>
          </a:p>
        </p:txBody>
      </p:sp>
      <p:sp>
        <p:nvSpPr>
          <p:cNvPr id="17" name="flow-01:desc"/>
          <p:cNvSpPr txBox="1"/>
          <p:nvPr/>
        </p:nvSpPr>
        <p:spPr>
          <a:xfrm>
            <a:off x="7221672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죽은 세포 · 이중 세포 제거</a:t>
            </a:r>
          </a:p>
        </p:txBody>
      </p:sp>
      <p:sp>
        <p:nvSpPr>
          <p:cNvPr id="18" name="flow-01:marker"/>
          <p:cNvSpPr/>
          <p:nvPr/>
        </p:nvSpPr>
        <p:spPr>
          <a:xfrm>
            <a:off x="9472896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5</a:t>
            </a:r>
          </a:p>
        </p:txBody>
      </p:sp>
      <p:sp>
        <p:nvSpPr>
          <p:cNvPr id="19" name="flow-01:title"/>
          <p:cNvSpPr txBox="1"/>
          <p:nvPr/>
        </p:nvSpPr>
        <p:spPr>
          <a:xfrm>
            <a:off x="9472896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군집 분석</a:t>
            </a:r>
          </a:p>
        </p:txBody>
      </p:sp>
      <p:sp>
        <p:nvSpPr>
          <p:cNvPr id="20" name="flow-01:desc"/>
          <p:cNvSpPr txBox="1"/>
          <p:nvPr/>
        </p:nvSpPr>
        <p:spPr>
          <a:xfrm>
            <a:off x="9472896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비슷한 발현끼리 묶어 세포 유형 찾기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RNA-seq 시료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RIN 7 이상인 시료만 다음 단계로 보내요</a:t>
            </a:r>
          </a:p>
        </p:txBody>
      </p:sp>
      <p:cxnSp>
        <p:nvCxnSpPr>
          <p:cNvPr id="5" name="flow-01:line"/>
          <p:cNvCxnSpPr/>
          <p:nvPr/>
        </p:nvCxnSpPr>
        <p:spPr>
          <a:xfrm>
            <a:off x="702000" y="2744612"/>
            <a:ext cx="7504080" cy="0"/>
          </a:xfrm>
          <a:prstGeom prst="line">
            <a:avLst/>
          </a:prstGeom>
          <a:ln w="15875">
            <a:solidFill>
              <a:srgbClr val="CAABC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-01:marker"/>
          <p:cNvSpPr/>
          <p:nvPr/>
        </p:nvSpPr>
        <p:spPr>
          <a:xfrm>
            <a:off x="468000" y="2510612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1</a:t>
            </a:r>
          </a:p>
        </p:txBody>
      </p:sp>
      <p:sp>
        <p:nvSpPr>
          <p:cNvPr id="7" name="flow-01:title"/>
          <p:cNvSpPr txBox="1"/>
          <p:nvPr/>
        </p:nvSpPr>
        <p:spPr>
          <a:xfrm>
            <a:off x="468000" y="3142412"/>
            <a:ext cx="3471240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RNA 추출</a:t>
            </a:r>
          </a:p>
        </p:txBody>
      </p:sp>
      <p:sp>
        <p:nvSpPr>
          <p:cNvPr id="8" name="flow-01:desc"/>
          <p:cNvSpPr txBox="1"/>
          <p:nvPr/>
        </p:nvSpPr>
        <p:spPr>
          <a:xfrm>
            <a:off x="468000" y="3521954"/>
            <a:ext cx="34712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조직 30 mg에서 총 RNA</a:t>
            </a:r>
          </a:p>
        </p:txBody>
      </p:sp>
      <p:sp>
        <p:nvSpPr>
          <p:cNvPr id="9" name="flow-01:marker"/>
          <p:cNvSpPr/>
          <p:nvPr/>
        </p:nvSpPr>
        <p:spPr>
          <a:xfrm>
            <a:off x="4220040" y="2510612"/>
            <a:ext cx="468000" cy="468000"/>
          </a:xfrm>
          <a:prstGeom prst="ellipse">
            <a:avLst/>
          </a:prstGeom>
          <a:solidFill>
            <a:srgbClr val="7A2E6B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flow-01:title"/>
          <p:cNvSpPr txBox="1"/>
          <p:nvPr/>
        </p:nvSpPr>
        <p:spPr>
          <a:xfrm>
            <a:off x="4220040" y="3142412"/>
            <a:ext cx="3471240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7A2E6B"/>
                </a:solidFill>
              </a:rPr>
              <a:t>품질 확인</a:t>
            </a:r>
          </a:p>
        </p:txBody>
      </p:sp>
      <p:sp>
        <p:nvSpPr>
          <p:cNvPr id="11" name="flow-01:desc"/>
          <p:cNvSpPr txBox="1"/>
          <p:nvPr/>
        </p:nvSpPr>
        <p:spPr>
          <a:xfrm>
            <a:off x="4220040" y="3521954"/>
            <a:ext cx="34712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Bioanalyzer로 RIN 측정</a:t>
            </a:r>
          </a:p>
        </p:txBody>
      </p:sp>
      <p:sp>
        <p:nvSpPr>
          <p:cNvPr id="12" name="flow-01:marker"/>
          <p:cNvSpPr/>
          <p:nvPr/>
        </p:nvSpPr>
        <p:spPr>
          <a:xfrm>
            <a:off x="7972080" y="2510612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3</a:t>
            </a:r>
          </a:p>
        </p:txBody>
      </p:sp>
      <p:sp>
        <p:nvSpPr>
          <p:cNvPr id="13" name="flow-01:title"/>
          <p:cNvSpPr txBox="1"/>
          <p:nvPr/>
        </p:nvSpPr>
        <p:spPr>
          <a:xfrm>
            <a:off x="7972080" y="3142412"/>
            <a:ext cx="3471240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라이브러리</a:t>
            </a:r>
          </a:p>
        </p:txBody>
      </p:sp>
      <p:sp>
        <p:nvSpPr>
          <p:cNvPr id="14" name="flow-01:desc"/>
          <p:cNvSpPr txBox="1"/>
          <p:nvPr/>
        </p:nvSpPr>
        <p:spPr>
          <a:xfrm>
            <a:off x="7972080" y="3521954"/>
            <a:ext cx="34712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poly-A 선택 후 제작</a:t>
            </a:r>
          </a:p>
        </p:txBody>
      </p:sp>
      <p:sp>
        <p:nvSpPr>
          <p:cNvPr id="15" name="flow-01:note"/>
          <p:cNvSpPr txBox="1"/>
          <p:nvPr/>
        </p:nvSpPr>
        <p:spPr>
          <a:xfrm>
            <a:off x="468000" y="4012222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대상: 대장 조직 48개, 같은 날 같은 키트로 처리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단일세포 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품질 필터링이 결과를 좌우해요</a:t>
            </a:r>
          </a:p>
        </p:txBody>
      </p:sp>
      <p:cxnSp>
        <p:nvCxnSpPr>
          <p:cNvPr id="5" name="flow-01:line"/>
          <p:cNvCxnSpPr/>
          <p:nvPr/>
        </p:nvCxnSpPr>
        <p:spPr>
          <a:xfrm>
            <a:off x="702000" y="2576509"/>
            <a:ext cx="9004896" cy="0"/>
          </a:xfrm>
          <a:prstGeom prst="line">
            <a:avLst/>
          </a:prstGeom>
          <a:ln w="15875">
            <a:solidFill>
              <a:srgbClr val="CAABC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-01:marker"/>
          <p:cNvSpPr/>
          <p:nvPr/>
        </p:nvSpPr>
        <p:spPr>
          <a:xfrm>
            <a:off x="468000" y="2342509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1</a:t>
            </a:r>
          </a:p>
        </p:txBody>
      </p:sp>
      <p:sp>
        <p:nvSpPr>
          <p:cNvPr id="7" name="flow-01:title"/>
          <p:cNvSpPr txBox="1"/>
          <p:nvPr/>
        </p:nvSpPr>
        <p:spPr>
          <a:xfrm>
            <a:off x="468000" y="2974309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세포 분리</a:t>
            </a:r>
          </a:p>
        </p:txBody>
      </p:sp>
      <p:sp>
        <p:nvSpPr>
          <p:cNvPr id="8" name="flow-01:desc"/>
          <p:cNvSpPr txBox="1"/>
          <p:nvPr/>
        </p:nvSpPr>
        <p:spPr>
          <a:xfrm>
            <a:off x="468000" y="3353851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조직을 효소로 풀어 단일세포 현탁액</a:t>
            </a:r>
          </a:p>
        </p:txBody>
      </p:sp>
      <p:sp>
        <p:nvSpPr>
          <p:cNvPr id="9" name="flow-01:marker"/>
          <p:cNvSpPr/>
          <p:nvPr/>
        </p:nvSpPr>
        <p:spPr>
          <a:xfrm>
            <a:off x="2719224" y="2342509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2</a:t>
            </a:r>
          </a:p>
        </p:txBody>
      </p:sp>
      <p:sp>
        <p:nvSpPr>
          <p:cNvPr id="10" name="flow-01:title"/>
          <p:cNvSpPr txBox="1"/>
          <p:nvPr/>
        </p:nvSpPr>
        <p:spPr>
          <a:xfrm>
            <a:off x="2719224" y="2974309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라이브러리 제작</a:t>
            </a:r>
          </a:p>
        </p:txBody>
      </p:sp>
      <p:sp>
        <p:nvSpPr>
          <p:cNvPr id="11" name="flow-01:desc"/>
          <p:cNvSpPr txBox="1"/>
          <p:nvPr/>
        </p:nvSpPr>
        <p:spPr>
          <a:xfrm>
            <a:off x="2719224" y="3353851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세포마다 바코드를 붙여 cDNA 증폭</a:t>
            </a:r>
          </a:p>
        </p:txBody>
      </p:sp>
      <p:sp>
        <p:nvSpPr>
          <p:cNvPr id="12" name="flow-01:marker"/>
          <p:cNvSpPr/>
          <p:nvPr/>
        </p:nvSpPr>
        <p:spPr>
          <a:xfrm>
            <a:off x="4970448" y="2342509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3</a:t>
            </a:r>
          </a:p>
        </p:txBody>
      </p:sp>
      <p:sp>
        <p:nvSpPr>
          <p:cNvPr id="13" name="flow-01:title"/>
          <p:cNvSpPr txBox="1"/>
          <p:nvPr/>
        </p:nvSpPr>
        <p:spPr>
          <a:xfrm>
            <a:off x="4970448" y="2974309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시퀀싱</a:t>
            </a:r>
          </a:p>
        </p:txBody>
      </p:sp>
      <p:sp>
        <p:nvSpPr>
          <p:cNvPr id="14" name="flow-01:desc"/>
          <p:cNvSpPr txBox="1"/>
          <p:nvPr/>
        </p:nvSpPr>
        <p:spPr>
          <a:xfrm>
            <a:off x="4970448" y="3353851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세포당 2–5만 리드</a:t>
            </a:r>
          </a:p>
        </p:txBody>
      </p:sp>
      <p:sp>
        <p:nvSpPr>
          <p:cNvPr id="15" name="flow-01:marker"/>
          <p:cNvSpPr/>
          <p:nvPr/>
        </p:nvSpPr>
        <p:spPr>
          <a:xfrm>
            <a:off x="7221672" y="2342509"/>
            <a:ext cx="468000" cy="468000"/>
          </a:xfrm>
          <a:prstGeom prst="ellipse">
            <a:avLst/>
          </a:prstGeom>
          <a:solidFill>
            <a:srgbClr val="7A2E6B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flow-01:title"/>
          <p:cNvSpPr txBox="1"/>
          <p:nvPr/>
        </p:nvSpPr>
        <p:spPr>
          <a:xfrm>
            <a:off x="7221672" y="2974309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7A2E6B"/>
                </a:solidFill>
              </a:rPr>
              <a:t>품질 필터링</a:t>
            </a:r>
          </a:p>
        </p:txBody>
      </p:sp>
      <p:sp>
        <p:nvSpPr>
          <p:cNvPr id="17" name="flow-01:desc"/>
          <p:cNvSpPr txBox="1"/>
          <p:nvPr/>
        </p:nvSpPr>
        <p:spPr>
          <a:xfrm>
            <a:off x="7221672" y="3353851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죽은 세포 · 이중 세포 제거</a:t>
            </a:r>
          </a:p>
        </p:txBody>
      </p:sp>
      <p:sp>
        <p:nvSpPr>
          <p:cNvPr id="18" name="flow-01:marker"/>
          <p:cNvSpPr/>
          <p:nvPr/>
        </p:nvSpPr>
        <p:spPr>
          <a:xfrm>
            <a:off x="9472896" y="2342509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5</a:t>
            </a:r>
          </a:p>
        </p:txBody>
      </p:sp>
      <p:sp>
        <p:nvSpPr>
          <p:cNvPr id="19" name="flow-01:title"/>
          <p:cNvSpPr txBox="1"/>
          <p:nvPr/>
        </p:nvSpPr>
        <p:spPr>
          <a:xfrm>
            <a:off x="9472896" y="2974309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군집 분석</a:t>
            </a:r>
          </a:p>
        </p:txBody>
      </p:sp>
      <p:sp>
        <p:nvSpPr>
          <p:cNvPr id="20" name="flow-01:desc"/>
          <p:cNvSpPr txBox="1"/>
          <p:nvPr/>
        </p:nvSpPr>
        <p:spPr>
          <a:xfrm>
            <a:off x="9472896" y="3353851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비슷한 발현끼리 묶어 세포 유형 찾기</a:t>
            </a:r>
          </a:p>
        </p:txBody>
      </p:sp>
      <p:cxnSp>
        <p:nvCxnSpPr>
          <p:cNvPr id="21" name="conclusion:line"/>
          <p:cNvCxnSpPr/>
          <p:nvPr/>
        </p:nvCxnSpPr>
        <p:spPr>
          <a:xfrm>
            <a:off x="468000" y="408238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onclusion:text"/>
          <p:cNvSpPr txBox="1"/>
          <p:nvPr/>
        </p:nvSpPr>
        <p:spPr>
          <a:xfrm>
            <a:off x="468000" y="4280387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필터링 뒤 세포 12,480개 중 </a:t>
            </a:r>
            <a:r>
              <a:rPr sz="1400" b="1" spc="-40">
                <a:solidFill>
                  <a:srgbClr val="262B33"/>
                </a:solidFill>
              </a:rPr>
              <a:t>9,730개(78%)</a:t>
            </a:r>
            <a:r>
              <a:rPr sz="1400" b="0" spc="-40">
                <a:solidFill>
                  <a:srgbClr val="6B7280"/>
                </a:solidFill>
              </a:rPr>
              <a:t>가 남았어요.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플럼 클린 16:9">
  <a:themeElements>
    <a:clrScheme name="HaLab 플럼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2E6B"/>
      </a:accent1>
      <a:accent2>
        <a:srgbClr val="A9779F"/>
      </a:accent2>
      <a:accent3>
        <a:srgbClr val="CAABC4"/>
      </a:accent3>
      <a:accent4>
        <a:srgbClr val="2BB3A6"/>
      </a:accent4>
      <a:accent5>
        <a:srgbClr val="CAABC4"/>
      </a:accent5>
      <a:accent6>
        <a:srgbClr val="E2E5EA"/>
      </a:accent6>
      <a:hlink>
        <a:srgbClr val="7A2E6B"/>
      </a:hlink>
      <a:folHlink>
        <a:srgbClr val="CAABC4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