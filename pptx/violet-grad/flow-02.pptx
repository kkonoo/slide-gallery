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50000">
                <a:srgbClr val="2F5BC8"/>
              </a:gs>
              <a:gs pos="100000">
                <a:srgbClr val="0C7E7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50000">
                <a:srgbClr val="2F5BC8"/>
              </a:gs>
              <a:gs pos="100000">
                <a:srgbClr val="0C7E7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디컨볼루션으로 스팟 속 세포 유형을 추정해요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599355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ED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599355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1  </a:t>
            </a:r>
            <a:r>
              <a:rPr sz="1600" b="1" spc="-40">
                <a:solidFill>
                  <a:srgbClr val="262B33"/>
                </a:solidFill>
              </a:rPr>
              <a:t>조직 절편</a:t>
            </a:r>
          </a:p>
        </p:txBody>
      </p:sp>
      <p:sp>
        <p:nvSpPr>
          <p:cNvPr id="7" name="flow-02:desc"/>
          <p:cNvSpPr txBox="1"/>
          <p:nvPr/>
        </p:nvSpPr>
        <p:spPr>
          <a:xfrm>
            <a:off x="538200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동결 조직 10 µm 절편을 캡처 영역에 올림</a:t>
            </a:r>
          </a:p>
        </p:txBody>
      </p:sp>
      <p:sp>
        <p:nvSpPr>
          <p:cNvPr id="8" name="flow-02:chevron"/>
          <p:cNvSpPr/>
          <p:nvPr/>
        </p:nvSpPr>
        <p:spPr>
          <a:xfrm>
            <a:off x="2689344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C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2:title"/>
          <p:cNvSpPr txBox="1"/>
          <p:nvPr/>
        </p:nvSpPr>
        <p:spPr>
          <a:xfrm>
            <a:off x="2993544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2  </a:t>
            </a:r>
            <a:r>
              <a:rPr sz="1600" b="1" spc="-40">
                <a:solidFill>
                  <a:srgbClr val="262B33"/>
                </a:solidFill>
              </a:rPr>
              <a:t>cDNA 합성</a:t>
            </a:r>
          </a:p>
        </p:txBody>
      </p:sp>
      <p:sp>
        <p:nvSpPr>
          <p:cNvPr id="10" name="flow-02:desc"/>
          <p:cNvSpPr txBox="1"/>
          <p:nvPr/>
        </p:nvSpPr>
        <p:spPr>
          <a:xfrm>
            <a:off x="3016944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투과 처리 후 바코드 올리고에 붙은 mRNA 역전사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4910688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A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5214888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3  </a:t>
            </a:r>
            <a:r>
              <a:rPr sz="16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3" name="flow-02:desc"/>
          <p:cNvSpPr txBox="1"/>
          <p:nvPr/>
        </p:nvSpPr>
        <p:spPr>
          <a:xfrm>
            <a:off x="5238288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라이브러리 제작 후 Illumina 시퀀싱</a:t>
            </a:r>
          </a:p>
        </p:txBody>
      </p:sp>
      <p:sp>
        <p:nvSpPr>
          <p:cNvPr id="14" name="flow-02:chevron"/>
          <p:cNvSpPr/>
          <p:nvPr/>
        </p:nvSpPr>
        <p:spPr>
          <a:xfrm>
            <a:off x="7132032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7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2:title"/>
          <p:cNvSpPr txBox="1"/>
          <p:nvPr/>
        </p:nvSpPr>
        <p:spPr>
          <a:xfrm>
            <a:off x="7436232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4  </a:t>
            </a:r>
            <a:r>
              <a:rPr sz="1600" b="1" spc="-40">
                <a:solidFill>
                  <a:srgbClr val="262B33"/>
                </a:solidFill>
              </a:rPr>
              <a:t>스팟 매핑</a:t>
            </a:r>
          </a:p>
        </p:txBody>
      </p:sp>
      <p:sp>
        <p:nvSpPr>
          <p:cNvPr id="16" name="flow-02:desc"/>
          <p:cNvSpPr txBox="1"/>
          <p:nvPr/>
        </p:nvSpPr>
        <p:spPr>
          <a:xfrm>
            <a:off x="7459632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Space Ranger로 리드를 스팟 좌표에 배정</a:t>
            </a:r>
          </a:p>
        </p:txBody>
      </p:sp>
      <p:sp>
        <p:nvSpPr>
          <p:cNvPr id="17" name="flow-02:chevron"/>
          <p:cNvSpPr/>
          <p:nvPr/>
        </p:nvSpPr>
        <p:spPr>
          <a:xfrm>
            <a:off x="9353376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137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2:title"/>
          <p:cNvSpPr txBox="1"/>
          <p:nvPr/>
        </p:nvSpPr>
        <p:spPr>
          <a:xfrm>
            <a:off x="9657576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FFFFFF"/>
                </a:solidFill>
              </a:rPr>
              <a:t>5  </a:t>
            </a:r>
            <a:r>
              <a:rPr sz="1600" b="1" spc="-40">
                <a:solidFill>
                  <a:srgbClr val="FFFFFF"/>
                </a:solidFill>
              </a:rPr>
              <a:t>디컨볼루션</a:t>
            </a:r>
          </a:p>
        </p:txBody>
      </p:sp>
      <p:sp>
        <p:nvSpPr>
          <p:cNvPr id="19" name="flow-02:desc"/>
          <p:cNvSpPr txBox="1"/>
          <p:nvPr/>
        </p:nvSpPr>
        <p:spPr>
          <a:xfrm>
            <a:off x="9680976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스팟마다 세포 유형 비율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실험은 다섯 단계예요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824800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ED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824800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1  </a:t>
            </a:r>
            <a:r>
              <a:rPr sz="1600" b="1" spc="-40">
                <a:solidFill>
                  <a:srgbClr val="262B33"/>
                </a:solidFill>
              </a:rPr>
              <a:t>조직 절편</a:t>
            </a:r>
          </a:p>
        </p:txBody>
      </p:sp>
      <p:sp>
        <p:nvSpPr>
          <p:cNvPr id="7" name="flow-02:chevron"/>
          <p:cNvSpPr/>
          <p:nvPr/>
        </p:nvSpPr>
        <p:spPr>
          <a:xfrm>
            <a:off x="2689344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C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2:title"/>
          <p:cNvSpPr txBox="1"/>
          <p:nvPr/>
        </p:nvSpPr>
        <p:spPr>
          <a:xfrm>
            <a:off x="2993544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2  </a:t>
            </a:r>
            <a:r>
              <a:rPr sz="1600" b="1" spc="-40">
                <a:solidFill>
                  <a:srgbClr val="262B33"/>
                </a:solidFill>
              </a:rPr>
              <a:t>cDNA 합성</a:t>
            </a:r>
          </a:p>
        </p:txBody>
      </p:sp>
      <p:sp>
        <p:nvSpPr>
          <p:cNvPr id="9" name="flow-02:chevron"/>
          <p:cNvSpPr/>
          <p:nvPr/>
        </p:nvSpPr>
        <p:spPr>
          <a:xfrm>
            <a:off x="4910688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A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2:title"/>
          <p:cNvSpPr txBox="1"/>
          <p:nvPr/>
        </p:nvSpPr>
        <p:spPr>
          <a:xfrm>
            <a:off x="5214888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3  </a:t>
            </a:r>
            <a:r>
              <a:rPr sz="16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7132032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7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7436232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4  </a:t>
            </a:r>
            <a:r>
              <a:rPr sz="1600" b="1" spc="-40">
                <a:solidFill>
                  <a:srgbClr val="262B33"/>
                </a:solidFill>
              </a:rPr>
              <a:t>스팟 매핑</a:t>
            </a:r>
          </a:p>
        </p:txBody>
      </p:sp>
      <p:sp>
        <p:nvSpPr>
          <p:cNvPr id="13" name="flow-02:chevron"/>
          <p:cNvSpPr/>
          <p:nvPr/>
        </p:nvSpPr>
        <p:spPr>
          <a:xfrm>
            <a:off x="9353376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2:title"/>
          <p:cNvSpPr txBox="1"/>
          <p:nvPr/>
        </p:nvSpPr>
        <p:spPr>
          <a:xfrm>
            <a:off x="9657576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5  </a:t>
            </a:r>
            <a:r>
              <a:rPr sz="1600" b="1" spc="-40">
                <a:solidFill>
                  <a:srgbClr val="262B33"/>
                </a:solidFill>
              </a:rPr>
              <a:t>디컨볼루션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