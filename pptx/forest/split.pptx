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 쪽 면역세포가 치료 반응을 가를 수 있어요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19264"/>
            <a:ext cx="5520060" cy="795145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1871264"/>
            <a:ext cx="5016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클러스터 3 = 종양 경계의 면역세포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2630409"/>
            <a:ext cx="552006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경계에 모여 있어요.</a:t>
            </a:r>
            <a:r>
              <a:rPr sz="1400" b="0" spc="-40">
                <a:solidFill>
                  <a:srgbClr val="6B7280"/>
                </a:solidFill>
              </a:rPr>
              <a:t> 클러스터 3 스팟의 대부분이 종양 가장자리 두 칸 안에 있어요.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유전자가 높아요.</a:t>
            </a:r>
            <a:r>
              <a:rPr sz="1400" b="0" spc="-40">
                <a:solidFill>
                  <a:srgbClr val="6B7280"/>
                </a:solidFill>
              </a:rPr>
              <a:t> 면역세포 표지 유전자 점수가 다른 클러스터보다 높아요.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다음 분석:</a:t>
            </a:r>
            <a:r>
              <a:rPr sz="1400" b="0" spc="-40">
                <a:solidFill>
                  <a:srgbClr val="6B7280"/>
                </a:solidFill>
              </a:rPr>
              <a:t> 치료 반응군과 무반응군에서 이 클러스터 비율을 비교해요.</a:t>
            </a:r>
          </a:p>
        </p:txBody>
      </p:sp>
      <p:pic>
        <p:nvPicPr>
          <p:cNvPr id="8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060" y="1619264"/>
            <a:ext cx="5520060" cy="414004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caption"/>
          <p:cNvSpPr txBox="1"/>
          <p:nvPr/>
        </p:nvSpPr>
        <p:spPr>
          <a:xfrm>
            <a:off x="6204060" y="5831309"/>
            <a:ext cx="5520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 발현 (임의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제목에는 결론을 문장으로 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45479"/>
            <a:ext cx="3680040" cy="1990926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1897479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왜 결론부터?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315017"/>
            <a:ext cx="3176040" cy="0"/>
          </a:xfrm>
          <a:prstGeom prst="line">
            <a:avLst/>
          </a:prstGeom>
          <a:ln w="12700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2423017"/>
            <a:ext cx="3176040" cy="961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제목만 넘겨 읽어도</a:t>
            </a:r>
            <a:r>
              <a:rPr sz="1400" b="0" spc="-40">
                <a:solidFill>
                  <a:srgbClr val="6B7280"/>
                </a:solidFill>
              </a:rPr>
              <a:t> 이야기가 이어져야 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듣는 사람은 그래프를 보기 전에 무엇을 찾아야 하는지 알게 돼요.</a:t>
            </a:r>
          </a:p>
        </p:txBody>
      </p:sp>
      <p:sp>
        <p:nvSpPr>
          <p:cNvPr id="9" name="list-01:heading"/>
          <p:cNvSpPr txBox="1"/>
          <p:nvPr/>
        </p:nvSpPr>
        <p:spPr>
          <a:xfrm>
            <a:off x="4364040" y="1645479"/>
            <a:ext cx="736008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슬라이드 한 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364040" y="2023479"/>
            <a:ext cx="736008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st-01:line"/>
          <p:cNvCxnSpPr/>
          <p:nvPr/>
        </p:nvCxnSpPr>
        <p:spPr>
          <a:xfrm>
            <a:off x="4364040" y="3085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marker"/>
          <p:cNvSpPr/>
          <p:nvPr/>
        </p:nvSpPr>
        <p:spPr>
          <a:xfrm>
            <a:off x="4364040" y="2263488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832040" y="2261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4832040" y="2607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364040" y="4111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marker"/>
          <p:cNvSpPr/>
          <p:nvPr/>
        </p:nvSpPr>
        <p:spPr>
          <a:xfrm>
            <a:off x="4364040" y="3289488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4832040" y="3287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4832040" y="3633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9" name="list-01:line"/>
          <p:cNvCxnSpPr/>
          <p:nvPr/>
        </p:nvCxnSpPr>
        <p:spPr>
          <a:xfrm>
            <a:off x="4364040" y="5137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ist-01:marker"/>
          <p:cNvSpPr/>
          <p:nvPr/>
        </p:nvSpPr>
        <p:spPr>
          <a:xfrm>
            <a:off x="4364040" y="4315488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4832040" y="4313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4832040" y="4659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4364040" y="5341488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4832040" y="5339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4832040" y="5685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1:heading"/>
          <p:cNvSpPr txBox="1"/>
          <p:nvPr/>
        </p:nvSpPr>
        <p:spPr>
          <a:xfrm>
            <a:off x="468000" y="1879198"/>
            <a:ext cx="736008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 수를 정하는 법</a:t>
            </a:r>
          </a:p>
        </p:txBody>
      </p:sp>
      <p:sp>
        <p:nvSpPr>
          <p:cNvPr id="6" name="text-01:lines"/>
          <p:cNvSpPr txBox="1"/>
          <p:nvPr/>
        </p:nvSpPr>
        <p:spPr>
          <a:xfrm>
            <a:off x="468000" y="2332736"/>
            <a:ext cx="736008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1장은 1분, 데이터 장은 1.5–2분으로 잡아요.</a:t>
            </a:r>
          </a:p>
        </p:txBody>
      </p:sp>
      <p:cxnSp>
        <p:nvCxnSpPr>
          <p:cNvPr id="7" name="list-01:line"/>
          <p:cNvCxnSpPr/>
          <p:nvPr/>
        </p:nvCxnSpPr>
        <p:spPr>
          <a:xfrm>
            <a:off x="468000" y="3846477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319533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15분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532583" y="319533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12–15장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857622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4206477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학회 구두 발표 12분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532583" y="4206477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10–12장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521762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 30분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532583" y="521762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figure 수에 맞춰</a:t>
            </a:r>
          </a:p>
        </p:txBody>
      </p:sp>
      <p:sp>
        <p:nvSpPr>
          <p:cNvPr id="15" name="text-02:bg"/>
          <p:cNvSpPr/>
          <p:nvPr/>
        </p:nvSpPr>
        <p:spPr>
          <a:xfrm>
            <a:off x="8044080" y="1879198"/>
            <a:ext cx="3680040" cy="170433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-02:title"/>
          <p:cNvSpPr txBox="1"/>
          <p:nvPr/>
        </p:nvSpPr>
        <p:spPr>
          <a:xfrm>
            <a:off x="8296080" y="2131198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줄이는 순서</a:t>
            </a:r>
          </a:p>
        </p:txBody>
      </p:sp>
      <p:cxnSp>
        <p:nvCxnSpPr>
          <p:cNvPr id="17" name="text-02:line"/>
          <p:cNvCxnSpPr/>
          <p:nvPr/>
        </p:nvCxnSpPr>
        <p:spPr>
          <a:xfrm>
            <a:off x="8296080" y="2548736"/>
            <a:ext cx="3176040" cy="0"/>
          </a:xfrm>
          <a:prstGeom prst="line">
            <a:avLst/>
          </a:prstGeom>
          <a:ln w="12700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-02:lines"/>
          <p:cNvSpPr txBox="1"/>
          <p:nvPr/>
        </p:nvSpPr>
        <p:spPr>
          <a:xfrm>
            <a:off x="8296080" y="2656736"/>
            <a:ext cx="317604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보충 슬라이드로 보낼 것부터 골라요.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그다음 결과 장을 메시지 하나씩으로 합쳐요.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