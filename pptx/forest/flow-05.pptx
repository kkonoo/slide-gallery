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QC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기준을 통과한 샘플만 정렬·정량으로 넘어간다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896468"/>
            <a:ext cx="2701469" cy="4813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25326" y="1896468"/>
            <a:ext cx="2341469" cy="4813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시퀀싱 원자료 (FASTQ)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377835"/>
            <a:ext cx="0" cy="304188"/>
          </a:xfrm>
          <a:prstGeom prst="line">
            <a:avLst/>
          </a:prstGeom>
          <a:ln w="1587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745326" y="2682023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5326" y="2682023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기준 통과?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2953595"/>
            <a:ext cx="1463296" cy="0"/>
          </a:xfrm>
          <a:prstGeom prst="line">
            <a:avLst/>
          </a:prstGeom>
          <a:ln w="1587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2953595"/>
            <a:ext cx="0" cy="913637"/>
          </a:xfrm>
          <a:prstGeom prst="line">
            <a:avLst/>
          </a:prstGeom>
          <a:ln w="15875">
            <a:solidFill>
              <a:srgbClr val="1F52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301139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301139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통과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1482030" y="3867232"/>
            <a:ext cx="3600000" cy="89123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62603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정렬 · 정량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STAR 정렬 후 유전자별 count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46794" y="2953595"/>
            <a:ext cx="146329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2953595"/>
            <a:ext cx="0" cy="913637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639456" y="3411200"/>
            <a:ext cx="54126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639456" y="3411200"/>
            <a:ext cx="54126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미달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7110090" y="3867232"/>
            <a:ext cx="3600000" cy="8912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7254090" y="3867232"/>
            <a:ext cx="3312000" cy="891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재시퀀싱 요청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라이브러리로 업체에 재요청</a:t>
            </a:r>
          </a:p>
        </p:txBody>
      </p:sp>
      <p:cxnSp>
        <p:nvCxnSpPr>
          <p:cNvPr id="22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120개 샘플 중 102개가 통과해 바로 분석에 들어갔다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참조와 맞지 않는 클러스터는 새 세포 유형 후보로 따로 본다</a:t>
            </a:r>
          </a:p>
        </p:txBody>
      </p:sp>
      <p:sp>
        <p:nvSpPr>
          <p:cNvPr id="5" name="flow-05:decision"/>
          <p:cNvSpPr/>
          <p:nvPr/>
        </p:nvSpPr>
        <p:spPr>
          <a:xfrm>
            <a:off x="4745326" y="1896468"/>
            <a:ext cx="2701469" cy="5431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decision-text"/>
          <p:cNvSpPr txBox="1"/>
          <p:nvPr/>
        </p:nvSpPr>
        <p:spPr>
          <a:xfrm>
            <a:off x="4925326" y="1896468"/>
            <a:ext cx="2341469" cy="543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참조 주석과 일치도는?</a:t>
            </a:r>
          </a:p>
        </p:txBody>
      </p:sp>
      <p:cxnSp>
        <p:nvCxnSpPr>
          <p:cNvPr id="7" name="flow-05:branch"/>
          <p:cNvCxnSpPr/>
          <p:nvPr/>
        </p:nvCxnSpPr>
        <p:spPr>
          <a:xfrm flipH="1">
            <a:off x="2344020" y="2168040"/>
            <a:ext cx="2401306" cy="0"/>
          </a:xfrm>
          <a:prstGeom prst="line">
            <a:avLst/>
          </a:prstGeom>
          <a:ln w="9525">
            <a:solidFill>
              <a:srgbClr val="AEB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5:branch"/>
          <p:cNvCxnSpPr/>
          <p:nvPr/>
        </p:nvCxnSpPr>
        <p:spPr>
          <a:xfrm>
            <a:off x="2344020" y="2168040"/>
            <a:ext cx="0" cy="1468382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-05:condition"/>
          <p:cNvSpPr/>
          <p:nvPr/>
        </p:nvSpPr>
        <p:spPr>
          <a:xfrm>
            <a:off x="1893566" y="2903018"/>
            <a:ext cx="9009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5:condition-text"/>
          <p:cNvSpPr txBox="1"/>
          <p:nvPr/>
        </p:nvSpPr>
        <p:spPr>
          <a:xfrm>
            <a:off x="1893566" y="2903018"/>
            <a:ext cx="9009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90% 이상</a:t>
            </a:r>
          </a:p>
        </p:txBody>
      </p:sp>
      <p:sp>
        <p:nvSpPr>
          <p:cNvPr id="11" name="flow-05:result"/>
          <p:cNvSpPr/>
          <p:nvPr/>
        </p:nvSpPr>
        <p:spPr>
          <a:xfrm>
            <a:off x="72402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5:result-text"/>
          <p:cNvSpPr txBox="1"/>
          <p:nvPr/>
        </p:nvSpPr>
        <p:spPr>
          <a:xfrm>
            <a:off x="86802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확정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참조 라벨을 그대로 쓴다</a:t>
            </a:r>
          </a:p>
        </p:txBody>
      </p:sp>
      <p:cxnSp>
        <p:nvCxnSpPr>
          <p:cNvPr id="13" name="flow-05:branch"/>
          <p:cNvCxnSpPr/>
          <p:nvPr/>
        </p:nvCxnSpPr>
        <p:spPr>
          <a:xfrm>
            <a:off x="6096060" y="2439613"/>
            <a:ext cx="0" cy="1196809"/>
          </a:xfrm>
          <a:prstGeom prst="line">
            <a:avLst/>
          </a:prstGeom>
          <a:ln w="9525">
            <a:solidFill>
              <a:srgbClr val="AEB1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05:condition"/>
          <p:cNvSpPr/>
          <p:nvPr/>
        </p:nvSpPr>
        <p:spPr>
          <a:xfrm>
            <a:off x="5665363" y="2903018"/>
            <a:ext cx="86139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AE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condition-text"/>
          <p:cNvSpPr txBox="1"/>
          <p:nvPr/>
        </p:nvSpPr>
        <p:spPr>
          <a:xfrm>
            <a:off x="5665363" y="2903018"/>
            <a:ext cx="86139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70–90%</a:t>
            </a:r>
          </a:p>
        </p:txBody>
      </p:sp>
      <p:sp>
        <p:nvSpPr>
          <p:cNvPr id="16" name="flow-05:result"/>
          <p:cNvSpPr/>
          <p:nvPr/>
        </p:nvSpPr>
        <p:spPr>
          <a:xfrm>
            <a:off x="4476060" y="3636422"/>
            <a:ext cx="3240000" cy="112204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5:result-text"/>
          <p:cNvSpPr txBox="1"/>
          <p:nvPr/>
        </p:nvSpPr>
        <p:spPr>
          <a:xfrm>
            <a:off x="462006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마커로 수동 확인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알려진 마커 유전자 3개 이상</a:t>
            </a:r>
          </a:p>
        </p:txBody>
      </p:sp>
      <p:cxnSp>
        <p:nvCxnSpPr>
          <p:cNvPr id="18" name="flow-05:branch"/>
          <p:cNvCxnSpPr/>
          <p:nvPr/>
        </p:nvCxnSpPr>
        <p:spPr>
          <a:xfrm>
            <a:off x="7446794" y="2168040"/>
            <a:ext cx="2401306" cy="0"/>
          </a:xfrm>
          <a:prstGeom prst="line">
            <a:avLst/>
          </a:prstGeom>
          <a:ln w="1587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5:branch"/>
          <p:cNvCxnSpPr/>
          <p:nvPr/>
        </p:nvCxnSpPr>
        <p:spPr>
          <a:xfrm>
            <a:off x="9848100" y="2168040"/>
            <a:ext cx="0" cy="1468382"/>
          </a:xfrm>
          <a:prstGeom prst="line">
            <a:avLst/>
          </a:prstGeom>
          <a:ln w="15875">
            <a:solidFill>
              <a:srgbClr val="1F52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5:condition"/>
          <p:cNvSpPr/>
          <p:nvPr/>
        </p:nvSpPr>
        <p:spPr>
          <a:xfrm>
            <a:off x="9403934" y="2903018"/>
            <a:ext cx="88833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condition-text"/>
          <p:cNvSpPr txBox="1"/>
          <p:nvPr/>
        </p:nvSpPr>
        <p:spPr>
          <a:xfrm>
            <a:off x="9403934" y="2903018"/>
            <a:ext cx="88833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70% 미만</a:t>
            </a:r>
          </a:p>
        </p:txBody>
      </p:sp>
      <p:sp>
        <p:nvSpPr>
          <p:cNvPr id="22" name="flow-05:result"/>
          <p:cNvSpPr/>
          <p:nvPr/>
        </p:nvSpPr>
        <p:spPr>
          <a:xfrm>
            <a:off x="8228100" y="3636422"/>
            <a:ext cx="3240000" cy="1122046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5:result-text"/>
          <p:cNvSpPr txBox="1"/>
          <p:nvPr/>
        </p:nvSpPr>
        <p:spPr>
          <a:xfrm>
            <a:off x="8372100" y="3636422"/>
            <a:ext cx="2952000" cy="11220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FFFFFF"/>
                </a:solidFill>
              </a:rPr>
              <a:t>새 세포 유형 후보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추가 실험으로 검증</a:t>
            </a:r>
          </a:p>
        </p:txBody>
      </p:sp>
      <p:cxnSp>
        <p:nvCxnSpPr>
          <p:cNvPr id="2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클러스터 24개 중 3개가 후보로 남았다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변이 해석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병원성 기준을 만족한 변이만 임상 보고서에 싣는다</a:t>
            </a:r>
          </a:p>
        </p:txBody>
      </p:sp>
      <p:sp>
        <p:nvSpPr>
          <p:cNvPr id="5" name="flow-05:start"/>
          <p:cNvSpPr/>
          <p:nvPr/>
        </p:nvSpPr>
        <p:spPr>
          <a:xfrm>
            <a:off x="4745326" y="1988825"/>
            <a:ext cx="2701469" cy="54616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5:start-text"/>
          <p:cNvSpPr txBox="1"/>
          <p:nvPr/>
        </p:nvSpPr>
        <p:spPr>
          <a:xfrm>
            <a:off x="4979326" y="1988825"/>
            <a:ext cx="2233469" cy="5461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262B33"/>
                </a:solidFill>
              </a:rPr>
              <a:t>후보 변이 목록</a:t>
            </a:r>
          </a:p>
        </p:txBody>
      </p:sp>
      <p:cxnSp>
        <p:nvCxnSpPr>
          <p:cNvPr id="7" name="flow-05:trunk"/>
          <p:cNvCxnSpPr/>
          <p:nvPr/>
        </p:nvCxnSpPr>
        <p:spPr>
          <a:xfrm>
            <a:off x="6096060" y="2534991"/>
            <a:ext cx="0" cy="3744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05:decision"/>
          <p:cNvSpPr/>
          <p:nvPr/>
        </p:nvSpPr>
        <p:spPr>
          <a:xfrm>
            <a:off x="4692674" y="2909391"/>
            <a:ext cx="2806771" cy="6187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5:decision-text"/>
          <p:cNvSpPr txBox="1"/>
          <p:nvPr/>
        </p:nvSpPr>
        <p:spPr>
          <a:xfrm>
            <a:off x="4926674" y="2909391"/>
            <a:ext cx="2338772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ACMG 병원성 기준 충족?</a:t>
            </a:r>
          </a:p>
        </p:txBody>
      </p:sp>
      <p:cxnSp>
        <p:nvCxnSpPr>
          <p:cNvPr id="10" name="flow-05:branch"/>
          <p:cNvCxnSpPr/>
          <p:nvPr/>
        </p:nvCxnSpPr>
        <p:spPr>
          <a:xfrm flipH="1">
            <a:off x="3282030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5:branch"/>
          <p:cNvCxnSpPr/>
          <p:nvPr/>
        </p:nvCxnSpPr>
        <p:spPr>
          <a:xfrm>
            <a:off x="328203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5:condition"/>
          <p:cNvSpPr/>
          <p:nvPr/>
        </p:nvSpPr>
        <p:spPr>
          <a:xfrm>
            <a:off x="2968196" y="3750436"/>
            <a:ext cx="627668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flow-05:condition-text"/>
          <p:cNvSpPr txBox="1"/>
          <p:nvPr/>
        </p:nvSpPr>
        <p:spPr>
          <a:xfrm>
            <a:off x="2968196" y="3750436"/>
            <a:ext cx="627668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충족</a:t>
            </a:r>
          </a:p>
        </p:txBody>
      </p:sp>
      <p:sp>
        <p:nvSpPr>
          <p:cNvPr id="14" name="flow-05:result"/>
          <p:cNvSpPr/>
          <p:nvPr/>
        </p:nvSpPr>
        <p:spPr>
          <a:xfrm>
            <a:off x="94203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5:result-text"/>
          <p:cNvSpPr txBox="1"/>
          <p:nvPr/>
        </p:nvSpPr>
        <p:spPr>
          <a:xfrm>
            <a:off x="112923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임상 보고서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담당 의사에게 2주 안에 전달</a:t>
            </a:r>
          </a:p>
        </p:txBody>
      </p:sp>
      <p:cxnSp>
        <p:nvCxnSpPr>
          <p:cNvPr id="16" name="flow-05:branch"/>
          <p:cNvCxnSpPr/>
          <p:nvPr/>
        </p:nvCxnSpPr>
        <p:spPr>
          <a:xfrm>
            <a:off x="7499446" y="3218764"/>
            <a:ext cx="141064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5:branch"/>
          <p:cNvCxnSpPr/>
          <p:nvPr/>
        </p:nvCxnSpPr>
        <p:spPr>
          <a:xfrm>
            <a:off x="8910090" y="3218764"/>
            <a:ext cx="0" cy="110497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low-05:condition"/>
          <p:cNvSpPr/>
          <p:nvPr/>
        </p:nvSpPr>
        <p:spPr>
          <a:xfrm>
            <a:off x="8532939" y="3750436"/>
            <a:ext cx="754302" cy="35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5:condition-text"/>
          <p:cNvSpPr txBox="1"/>
          <p:nvPr/>
        </p:nvSpPr>
        <p:spPr>
          <a:xfrm>
            <a:off x="8532939" y="3750436"/>
            <a:ext cx="754302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미충족</a:t>
            </a:r>
          </a:p>
        </p:txBody>
      </p:sp>
      <p:sp>
        <p:nvSpPr>
          <p:cNvPr id="20" name="flow-05:result"/>
          <p:cNvSpPr/>
          <p:nvPr/>
        </p:nvSpPr>
        <p:spPr>
          <a:xfrm>
            <a:off x="6570090" y="4323736"/>
            <a:ext cx="4680000" cy="968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5:result-text"/>
          <p:cNvSpPr txBox="1"/>
          <p:nvPr/>
        </p:nvSpPr>
        <p:spPr>
          <a:xfrm>
            <a:off x="6757290" y="4323736"/>
            <a:ext cx="4305600" cy="9686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연구용 목록 보관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근거가 쌓이면 다시 판정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