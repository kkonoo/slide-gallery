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분석에는 샘플 95개를 썼어요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08624" y="1770360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49024" y="1770360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34726" y="2342305"/>
            <a:ext cx="0" cy="1247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34726" y="2966290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82027" y="2482705"/>
            <a:ext cx="2701469" cy="967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122427" y="2599705"/>
            <a:ext cx="2420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08624" y="3590276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49024" y="3590276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34726" y="4162221"/>
            <a:ext cx="0" cy="995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34726" y="4659778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82027" y="4302621"/>
            <a:ext cx="2701469" cy="714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122427" y="4419621"/>
            <a:ext cx="2420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08624" y="5157335"/>
            <a:ext cx="4052203" cy="5719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49024" y="5157335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52개, 대조군 43개를 비교해요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49124" y="1591712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62524" y="1591712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75226" y="2109657"/>
            <a:ext cx="0" cy="1148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75226" y="2684142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41527" y="2223057"/>
            <a:ext cx="2701469" cy="922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054927" y="2317557"/>
            <a:ext cx="2474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49124" y="3258628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62524" y="3258628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75226" y="3776573"/>
            <a:ext cx="0" cy="896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75226" y="4224630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41527" y="3889973"/>
            <a:ext cx="2701469" cy="669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054927" y="3984473"/>
            <a:ext cx="2474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49124" y="4672687"/>
            <a:ext cx="4052203" cy="5179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62524" y="4672687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cxnSp>
        <p:nvCxnSpPr>
          <p:cNvPr id="19" name="res-02:split"/>
          <p:cNvCxnSpPr/>
          <p:nvPr/>
        </p:nvCxnSpPr>
        <p:spPr>
          <a:xfrm>
            <a:off x="4575226" y="5190632"/>
            <a:ext cx="0" cy="189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s-02:split"/>
          <p:cNvCxnSpPr/>
          <p:nvPr/>
        </p:nvCxnSpPr>
        <p:spPr>
          <a:xfrm>
            <a:off x="3224675" y="5379632"/>
            <a:ext cx="270110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s-02:split"/>
          <p:cNvCxnSpPr/>
          <p:nvPr/>
        </p:nvCxnSpPr>
        <p:spPr>
          <a:xfrm>
            <a:off x="3224675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2:box"/>
          <p:cNvSpPr/>
          <p:nvPr/>
        </p:nvSpPr>
        <p:spPr>
          <a:xfrm>
            <a:off x="1982124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2:box-text"/>
          <p:cNvSpPr txBox="1"/>
          <p:nvPr/>
        </p:nvSpPr>
        <p:spPr>
          <a:xfrm>
            <a:off x="2095524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환자군  </a:t>
            </a:r>
            <a:r>
              <a:rPr sz="1600" b="1" spc="-40">
                <a:solidFill>
                  <a:srgbClr val="262B33"/>
                </a:solidFill>
              </a:rPr>
              <a:t>n = 52</a:t>
            </a:r>
          </a:p>
        </p:txBody>
      </p:sp>
      <p:cxnSp>
        <p:nvCxnSpPr>
          <p:cNvPr id="24" name="res-02:split"/>
          <p:cNvCxnSpPr/>
          <p:nvPr/>
        </p:nvCxnSpPr>
        <p:spPr>
          <a:xfrm>
            <a:off x="5925776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2:box"/>
          <p:cNvSpPr/>
          <p:nvPr/>
        </p:nvSpPr>
        <p:spPr>
          <a:xfrm>
            <a:off x="4683226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2:box-text"/>
          <p:cNvSpPr txBox="1"/>
          <p:nvPr/>
        </p:nvSpPr>
        <p:spPr>
          <a:xfrm>
            <a:off x="4796626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대조군  </a:t>
            </a:r>
            <a:r>
              <a:rPr sz="1600" b="1" spc="-40">
                <a:solidFill>
                  <a:srgbClr val="262B33"/>
                </a:solidFill>
              </a:rPr>
              <a:t>n = 43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