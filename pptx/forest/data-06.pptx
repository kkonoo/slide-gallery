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자산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연구실 단일세포 데이터가 2년 만에 일곱 배로 늘었다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078263" y="4370205"/>
            <a:ext cx="6447696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774963" y="3134049"/>
            <a:ext cx="4282606" cy="771689"/>
          </a:xfrm>
          <a:custGeom>
            <a:avLst/>
            <a:gdLst/>
            <a:ahLst/>
            <a:cxnLst/>
            <a:rect l="l" t="t" r="r" b="b"/>
            <a:pathLst>
              <a:path w="4282606" h="771689">
                <a:moveTo>
                  <a:pt x="0" y="771689"/>
                </a:moveTo>
                <a:lnTo>
                  <a:pt x="1755458" y="409631"/>
                </a:lnTo>
                <a:lnTo>
                  <a:pt x="4282606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1310496" y="3441272"/>
            <a:ext cx="928933" cy="928933"/>
          </a:xfrm>
          <a:prstGeom prst="ellipse">
            <a:avLst/>
          </a:prstGeom>
          <a:solidFill>
            <a:srgbClr val="DD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310496" y="3723773"/>
            <a:ext cx="928933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114263" y="4460205"/>
            <a:ext cx="13214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703896" y="2717156"/>
            <a:ext cx="1653049" cy="1653049"/>
          </a:xfrm>
          <a:prstGeom prst="ellipse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703896" y="3361715"/>
            <a:ext cx="1653049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38만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2507663" y="4460205"/>
            <a:ext cx="204551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4821412" y="1897892"/>
            <a:ext cx="2472313" cy="2472313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label"/>
          <p:cNvSpPr txBox="1"/>
          <p:nvPr/>
        </p:nvSpPr>
        <p:spPr>
          <a:xfrm>
            <a:off x="4625179" y="4460205"/>
            <a:ext cx="28647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5" name="data-06:big"/>
          <p:cNvSpPr txBox="1"/>
          <p:nvPr/>
        </p:nvSpPr>
        <p:spPr>
          <a:xfrm>
            <a:off x="7741959" y="2564943"/>
            <a:ext cx="3371899" cy="818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 spc="-40">
                <a:solidFill>
                  <a:srgbClr val="1F5236"/>
                </a:solidFill>
              </a:rPr>
              <a:t>85만 세포</a:t>
            </a:r>
          </a:p>
        </p:txBody>
      </p:sp>
      <p:sp>
        <p:nvSpPr>
          <p:cNvPr id="16" name="data-06:note"/>
          <p:cNvSpPr txBox="1"/>
          <p:nvPr/>
        </p:nvSpPr>
        <p:spPr>
          <a:xfrm>
            <a:off x="7741959" y="3437788"/>
            <a:ext cx="33718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2023년 대비 </a:t>
            </a:r>
            <a:r>
              <a:rPr sz="1400" b="1" spc="-40">
                <a:solidFill>
                  <a:srgbClr val="262B33"/>
                </a:solidFill>
              </a:rPr>
              <a:t>7.1배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162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9621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늘어난 세포의 70%는 환자 조직이라, 드문 면역세포 아형까지 따로 비교할 수 있게 됐다.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공개 데이터 활용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공개한 아틀라스 내려받기가 3년 만에 여덟 배가 됐다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741534" y="5002952"/>
            <a:ext cx="520155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2544616" y="3472952"/>
            <a:ext cx="2600777" cy="994612"/>
          </a:xfrm>
          <a:custGeom>
            <a:avLst/>
            <a:gdLst/>
            <a:ahLst/>
            <a:cxnLst/>
            <a:rect l="l" t="t" r="r" b="b"/>
            <a:pathLst>
              <a:path w="2600777" h="994612">
                <a:moveTo>
                  <a:pt x="0" y="994612"/>
                </a:moveTo>
                <a:lnTo>
                  <a:pt x="2600777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2009228" y="3932175"/>
            <a:ext cx="1070777" cy="1070777"/>
          </a:xfrm>
          <a:prstGeom prst="ellipse">
            <a:avLst/>
          </a:prstGeom>
          <a:solidFill>
            <a:srgbClr val="DD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777534" y="3532244"/>
            <a:ext cx="1534165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1,200회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777534" y="5092952"/>
            <a:ext cx="153416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3615393" y="1942952"/>
            <a:ext cx="3060000" cy="3060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label"/>
          <p:cNvSpPr txBox="1"/>
          <p:nvPr/>
        </p:nvSpPr>
        <p:spPr>
          <a:xfrm>
            <a:off x="3383699" y="5092952"/>
            <a:ext cx="352338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2" name="data-06:big"/>
          <p:cNvSpPr txBox="1"/>
          <p:nvPr/>
        </p:nvSpPr>
        <p:spPr>
          <a:xfrm>
            <a:off x="7159088" y="2873519"/>
            <a:ext cx="3291499" cy="8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800" b="1" spc="-40">
                <a:solidFill>
                  <a:srgbClr val="1F5236"/>
                </a:solidFill>
              </a:rPr>
              <a:t>9,800회</a:t>
            </a:r>
          </a:p>
        </p:txBody>
      </p:sp>
      <p:sp>
        <p:nvSpPr>
          <p:cNvPr id="13" name="data-06:note"/>
          <p:cNvSpPr txBox="1"/>
          <p:nvPr/>
        </p:nvSpPr>
        <p:spPr>
          <a:xfrm>
            <a:off x="7159088" y="3807019"/>
            <a:ext cx="32914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3년 만에 </a:t>
            </a:r>
            <a:r>
              <a:rPr sz="1400" b="1" spc="-40">
                <a:solidFill>
                  <a:srgbClr val="262B33"/>
                </a:solidFill>
              </a:rPr>
              <a:t>8.2배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등록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등록 환자는 해마다 늘어 1,204명에 이르렀다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778897" y="4085732"/>
            <a:ext cx="707241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320882" y="3062052"/>
            <a:ext cx="5326085" cy="662356"/>
          </a:xfrm>
          <a:custGeom>
            <a:avLst/>
            <a:gdLst/>
            <a:ahLst/>
            <a:cxnLst/>
            <a:rect l="l" t="t" r="r" b="b"/>
            <a:pathLst>
              <a:path w="5326085" h="662356">
                <a:moveTo>
                  <a:pt x="0" y="662356"/>
                </a:moveTo>
                <a:lnTo>
                  <a:pt x="1327258" y="419070"/>
                </a:lnTo>
                <a:lnTo>
                  <a:pt x="3117137" y="199735"/>
                </a:lnTo>
                <a:lnTo>
                  <a:pt x="5326085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959558" y="3363084"/>
            <a:ext cx="722647" cy="722647"/>
          </a:xfrm>
          <a:prstGeom prst="ellipse">
            <a:avLst/>
          </a:prstGeom>
          <a:solidFill>
            <a:srgbClr val="DD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814897" y="2963153"/>
            <a:ext cx="1011971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150명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814897" y="4175732"/>
            <a:ext cx="1011971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043530" y="2876511"/>
            <a:ext cx="1209220" cy="1209220"/>
          </a:xfrm>
          <a:prstGeom prst="ellipse">
            <a:avLst/>
          </a:prstGeom>
          <a:solidFill>
            <a:srgbClr val="C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043530" y="3299156"/>
            <a:ext cx="120922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420명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1898868" y="4175732"/>
            <a:ext cx="149854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3614074" y="2437842"/>
            <a:ext cx="1647890" cy="1647890"/>
          </a:xfrm>
          <a:prstGeom prst="ellipse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value"/>
          <p:cNvSpPr txBox="1"/>
          <p:nvPr/>
        </p:nvSpPr>
        <p:spPr>
          <a:xfrm>
            <a:off x="3614074" y="3079821"/>
            <a:ext cx="164789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780명</a:t>
            </a:r>
          </a:p>
        </p:txBody>
      </p:sp>
      <p:sp>
        <p:nvSpPr>
          <p:cNvPr id="15" name="data-06:label"/>
          <p:cNvSpPr txBox="1"/>
          <p:nvPr/>
        </p:nvSpPr>
        <p:spPr>
          <a:xfrm>
            <a:off x="3469412" y="4175732"/>
            <a:ext cx="193721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6" name="data-06:circle"/>
          <p:cNvSpPr/>
          <p:nvPr/>
        </p:nvSpPr>
        <p:spPr>
          <a:xfrm>
            <a:off x="5623287" y="2038372"/>
            <a:ext cx="2047359" cy="2047359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6:label"/>
          <p:cNvSpPr txBox="1"/>
          <p:nvPr/>
        </p:nvSpPr>
        <p:spPr>
          <a:xfrm>
            <a:off x="5478625" y="4175732"/>
            <a:ext cx="23366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8" name="data-06:big"/>
          <p:cNvSpPr txBox="1"/>
          <p:nvPr/>
        </p:nvSpPr>
        <p:spPr>
          <a:xfrm>
            <a:off x="8067308" y="2591974"/>
            <a:ext cx="3345915" cy="940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200" b="1" spc="-40">
                <a:solidFill>
                  <a:srgbClr val="1F5236"/>
                </a:solidFill>
              </a:rPr>
              <a:t>1,204명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6906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488865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3개 병원이 새로 참여한 2024년부터 등록 속도가 두 배로 빨라졌다.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