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실습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배우기 쉽고 해석도 쉬운 도구부터 실습한다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896468"/>
            <a:ext cx="4998060" cy="1143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배울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39613"/>
            <a:ext cx="5690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39613"/>
            <a:ext cx="5690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1F5236"/>
                </a:solidFill>
              </a:rPr>
              <a:t>IGV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315069" y="2439613"/>
            <a:ext cx="13364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315069" y="2439613"/>
            <a:ext cx="13364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1F5236"/>
                </a:solidFill>
              </a:rPr>
              <a:t>UCSC 브라우저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896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시간 들여 배울 도구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39613"/>
            <a:ext cx="88443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39613"/>
            <a:ext cx="88443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DESeq2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844494" y="2439613"/>
            <a:ext cx="7212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844494" y="2439613"/>
            <a:ext cx="7212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GSEA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결과만 참고할 도구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3798613"/>
            <a:ext cx="80365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3798613"/>
            <a:ext cx="80365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BLAST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 학기 제외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3798613"/>
            <a:ext cx="14015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3798613"/>
            <a:ext cx="14015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Seurat 통합 분석</a:t>
            </a:r>
          </a:p>
        </p:txBody>
      </p:sp>
      <p:cxnSp>
        <p:nvCxnSpPr>
          <p:cNvPr id="25" name="struct-07:axis"/>
          <p:cNvCxnSpPr/>
          <p:nvPr/>
        </p:nvCxnSpPr>
        <p:spPr>
          <a:xfrm flipV="1">
            <a:off x="1422000" y="1896468"/>
            <a:ext cx="0" cy="2592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uct-07:axis"/>
          <p:cNvCxnSpPr/>
          <p:nvPr/>
        </p:nvCxnSpPr>
        <p:spPr>
          <a:xfrm>
            <a:off x="1422000" y="4488468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truct-07:y-high"/>
          <p:cNvSpPr txBox="1"/>
          <p:nvPr/>
        </p:nvSpPr>
        <p:spPr>
          <a:xfrm>
            <a:off x="468000" y="1896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8" name="struct-07:y-low"/>
          <p:cNvSpPr txBox="1"/>
          <p:nvPr/>
        </p:nvSpPr>
        <p:spPr>
          <a:xfrm>
            <a:off x="468000" y="4182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9" name="struct-07:y-title"/>
          <p:cNvSpPr txBox="1"/>
          <p:nvPr/>
        </p:nvSpPr>
        <p:spPr>
          <a:xfrm>
            <a:off x="468000" y="3029190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30" name="struct-07:x-low"/>
          <p:cNvSpPr txBox="1"/>
          <p:nvPr/>
        </p:nvSpPr>
        <p:spPr>
          <a:xfrm>
            <a:off x="1512000" y="4596468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31" name="struct-07:x-high"/>
          <p:cNvSpPr txBox="1"/>
          <p:nvPr/>
        </p:nvSpPr>
        <p:spPr>
          <a:xfrm>
            <a:off x="11236218" y="4596468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2" name="struct-07:x-title"/>
          <p:cNvSpPr txBox="1"/>
          <p:nvPr/>
        </p:nvSpPr>
        <p:spPr>
          <a:xfrm>
            <a:off x="6185549" y="4596468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학습 난이도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실습 1–4주는 왼쪽 위 칸 도구로만 진행하고, 5주부터 오른쪽 위 칸으로 넘어간다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후속 연구 우선순위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효과가 크지만 어려운 과제에 인력을 먼저 배정한다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바로 할 일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이번 분기 안에 끝낸다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717043"/>
            <a:ext cx="99745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717043"/>
            <a:ext cx="99745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QC 자동화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743457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743457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메타데이터 표준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핵심 투자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박사후연구원 2명 배정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1F5236"/>
                </a:solidFill>
              </a:rPr>
              <a:t>공간전사체 통합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8283689" y="2717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8283689" y="2717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1F5236"/>
                </a:solidFill>
              </a:rPr>
              <a:t>예후 모델 검증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틈날 때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학생 연습 과제로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양식 정리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보류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장비 도입 뒤 다시 검토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장기 생존 추적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8182437" y="4373043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8182437" y="4373043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단백체 연계</a:t>
            </a:r>
          </a:p>
        </p:txBody>
      </p:sp>
      <p:cxnSp>
        <p:nvCxnSpPr>
          <p:cNvPr id="27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0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1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기대 효과</a:t>
            </a:r>
          </a:p>
        </p:txBody>
      </p:sp>
      <p:sp>
        <p:nvSpPr>
          <p:cNvPr id="32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3" name="struct-07:x-high"/>
          <p:cNvSpPr txBox="1"/>
          <p:nvPr/>
        </p:nvSpPr>
        <p:spPr>
          <a:xfrm>
            <a:off x="1136285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4" name="struct-07:x-title"/>
          <p:cNvSpPr txBox="1"/>
          <p:nvPr/>
        </p:nvSpPr>
        <p:spPr>
          <a:xfrm>
            <a:off x="6185549" y="5202000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구현 난이도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후보 유전자 분류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변화가 크고 생존과도 연관된 유전자 4개를 고른다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3022" y="1908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7022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 표지 후보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7022" y="2451145"/>
            <a:ext cx="94570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7022" y="2451145"/>
            <a:ext cx="94570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CDKN2A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692723" y="2451145"/>
            <a:ext cx="70482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692723" y="2451145"/>
            <a:ext cx="70482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TP53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571" y="1908000"/>
            <a:ext cx="4997549" cy="1440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571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1순위 실험 후보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571" y="2451145"/>
            <a:ext cx="78624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571" y="2451145"/>
            <a:ext cx="78624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1F5236"/>
                </a:solidFill>
              </a:rPr>
              <a:t>MMP9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746817" y="2451145"/>
            <a:ext cx="67596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746817" y="2451145"/>
            <a:ext cx="67596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1F5236"/>
                </a:solidFill>
              </a:rPr>
              <a:t>SPP1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8512783" y="2451145"/>
            <a:ext cx="921838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8512783" y="2451145"/>
            <a:ext cx="921838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1F5236"/>
                </a:solidFill>
              </a:rPr>
              <a:t>COL11A1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1513022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1657022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1657022" y="4107145"/>
            <a:ext cx="72239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1657022" y="4107145"/>
            <a:ext cx="72239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ACTB</a:t>
            </a:r>
          </a:p>
        </p:txBody>
      </p:sp>
      <p:sp>
        <p:nvSpPr>
          <p:cNvPr id="23" name="struct-07:quadrant"/>
          <p:cNvSpPr/>
          <p:nvPr/>
        </p:nvSpPr>
        <p:spPr>
          <a:xfrm>
            <a:off x="6726571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name"/>
          <p:cNvSpPr txBox="1"/>
          <p:nvPr/>
        </p:nvSpPr>
        <p:spPr>
          <a:xfrm>
            <a:off x="6870571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기전 확인 후보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6870571" y="4107145"/>
            <a:ext cx="838080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6870571" y="4107145"/>
            <a:ext cx="83808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POSTN</a:t>
            </a:r>
          </a:p>
        </p:txBody>
      </p:sp>
      <p:sp>
        <p:nvSpPr>
          <p:cNvPr id="27" name="struct-07:item"/>
          <p:cNvSpPr/>
          <p:nvPr/>
        </p:nvSpPr>
        <p:spPr>
          <a:xfrm>
            <a:off x="7798651" y="4107145"/>
            <a:ext cx="59156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7:item-text"/>
          <p:cNvSpPr txBox="1"/>
          <p:nvPr/>
        </p:nvSpPr>
        <p:spPr>
          <a:xfrm>
            <a:off x="7798651" y="4107145"/>
            <a:ext cx="59156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FN1</a:t>
            </a:r>
          </a:p>
        </p:txBody>
      </p:sp>
      <p:cxnSp>
        <p:nvCxnSpPr>
          <p:cNvPr id="29" name="struct-07:axis"/>
          <p:cNvCxnSpPr/>
          <p:nvPr/>
        </p:nvCxnSpPr>
        <p:spPr>
          <a:xfrm flipV="1">
            <a:off x="1423022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uct-07:axis"/>
          <p:cNvCxnSpPr/>
          <p:nvPr/>
        </p:nvCxnSpPr>
        <p:spPr>
          <a:xfrm>
            <a:off x="1423022" y="5094000"/>
            <a:ext cx="10301098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truct-07:y-high"/>
          <p:cNvSpPr txBox="1"/>
          <p:nvPr/>
        </p:nvSpPr>
        <p:spPr>
          <a:xfrm>
            <a:off x="468000" y="190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있음</a:t>
            </a:r>
          </a:p>
        </p:txBody>
      </p:sp>
      <p:sp>
        <p:nvSpPr>
          <p:cNvPr id="32" name="struct-07:y-low"/>
          <p:cNvSpPr txBox="1"/>
          <p:nvPr/>
        </p:nvSpPr>
        <p:spPr>
          <a:xfrm>
            <a:off x="468000" y="478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없음</a:t>
            </a:r>
          </a:p>
        </p:txBody>
      </p:sp>
      <p:sp>
        <p:nvSpPr>
          <p:cNvPr id="33" name="struct-07:y-title"/>
          <p:cNvSpPr txBox="1"/>
          <p:nvPr/>
        </p:nvSpPr>
        <p:spPr>
          <a:xfrm>
            <a:off x="468000" y="3337722"/>
            <a:ext cx="757022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연관성</a:t>
            </a:r>
          </a:p>
        </p:txBody>
      </p:sp>
      <p:sp>
        <p:nvSpPr>
          <p:cNvPr id="34" name="struct-07:x-low"/>
          <p:cNvSpPr txBox="1"/>
          <p:nvPr/>
        </p:nvSpPr>
        <p:spPr>
          <a:xfrm>
            <a:off x="151302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작음</a:t>
            </a:r>
          </a:p>
        </p:txBody>
      </p:sp>
      <p:sp>
        <p:nvSpPr>
          <p:cNvPr id="35" name="struct-07:x-high"/>
          <p:cNvSpPr txBox="1"/>
          <p:nvPr/>
        </p:nvSpPr>
        <p:spPr>
          <a:xfrm>
            <a:off x="11489486" y="5202000"/>
            <a:ext cx="23463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큼</a:t>
            </a:r>
          </a:p>
        </p:txBody>
      </p:sp>
      <p:sp>
        <p:nvSpPr>
          <p:cNvPr id="36" name="struct-07:x-title"/>
          <p:cNvSpPr txBox="1"/>
          <p:nvPr/>
        </p:nvSpPr>
        <p:spPr>
          <a:xfrm>
            <a:off x="5917694" y="5202000"/>
            <a:ext cx="140175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발현 변화 (log2FC)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