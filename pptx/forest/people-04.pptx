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277220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7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eople-04:name"/>
          <p:cNvSpPr txBox="1"/>
          <p:nvPr/>
        </p:nvSpPr>
        <p:spPr>
          <a:xfrm>
            <a:off x="468000" y="2897532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19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21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5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eople-04:name"/>
          <p:cNvSpPr txBox="1"/>
          <p:nvPr/>
        </p:nvSpPr>
        <p:spPr>
          <a:xfrm>
            <a:off x="468000" y="3517844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27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29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6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eople-04:name"/>
          <p:cNvSpPr txBox="1"/>
          <p:nvPr/>
        </p:nvSpPr>
        <p:spPr>
          <a:xfrm>
            <a:off x="468000" y="4138156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38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40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1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3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역할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명이 실험 · 분석 · 관리를 겹치지 않게 맡는다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습식 실험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609301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분석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8944570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장비 · 시약 관리</a:t>
            </a:r>
          </a:p>
        </p:txBody>
      </p:sp>
      <p:cxnSp>
        <p:nvCxnSpPr>
          <p:cNvPr id="8" name="people-04:head-rule"/>
          <p:cNvCxnSpPr/>
          <p:nvPr/>
        </p:nvCxnSpPr>
        <p:spPr>
          <a:xfrm>
            <a:off x="468000" y="2055145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eople-04:name"/>
          <p:cNvSpPr txBox="1"/>
          <p:nvPr/>
        </p:nvSpPr>
        <p:spPr>
          <a:xfrm>
            <a:off x="468000" y="2055145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김OO (박사과정)</a:t>
            </a:r>
          </a:p>
        </p:txBody>
      </p:sp>
      <p:sp>
        <p:nvSpPr>
          <p:cNvPr id="10" name="people-04:mark"/>
          <p:cNvSpPr/>
          <p:nvPr/>
        </p:nvSpPr>
        <p:spPr>
          <a:xfrm>
            <a:off x="426665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4:mark-text"/>
          <p:cNvSpPr txBox="1"/>
          <p:nvPr/>
        </p:nvSpPr>
        <p:spPr>
          <a:xfrm>
            <a:off x="426665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711820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711820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cxnSp>
        <p:nvCxnSpPr>
          <p:cNvPr id="14" name="people-04:row-rule"/>
          <p:cNvCxnSpPr/>
          <p:nvPr/>
        </p:nvCxnSpPr>
        <p:spPr>
          <a:xfrm>
            <a:off x="468000" y="2864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eople-04:name"/>
          <p:cNvSpPr txBox="1"/>
          <p:nvPr/>
        </p:nvSpPr>
        <p:spPr>
          <a:xfrm>
            <a:off x="468000" y="2864516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이OO (석사과정)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42666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42666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18" name="people-04:mark"/>
          <p:cNvSpPr/>
          <p:nvPr/>
        </p:nvSpPr>
        <p:spPr>
          <a:xfrm>
            <a:off x="99697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eople-04:mark-text"/>
          <p:cNvSpPr txBox="1"/>
          <p:nvPr/>
        </p:nvSpPr>
        <p:spPr>
          <a:xfrm>
            <a:off x="99697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6738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673887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박OO (석사과정)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925572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925572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4" name="people-04:row-rule"/>
          <p:cNvCxnSpPr/>
          <p:nvPr/>
        </p:nvCxnSpPr>
        <p:spPr>
          <a:xfrm>
            <a:off x="468000" y="448325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eople-04:name"/>
          <p:cNvSpPr txBox="1"/>
          <p:nvPr/>
        </p:nvSpPr>
        <p:spPr>
          <a:xfrm>
            <a:off x="468000" y="4483258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최OO (연구원)</a:t>
            </a:r>
          </a:p>
        </p:txBody>
      </p:sp>
      <p:sp>
        <p:nvSpPr>
          <p:cNvPr id="26" name="people-04:mark"/>
          <p:cNvSpPr/>
          <p:nvPr/>
        </p:nvSpPr>
        <p:spPr>
          <a:xfrm>
            <a:off x="42666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people-04:mark-text"/>
          <p:cNvSpPr txBox="1"/>
          <p:nvPr/>
        </p:nvSpPr>
        <p:spPr>
          <a:xfrm>
            <a:off x="42666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99697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99697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cxnSp>
        <p:nvCxnSpPr>
          <p:cNvPr id="30" name="people-04:row-rule"/>
          <p:cNvCxnSpPr/>
          <p:nvPr/>
        </p:nvCxnSpPr>
        <p:spPr>
          <a:xfrm>
            <a:off x="468000" y="529262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eople-04:name"/>
          <p:cNvSpPr txBox="1"/>
          <p:nvPr/>
        </p:nvSpPr>
        <p:spPr>
          <a:xfrm>
            <a:off x="468000" y="5292629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정OO (학부 연구생)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426665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426665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34" name="people-04:mark"/>
          <p:cNvSpPr/>
          <p:nvPr/>
        </p:nvSpPr>
        <p:spPr>
          <a:xfrm>
            <a:off x="711820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people-04:mark-text"/>
          <p:cNvSpPr txBox="1"/>
          <p:nvPr/>
        </p:nvSpPr>
        <p:spPr>
          <a:xfrm>
            <a:off x="711820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컨소시엄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다섯 세부 과제를 나눠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495239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유전체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666332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전사체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837426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AI 모델</a:t>
            </a:r>
          </a:p>
        </p:txBody>
      </p:sp>
      <p:sp>
        <p:nvSpPr>
          <p:cNvPr id="9" name="people-04:role"/>
          <p:cNvSpPr txBox="1"/>
          <p:nvPr/>
        </p:nvSpPr>
        <p:spPr>
          <a:xfrm>
            <a:off x="1008519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cxnSp>
        <p:nvCxnSpPr>
          <p:cNvPr id="10" name="people-04:head-rule"/>
          <p:cNvCxnSpPr/>
          <p:nvPr/>
        </p:nvCxnSpPr>
        <p:spPr>
          <a:xfrm>
            <a:off x="468000" y="2396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eople-04:name"/>
          <p:cNvSpPr txBox="1"/>
          <p:nvPr/>
        </p:nvSpPr>
        <p:spPr>
          <a:xfrm>
            <a:off x="468000" y="239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단일세포 · 공간 분석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540727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540727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711820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711820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882913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882913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340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eople-04:name"/>
          <p:cNvSpPr txBox="1"/>
          <p:nvPr/>
        </p:nvSpPr>
        <p:spPr>
          <a:xfrm>
            <a:off x="468000" y="340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병원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 코호트 · 병리</a:t>
            </a:r>
          </a:p>
        </p:txBody>
      </p:sp>
      <p:sp>
        <p:nvSpPr>
          <p:cNvPr id="20" name="people-04:mark"/>
          <p:cNvSpPr/>
          <p:nvPr/>
        </p:nvSpPr>
        <p:spPr>
          <a:xfrm>
            <a:off x="3696347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4:mark-text"/>
          <p:cNvSpPr txBox="1"/>
          <p:nvPr/>
        </p:nvSpPr>
        <p:spPr>
          <a:xfrm>
            <a:off x="3696347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1054006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1054006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6" name="people-04:row-rule"/>
          <p:cNvCxnSpPr/>
          <p:nvPr/>
        </p:nvCxnSpPr>
        <p:spPr>
          <a:xfrm>
            <a:off x="468000" y="4412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eople-04:name"/>
          <p:cNvSpPr txBox="1"/>
          <p:nvPr/>
        </p:nvSpPr>
        <p:spPr>
          <a:xfrm>
            <a:off x="468000" y="4412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연구원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유전체 시퀀싱 센터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3696347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3696347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540727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540727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882913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882913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eople-04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461376"/>
            <a:ext cx="678825" cy="252000"/>
          </a:xfrm>
          <a:prstGeom prst="rect">
            <a:avLst/>
          </a:prstGeom>
        </p:spPr>
      </p:pic>
      <p:sp>
        <p:nvSpPr>
          <p:cNvPr id="11" name="people-04:name"/>
          <p:cNvSpPr txBox="1"/>
          <p:nvPr/>
        </p:nvSpPr>
        <p:spPr>
          <a:xfrm>
            <a:off x="1355625" y="2277220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4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5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17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eople-04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81688"/>
            <a:ext cx="779625" cy="252000"/>
          </a:xfrm>
          <a:prstGeom prst="rect">
            <a:avLst/>
          </a:prstGeom>
        </p:spPr>
      </p:pic>
      <p:sp>
        <p:nvSpPr>
          <p:cNvPr id="20" name="people-04:name"/>
          <p:cNvSpPr txBox="1"/>
          <p:nvPr/>
        </p:nvSpPr>
        <p:spPr>
          <a:xfrm>
            <a:off x="1355625" y="2897532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21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23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6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7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eople-04:logo" descr="logo-uni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3702000"/>
            <a:ext cx="779625" cy="252000"/>
          </a:xfrm>
          <a:prstGeom prst="rect">
            <a:avLst/>
          </a:prstGeom>
        </p:spPr>
      </p:pic>
      <p:sp>
        <p:nvSpPr>
          <p:cNvPr id="29" name="people-04:name"/>
          <p:cNvSpPr txBox="1"/>
          <p:nvPr/>
        </p:nvSpPr>
        <p:spPr>
          <a:xfrm>
            <a:off x="1355625" y="3517844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6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38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9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eople-04:logo" descr="logo-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00" y="4322312"/>
            <a:ext cx="779625" cy="252000"/>
          </a:xfrm>
          <a:prstGeom prst="rect">
            <a:avLst/>
          </a:prstGeom>
        </p:spPr>
      </p:pic>
      <p:sp>
        <p:nvSpPr>
          <p:cNvPr id="41" name="people-04:name"/>
          <p:cNvSpPr txBox="1"/>
          <p:nvPr/>
        </p:nvSpPr>
        <p:spPr>
          <a:xfrm>
            <a:off x="1355625" y="4138156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42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44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5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7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