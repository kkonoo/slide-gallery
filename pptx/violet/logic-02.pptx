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전사체의 세 가지 한계를 분석 단계마다 하나씩 푼다</a:t>
            </a:r>
          </a:p>
        </p:txBody>
      </p:sp>
      <p:sp>
        <p:nvSpPr>
          <p:cNvPr id="5" name="logic-02:head"/>
          <p:cNvSpPr txBox="1"/>
          <p:nvPr/>
        </p:nvSpPr>
        <p:spPr>
          <a:xfrm>
            <a:off x="468000" y="2061852"/>
            <a:ext cx="4202928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기존 공간 전사체의 한계</a:t>
            </a:r>
          </a:p>
        </p:txBody>
      </p:sp>
      <p:sp>
        <p:nvSpPr>
          <p:cNvPr id="6" name="logic-02:head"/>
          <p:cNvSpPr txBox="1"/>
          <p:nvPr/>
        </p:nvSpPr>
        <p:spPr>
          <a:xfrm>
            <a:off x="5419728" y="2061852"/>
            <a:ext cx="6304392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 연구의 해결</a:t>
            </a:r>
          </a:p>
        </p:txBody>
      </p:sp>
      <p:sp>
        <p:nvSpPr>
          <p:cNvPr id="7" name="logic-02:marker"/>
          <p:cNvSpPr/>
          <p:nvPr/>
        </p:nvSpPr>
        <p:spPr>
          <a:xfrm>
            <a:off x="468000" y="26880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8" name="logic-02:problem-text"/>
          <p:cNvSpPr txBox="1"/>
          <p:nvPr/>
        </p:nvSpPr>
        <p:spPr>
          <a:xfrm>
            <a:off x="982800" y="24933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여러 세포가 섞임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55 µm 스팟에 1–10개 세포</a:t>
            </a:r>
          </a:p>
        </p:txBody>
      </p:sp>
      <p:sp>
        <p:nvSpPr>
          <p:cNvPr id="9" name="logic-02:solution"/>
          <p:cNvSpPr/>
          <p:nvPr/>
        </p:nvSpPr>
        <p:spPr>
          <a:xfrm>
            <a:off x="5419728" y="2493397"/>
            <a:ext cx="6304392" cy="740300"/>
          </a:xfrm>
          <a:prstGeom prst="rect">
            <a:avLst/>
          </a:prstGeom>
          <a:solidFill>
            <a:srgbClr val="EDEAF2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ogic-02:marker"/>
          <p:cNvSpPr/>
          <p:nvPr/>
        </p:nvSpPr>
        <p:spPr>
          <a:xfrm>
            <a:off x="5653728" y="2688047"/>
            <a:ext cx="351000" cy="351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logic-02:solution-text"/>
          <p:cNvSpPr txBox="1"/>
          <p:nvPr/>
        </p:nvSpPr>
        <p:spPr>
          <a:xfrm>
            <a:off x="6168528" y="24933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scRNA-seq 참조로 디컨볼루션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조직의 단일세포 지도로 스팟마다 세포 유형 비율을 추정</a:t>
            </a:r>
          </a:p>
        </p:txBody>
      </p:sp>
      <p:cxnSp>
        <p:nvCxnSpPr>
          <p:cNvPr id="12" name="logic-02:link"/>
          <p:cNvCxnSpPr/>
          <p:nvPr/>
        </p:nvCxnSpPr>
        <p:spPr>
          <a:xfrm>
            <a:off x="4741128" y="28635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ogic-02:row-rule"/>
          <p:cNvCxnSpPr/>
          <p:nvPr/>
        </p:nvCxnSpPr>
        <p:spPr>
          <a:xfrm>
            <a:off x="468000" y="33416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gic-02:marker"/>
          <p:cNvSpPr/>
          <p:nvPr/>
        </p:nvSpPr>
        <p:spPr>
          <a:xfrm>
            <a:off x="468000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5" name="logic-02:problem-text"/>
          <p:cNvSpPr txBox="1"/>
          <p:nvPr/>
        </p:nvSpPr>
        <p:spPr>
          <a:xfrm>
            <a:off x="982800" y="34496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절편마다 배치 효과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환자도 절편끼리 군집이 갈림</a:t>
            </a:r>
          </a:p>
        </p:txBody>
      </p:sp>
      <p:sp>
        <p:nvSpPr>
          <p:cNvPr id="16" name="logic-02:solution"/>
          <p:cNvSpPr/>
          <p:nvPr/>
        </p:nvSpPr>
        <p:spPr>
          <a:xfrm>
            <a:off x="5419728" y="34496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2:marker"/>
          <p:cNvSpPr/>
          <p:nvPr/>
        </p:nvSpPr>
        <p:spPr>
          <a:xfrm>
            <a:off x="5653728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8" name="logic-02:solution-text"/>
          <p:cNvSpPr txBox="1"/>
          <p:nvPr/>
        </p:nvSpPr>
        <p:spPr>
          <a:xfrm>
            <a:off x="6168528" y="34496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 통합 후 공간 군집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12장을 한 공간에 맞춘 뒤 이웃 정보로 영역을 나눈다</a:t>
            </a:r>
          </a:p>
        </p:txBody>
      </p:sp>
      <p:cxnSp>
        <p:nvCxnSpPr>
          <p:cNvPr id="19" name="logic-02:link"/>
          <p:cNvCxnSpPr/>
          <p:nvPr/>
        </p:nvCxnSpPr>
        <p:spPr>
          <a:xfrm>
            <a:off x="4741128" y="38198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2:row-rule"/>
          <p:cNvCxnSpPr/>
          <p:nvPr/>
        </p:nvCxnSpPr>
        <p:spPr>
          <a:xfrm>
            <a:off x="468000" y="42979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2:marker"/>
          <p:cNvSpPr/>
          <p:nvPr/>
        </p:nvSpPr>
        <p:spPr>
          <a:xfrm>
            <a:off x="468000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2" name="logic-02:problem-text"/>
          <p:cNvSpPr txBox="1"/>
          <p:nvPr/>
        </p:nvSpPr>
        <p:spPr>
          <a:xfrm>
            <a:off x="982800" y="44059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간 상호작용을 직접 못 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발현만으로는 누가 누구와 맞닿는지 모른다</a:t>
            </a:r>
          </a:p>
        </p:txBody>
      </p:sp>
      <p:sp>
        <p:nvSpPr>
          <p:cNvPr id="23" name="logic-02:solution"/>
          <p:cNvSpPr/>
          <p:nvPr/>
        </p:nvSpPr>
        <p:spPr>
          <a:xfrm>
            <a:off x="5419728" y="44059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ogic-02:marker"/>
          <p:cNvSpPr/>
          <p:nvPr/>
        </p:nvSpPr>
        <p:spPr>
          <a:xfrm>
            <a:off x="5653728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25" name="logic-02:solution-text"/>
          <p:cNvSpPr txBox="1"/>
          <p:nvPr/>
        </p:nvSpPr>
        <p:spPr>
          <a:xfrm>
            <a:off x="6168528" y="44059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인접 스팟 리간드-수용체 분석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맞닿은 스팟 쌍에서만 리간드와 수용체 발현을 짝짓는다</a:t>
            </a:r>
          </a:p>
        </p:txBody>
      </p:sp>
      <p:cxnSp>
        <p:nvCxnSpPr>
          <p:cNvPr id="26" name="logic-02:link"/>
          <p:cNvCxnSpPr/>
          <p:nvPr/>
        </p:nvCxnSpPr>
        <p:spPr>
          <a:xfrm>
            <a:off x="4741128" y="477614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작은 단일기관 코호트의 두 한계를 다기관 설계로 푼다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4196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표본 수 부족 (n = 48)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419668"/>
            <a:ext cx="6304392" cy="5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4196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3개 기관 공동 모집으로 n = 300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6887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65868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2674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738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없음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73868"/>
            <a:ext cx="6304392" cy="538200"/>
          </a:xfrm>
          <a:prstGeom prst="rect">
            <a:avLst/>
          </a:prstGeom>
          <a:solidFill>
            <a:srgbClr val="EDEAF2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267468"/>
            <a:ext cx="351000" cy="351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738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기관 하나를 통째로 검증 코호트로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4429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39280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1260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기간은 18개월에서 24개월로 늘지만, 결과를 다른 기관에 그대로 적용할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이미징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 분석의 병목 세 곳을 자동화로 줄였다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2057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움직임 보정을 손으로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30분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2057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2057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NoRMCorre 자동 보정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2분, 결과를 사람이 확인만 한다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5758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540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620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윤곽을 손으로 그림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사람마다 결과가 다르다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620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620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Suite2p 로 세포 검출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설정이면 누가 돌려도 같은 세포가 나온다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5321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2:row-rule"/>
          <p:cNvCxnSpPr/>
          <p:nvPr/>
        </p:nvCxnSpPr>
        <p:spPr>
          <a:xfrm>
            <a:off x="468000" y="40103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2:marker"/>
          <p:cNvSpPr/>
          <p:nvPr/>
        </p:nvSpPr>
        <p:spPr>
          <a:xfrm>
            <a:off x="468000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0" name="logic-02:problem-text"/>
          <p:cNvSpPr txBox="1"/>
          <p:nvPr/>
        </p:nvSpPr>
        <p:spPr>
          <a:xfrm>
            <a:off x="982800" y="41183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신호 해석 기준이 제각각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ΔF/F 기준선을 매번 다르게 잡음</a:t>
            </a:r>
          </a:p>
        </p:txBody>
      </p:sp>
      <p:sp>
        <p:nvSpPr>
          <p:cNvPr id="21" name="logic-02:solution"/>
          <p:cNvSpPr/>
          <p:nvPr/>
        </p:nvSpPr>
        <p:spPr>
          <a:xfrm>
            <a:off x="5419728" y="41183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2:marker"/>
          <p:cNvSpPr/>
          <p:nvPr/>
        </p:nvSpPr>
        <p:spPr>
          <a:xfrm>
            <a:off x="5653728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23" name="logic-02:solution-text"/>
          <p:cNvSpPr txBox="1"/>
          <p:nvPr/>
        </p:nvSpPr>
        <p:spPr>
          <a:xfrm>
            <a:off x="6168528" y="41183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기준선 계산을 한 함수로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랩 공용 패키지에 넣어 모두 같은 기준을 쓴다</a:t>
            </a:r>
          </a:p>
        </p:txBody>
      </p:sp>
      <p:cxnSp>
        <p:nvCxnSpPr>
          <p:cNvPr id="24" name="logic-02:link"/>
          <p:cNvCxnSpPr/>
          <p:nvPr/>
        </p:nvCxnSpPr>
        <p:spPr>
          <a:xfrm>
            <a:off x="4741128" y="4488451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