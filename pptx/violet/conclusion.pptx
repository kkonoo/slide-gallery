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(conclusion-c).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시간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발표마다 쓸 수 있는 시간이 달라요</a:t>
            </a:r>
          </a:p>
        </p:txBody>
      </p:sp>
      <p:sp>
        <p:nvSpPr>
          <p:cNvPr id="5" name="data-04:value"/>
          <p:cNvSpPr txBox="1"/>
          <p:nvPr/>
        </p:nvSpPr>
        <p:spPr>
          <a:xfrm>
            <a:off x="468000" y="1947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6" name="data-04:bar"/>
          <p:cNvSpPr/>
          <p:nvPr/>
        </p:nvSpPr>
        <p:spPr>
          <a:xfrm>
            <a:off x="2124000" y="2145468"/>
            <a:ext cx="4502448" cy="252000"/>
          </a:xfrm>
          <a:prstGeom prst="roundRect">
            <a:avLst>
              <a:gd name="adj" fmla="val 50000"/>
            </a:avLst>
          </a:prstGeom>
          <a:solidFill>
            <a:srgbClr val="8A7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data-04:label"/>
          <p:cNvSpPr txBox="1"/>
          <p:nvPr/>
        </p:nvSpPr>
        <p:spPr>
          <a:xfrm>
            <a:off x="6950448" y="2001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8" name="data-04:desc"/>
          <p:cNvSpPr txBox="1"/>
          <p:nvPr/>
        </p:nvSpPr>
        <p:spPr>
          <a:xfrm>
            <a:off x="6950448" y="2289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논문 한 편을 같이 공부</a:t>
            </a:r>
          </a:p>
        </p:txBody>
      </p:sp>
      <p:cxnSp>
        <p:nvCxnSpPr>
          <p:cNvPr id="9" name="data-04:line"/>
          <p:cNvCxnSpPr/>
          <p:nvPr/>
        </p:nvCxnSpPr>
        <p:spPr>
          <a:xfrm>
            <a:off x="468000" y="274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4:value"/>
          <p:cNvSpPr txBox="1"/>
          <p:nvPr/>
        </p:nvSpPr>
        <p:spPr>
          <a:xfrm>
            <a:off x="468000" y="2901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1" name="data-04:bar"/>
          <p:cNvSpPr/>
          <p:nvPr/>
        </p:nvSpPr>
        <p:spPr>
          <a:xfrm>
            <a:off x="2124000" y="3099468"/>
            <a:ext cx="2251224" cy="252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4:label"/>
          <p:cNvSpPr txBox="1"/>
          <p:nvPr/>
        </p:nvSpPr>
        <p:spPr>
          <a:xfrm>
            <a:off x="6950448" y="2955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Progress report</a:t>
            </a:r>
          </a:p>
        </p:txBody>
      </p:sp>
      <p:sp>
        <p:nvSpPr>
          <p:cNvPr id="13" name="data-04:desc"/>
          <p:cNvSpPr txBox="1"/>
          <p:nvPr/>
        </p:nvSpPr>
        <p:spPr>
          <a:xfrm>
            <a:off x="6950448" y="3243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지난 결과와 다음 계획</a:t>
            </a:r>
          </a:p>
        </p:txBody>
      </p:sp>
      <p:cxnSp>
        <p:nvCxnSpPr>
          <p:cNvPr id="14" name="data-04:line"/>
          <p:cNvCxnSpPr/>
          <p:nvPr/>
        </p:nvCxnSpPr>
        <p:spPr>
          <a:xfrm>
            <a:off x="468000" y="370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a-04:value"/>
          <p:cNvSpPr txBox="1"/>
          <p:nvPr/>
        </p:nvSpPr>
        <p:spPr>
          <a:xfrm>
            <a:off x="468000" y="3855468"/>
            <a:ext cx="1512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분</a:t>
            </a:r>
          </a:p>
        </p:txBody>
      </p:sp>
      <p:sp>
        <p:nvSpPr>
          <p:cNvPr id="16" name="data-04:bar"/>
          <p:cNvSpPr/>
          <p:nvPr/>
        </p:nvSpPr>
        <p:spPr>
          <a:xfrm>
            <a:off x="2124000" y="4053468"/>
            <a:ext cx="1800979" cy="252000"/>
          </a:xfrm>
          <a:prstGeom prst="roundRect">
            <a:avLst>
              <a:gd name="adj" fmla="val 50000"/>
            </a:avLst>
          </a:prstGeom>
          <a:solidFill>
            <a:srgbClr val="B7A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4:label"/>
          <p:cNvSpPr txBox="1"/>
          <p:nvPr/>
        </p:nvSpPr>
        <p:spPr>
          <a:xfrm>
            <a:off x="6950448" y="3909468"/>
            <a:ext cx="4773672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구두 발표</a:t>
            </a:r>
          </a:p>
        </p:txBody>
      </p:sp>
      <p:sp>
        <p:nvSpPr>
          <p:cNvPr id="18" name="data-04:desc"/>
          <p:cNvSpPr txBox="1"/>
          <p:nvPr/>
        </p:nvSpPr>
        <p:spPr>
          <a:xfrm>
            <a:off x="6950448" y="4197468"/>
            <a:ext cx="477367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질의응답은 따로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872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5070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Progress report 15분</a:t>
            </a:r>
            <a:r>
              <a:rPr sz="1400" b="0" spc="-40">
                <a:solidFill>
                  <a:srgbClr val="6B7280"/>
                </a:solidFill>
              </a:rPr>
              <a:t>이면 12–15장, 데이터 장은 장마다 1.5–2분이에요.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B7ABC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C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1846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1846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