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유전자 X 는 TOX 위에서 T세포 소진을 켠다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501451" y="1913022"/>
            <a:ext cx="5189218" cy="2418711"/>
          </a:xfrm>
          <a:prstGeom prst="roundRect">
            <a:avLst>
              <a:gd name="adj" fmla="val 17860"/>
            </a:avLst>
          </a:prstGeom>
          <a:solidFill>
            <a:srgbClr val="EDEAF2"/>
          </a:solidFill>
          <a:ln w="19050">
            <a:solidFill>
              <a:srgbClr val="B7A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3663451" y="1985022"/>
            <a:ext cx="486521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-40">
                <a:solidFill>
                  <a:srgbClr val="4B2C7F"/>
                </a:solidFill>
              </a:rPr>
              <a:t>종양 침윤 CD8 T세포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2058567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5290018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8521469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V="1">
            <a:off x="4480334" y="3071160"/>
            <a:ext cx="0" cy="33840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5:node"/>
          <p:cNvSpPr/>
          <p:nvPr/>
        </p:nvSpPr>
        <p:spPr>
          <a:xfrm>
            <a:off x="468000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612000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만성 항원 자극</a:t>
            </a:r>
          </a:p>
        </p:txBody>
      </p:sp>
      <p:sp>
        <p:nvSpPr>
          <p:cNvPr id="13" name="res-05:node"/>
          <p:cNvSpPr/>
          <p:nvPr/>
        </p:nvSpPr>
        <p:spPr>
          <a:xfrm>
            <a:off x="3699451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3843451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TOX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5" name="res-05:node"/>
          <p:cNvSpPr/>
          <p:nvPr/>
        </p:nvSpPr>
        <p:spPr>
          <a:xfrm>
            <a:off x="6930902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5:node-text"/>
          <p:cNvSpPr txBox="1"/>
          <p:nvPr/>
        </p:nvSpPr>
        <p:spPr>
          <a:xfrm>
            <a:off x="7074902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PD-1 · TIM-3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억제 수용체</a:t>
            </a:r>
          </a:p>
        </p:txBody>
      </p:sp>
      <p:sp>
        <p:nvSpPr>
          <p:cNvPr id="17" name="res-05:node"/>
          <p:cNvSpPr/>
          <p:nvPr/>
        </p:nvSpPr>
        <p:spPr>
          <a:xfrm>
            <a:off x="10162353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5:node-text"/>
          <p:cNvSpPr txBox="1"/>
          <p:nvPr/>
        </p:nvSpPr>
        <p:spPr>
          <a:xfrm>
            <a:off x="10306353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소진</a:t>
            </a:r>
          </a:p>
        </p:txBody>
      </p:sp>
      <p:sp>
        <p:nvSpPr>
          <p:cNvPr id="19" name="res-05:node"/>
          <p:cNvSpPr/>
          <p:nvPr/>
        </p:nvSpPr>
        <p:spPr>
          <a:xfrm>
            <a:off x="3699451" y="3438360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5:node-text"/>
          <p:cNvSpPr txBox="1"/>
          <p:nvPr/>
        </p:nvSpPr>
        <p:spPr>
          <a:xfrm>
            <a:off x="3843451" y="3438360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유전자 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1" name="res-05:legend"/>
          <p:cNvCxnSpPr/>
          <p:nvPr/>
        </p:nvCxnSpPr>
        <p:spPr>
          <a:xfrm>
            <a:off x="9366073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5:legend-text"/>
          <p:cNvSpPr txBox="1"/>
          <p:nvPr/>
        </p:nvSpPr>
        <p:spPr>
          <a:xfrm>
            <a:off x="9762073" y="449373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3" name="res-05:legend"/>
          <p:cNvCxnSpPr/>
          <p:nvPr/>
        </p:nvCxnSpPr>
        <p:spPr>
          <a:xfrm>
            <a:off x="10716414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s-05:legend-text"/>
          <p:cNvSpPr txBox="1"/>
          <p:nvPr/>
        </p:nvSpPr>
        <p:spPr>
          <a:xfrm>
            <a:off x="11112414" y="449373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41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39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유전자 X 를 끄면 TOX 발현과 소진 표지가 함께 줄어드는지 CRISPR 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작용 기전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후보 약물 A 는 JAK1 을 막아 염증 신호를 끊을 것이다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936786" y="2376899"/>
            <a:ext cx="4318548" cy="3366084"/>
          </a:xfrm>
          <a:prstGeom prst="roundRect">
            <a:avLst>
              <a:gd name="adj" fmla="val 12833"/>
            </a:avLst>
          </a:prstGeom>
          <a:solidFill>
            <a:srgbClr val="EDEAF2"/>
          </a:solidFill>
          <a:ln w="19050">
            <a:solidFill>
              <a:srgbClr val="B7A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4098786" y="2448899"/>
            <a:ext cx="399454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 spc="-40">
                <a:solidFill>
                  <a:srgbClr val="4B2C7F"/>
                </a:solidFill>
              </a:rPr>
              <a:t>대식세포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4989423" y="2315699"/>
            <a:ext cx="0" cy="466365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4989423" y="3535037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4989423" y="4554410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H="1">
            <a:off x="5872860" y="3158551"/>
            <a:ext cx="4464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s-05:edge-bar"/>
          <p:cNvCxnSpPr/>
          <p:nvPr/>
        </p:nvCxnSpPr>
        <p:spPr>
          <a:xfrm>
            <a:off x="5872860" y="3079351"/>
            <a:ext cx="0" cy="1584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s-05:node"/>
          <p:cNvSpPr/>
          <p:nvPr/>
        </p:nvSpPr>
        <p:spPr>
          <a:xfrm>
            <a:off x="4134786" y="1591526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4278786" y="1591526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IL-6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사이토카인</a:t>
            </a:r>
          </a:p>
        </p:txBody>
      </p:sp>
      <p:sp>
        <p:nvSpPr>
          <p:cNvPr id="14" name="res-05:node"/>
          <p:cNvSpPr/>
          <p:nvPr/>
        </p:nvSpPr>
        <p:spPr>
          <a:xfrm>
            <a:off x="4134786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4278786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JAK1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인산화 효소</a:t>
            </a:r>
          </a:p>
        </p:txBody>
      </p:sp>
      <p:sp>
        <p:nvSpPr>
          <p:cNvPr id="16" name="res-05:node"/>
          <p:cNvSpPr/>
          <p:nvPr/>
        </p:nvSpPr>
        <p:spPr>
          <a:xfrm>
            <a:off x="4134786" y="3830237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5:node-text"/>
          <p:cNvSpPr txBox="1"/>
          <p:nvPr/>
        </p:nvSpPr>
        <p:spPr>
          <a:xfrm>
            <a:off x="4278786" y="3830237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STAT3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8" name="res-05:node"/>
          <p:cNvSpPr/>
          <p:nvPr/>
        </p:nvSpPr>
        <p:spPr>
          <a:xfrm>
            <a:off x="4134786" y="4849610"/>
            <a:ext cx="1709274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5:node-text"/>
          <p:cNvSpPr txBox="1"/>
          <p:nvPr/>
        </p:nvSpPr>
        <p:spPr>
          <a:xfrm>
            <a:off x="4278786" y="4849610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염증 유전자 발현</a:t>
            </a:r>
          </a:p>
        </p:txBody>
      </p:sp>
      <p:sp>
        <p:nvSpPr>
          <p:cNvPr id="20" name="res-05:node"/>
          <p:cNvSpPr/>
          <p:nvPr/>
        </p:nvSpPr>
        <p:spPr>
          <a:xfrm>
            <a:off x="6348060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s-05:node-text"/>
          <p:cNvSpPr txBox="1"/>
          <p:nvPr/>
        </p:nvSpPr>
        <p:spPr>
          <a:xfrm>
            <a:off x="6492060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후보 약물 A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2" name="res-05:legend"/>
          <p:cNvCxnSpPr/>
          <p:nvPr/>
        </p:nvCxnSpPr>
        <p:spPr>
          <a:xfrm>
            <a:off x="496001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s-05:legend-text"/>
          <p:cNvSpPr txBox="1"/>
          <p:nvPr/>
        </p:nvSpPr>
        <p:spPr>
          <a:xfrm>
            <a:off x="5356019" y="5904982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4" name="res-05:legend"/>
          <p:cNvCxnSpPr/>
          <p:nvPr/>
        </p:nvCxnSpPr>
        <p:spPr>
          <a:xfrm>
            <a:off x="631035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5:legend-text"/>
          <p:cNvSpPr txBox="1"/>
          <p:nvPr/>
        </p:nvSpPr>
        <p:spPr>
          <a:xfrm>
            <a:off x="6706359" y="5904982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6" name="res-05:legend"/>
          <p:cNvCxnSpPr/>
          <p:nvPr/>
        </p:nvCxnSpPr>
        <p:spPr>
          <a:xfrm>
            <a:off x="7534066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s-05:legend"/>
          <p:cNvCxnSpPr/>
          <p:nvPr/>
        </p:nvCxnSpPr>
        <p:spPr>
          <a:xfrm>
            <a:off x="7858066" y="5931165"/>
            <a:ext cx="0" cy="1296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5:legend-text"/>
          <p:cNvSpPr txBox="1"/>
          <p:nvPr/>
        </p:nvSpPr>
        <p:spPr>
          <a:xfrm>
            <a:off x="7930066" y="5904982"/>
            <a:ext cx="325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억제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간 신호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대식세포가 섬유모세포를 깨워 섬유화를 만든다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886299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s-05:edge-label"/>
          <p:cNvSpPr txBox="1"/>
          <p:nvPr/>
        </p:nvSpPr>
        <p:spPr>
          <a:xfrm>
            <a:off x="3846865" y="2783942"/>
            <a:ext cx="361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분화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7023421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edge-label"/>
          <p:cNvSpPr txBox="1"/>
          <p:nvPr/>
        </p:nvSpPr>
        <p:spPr>
          <a:xfrm>
            <a:off x="7763445" y="2783942"/>
            <a:ext cx="802352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TGF-β 분비</a:t>
            </a:r>
          </a:p>
        </p:txBody>
      </p:sp>
      <p:sp>
        <p:nvSpPr>
          <p:cNvPr id="9" name="res-05:node"/>
          <p:cNvSpPr/>
          <p:nvPr/>
        </p:nvSpPr>
        <p:spPr>
          <a:xfrm>
            <a:off x="1060376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5:node-text"/>
          <p:cNvSpPr txBox="1"/>
          <p:nvPr/>
        </p:nvSpPr>
        <p:spPr>
          <a:xfrm>
            <a:off x="1329944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단핵구</a:t>
            </a:r>
          </a:p>
        </p:txBody>
      </p:sp>
      <p:sp>
        <p:nvSpPr>
          <p:cNvPr id="11" name="res-05:node"/>
          <p:cNvSpPr/>
          <p:nvPr/>
        </p:nvSpPr>
        <p:spPr>
          <a:xfrm>
            <a:off x="5197499" y="2507268"/>
            <a:ext cx="1797123" cy="1029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5467067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M2 대식세포</a:t>
            </a:r>
          </a:p>
        </p:txBody>
      </p:sp>
      <p:sp>
        <p:nvSpPr>
          <p:cNvPr id="13" name="res-05:node"/>
          <p:cNvSpPr/>
          <p:nvPr/>
        </p:nvSpPr>
        <p:spPr>
          <a:xfrm>
            <a:off x="9334621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9604190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활성 섬유모세포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37528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39508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 단계 모두 기존 보고로 확인된 경로다. 이번 연구는 둘째 단계의 TGF-β 양을 환자 조직에서 잰다.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