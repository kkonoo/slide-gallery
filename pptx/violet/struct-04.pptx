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군이 모두 가진 균주는 12개예요</a:t>
            </a:r>
          </a:p>
        </p:txBody>
      </p:sp>
      <p:sp>
        <p:nvSpPr>
          <p:cNvPr id="5" name="struct-04:overlap"/>
          <p:cNvSpPr/>
          <p:nvPr/>
        </p:nvSpPr>
        <p:spPr>
          <a:xfrm>
            <a:off x="5697349" y="3624016"/>
            <a:ext cx="797422" cy="750056"/>
          </a:xfrm>
          <a:custGeom>
            <a:avLst/>
            <a:gdLst/>
            <a:ahLst/>
            <a:cxnLst/>
            <a:rect l="l" t="t" r="r" b="b"/>
            <a:pathLst>
              <a:path w="797422" h="750056">
                <a:moveTo>
                  <a:pt x="65937" y="437974"/>
                </a:moveTo>
                <a:lnTo>
                  <a:pt x="78494" y="408748"/>
                </a:lnTo>
                <a:lnTo>
                  <a:pt x="91811" y="379861"/>
                </a:lnTo>
                <a:lnTo>
                  <a:pt x="105879" y="351333"/>
                </a:lnTo>
                <a:lnTo>
                  <a:pt x="120690" y="323183"/>
                </a:lnTo>
                <a:lnTo>
                  <a:pt x="136232" y="295430"/>
                </a:lnTo>
                <a:lnTo>
                  <a:pt x="152496" y="268093"/>
                </a:lnTo>
                <a:lnTo>
                  <a:pt x="169469" y="241192"/>
                </a:lnTo>
                <a:lnTo>
                  <a:pt x="187141" y="214744"/>
                </a:lnTo>
                <a:lnTo>
                  <a:pt x="205500" y="188768"/>
                </a:lnTo>
                <a:lnTo>
                  <a:pt x="224532" y="163281"/>
                </a:lnTo>
                <a:lnTo>
                  <a:pt x="244224" y="138301"/>
                </a:lnTo>
                <a:lnTo>
                  <a:pt x="264564" y="113845"/>
                </a:lnTo>
                <a:lnTo>
                  <a:pt x="285537" y="89930"/>
                </a:lnTo>
                <a:lnTo>
                  <a:pt x="307128" y="66572"/>
                </a:lnTo>
                <a:lnTo>
                  <a:pt x="329324" y="43788"/>
                </a:lnTo>
                <a:lnTo>
                  <a:pt x="352109" y="21592"/>
                </a:lnTo>
                <a:lnTo>
                  <a:pt x="375467" y="0"/>
                </a:lnTo>
                <a:lnTo>
                  <a:pt x="421955" y="0"/>
                </a:lnTo>
                <a:lnTo>
                  <a:pt x="445313" y="21592"/>
                </a:lnTo>
                <a:lnTo>
                  <a:pt x="468098" y="43788"/>
                </a:lnTo>
                <a:lnTo>
                  <a:pt x="490294" y="66572"/>
                </a:lnTo>
                <a:lnTo>
                  <a:pt x="511885" y="89930"/>
                </a:lnTo>
                <a:lnTo>
                  <a:pt x="532858" y="113845"/>
                </a:lnTo>
                <a:lnTo>
                  <a:pt x="553198" y="138301"/>
                </a:lnTo>
                <a:lnTo>
                  <a:pt x="572890" y="163281"/>
                </a:lnTo>
                <a:lnTo>
                  <a:pt x="591922" y="188768"/>
                </a:lnTo>
                <a:lnTo>
                  <a:pt x="610281" y="214744"/>
                </a:lnTo>
                <a:lnTo>
                  <a:pt x="627953" y="241192"/>
                </a:lnTo>
                <a:lnTo>
                  <a:pt x="644926" y="268093"/>
                </a:lnTo>
                <a:lnTo>
                  <a:pt x="661190" y="295430"/>
                </a:lnTo>
                <a:lnTo>
                  <a:pt x="676732" y="323183"/>
                </a:lnTo>
                <a:lnTo>
                  <a:pt x="691543" y="351333"/>
                </a:lnTo>
                <a:lnTo>
                  <a:pt x="705611" y="379861"/>
                </a:lnTo>
                <a:lnTo>
                  <a:pt x="718928" y="408748"/>
                </a:lnTo>
                <a:lnTo>
                  <a:pt x="731485" y="437974"/>
                </a:lnTo>
                <a:lnTo>
                  <a:pt x="743271" y="467518"/>
                </a:lnTo>
                <a:lnTo>
                  <a:pt x="754281" y="497361"/>
                </a:lnTo>
                <a:lnTo>
                  <a:pt x="764506" y="527481"/>
                </a:lnTo>
                <a:lnTo>
                  <a:pt x="773938" y="557859"/>
                </a:lnTo>
                <a:lnTo>
                  <a:pt x="782572" y="588473"/>
                </a:lnTo>
                <a:lnTo>
                  <a:pt x="790402" y="619303"/>
                </a:lnTo>
                <a:lnTo>
                  <a:pt x="797422" y="650328"/>
                </a:lnTo>
                <a:lnTo>
                  <a:pt x="774178" y="690588"/>
                </a:lnTo>
                <a:lnTo>
                  <a:pt x="743800" y="700021"/>
                </a:lnTo>
                <a:lnTo>
                  <a:pt x="713185" y="708655"/>
                </a:lnTo>
                <a:lnTo>
                  <a:pt x="682356" y="716485"/>
                </a:lnTo>
                <a:lnTo>
                  <a:pt x="651331" y="723505"/>
                </a:lnTo>
                <a:lnTo>
                  <a:pt x="620134" y="729710"/>
                </a:lnTo>
                <a:lnTo>
                  <a:pt x="588785" y="735097"/>
                </a:lnTo>
                <a:lnTo>
                  <a:pt x="557305" y="739661"/>
                </a:lnTo>
                <a:lnTo>
                  <a:pt x="525717" y="743400"/>
                </a:lnTo>
                <a:lnTo>
                  <a:pt x="494042" y="746311"/>
                </a:lnTo>
                <a:lnTo>
                  <a:pt x="462301" y="748391"/>
                </a:lnTo>
                <a:lnTo>
                  <a:pt x="430517" y="749640"/>
                </a:lnTo>
                <a:lnTo>
                  <a:pt x="398711" y="750056"/>
                </a:lnTo>
                <a:lnTo>
                  <a:pt x="366905" y="749640"/>
                </a:lnTo>
                <a:lnTo>
                  <a:pt x="335121" y="748391"/>
                </a:lnTo>
                <a:lnTo>
                  <a:pt x="303380" y="746311"/>
                </a:lnTo>
                <a:lnTo>
                  <a:pt x="271705" y="743400"/>
                </a:lnTo>
                <a:lnTo>
                  <a:pt x="240117" y="739661"/>
                </a:lnTo>
                <a:lnTo>
                  <a:pt x="208637" y="735097"/>
                </a:lnTo>
                <a:lnTo>
                  <a:pt x="177288" y="729710"/>
                </a:lnTo>
                <a:lnTo>
                  <a:pt x="146091" y="723505"/>
                </a:lnTo>
                <a:lnTo>
                  <a:pt x="115066" y="716485"/>
                </a:lnTo>
                <a:lnTo>
                  <a:pt x="84237" y="708655"/>
                </a:lnTo>
                <a:lnTo>
                  <a:pt x="53622" y="700021"/>
                </a:lnTo>
                <a:lnTo>
                  <a:pt x="23244" y="690588"/>
                </a:lnTo>
                <a:lnTo>
                  <a:pt x="0" y="650328"/>
                </a:lnTo>
                <a:lnTo>
                  <a:pt x="7020" y="619303"/>
                </a:lnTo>
                <a:lnTo>
                  <a:pt x="14850" y="588473"/>
                </a:lnTo>
                <a:lnTo>
                  <a:pt x="23484" y="557859"/>
                </a:lnTo>
                <a:lnTo>
                  <a:pt x="32916" y="527481"/>
                </a:lnTo>
                <a:lnTo>
                  <a:pt x="43141" y="497361"/>
                </a:lnTo>
                <a:lnTo>
                  <a:pt x="54151" y="467518"/>
                </a:lnTo>
                <a:close/>
              </a:path>
            </a:pathLst>
          </a:cu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uct-04:set"/>
          <p:cNvSpPr/>
          <p:nvPr/>
        </p:nvSpPr>
        <p:spPr>
          <a:xfrm>
            <a:off x="4881024" y="1944000"/>
            <a:ext cx="2430072" cy="2430072"/>
          </a:xfrm>
          <a:prstGeom prst="ellipse">
            <a:avLst/>
          </a:prstGeom>
          <a:noFill/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4:set"/>
          <p:cNvSpPr/>
          <p:nvPr/>
        </p:nvSpPr>
        <p:spPr>
          <a:xfrm>
            <a:off x="5670797" y="3311928"/>
            <a:ext cx="2430072" cy="2430072"/>
          </a:xfrm>
          <a:prstGeom prst="ellipse">
            <a:avLst/>
          </a:prstGeom>
          <a:noFill/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4:set"/>
          <p:cNvSpPr/>
          <p:nvPr/>
        </p:nvSpPr>
        <p:spPr>
          <a:xfrm>
            <a:off x="4091250" y="3311928"/>
            <a:ext cx="2430072" cy="2430072"/>
          </a:xfrm>
          <a:prstGeom prst="ellipse">
            <a:avLst/>
          </a:prstGeom>
          <a:noFill/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4:name"/>
          <p:cNvSpPr txBox="1"/>
          <p:nvPr/>
        </p:nvSpPr>
        <p:spPr>
          <a:xfrm>
            <a:off x="5360287" y="1602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건강군</a:t>
            </a:r>
          </a:p>
        </p:txBody>
      </p:sp>
      <p:sp>
        <p:nvSpPr>
          <p:cNvPr id="10" name="struct-04:name"/>
          <p:cNvSpPr txBox="1"/>
          <p:nvPr/>
        </p:nvSpPr>
        <p:spPr>
          <a:xfrm>
            <a:off x="6150060" y="5760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당뇨군</a:t>
            </a:r>
          </a:p>
        </p:txBody>
      </p:sp>
      <p:sp>
        <p:nvSpPr>
          <p:cNvPr id="11" name="struct-04:name"/>
          <p:cNvSpPr txBox="1"/>
          <p:nvPr/>
        </p:nvSpPr>
        <p:spPr>
          <a:xfrm>
            <a:off x="4570513" y="5760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비만군</a:t>
            </a:r>
          </a:p>
        </p:txBody>
      </p:sp>
      <p:sp>
        <p:nvSpPr>
          <p:cNvPr id="12" name="struct-04:value"/>
          <p:cNvSpPr txBox="1"/>
          <p:nvPr/>
        </p:nvSpPr>
        <p:spPr>
          <a:xfrm>
            <a:off x="5520060" y="2590899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38</a:t>
            </a:r>
          </a:p>
        </p:txBody>
      </p:sp>
      <p:sp>
        <p:nvSpPr>
          <p:cNvPr id="13" name="struct-04:value"/>
          <p:cNvSpPr txBox="1"/>
          <p:nvPr/>
        </p:nvSpPr>
        <p:spPr>
          <a:xfrm>
            <a:off x="6645970" y="4541032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21</a:t>
            </a:r>
          </a:p>
        </p:txBody>
      </p:sp>
      <p:sp>
        <p:nvSpPr>
          <p:cNvPr id="14" name="struct-04:value"/>
          <p:cNvSpPr txBox="1"/>
          <p:nvPr/>
        </p:nvSpPr>
        <p:spPr>
          <a:xfrm>
            <a:off x="4394150" y="4541032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27</a:t>
            </a:r>
          </a:p>
        </p:txBody>
      </p:sp>
      <p:sp>
        <p:nvSpPr>
          <p:cNvPr id="15" name="struct-04:pair"/>
          <p:cNvSpPr txBox="1"/>
          <p:nvPr/>
        </p:nvSpPr>
        <p:spPr>
          <a:xfrm>
            <a:off x="6390114" y="3489801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9</a:t>
            </a:r>
          </a:p>
        </p:txBody>
      </p:sp>
      <p:sp>
        <p:nvSpPr>
          <p:cNvPr id="16" name="struct-04:pair"/>
          <p:cNvSpPr txBox="1"/>
          <p:nvPr/>
        </p:nvSpPr>
        <p:spPr>
          <a:xfrm>
            <a:off x="4938006" y="3489801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14</a:t>
            </a:r>
          </a:p>
        </p:txBody>
      </p:sp>
      <p:sp>
        <p:nvSpPr>
          <p:cNvPr id="17" name="struct-04:pair"/>
          <p:cNvSpPr txBox="1"/>
          <p:nvPr/>
        </p:nvSpPr>
        <p:spPr>
          <a:xfrm>
            <a:off x="5664060" y="4747363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17</a:t>
            </a:r>
          </a:p>
        </p:txBody>
      </p:sp>
      <p:sp>
        <p:nvSpPr>
          <p:cNvPr id="18" name="struct-04:overlap-text"/>
          <p:cNvSpPr txBox="1"/>
          <p:nvPr/>
        </p:nvSpPr>
        <p:spPr>
          <a:xfrm>
            <a:off x="5772060" y="3890988"/>
            <a:ext cx="64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12</a:t>
            </a:r>
          </a:p>
        </p:txBody>
      </p:sp>
      <p:cxnSp>
        <p:nvCxnSpPr>
          <p:cNvPr id="19" name="struct-04:leader"/>
          <p:cNvCxnSpPr/>
          <p:nvPr/>
        </p:nvCxnSpPr>
        <p:spPr>
          <a:xfrm>
            <a:off x="6276060" y="4070988"/>
            <a:ext cx="198681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4:overlap-label"/>
          <p:cNvSpPr txBox="1"/>
          <p:nvPr/>
        </p:nvSpPr>
        <p:spPr>
          <a:xfrm>
            <a:off x="8316870" y="3890988"/>
            <a:ext cx="340725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세 군 공통 균주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당뇨군과 비만군은 균주 29개를 공유해요</a:t>
            </a:r>
          </a:p>
        </p:txBody>
      </p:sp>
      <p:sp>
        <p:nvSpPr>
          <p:cNvPr id="5" name="struct-04:overlap"/>
          <p:cNvSpPr/>
          <p:nvPr/>
        </p:nvSpPr>
        <p:spPr>
          <a:xfrm>
            <a:off x="5497560" y="2617222"/>
            <a:ext cx="1197000" cy="2541556"/>
          </a:xfrm>
          <a:custGeom>
            <a:avLst/>
            <a:gdLst/>
            <a:ahLst/>
            <a:cxnLst/>
            <a:rect l="l" t="t" r="r" b="b"/>
            <a:pathLst>
              <a:path w="1197000" h="2541556">
                <a:moveTo>
                  <a:pt x="586" y="1226015"/>
                </a:moveTo>
                <a:lnTo>
                  <a:pt x="2343" y="1181284"/>
                </a:lnTo>
                <a:lnTo>
                  <a:pt x="5271" y="1136613"/>
                </a:lnTo>
                <a:lnTo>
                  <a:pt x="9368" y="1092034"/>
                </a:lnTo>
                <a:lnTo>
                  <a:pt x="14629" y="1047578"/>
                </a:lnTo>
                <a:lnTo>
                  <a:pt x="21053" y="1003275"/>
                </a:lnTo>
                <a:lnTo>
                  <a:pt x="28634" y="959155"/>
                </a:lnTo>
                <a:lnTo>
                  <a:pt x="37368" y="915249"/>
                </a:lnTo>
                <a:lnTo>
                  <a:pt x="47247" y="871586"/>
                </a:lnTo>
                <a:lnTo>
                  <a:pt x="58267" y="828197"/>
                </a:lnTo>
                <a:lnTo>
                  <a:pt x="70418" y="785112"/>
                </a:lnTo>
                <a:lnTo>
                  <a:pt x="83693" y="742359"/>
                </a:lnTo>
                <a:lnTo>
                  <a:pt x="98083" y="699968"/>
                </a:lnTo>
                <a:lnTo>
                  <a:pt x="113577" y="657969"/>
                </a:lnTo>
                <a:lnTo>
                  <a:pt x="130166" y="616389"/>
                </a:lnTo>
                <a:lnTo>
                  <a:pt x="147837" y="575258"/>
                </a:lnTo>
                <a:lnTo>
                  <a:pt x="166579" y="534604"/>
                </a:lnTo>
                <a:lnTo>
                  <a:pt x="186379" y="494454"/>
                </a:lnTo>
                <a:lnTo>
                  <a:pt x="207223" y="454837"/>
                </a:lnTo>
                <a:lnTo>
                  <a:pt x="229097" y="415778"/>
                </a:lnTo>
                <a:lnTo>
                  <a:pt x="251985" y="377305"/>
                </a:lnTo>
                <a:lnTo>
                  <a:pt x="275873" y="339445"/>
                </a:lnTo>
                <a:lnTo>
                  <a:pt x="300744" y="302223"/>
                </a:lnTo>
                <a:lnTo>
                  <a:pt x="326581" y="265665"/>
                </a:lnTo>
                <a:lnTo>
                  <a:pt x="353366" y="229796"/>
                </a:lnTo>
                <a:lnTo>
                  <a:pt x="381080" y="194640"/>
                </a:lnTo>
                <a:lnTo>
                  <a:pt x="409706" y="160222"/>
                </a:lnTo>
                <a:lnTo>
                  <a:pt x="439222" y="126565"/>
                </a:lnTo>
                <a:lnTo>
                  <a:pt x="469610" y="93692"/>
                </a:lnTo>
                <a:lnTo>
                  <a:pt x="500847" y="61625"/>
                </a:lnTo>
                <a:lnTo>
                  <a:pt x="532914" y="30388"/>
                </a:lnTo>
                <a:lnTo>
                  <a:pt x="565787" y="0"/>
                </a:lnTo>
                <a:lnTo>
                  <a:pt x="631213" y="0"/>
                </a:lnTo>
                <a:lnTo>
                  <a:pt x="664086" y="30388"/>
                </a:lnTo>
                <a:lnTo>
                  <a:pt x="696153" y="61625"/>
                </a:lnTo>
                <a:lnTo>
                  <a:pt x="727390" y="93692"/>
                </a:lnTo>
                <a:lnTo>
                  <a:pt x="757778" y="126565"/>
                </a:lnTo>
                <a:lnTo>
                  <a:pt x="787294" y="160222"/>
                </a:lnTo>
                <a:lnTo>
                  <a:pt x="815920" y="194640"/>
                </a:lnTo>
                <a:lnTo>
                  <a:pt x="843634" y="229796"/>
                </a:lnTo>
                <a:lnTo>
                  <a:pt x="870419" y="265665"/>
                </a:lnTo>
                <a:lnTo>
                  <a:pt x="896256" y="302223"/>
                </a:lnTo>
                <a:lnTo>
                  <a:pt x="921127" y="339445"/>
                </a:lnTo>
                <a:lnTo>
                  <a:pt x="945015" y="377305"/>
                </a:lnTo>
                <a:lnTo>
                  <a:pt x="967903" y="415778"/>
                </a:lnTo>
                <a:lnTo>
                  <a:pt x="989777" y="454837"/>
                </a:lnTo>
                <a:lnTo>
                  <a:pt x="1010621" y="494454"/>
                </a:lnTo>
                <a:lnTo>
                  <a:pt x="1030421" y="534604"/>
                </a:lnTo>
                <a:lnTo>
                  <a:pt x="1049163" y="575258"/>
                </a:lnTo>
                <a:lnTo>
                  <a:pt x="1066834" y="616389"/>
                </a:lnTo>
                <a:lnTo>
                  <a:pt x="1083423" y="657969"/>
                </a:lnTo>
                <a:lnTo>
                  <a:pt x="1098917" y="699968"/>
                </a:lnTo>
                <a:lnTo>
                  <a:pt x="1113307" y="742359"/>
                </a:lnTo>
                <a:lnTo>
                  <a:pt x="1126582" y="785112"/>
                </a:lnTo>
                <a:lnTo>
                  <a:pt x="1138733" y="828197"/>
                </a:lnTo>
                <a:lnTo>
                  <a:pt x="1149753" y="871586"/>
                </a:lnTo>
                <a:lnTo>
                  <a:pt x="1159632" y="915249"/>
                </a:lnTo>
                <a:lnTo>
                  <a:pt x="1168366" y="959155"/>
                </a:lnTo>
                <a:lnTo>
                  <a:pt x="1175947" y="1003275"/>
                </a:lnTo>
                <a:lnTo>
                  <a:pt x="1182371" y="1047578"/>
                </a:lnTo>
                <a:lnTo>
                  <a:pt x="1187632" y="1092034"/>
                </a:lnTo>
                <a:lnTo>
                  <a:pt x="1191729" y="1136613"/>
                </a:lnTo>
                <a:lnTo>
                  <a:pt x="1194657" y="1181284"/>
                </a:lnTo>
                <a:lnTo>
                  <a:pt x="1196414" y="1226015"/>
                </a:lnTo>
                <a:lnTo>
                  <a:pt x="1197000" y="1270778"/>
                </a:lnTo>
                <a:lnTo>
                  <a:pt x="1196414" y="1315541"/>
                </a:lnTo>
                <a:lnTo>
                  <a:pt x="1194657" y="1360272"/>
                </a:lnTo>
                <a:lnTo>
                  <a:pt x="1191729" y="1404943"/>
                </a:lnTo>
                <a:lnTo>
                  <a:pt x="1187632" y="1449522"/>
                </a:lnTo>
                <a:lnTo>
                  <a:pt x="1182371" y="1493978"/>
                </a:lnTo>
                <a:lnTo>
                  <a:pt x="1175947" y="1538281"/>
                </a:lnTo>
                <a:lnTo>
                  <a:pt x="1168366" y="1582401"/>
                </a:lnTo>
                <a:lnTo>
                  <a:pt x="1159632" y="1626307"/>
                </a:lnTo>
                <a:lnTo>
                  <a:pt x="1149753" y="1669970"/>
                </a:lnTo>
                <a:lnTo>
                  <a:pt x="1138733" y="1713359"/>
                </a:lnTo>
                <a:lnTo>
                  <a:pt x="1126582" y="1756444"/>
                </a:lnTo>
                <a:lnTo>
                  <a:pt x="1113307" y="1799197"/>
                </a:lnTo>
                <a:lnTo>
                  <a:pt x="1098917" y="1841588"/>
                </a:lnTo>
                <a:lnTo>
                  <a:pt x="1083423" y="1883587"/>
                </a:lnTo>
                <a:lnTo>
                  <a:pt x="1066834" y="1925167"/>
                </a:lnTo>
                <a:lnTo>
                  <a:pt x="1049163" y="1966298"/>
                </a:lnTo>
                <a:lnTo>
                  <a:pt x="1030421" y="2006952"/>
                </a:lnTo>
                <a:lnTo>
                  <a:pt x="1010621" y="2047102"/>
                </a:lnTo>
                <a:lnTo>
                  <a:pt x="989777" y="2086719"/>
                </a:lnTo>
                <a:lnTo>
                  <a:pt x="967903" y="2125778"/>
                </a:lnTo>
                <a:lnTo>
                  <a:pt x="945015" y="2164251"/>
                </a:lnTo>
                <a:lnTo>
                  <a:pt x="921127" y="2202111"/>
                </a:lnTo>
                <a:lnTo>
                  <a:pt x="896256" y="2239333"/>
                </a:lnTo>
                <a:lnTo>
                  <a:pt x="870419" y="2275891"/>
                </a:lnTo>
                <a:lnTo>
                  <a:pt x="843634" y="2311760"/>
                </a:lnTo>
                <a:lnTo>
                  <a:pt x="815920" y="2346916"/>
                </a:lnTo>
                <a:lnTo>
                  <a:pt x="787294" y="2381334"/>
                </a:lnTo>
                <a:lnTo>
                  <a:pt x="757778" y="2414991"/>
                </a:lnTo>
                <a:lnTo>
                  <a:pt x="727390" y="2447864"/>
                </a:lnTo>
                <a:lnTo>
                  <a:pt x="696153" y="2479931"/>
                </a:lnTo>
                <a:lnTo>
                  <a:pt x="664086" y="2511168"/>
                </a:lnTo>
                <a:lnTo>
                  <a:pt x="631213" y="2541556"/>
                </a:lnTo>
                <a:lnTo>
                  <a:pt x="565787" y="2541556"/>
                </a:lnTo>
                <a:lnTo>
                  <a:pt x="532914" y="2511168"/>
                </a:lnTo>
                <a:lnTo>
                  <a:pt x="500847" y="2479931"/>
                </a:lnTo>
                <a:lnTo>
                  <a:pt x="469610" y="2447864"/>
                </a:lnTo>
                <a:lnTo>
                  <a:pt x="439222" y="2414991"/>
                </a:lnTo>
                <a:lnTo>
                  <a:pt x="409706" y="2381334"/>
                </a:lnTo>
                <a:lnTo>
                  <a:pt x="381080" y="2346916"/>
                </a:lnTo>
                <a:lnTo>
                  <a:pt x="353366" y="2311760"/>
                </a:lnTo>
                <a:lnTo>
                  <a:pt x="326581" y="2275891"/>
                </a:lnTo>
                <a:lnTo>
                  <a:pt x="300744" y="2239333"/>
                </a:lnTo>
                <a:lnTo>
                  <a:pt x="275873" y="2202111"/>
                </a:lnTo>
                <a:lnTo>
                  <a:pt x="251985" y="2164251"/>
                </a:lnTo>
                <a:lnTo>
                  <a:pt x="229097" y="2125778"/>
                </a:lnTo>
                <a:lnTo>
                  <a:pt x="207223" y="2086719"/>
                </a:lnTo>
                <a:lnTo>
                  <a:pt x="186379" y="2047102"/>
                </a:lnTo>
                <a:lnTo>
                  <a:pt x="166579" y="2006952"/>
                </a:lnTo>
                <a:lnTo>
                  <a:pt x="147837" y="1966298"/>
                </a:lnTo>
                <a:lnTo>
                  <a:pt x="130166" y="1925167"/>
                </a:lnTo>
                <a:lnTo>
                  <a:pt x="113577" y="1883587"/>
                </a:lnTo>
                <a:lnTo>
                  <a:pt x="98083" y="1841588"/>
                </a:lnTo>
                <a:lnTo>
                  <a:pt x="83693" y="1799197"/>
                </a:lnTo>
                <a:lnTo>
                  <a:pt x="70418" y="1756444"/>
                </a:lnTo>
                <a:lnTo>
                  <a:pt x="58267" y="1713359"/>
                </a:lnTo>
                <a:lnTo>
                  <a:pt x="47247" y="1669970"/>
                </a:lnTo>
                <a:lnTo>
                  <a:pt x="37368" y="1626307"/>
                </a:lnTo>
                <a:lnTo>
                  <a:pt x="28634" y="1582401"/>
                </a:lnTo>
                <a:lnTo>
                  <a:pt x="21053" y="1538281"/>
                </a:lnTo>
                <a:lnTo>
                  <a:pt x="14629" y="1493978"/>
                </a:lnTo>
                <a:lnTo>
                  <a:pt x="9368" y="1449522"/>
                </a:lnTo>
                <a:lnTo>
                  <a:pt x="5271" y="1404943"/>
                </a:lnTo>
                <a:lnTo>
                  <a:pt x="2343" y="1360272"/>
                </a:lnTo>
                <a:lnTo>
                  <a:pt x="586" y="1315541"/>
                </a:lnTo>
                <a:lnTo>
                  <a:pt x="0" y="1270778"/>
                </a:lnTo>
                <a:close/>
              </a:path>
            </a:pathLst>
          </a:cu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uct-04:set"/>
          <p:cNvSpPr/>
          <p:nvPr/>
        </p:nvSpPr>
        <p:spPr>
          <a:xfrm>
            <a:off x="3274560" y="2178000"/>
            <a:ext cx="3420000" cy="3420000"/>
          </a:xfrm>
          <a:prstGeom prst="ellipse">
            <a:avLst/>
          </a:prstGeom>
          <a:noFill/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4:set"/>
          <p:cNvSpPr/>
          <p:nvPr/>
        </p:nvSpPr>
        <p:spPr>
          <a:xfrm>
            <a:off x="5497560" y="2178000"/>
            <a:ext cx="3420000" cy="3420000"/>
          </a:xfrm>
          <a:prstGeom prst="ellipse">
            <a:avLst/>
          </a:prstGeom>
          <a:noFill/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4:name"/>
          <p:cNvSpPr txBox="1"/>
          <p:nvPr/>
        </p:nvSpPr>
        <p:spPr>
          <a:xfrm>
            <a:off x="3927060" y="1836000"/>
            <a:ext cx="2115000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당뇨군</a:t>
            </a:r>
          </a:p>
        </p:txBody>
      </p:sp>
      <p:sp>
        <p:nvSpPr>
          <p:cNvPr id="9" name="struct-04:name"/>
          <p:cNvSpPr txBox="1"/>
          <p:nvPr/>
        </p:nvSpPr>
        <p:spPr>
          <a:xfrm>
            <a:off x="6150060" y="1836000"/>
            <a:ext cx="2115000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비만군</a:t>
            </a:r>
          </a:p>
        </p:txBody>
      </p:sp>
      <p:sp>
        <p:nvSpPr>
          <p:cNvPr id="10" name="struct-04:value"/>
          <p:cNvSpPr txBox="1"/>
          <p:nvPr/>
        </p:nvSpPr>
        <p:spPr>
          <a:xfrm>
            <a:off x="3810060" y="3708000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33</a:t>
            </a:r>
          </a:p>
        </p:txBody>
      </p:sp>
      <p:sp>
        <p:nvSpPr>
          <p:cNvPr id="11" name="struct-04:value"/>
          <p:cNvSpPr txBox="1"/>
          <p:nvPr/>
        </p:nvSpPr>
        <p:spPr>
          <a:xfrm>
            <a:off x="7230060" y="3708000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41</a:t>
            </a:r>
          </a:p>
        </p:txBody>
      </p:sp>
      <p:sp>
        <p:nvSpPr>
          <p:cNvPr id="12" name="struct-04:overlap-text"/>
          <p:cNvSpPr txBox="1"/>
          <p:nvPr/>
        </p:nvSpPr>
        <p:spPr>
          <a:xfrm>
            <a:off x="5545440" y="3456000"/>
            <a:ext cx="110124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spc="-40">
                <a:solidFill>
                  <a:srgbClr val="FFFFFF"/>
                </a:solidFill>
              </a:rPr>
              <a:t>29</a:t>
            </a:r>
          </a:p>
          <a:p>
            <a:pPr algn="ctr">
              <a:lnSpc>
                <a:spcPct val="115000"/>
              </a:lnSpc>
            </a:pPr>
            <a:r>
              <a:rPr sz="1200" b="0" spc="-40">
                <a:solidFill>
                  <a:srgbClr val="FFFFFF"/>
                </a:solidFill>
              </a:rPr>
              <a:t>공유 균주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