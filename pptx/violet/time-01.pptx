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2단계에서 표지자 후보를 찾아요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2923032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B7ABC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970448" y="2033832"/>
            <a:ext cx="4146048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970448" y="2787312"/>
            <a:ext cx="421200" cy="4212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5181048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970448" y="3671832"/>
            <a:ext cx="414604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970448" y="4056577"/>
            <a:ext cx="4146048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970448" y="4965782"/>
            <a:ext cx="4146048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9472896" y="2033832"/>
            <a:ext cx="18948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9472896" y="2787312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9683496" y="3250632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9472896" y="3671832"/>
            <a:ext cx="189482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9472896" y="4056577"/>
            <a:ext cx="1894824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9472896" y="4965782"/>
            <a:ext cx="18948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5년을 세 단계로 나눠 진행해요</a:t>
            </a:r>
          </a:p>
        </p:txBody>
      </p:sp>
      <p:sp>
        <p:nvSpPr>
          <p:cNvPr id="5" name="time-01:band"/>
          <p:cNvSpPr/>
          <p:nvPr/>
        </p:nvSpPr>
        <p:spPr>
          <a:xfrm>
            <a:off x="468000" y="3008455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B7ABC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1:period"/>
          <p:cNvSpPr txBox="1"/>
          <p:nvPr/>
        </p:nvSpPr>
        <p:spPr>
          <a:xfrm>
            <a:off x="46800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1–2년차</a:t>
            </a:r>
          </a:p>
        </p:txBody>
      </p:sp>
      <p:sp>
        <p:nvSpPr>
          <p:cNvPr id="7" name="time-01:marker"/>
          <p:cNvSpPr/>
          <p:nvPr/>
        </p:nvSpPr>
        <p:spPr>
          <a:xfrm>
            <a:off x="46800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cxnSp>
        <p:nvCxnSpPr>
          <p:cNvPr id="8" name="time-01:tick"/>
          <p:cNvCxnSpPr/>
          <p:nvPr/>
        </p:nvCxnSpPr>
        <p:spPr>
          <a:xfrm>
            <a:off x="67860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1:title"/>
          <p:cNvSpPr txBox="1"/>
          <p:nvPr/>
        </p:nvSpPr>
        <p:spPr>
          <a:xfrm>
            <a:off x="46800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 구축</a:t>
            </a:r>
          </a:p>
        </p:txBody>
      </p:sp>
      <p:sp>
        <p:nvSpPr>
          <p:cNvPr id="10" name="time-01:goal"/>
          <p:cNvSpPr txBox="1"/>
          <p:nvPr/>
        </p:nvSpPr>
        <p:spPr>
          <a:xfrm>
            <a:off x="46800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 코호트 500명을 모집하고 임상 정보와 검체를 확보한다</a:t>
            </a:r>
          </a:p>
        </p:txBody>
      </p:sp>
      <p:sp>
        <p:nvSpPr>
          <p:cNvPr id="11" name="time-01:output"/>
          <p:cNvSpPr txBox="1"/>
          <p:nvPr/>
        </p:nvSpPr>
        <p:spPr>
          <a:xfrm>
            <a:off x="46800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코호트 500명 · 검체 은행 등록</a:t>
            </a:r>
          </a:p>
        </p:txBody>
      </p:sp>
      <p:sp>
        <p:nvSpPr>
          <p:cNvPr id="12" name="time-01:period"/>
          <p:cNvSpPr txBox="1"/>
          <p:nvPr/>
        </p:nvSpPr>
        <p:spPr>
          <a:xfrm>
            <a:off x="422004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3–4년차</a:t>
            </a:r>
          </a:p>
        </p:txBody>
      </p:sp>
      <p:sp>
        <p:nvSpPr>
          <p:cNvPr id="13" name="time-01:marker"/>
          <p:cNvSpPr/>
          <p:nvPr/>
        </p:nvSpPr>
        <p:spPr>
          <a:xfrm>
            <a:off x="422004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cxnSp>
        <p:nvCxnSpPr>
          <p:cNvPr id="14" name="time-01:tick"/>
          <p:cNvCxnSpPr/>
          <p:nvPr/>
        </p:nvCxnSpPr>
        <p:spPr>
          <a:xfrm>
            <a:off x="443064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me-01:title"/>
          <p:cNvSpPr txBox="1"/>
          <p:nvPr/>
        </p:nvSpPr>
        <p:spPr>
          <a:xfrm>
            <a:off x="422004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표지자 발굴</a:t>
            </a:r>
          </a:p>
        </p:txBody>
      </p:sp>
      <p:sp>
        <p:nvSpPr>
          <p:cNvPr id="16" name="time-01:goal"/>
          <p:cNvSpPr txBox="1"/>
          <p:nvPr/>
        </p:nvSpPr>
        <p:spPr>
          <a:xfrm>
            <a:off x="422004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scRNA-seq로 질환 특이 세포 유형과 표지자 후보를 찾는다</a:t>
            </a:r>
          </a:p>
        </p:txBody>
      </p:sp>
      <p:sp>
        <p:nvSpPr>
          <p:cNvPr id="17" name="time-01:output"/>
          <p:cNvSpPr txBox="1"/>
          <p:nvPr/>
        </p:nvSpPr>
        <p:spPr>
          <a:xfrm>
            <a:off x="422004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후보 표지자 20개 · 논문 2편</a:t>
            </a:r>
          </a:p>
        </p:txBody>
      </p:sp>
      <p:sp>
        <p:nvSpPr>
          <p:cNvPr id="18" name="time-01:period"/>
          <p:cNvSpPr txBox="1"/>
          <p:nvPr/>
        </p:nvSpPr>
        <p:spPr>
          <a:xfrm>
            <a:off x="7972080" y="2119255"/>
            <a:ext cx="339564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5년차</a:t>
            </a:r>
          </a:p>
        </p:txBody>
      </p:sp>
      <p:sp>
        <p:nvSpPr>
          <p:cNvPr id="19" name="time-01:marker"/>
          <p:cNvSpPr/>
          <p:nvPr/>
        </p:nvSpPr>
        <p:spPr>
          <a:xfrm>
            <a:off x="7972080" y="287273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cxnSp>
        <p:nvCxnSpPr>
          <p:cNvPr id="20" name="time-01:tick"/>
          <p:cNvCxnSpPr/>
          <p:nvPr/>
        </p:nvCxnSpPr>
        <p:spPr>
          <a:xfrm>
            <a:off x="8182680" y="3336055"/>
            <a:ext cx="0" cy="3276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ime-01:title"/>
          <p:cNvSpPr txBox="1"/>
          <p:nvPr/>
        </p:nvSpPr>
        <p:spPr>
          <a:xfrm>
            <a:off x="7972080" y="3757255"/>
            <a:ext cx="33956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sp>
        <p:nvSpPr>
          <p:cNvPr id="22" name="time-01:goal"/>
          <p:cNvSpPr txBox="1"/>
          <p:nvPr/>
        </p:nvSpPr>
        <p:spPr>
          <a:xfrm>
            <a:off x="7972080" y="4142000"/>
            <a:ext cx="3395640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독립 코호트에서 후보 표지자의 진단 성능을 검증한다</a:t>
            </a:r>
          </a:p>
        </p:txBody>
      </p:sp>
      <p:sp>
        <p:nvSpPr>
          <p:cNvPr id="23" name="time-01:output"/>
          <p:cNvSpPr txBox="1"/>
          <p:nvPr/>
        </p:nvSpPr>
        <p:spPr>
          <a:xfrm>
            <a:off x="7972080" y="4794936"/>
            <a:ext cx="339564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262B33"/>
                </a:solidFill>
                <a:latin typeface="Pretendard Medium"/>
                <a:ea typeface="Pretendard Medium"/>
                <a:cs typeface="Pretendard Medium"/>
              </a:rPr>
              <a:t>검증 표지자 3개 · 특허 출원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