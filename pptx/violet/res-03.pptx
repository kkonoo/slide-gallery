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(res-03-b).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분석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군 간 비교는 pseudobulk로 해요</a:t>
            </a:r>
          </a:p>
        </p:txBody>
      </p:sp>
      <p:sp>
        <p:nvSpPr>
          <p:cNvPr id="5" name="res-03:bg"/>
          <p:cNvSpPr/>
          <p:nvPr/>
        </p:nvSpPr>
        <p:spPr>
          <a:xfrm>
            <a:off x="468000" y="2038175"/>
            <a:ext cx="2078424" cy="3155475"/>
          </a:xfrm>
          <a:prstGeom prst="rect">
            <a:avLst/>
          </a:prstGeom>
          <a:solidFill>
            <a:srgbClr val="ED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3:step"/>
          <p:cNvSpPr txBox="1"/>
          <p:nvPr/>
        </p:nvSpPr>
        <p:spPr>
          <a:xfrm>
            <a:off x="468000" y="2182175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1단계</a:t>
            </a:r>
          </a:p>
        </p:txBody>
      </p:sp>
      <p:sp>
        <p:nvSpPr>
          <p:cNvPr id="7" name="res-03:pill"/>
          <p:cNvSpPr/>
          <p:nvPr/>
        </p:nvSpPr>
        <p:spPr>
          <a:xfrm>
            <a:off x="792000" y="2452175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3:name"/>
          <p:cNvSpPr txBox="1"/>
          <p:nvPr/>
        </p:nvSpPr>
        <p:spPr>
          <a:xfrm>
            <a:off x="792000" y="2452175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4B2C7F"/>
                </a:solidFill>
              </a:rPr>
              <a:t>품질관리</a:t>
            </a:r>
          </a:p>
        </p:txBody>
      </p:sp>
      <p:sp>
        <p:nvSpPr>
          <p:cNvPr id="9" name="res-03:lines"/>
          <p:cNvSpPr txBox="1"/>
          <p:nvPr/>
        </p:nvSpPr>
        <p:spPr>
          <a:xfrm>
            <a:off x="648000" y="3082175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Scrublet · scater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count 행렬 → 걸러진 세포</a:t>
            </a:r>
          </a:p>
        </p:txBody>
      </p:sp>
      <p:sp>
        <p:nvSpPr>
          <p:cNvPr id="10" name="res-03:sep"/>
          <p:cNvSpPr txBox="1"/>
          <p:nvPr/>
        </p:nvSpPr>
        <p:spPr>
          <a:xfrm>
            <a:off x="2510424" y="2416175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B7ABCC"/>
                </a:solidFill>
              </a:rPr>
              <a:t>›</a:t>
            </a:r>
          </a:p>
        </p:txBody>
      </p:sp>
      <p:sp>
        <p:nvSpPr>
          <p:cNvPr id="11" name="res-03:bg"/>
          <p:cNvSpPr/>
          <p:nvPr/>
        </p:nvSpPr>
        <p:spPr>
          <a:xfrm>
            <a:off x="2762424" y="2038175"/>
            <a:ext cx="2078424" cy="3155475"/>
          </a:xfrm>
          <a:prstGeom prst="rect">
            <a:avLst/>
          </a:prstGeom>
          <a:solidFill>
            <a:srgbClr val="ED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3:step"/>
          <p:cNvSpPr txBox="1"/>
          <p:nvPr/>
        </p:nvSpPr>
        <p:spPr>
          <a:xfrm>
            <a:off x="2762424" y="2182175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2단계</a:t>
            </a:r>
          </a:p>
        </p:txBody>
      </p:sp>
      <p:sp>
        <p:nvSpPr>
          <p:cNvPr id="13" name="res-03:pill"/>
          <p:cNvSpPr/>
          <p:nvPr/>
        </p:nvSpPr>
        <p:spPr>
          <a:xfrm>
            <a:off x="3086424" y="2452175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3:name"/>
          <p:cNvSpPr txBox="1"/>
          <p:nvPr/>
        </p:nvSpPr>
        <p:spPr>
          <a:xfrm>
            <a:off x="3086424" y="2452175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4B2C7F"/>
                </a:solidFill>
              </a:rPr>
              <a:t>정규화</a:t>
            </a:r>
          </a:p>
        </p:txBody>
      </p:sp>
      <p:sp>
        <p:nvSpPr>
          <p:cNvPr id="15" name="res-03:lines"/>
          <p:cNvSpPr txBox="1"/>
          <p:nvPr/>
        </p:nvSpPr>
        <p:spPr>
          <a:xfrm>
            <a:off x="2942424" y="3082175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SCTransform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정규화 발현</a:t>
            </a:r>
          </a:p>
        </p:txBody>
      </p:sp>
      <p:sp>
        <p:nvSpPr>
          <p:cNvPr id="16" name="res-03:sep"/>
          <p:cNvSpPr txBox="1"/>
          <p:nvPr/>
        </p:nvSpPr>
        <p:spPr>
          <a:xfrm>
            <a:off x="4804848" y="2416175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B7ABCC"/>
                </a:solidFill>
              </a:rPr>
              <a:t>›</a:t>
            </a:r>
          </a:p>
        </p:txBody>
      </p:sp>
      <p:sp>
        <p:nvSpPr>
          <p:cNvPr id="17" name="res-03:bg"/>
          <p:cNvSpPr/>
          <p:nvPr/>
        </p:nvSpPr>
        <p:spPr>
          <a:xfrm>
            <a:off x="5056848" y="2038175"/>
            <a:ext cx="2078424" cy="3155475"/>
          </a:xfrm>
          <a:prstGeom prst="rect">
            <a:avLst/>
          </a:prstGeom>
          <a:solidFill>
            <a:srgbClr val="ED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3:step"/>
          <p:cNvSpPr txBox="1"/>
          <p:nvPr/>
        </p:nvSpPr>
        <p:spPr>
          <a:xfrm>
            <a:off x="5056848" y="2182175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3단계</a:t>
            </a:r>
          </a:p>
        </p:txBody>
      </p:sp>
      <p:sp>
        <p:nvSpPr>
          <p:cNvPr id="19" name="res-03:pill"/>
          <p:cNvSpPr/>
          <p:nvPr/>
        </p:nvSpPr>
        <p:spPr>
          <a:xfrm>
            <a:off x="5380848" y="2452175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3:name"/>
          <p:cNvSpPr txBox="1"/>
          <p:nvPr/>
        </p:nvSpPr>
        <p:spPr>
          <a:xfrm>
            <a:off x="5380848" y="2452175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4B2C7F"/>
                </a:solidFill>
              </a:rPr>
              <a:t>통합 · 군집</a:t>
            </a:r>
          </a:p>
        </p:txBody>
      </p:sp>
      <p:sp>
        <p:nvSpPr>
          <p:cNvPr id="21" name="res-03:lines"/>
          <p:cNvSpPr txBox="1"/>
          <p:nvPr/>
        </p:nvSpPr>
        <p:spPr>
          <a:xfrm>
            <a:off x="5236848" y="3082175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Harmony · Leiden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군집 번호</a:t>
            </a:r>
          </a:p>
        </p:txBody>
      </p:sp>
      <p:sp>
        <p:nvSpPr>
          <p:cNvPr id="22" name="res-03:sep"/>
          <p:cNvSpPr txBox="1"/>
          <p:nvPr/>
        </p:nvSpPr>
        <p:spPr>
          <a:xfrm>
            <a:off x="7099272" y="2416175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B7ABCC"/>
                </a:solidFill>
              </a:rPr>
              <a:t>›</a:t>
            </a:r>
          </a:p>
        </p:txBody>
      </p:sp>
      <p:sp>
        <p:nvSpPr>
          <p:cNvPr id="23" name="res-03:bg"/>
          <p:cNvSpPr/>
          <p:nvPr/>
        </p:nvSpPr>
        <p:spPr>
          <a:xfrm>
            <a:off x="7351272" y="2038175"/>
            <a:ext cx="2078424" cy="3155475"/>
          </a:xfrm>
          <a:prstGeom prst="rect">
            <a:avLst/>
          </a:prstGeom>
          <a:solidFill>
            <a:srgbClr val="ED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3:step"/>
          <p:cNvSpPr txBox="1"/>
          <p:nvPr/>
        </p:nvSpPr>
        <p:spPr>
          <a:xfrm>
            <a:off x="7351272" y="2182175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4단계</a:t>
            </a:r>
          </a:p>
        </p:txBody>
      </p:sp>
      <p:sp>
        <p:nvSpPr>
          <p:cNvPr id="25" name="res-03:pill"/>
          <p:cNvSpPr/>
          <p:nvPr/>
        </p:nvSpPr>
        <p:spPr>
          <a:xfrm>
            <a:off x="7675272" y="2452175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3:name"/>
          <p:cNvSpPr txBox="1"/>
          <p:nvPr/>
        </p:nvSpPr>
        <p:spPr>
          <a:xfrm>
            <a:off x="7675272" y="2452175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4B2C7F"/>
                </a:solidFill>
              </a:rPr>
              <a:t>세포 유형 주석</a:t>
            </a:r>
          </a:p>
        </p:txBody>
      </p:sp>
      <p:sp>
        <p:nvSpPr>
          <p:cNvPr id="27" name="res-03:lines"/>
          <p:cNvSpPr txBox="1"/>
          <p:nvPr/>
        </p:nvSpPr>
        <p:spPr>
          <a:xfrm>
            <a:off x="7531272" y="3082175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SingleR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세포 유형</a:t>
            </a:r>
          </a:p>
        </p:txBody>
      </p:sp>
      <p:sp>
        <p:nvSpPr>
          <p:cNvPr id="28" name="res-03:sep"/>
          <p:cNvSpPr txBox="1"/>
          <p:nvPr/>
        </p:nvSpPr>
        <p:spPr>
          <a:xfrm>
            <a:off x="9393696" y="2416175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B7ABCC"/>
                </a:solidFill>
              </a:rPr>
              <a:t>›</a:t>
            </a:r>
          </a:p>
        </p:txBody>
      </p:sp>
      <p:sp>
        <p:nvSpPr>
          <p:cNvPr id="29" name="res-03:bg"/>
          <p:cNvSpPr/>
          <p:nvPr/>
        </p:nvSpPr>
        <p:spPr>
          <a:xfrm>
            <a:off x="9645696" y="2038175"/>
            <a:ext cx="2078424" cy="3155475"/>
          </a:xfrm>
          <a:prstGeom prst="rect">
            <a:avLst/>
          </a:prstGeom>
          <a:solidFill>
            <a:srgbClr val="DF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s-03:step"/>
          <p:cNvSpPr txBox="1"/>
          <p:nvPr/>
        </p:nvSpPr>
        <p:spPr>
          <a:xfrm>
            <a:off x="9645696" y="2182175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5단계</a:t>
            </a:r>
          </a:p>
        </p:txBody>
      </p:sp>
      <p:sp>
        <p:nvSpPr>
          <p:cNvPr id="31" name="res-03:pill"/>
          <p:cNvSpPr/>
          <p:nvPr/>
        </p:nvSpPr>
        <p:spPr>
          <a:xfrm>
            <a:off x="9969696" y="2452175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4B2C7F"/>
          </a:solidFill>
          <a:ln w="12700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s-03:name"/>
          <p:cNvSpPr txBox="1"/>
          <p:nvPr/>
        </p:nvSpPr>
        <p:spPr>
          <a:xfrm>
            <a:off x="9969696" y="2452175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FFFFFF"/>
                </a:solidFill>
              </a:rPr>
              <a:t>군 간 비교</a:t>
            </a:r>
          </a:p>
        </p:txBody>
      </p:sp>
      <p:sp>
        <p:nvSpPr>
          <p:cNvPr id="33" name="res-03:lines"/>
          <p:cNvSpPr txBox="1"/>
          <p:nvPr/>
        </p:nvSpPr>
        <p:spPr>
          <a:xfrm>
            <a:off x="9825696" y="3082175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pseudobulk DESeq2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차등발현 유전자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분석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다섯 단계를 거쳐 차등발현 유전자를 얻어요</a:t>
            </a:r>
          </a:p>
        </p:txBody>
      </p:sp>
      <p:sp>
        <p:nvSpPr>
          <p:cNvPr id="5" name="res-03:bg"/>
          <p:cNvSpPr/>
          <p:nvPr/>
        </p:nvSpPr>
        <p:spPr>
          <a:xfrm>
            <a:off x="468000" y="1896468"/>
            <a:ext cx="2078424" cy="2862000"/>
          </a:xfrm>
          <a:prstGeom prst="rect">
            <a:avLst/>
          </a:prstGeom>
          <a:solidFill>
            <a:srgbClr val="ED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3:step"/>
          <p:cNvSpPr txBox="1"/>
          <p:nvPr/>
        </p:nvSpPr>
        <p:spPr>
          <a:xfrm>
            <a:off x="468000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1단계</a:t>
            </a:r>
          </a:p>
        </p:txBody>
      </p:sp>
      <p:sp>
        <p:nvSpPr>
          <p:cNvPr id="7" name="res-03:pill"/>
          <p:cNvSpPr/>
          <p:nvPr/>
        </p:nvSpPr>
        <p:spPr>
          <a:xfrm>
            <a:off x="792000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3:name"/>
          <p:cNvSpPr txBox="1"/>
          <p:nvPr/>
        </p:nvSpPr>
        <p:spPr>
          <a:xfrm>
            <a:off x="792000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4B2C7F"/>
                </a:solidFill>
              </a:rPr>
              <a:t>품질관리</a:t>
            </a:r>
          </a:p>
        </p:txBody>
      </p:sp>
      <p:sp>
        <p:nvSpPr>
          <p:cNvPr id="9" name="res-03:lines"/>
          <p:cNvSpPr txBox="1"/>
          <p:nvPr/>
        </p:nvSpPr>
        <p:spPr>
          <a:xfrm>
            <a:off x="648000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Scrublet · scater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count 행렬 → 걸러진 세포</a:t>
            </a:r>
          </a:p>
        </p:txBody>
      </p:sp>
      <p:sp>
        <p:nvSpPr>
          <p:cNvPr id="10" name="res-03:sep"/>
          <p:cNvSpPr txBox="1"/>
          <p:nvPr/>
        </p:nvSpPr>
        <p:spPr>
          <a:xfrm>
            <a:off x="2510424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B7ABCC"/>
                </a:solidFill>
              </a:rPr>
              <a:t>›</a:t>
            </a:r>
          </a:p>
        </p:txBody>
      </p:sp>
      <p:sp>
        <p:nvSpPr>
          <p:cNvPr id="11" name="res-03:bg"/>
          <p:cNvSpPr/>
          <p:nvPr/>
        </p:nvSpPr>
        <p:spPr>
          <a:xfrm>
            <a:off x="2762424" y="1896468"/>
            <a:ext cx="2078424" cy="2862000"/>
          </a:xfrm>
          <a:prstGeom prst="rect">
            <a:avLst/>
          </a:prstGeom>
          <a:solidFill>
            <a:srgbClr val="ED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3:step"/>
          <p:cNvSpPr txBox="1"/>
          <p:nvPr/>
        </p:nvSpPr>
        <p:spPr>
          <a:xfrm>
            <a:off x="2762424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2단계</a:t>
            </a:r>
          </a:p>
        </p:txBody>
      </p:sp>
      <p:sp>
        <p:nvSpPr>
          <p:cNvPr id="13" name="res-03:pill"/>
          <p:cNvSpPr/>
          <p:nvPr/>
        </p:nvSpPr>
        <p:spPr>
          <a:xfrm>
            <a:off x="3086424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3:name"/>
          <p:cNvSpPr txBox="1"/>
          <p:nvPr/>
        </p:nvSpPr>
        <p:spPr>
          <a:xfrm>
            <a:off x="3086424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4B2C7F"/>
                </a:solidFill>
              </a:rPr>
              <a:t>정규화</a:t>
            </a:r>
          </a:p>
        </p:txBody>
      </p:sp>
      <p:sp>
        <p:nvSpPr>
          <p:cNvPr id="15" name="res-03:lines"/>
          <p:cNvSpPr txBox="1"/>
          <p:nvPr/>
        </p:nvSpPr>
        <p:spPr>
          <a:xfrm>
            <a:off x="2942424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SCTransform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정규화 발현</a:t>
            </a:r>
          </a:p>
        </p:txBody>
      </p:sp>
      <p:sp>
        <p:nvSpPr>
          <p:cNvPr id="16" name="res-03:sep"/>
          <p:cNvSpPr txBox="1"/>
          <p:nvPr/>
        </p:nvSpPr>
        <p:spPr>
          <a:xfrm>
            <a:off x="4804848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B7ABCC"/>
                </a:solidFill>
              </a:rPr>
              <a:t>›</a:t>
            </a:r>
          </a:p>
        </p:txBody>
      </p:sp>
      <p:sp>
        <p:nvSpPr>
          <p:cNvPr id="17" name="res-03:bg"/>
          <p:cNvSpPr/>
          <p:nvPr/>
        </p:nvSpPr>
        <p:spPr>
          <a:xfrm>
            <a:off x="5056848" y="1896468"/>
            <a:ext cx="2078424" cy="2862000"/>
          </a:xfrm>
          <a:prstGeom prst="rect">
            <a:avLst/>
          </a:prstGeom>
          <a:solidFill>
            <a:srgbClr val="ED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3:step"/>
          <p:cNvSpPr txBox="1"/>
          <p:nvPr/>
        </p:nvSpPr>
        <p:spPr>
          <a:xfrm>
            <a:off x="5056848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3단계</a:t>
            </a:r>
          </a:p>
        </p:txBody>
      </p:sp>
      <p:sp>
        <p:nvSpPr>
          <p:cNvPr id="19" name="res-03:pill"/>
          <p:cNvSpPr/>
          <p:nvPr/>
        </p:nvSpPr>
        <p:spPr>
          <a:xfrm>
            <a:off x="5380848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3:name"/>
          <p:cNvSpPr txBox="1"/>
          <p:nvPr/>
        </p:nvSpPr>
        <p:spPr>
          <a:xfrm>
            <a:off x="5380848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4B2C7F"/>
                </a:solidFill>
              </a:rPr>
              <a:t>통합 · 군집</a:t>
            </a:r>
          </a:p>
        </p:txBody>
      </p:sp>
      <p:sp>
        <p:nvSpPr>
          <p:cNvPr id="21" name="res-03:lines"/>
          <p:cNvSpPr txBox="1"/>
          <p:nvPr/>
        </p:nvSpPr>
        <p:spPr>
          <a:xfrm>
            <a:off x="5236848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Harmony · Leiden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군집 번호</a:t>
            </a:r>
          </a:p>
        </p:txBody>
      </p:sp>
      <p:sp>
        <p:nvSpPr>
          <p:cNvPr id="22" name="res-03:sep"/>
          <p:cNvSpPr txBox="1"/>
          <p:nvPr/>
        </p:nvSpPr>
        <p:spPr>
          <a:xfrm>
            <a:off x="7099272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B7ABCC"/>
                </a:solidFill>
              </a:rPr>
              <a:t>›</a:t>
            </a:r>
          </a:p>
        </p:txBody>
      </p:sp>
      <p:sp>
        <p:nvSpPr>
          <p:cNvPr id="23" name="res-03:bg"/>
          <p:cNvSpPr/>
          <p:nvPr/>
        </p:nvSpPr>
        <p:spPr>
          <a:xfrm>
            <a:off x="7351272" y="1896468"/>
            <a:ext cx="2078424" cy="2862000"/>
          </a:xfrm>
          <a:prstGeom prst="rect">
            <a:avLst/>
          </a:prstGeom>
          <a:solidFill>
            <a:srgbClr val="ED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3:step"/>
          <p:cNvSpPr txBox="1"/>
          <p:nvPr/>
        </p:nvSpPr>
        <p:spPr>
          <a:xfrm>
            <a:off x="7351272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4단계</a:t>
            </a:r>
          </a:p>
        </p:txBody>
      </p:sp>
      <p:sp>
        <p:nvSpPr>
          <p:cNvPr id="25" name="res-03:pill"/>
          <p:cNvSpPr/>
          <p:nvPr/>
        </p:nvSpPr>
        <p:spPr>
          <a:xfrm>
            <a:off x="7675272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3:name"/>
          <p:cNvSpPr txBox="1"/>
          <p:nvPr/>
        </p:nvSpPr>
        <p:spPr>
          <a:xfrm>
            <a:off x="7675272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4B2C7F"/>
                </a:solidFill>
              </a:rPr>
              <a:t>세포 유형 주석</a:t>
            </a:r>
          </a:p>
        </p:txBody>
      </p:sp>
      <p:sp>
        <p:nvSpPr>
          <p:cNvPr id="27" name="res-03:lines"/>
          <p:cNvSpPr txBox="1"/>
          <p:nvPr/>
        </p:nvSpPr>
        <p:spPr>
          <a:xfrm>
            <a:off x="7531272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SingleR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세포 유형</a:t>
            </a:r>
          </a:p>
        </p:txBody>
      </p:sp>
      <p:sp>
        <p:nvSpPr>
          <p:cNvPr id="28" name="res-03:sep"/>
          <p:cNvSpPr txBox="1"/>
          <p:nvPr/>
        </p:nvSpPr>
        <p:spPr>
          <a:xfrm>
            <a:off x="9393696" y="2274468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B7ABCC"/>
                </a:solidFill>
              </a:rPr>
              <a:t>›</a:t>
            </a:r>
          </a:p>
        </p:txBody>
      </p:sp>
      <p:sp>
        <p:nvSpPr>
          <p:cNvPr id="29" name="res-03:bg"/>
          <p:cNvSpPr/>
          <p:nvPr/>
        </p:nvSpPr>
        <p:spPr>
          <a:xfrm>
            <a:off x="9645696" y="1896468"/>
            <a:ext cx="2078424" cy="2862000"/>
          </a:xfrm>
          <a:prstGeom prst="rect">
            <a:avLst/>
          </a:prstGeom>
          <a:solidFill>
            <a:srgbClr val="ED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s-03:step"/>
          <p:cNvSpPr txBox="1"/>
          <p:nvPr/>
        </p:nvSpPr>
        <p:spPr>
          <a:xfrm>
            <a:off x="9645696" y="2040468"/>
            <a:ext cx="207842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5단계</a:t>
            </a:r>
          </a:p>
        </p:txBody>
      </p:sp>
      <p:sp>
        <p:nvSpPr>
          <p:cNvPr id="31" name="res-03:pill"/>
          <p:cNvSpPr/>
          <p:nvPr/>
        </p:nvSpPr>
        <p:spPr>
          <a:xfrm>
            <a:off x="9969696" y="2310468"/>
            <a:ext cx="1430424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s-03:name"/>
          <p:cNvSpPr txBox="1"/>
          <p:nvPr/>
        </p:nvSpPr>
        <p:spPr>
          <a:xfrm>
            <a:off x="9969696" y="2310468"/>
            <a:ext cx="1430424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4B2C7F"/>
                </a:solidFill>
              </a:rPr>
              <a:t>군 간 비교</a:t>
            </a:r>
          </a:p>
        </p:txBody>
      </p:sp>
      <p:sp>
        <p:nvSpPr>
          <p:cNvPr id="33" name="res-03:lines"/>
          <p:cNvSpPr txBox="1"/>
          <p:nvPr/>
        </p:nvSpPr>
        <p:spPr>
          <a:xfrm>
            <a:off x="9825696" y="2940468"/>
            <a:ext cx="1718424" cy="94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pseudobulk DESeq2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차등발현 유전자</a:t>
            </a:r>
          </a:p>
        </p:txBody>
      </p:sp>
      <p:cxnSp>
        <p:nvCxnSpPr>
          <p:cNvPr id="34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onclusion:label"/>
          <p:cNvSpPr txBox="1"/>
          <p:nvPr/>
        </p:nvSpPr>
        <p:spPr>
          <a:xfrm>
            <a:off x="468000" y="5172468"/>
            <a:ext cx="2160000" cy="28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최종 산출물</a:t>
            </a:r>
          </a:p>
        </p:txBody>
      </p:sp>
      <p:sp>
        <p:nvSpPr>
          <p:cNvPr id="36" name="conclusion:text"/>
          <p:cNvSpPr txBox="1"/>
          <p:nvPr/>
        </p:nvSpPr>
        <p:spPr>
          <a:xfrm>
            <a:off x="2808000" y="5172468"/>
            <a:ext cx="891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세포 유형별 차등발현 유전자 표와 volcano plot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바이올렛 클린 16:9">
  <a:themeElements>
    <a:clrScheme name="HaLab 바이올렛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B2C7F"/>
      </a:accent1>
      <a:accent2>
        <a:srgbClr val="8A76AC"/>
      </a:accent2>
      <a:accent3>
        <a:srgbClr val="B7ABCC"/>
      </a:accent3>
      <a:accent4>
        <a:srgbClr val="FFC93D"/>
      </a:accent4>
      <a:accent5>
        <a:srgbClr val="B7ABCC"/>
      </a:accent5>
      <a:accent6>
        <a:srgbClr val="E2E5EA"/>
      </a:accent6>
      <a:hlink>
        <a:srgbClr val="4B2C7F"/>
      </a:hlink>
      <a:folHlink>
        <a:srgbClr val="B7ABC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