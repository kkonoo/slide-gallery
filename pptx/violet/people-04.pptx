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기관이 시료부터 검증까지 한 단계씩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시료 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검증 실험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27722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277220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대학병원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3932166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3932166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3223469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120명 모집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10348155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10348155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9639457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임상 정보 대조</a:t>
            </a:r>
          </a:p>
        </p:txBody>
      </p:sp>
      <p:cxnSp>
        <p:nvCxnSpPr>
          <p:cNvPr id="17" name="people-04:row-rule"/>
          <p:cNvCxnSpPr/>
          <p:nvPr/>
        </p:nvCxnSpPr>
        <p:spPr>
          <a:xfrm>
            <a:off x="468000" y="289753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eople-04:name"/>
          <p:cNvSpPr txBox="1"/>
          <p:nvPr/>
        </p:nvSpPr>
        <p:spPr>
          <a:xfrm>
            <a:off x="468000" y="2897532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연구소</a:t>
            </a:r>
          </a:p>
        </p:txBody>
      </p:sp>
      <p:sp>
        <p:nvSpPr>
          <p:cNvPr id="19" name="people-04:mark"/>
          <p:cNvSpPr/>
          <p:nvPr/>
        </p:nvSpPr>
        <p:spPr>
          <a:xfrm>
            <a:off x="3932166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eople-04:mark-text"/>
          <p:cNvSpPr txBox="1"/>
          <p:nvPr/>
        </p:nvSpPr>
        <p:spPr>
          <a:xfrm>
            <a:off x="3932166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21" name="people-04:cell-text"/>
          <p:cNvSpPr txBox="1"/>
          <p:nvPr/>
        </p:nvSpPr>
        <p:spPr>
          <a:xfrm>
            <a:off x="3223469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조직 해리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6070829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6070829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5362132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10x 라이브러리</a:t>
            </a:r>
          </a:p>
        </p:txBody>
      </p:sp>
      <p:cxnSp>
        <p:nvCxnSpPr>
          <p:cNvPr id="25" name="people-04:row-rule"/>
          <p:cNvCxnSpPr/>
          <p:nvPr/>
        </p:nvCxnSpPr>
        <p:spPr>
          <a:xfrm>
            <a:off x="468000" y="351784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eople-04:name"/>
          <p:cNvSpPr txBox="1"/>
          <p:nvPr/>
        </p:nvSpPr>
        <p:spPr>
          <a:xfrm>
            <a:off x="468000" y="3517844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대학 (주관기관)</a:t>
            </a:r>
          </a:p>
        </p:txBody>
      </p:sp>
      <p:sp>
        <p:nvSpPr>
          <p:cNvPr id="27" name="people-04:mark"/>
          <p:cNvSpPr/>
          <p:nvPr/>
        </p:nvSpPr>
        <p:spPr>
          <a:xfrm>
            <a:off x="6070829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people-04:mark-text"/>
          <p:cNvSpPr txBox="1"/>
          <p:nvPr/>
        </p:nvSpPr>
        <p:spPr>
          <a:xfrm>
            <a:off x="6070829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29" name="people-04:cell-text"/>
          <p:cNvSpPr txBox="1"/>
          <p:nvPr/>
        </p:nvSpPr>
        <p:spPr>
          <a:xfrm>
            <a:off x="5362132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8209492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8209492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7500794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통합 · 군집</a:t>
            </a:r>
          </a:p>
        </p:txBody>
      </p:sp>
      <p:sp>
        <p:nvSpPr>
          <p:cNvPr id="33" name="people-04:mark"/>
          <p:cNvSpPr/>
          <p:nvPr/>
        </p:nvSpPr>
        <p:spPr>
          <a:xfrm>
            <a:off x="10348155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people-04:mark-text"/>
          <p:cNvSpPr txBox="1"/>
          <p:nvPr/>
        </p:nvSpPr>
        <p:spPr>
          <a:xfrm>
            <a:off x="10348155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35" name="people-04:cell-text"/>
          <p:cNvSpPr txBox="1"/>
          <p:nvPr/>
        </p:nvSpPr>
        <p:spPr>
          <a:xfrm>
            <a:off x="9639457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36" name="people-04:row-rule"/>
          <p:cNvCxnSpPr/>
          <p:nvPr/>
        </p:nvCxnSpPr>
        <p:spPr>
          <a:xfrm>
            <a:off x="468000" y="413815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people-04:name"/>
          <p:cNvSpPr txBox="1"/>
          <p:nvPr/>
        </p:nvSpPr>
        <p:spPr>
          <a:xfrm>
            <a:off x="468000" y="4138156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 기업</a:t>
            </a:r>
          </a:p>
        </p:txBody>
      </p:sp>
      <p:sp>
        <p:nvSpPr>
          <p:cNvPr id="38" name="people-04:mark"/>
          <p:cNvSpPr/>
          <p:nvPr/>
        </p:nvSpPr>
        <p:spPr>
          <a:xfrm>
            <a:off x="8209492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people-04:mark-text"/>
          <p:cNvSpPr txBox="1"/>
          <p:nvPr/>
        </p:nvSpPr>
        <p:spPr>
          <a:xfrm>
            <a:off x="8209492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40" name="people-04:cell-text"/>
          <p:cNvSpPr txBox="1"/>
          <p:nvPr/>
        </p:nvSpPr>
        <p:spPr>
          <a:xfrm>
            <a:off x="7500794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클라우드 분석</a:t>
            </a:r>
          </a:p>
        </p:txBody>
      </p:sp>
      <p:sp>
        <p:nvSpPr>
          <p:cNvPr id="41" name="people-04:mark"/>
          <p:cNvSpPr/>
          <p:nvPr/>
        </p:nvSpPr>
        <p:spPr>
          <a:xfrm>
            <a:off x="10348155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people-04:mark-text"/>
          <p:cNvSpPr txBox="1"/>
          <p:nvPr/>
        </p:nvSpPr>
        <p:spPr>
          <a:xfrm>
            <a:off x="10348155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43" name="people-04:cell-text"/>
          <p:cNvSpPr txBox="1"/>
          <p:nvPr/>
        </p:nvSpPr>
        <p:spPr>
          <a:xfrm>
            <a:off x="9639457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다중 염색 검증</a:t>
            </a:r>
          </a:p>
        </p:txBody>
      </p:sp>
      <p:cxnSp>
        <p:nvCxnSpPr>
          <p:cNvPr id="4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매달 네 기관이 데이터 회의를 열고, 원자료는 C 대학 서버 한 곳에 모은다.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역할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명이 실험 · 분석 · 관리를 겹치지 않게 맡는다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습식 실험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6093019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분석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8944570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장비 · 시약 관리</a:t>
            </a:r>
          </a:p>
        </p:txBody>
      </p:sp>
      <p:cxnSp>
        <p:nvCxnSpPr>
          <p:cNvPr id="8" name="people-04:head-rule"/>
          <p:cNvCxnSpPr/>
          <p:nvPr/>
        </p:nvCxnSpPr>
        <p:spPr>
          <a:xfrm>
            <a:off x="468000" y="2055145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eople-04:name"/>
          <p:cNvSpPr txBox="1"/>
          <p:nvPr/>
        </p:nvSpPr>
        <p:spPr>
          <a:xfrm>
            <a:off x="468000" y="2055145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김OO (박사과정)</a:t>
            </a:r>
          </a:p>
        </p:txBody>
      </p:sp>
      <p:sp>
        <p:nvSpPr>
          <p:cNvPr id="10" name="people-04:mark"/>
          <p:cNvSpPr/>
          <p:nvPr/>
        </p:nvSpPr>
        <p:spPr>
          <a:xfrm>
            <a:off x="4266658" y="2306830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4:mark-text"/>
          <p:cNvSpPr txBox="1"/>
          <p:nvPr/>
        </p:nvSpPr>
        <p:spPr>
          <a:xfrm>
            <a:off x="4266658" y="2306830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7118208" y="2306830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7118208" y="2306830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B2C7F"/>
                </a:solidFill>
              </a:rPr>
              <a:t>참여</a:t>
            </a:r>
          </a:p>
        </p:txBody>
      </p:sp>
      <p:cxnSp>
        <p:nvCxnSpPr>
          <p:cNvPr id="14" name="people-04:row-rule"/>
          <p:cNvCxnSpPr/>
          <p:nvPr/>
        </p:nvCxnSpPr>
        <p:spPr>
          <a:xfrm>
            <a:off x="468000" y="28645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eople-04:name"/>
          <p:cNvSpPr txBox="1"/>
          <p:nvPr/>
        </p:nvSpPr>
        <p:spPr>
          <a:xfrm>
            <a:off x="468000" y="2864516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이OO (석사과정)</a:t>
            </a:r>
          </a:p>
        </p:txBody>
      </p:sp>
      <p:sp>
        <p:nvSpPr>
          <p:cNvPr id="16" name="people-04:mark"/>
          <p:cNvSpPr/>
          <p:nvPr/>
        </p:nvSpPr>
        <p:spPr>
          <a:xfrm>
            <a:off x="4266658" y="3116201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people-04:mark-text"/>
          <p:cNvSpPr txBox="1"/>
          <p:nvPr/>
        </p:nvSpPr>
        <p:spPr>
          <a:xfrm>
            <a:off x="4266658" y="3116201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18" name="people-04:mark"/>
          <p:cNvSpPr/>
          <p:nvPr/>
        </p:nvSpPr>
        <p:spPr>
          <a:xfrm>
            <a:off x="9969758" y="3116201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people-04:mark-text"/>
          <p:cNvSpPr txBox="1"/>
          <p:nvPr/>
        </p:nvSpPr>
        <p:spPr>
          <a:xfrm>
            <a:off x="9969758" y="3116201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67388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673887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박OO (석사과정)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7118208" y="3925572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7118208" y="3925572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4" name="people-04:row-rule"/>
          <p:cNvCxnSpPr/>
          <p:nvPr/>
        </p:nvCxnSpPr>
        <p:spPr>
          <a:xfrm>
            <a:off x="468000" y="448325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eople-04:name"/>
          <p:cNvSpPr txBox="1"/>
          <p:nvPr/>
        </p:nvSpPr>
        <p:spPr>
          <a:xfrm>
            <a:off x="468000" y="4483258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최OO (연구원)</a:t>
            </a:r>
          </a:p>
        </p:txBody>
      </p:sp>
      <p:sp>
        <p:nvSpPr>
          <p:cNvPr id="26" name="people-04:mark"/>
          <p:cNvSpPr/>
          <p:nvPr/>
        </p:nvSpPr>
        <p:spPr>
          <a:xfrm>
            <a:off x="4266658" y="4734943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people-04:mark-text"/>
          <p:cNvSpPr txBox="1"/>
          <p:nvPr/>
        </p:nvSpPr>
        <p:spPr>
          <a:xfrm>
            <a:off x="4266658" y="4734943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28" name="people-04:mark"/>
          <p:cNvSpPr/>
          <p:nvPr/>
        </p:nvSpPr>
        <p:spPr>
          <a:xfrm>
            <a:off x="9969758" y="4734943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people-04:mark-text"/>
          <p:cNvSpPr txBox="1"/>
          <p:nvPr/>
        </p:nvSpPr>
        <p:spPr>
          <a:xfrm>
            <a:off x="9969758" y="4734943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B2C7F"/>
                </a:solidFill>
              </a:rPr>
              <a:t>참여</a:t>
            </a:r>
          </a:p>
        </p:txBody>
      </p:sp>
      <p:cxnSp>
        <p:nvCxnSpPr>
          <p:cNvPr id="30" name="people-04:row-rule"/>
          <p:cNvCxnSpPr/>
          <p:nvPr/>
        </p:nvCxnSpPr>
        <p:spPr>
          <a:xfrm>
            <a:off x="468000" y="529262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eople-04:name"/>
          <p:cNvSpPr txBox="1"/>
          <p:nvPr/>
        </p:nvSpPr>
        <p:spPr>
          <a:xfrm>
            <a:off x="468000" y="5292629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정OO (학부 연구생)</a:t>
            </a:r>
          </a:p>
        </p:txBody>
      </p:sp>
      <p:sp>
        <p:nvSpPr>
          <p:cNvPr id="32" name="people-04:mark"/>
          <p:cNvSpPr/>
          <p:nvPr/>
        </p:nvSpPr>
        <p:spPr>
          <a:xfrm>
            <a:off x="4266658" y="5544314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people-04:mark-text"/>
          <p:cNvSpPr txBox="1"/>
          <p:nvPr/>
        </p:nvSpPr>
        <p:spPr>
          <a:xfrm>
            <a:off x="4266658" y="5544314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34" name="people-04:mark"/>
          <p:cNvSpPr/>
          <p:nvPr/>
        </p:nvSpPr>
        <p:spPr>
          <a:xfrm>
            <a:off x="7118208" y="5544314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people-04:mark-text"/>
          <p:cNvSpPr txBox="1"/>
          <p:nvPr/>
        </p:nvSpPr>
        <p:spPr>
          <a:xfrm>
            <a:off x="7118208" y="5544314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컨소시엄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다섯 세부 과제를 나눠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495239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유전체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666332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전사체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8374260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AI 모델</a:t>
            </a:r>
          </a:p>
        </p:txBody>
      </p:sp>
      <p:sp>
        <p:nvSpPr>
          <p:cNvPr id="9" name="people-04:role"/>
          <p:cNvSpPr txBox="1"/>
          <p:nvPr/>
        </p:nvSpPr>
        <p:spPr>
          <a:xfrm>
            <a:off x="10085190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cxnSp>
        <p:nvCxnSpPr>
          <p:cNvPr id="10" name="people-04:head-rule"/>
          <p:cNvCxnSpPr/>
          <p:nvPr/>
        </p:nvCxnSpPr>
        <p:spPr>
          <a:xfrm>
            <a:off x="468000" y="2396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eople-04:name"/>
          <p:cNvSpPr txBox="1"/>
          <p:nvPr/>
        </p:nvSpPr>
        <p:spPr>
          <a:xfrm>
            <a:off x="468000" y="239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단일세포 · 공간 분석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540727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540727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711820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711820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mark"/>
          <p:cNvSpPr/>
          <p:nvPr/>
        </p:nvSpPr>
        <p:spPr>
          <a:xfrm>
            <a:off x="882913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people-04:mark-text"/>
          <p:cNvSpPr txBox="1"/>
          <p:nvPr/>
        </p:nvSpPr>
        <p:spPr>
          <a:xfrm>
            <a:off x="882913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18" name="people-04:row-rule"/>
          <p:cNvCxnSpPr/>
          <p:nvPr/>
        </p:nvCxnSpPr>
        <p:spPr>
          <a:xfrm>
            <a:off x="468000" y="340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eople-04:name"/>
          <p:cNvSpPr txBox="1"/>
          <p:nvPr/>
        </p:nvSpPr>
        <p:spPr>
          <a:xfrm>
            <a:off x="468000" y="340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병원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환자 코호트 · 병리</a:t>
            </a:r>
          </a:p>
        </p:txBody>
      </p:sp>
      <p:sp>
        <p:nvSpPr>
          <p:cNvPr id="20" name="people-04:mark"/>
          <p:cNvSpPr/>
          <p:nvPr/>
        </p:nvSpPr>
        <p:spPr>
          <a:xfrm>
            <a:off x="3696347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4:mark-text"/>
          <p:cNvSpPr txBox="1"/>
          <p:nvPr/>
        </p:nvSpPr>
        <p:spPr>
          <a:xfrm>
            <a:off x="3696347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7118208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7118208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24" name="people-04:mark"/>
          <p:cNvSpPr/>
          <p:nvPr/>
        </p:nvSpPr>
        <p:spPr>
          <a:xfrm>
            <a:off x="10540068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people-04:mark-text"/>
          <p:cNvSpPr txBox="1"/>
          <p:nvPr/>
        </p:nvSpPr>
        <p:spPr>
          <a:xfrm>
            <a:off x="10540068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6" name="people-04:row-rule"/>
          <p:cNvCxnSpPr/>
          <p:nvPr/>
        </p:nvCxnSpPr>
        <p:spPr>
          <a:xfrm>
            <a:off x="468000" y="4412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eople-04:name"/>
          <p:cNvSpPr txBox="1"/>
          <p:nvPr/>
        </p:nvSpPr>
        <p:spPr>
          <a:xfrm>
            <a:off x="468000" y="4412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연구원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유전체 시퀀싱 센터</a:t>
            </a:r>
          </a:p>
        </p:txBody>
      </p:sp>
      <p:sp>
        <p:nvSpPr>
          <p:cNvPr id="28" name="people-04:mark"/>
          <p:cNvSpPr/>
          <p:nvPr/>
        </p:nvSpPr>
        <p:spPr>
          <a:xfrm>
            <a:off x="3696347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people-04:mark-text"/>
          <p:cNvSpPr txBox="1"/>
          <p:nvPr/>
        </p:nvSpPr>
        <p:spPr>
          <a:xfrm>
            <a:off x="3696347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5407278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5407278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mark"/>
          <p:cNvSpPr/>
          <p:nvPr/>
        </p:nvSpPr>
        <p:spPr>
          <a:xfrm>
            <a:off x="8829138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people-04:mark-text"/>
          <p:cNvSpPr txBox="1"/>
          <p:nvPr/>
        </p:nvSpPr>
        <p:spPr>
          <a:xfrm>
            <a:off x="8829138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기관이 시료부터 검증까지 한 단계씩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시료 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검증 실험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27722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eople-04:logo" descr="logo-ho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2461376"/>
            <a:ext cx="678825" cy="252000"/>
          </a:xfrm>
          <a:prstGeom prst="rect">
            <a:avLst/>
          </a:prstGeom>
        </p:spPr>
      </p:pic>
      <p:sp>
        <p:nvSpPr>
          <p:cNvPr id="11" name="people-04:name"/>
          <p:cNvSpPr txBox="1"/>
          <p:nvPr/>
        </p:nvSpPr>
        <p:spPr>
          <a:xfrm>
            <a:off x="1355625" y="2277220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대학병원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3932166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3932166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4" name="people-04:cell-text"/>
          <p:cNvSpPr txBox="1"/>
          <p:nvPr/>
        </p:nvSpPr>
        <p:spPr>
          <a:xfrm>
            <a:off x="3223469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120명 모집</a:t>
            </a:r>
          </a:p>
        </p:txBody>
      </p:sp>
      <p:sp>
        <p:nvSpPr>
          <p:cNvPr id="15" name="people-04:mark"/>
          <p:cNvSpPr/>
          <p:nvPr/>
        </p:nvSpPr>
        <p:spPr>
          <a:xfrm>
            <a:off x="10348155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4:mark-text"/>
          <p:cNvSpPr txBox="1"/>
          <p:nvPr/>
        </p:nvSpPr>
        <p:spPr>
          <a:xfrm>
            <a:off x="10348155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17" name="people-04:cell-text"/>
          <p:cNvSpPr txBox="1"/>
          <p:nvPr/>
        </p:nvSpPr>
        <p:spPr>
          <a:xfrm>
            <a:off x="9639457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임상 정보 대조</a:t>
            </a:r>
          </a:p>
        </p:txBody>
      </p:sp>
      <p:cxnSp>
        <p:nvCxnSpPr>
          <p:cNvPr id="18" name="people-04:row-rule"/>
          <p:cNvCxnSpPr/>
          <p:nvPr/>
        </p:nvCxnSpPr>
        <p:spPr>
          <a:xfrm>
            <a:off x="468000" y="289753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eople-04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3081688"/>
            <a:ext cx="779625" cy="252000"/>
          </a:xfrm>
          <a:prstGeom prst="rect">
            <a:avLst/>
          </a:prstGeom>
        </p:spPr>
      </p:pic>
      <p:sp>
        <p:nvSpPr>
          <p:cNvPr id="20" name="people-04:name"/>
          <p:cNvSpPr txBox="1"/>
          <p:nvPr/>
        </p:nvSpPr>
        <p:spPr>
          <a:xfrm>
            <a:off x="1355625" y="2897532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연구소</a:t>
            </a:r>
          </a:p>
        </p:txBody>
      </p:sp>
      <p:sp>
        <p:nvSpPr>
          <p:cNvPr id="21" name="people-04:mark"/>
          <p:cNvSpPr/>
          <p:nvPr/>
        </p:nvSpPr>
        <p:spPr>
          <a:xfrm>
            <a:off x="3932166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people-04:mark-text"/>
          <p:cNvSpPr txBox="1"/>
          <p:nvPr/>
        </p:nvSpPr>
        <p:spPr>
          <a:xfrm>
            <a:off x="3932166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23" name="people-04:cell-text"/>
          <p:cNvSpPr txBox="1"/>
          <p:nvPr/>
        </p:nvSpPr>
        <p:spPr>
          <a:xfrm>
            <a:off x="3223469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조직 해리</a:t>
            </a:r>
          </a:p>
        </p:txBody>
      </p:sp>
      <p:sp>
        <p:nvSpPr>
          <p:cNvPr id="24" name="people-04:mark"/>
          <p:cNvSpPr/>
          <p:nvPr/>
        </p:nvSpPr>
        <p:spPr>
          <a:xfrm>
            <a:off x="6070829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people-04:mark-text"/>
          <p:cNvSpPr txBox="1"/>
          <p:nvPr/>
        </p:nvSpPr>
        <p:spPr>
          <a:xfrm>
            <a:off x="6070829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6" name="people-04:cell-text"/>
          <p:cNvSpPr txBox="1"/>
          <p:nvPr/>
        </p:nvSpPr>
        <p:spPr>
          <a:xfrm>
            <a:off x="5362132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10x 라이브러리</a:t>
            </a:r>
          </a:p>
        </p:txBody>
      </p:sp>
      <p:cxnSp>
        <p:nvCxnSpPr>
          <p:cNvPr id="27" name="people-04:row-rule"/>
          <p:cNvCxnSpPr/>
          <p:nvPr/>
        </p:nvCxnSpPr>
        <p:spPr>
          <a:xfrm>
            <a:off x="468000" y="351784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eople-04:logo" descr="logo-uni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0" y="3702000"/>
            <a:ext cx="779625" cy="252000"/>
          </a:xfrm>
          <a:prstGeom prst="rect">
            <a:avLst/>
          </a:prstGeom>
        </p:spPr>
      </p:pic>
      <p:sp>
        <p:nvSpPr>
          <p:cNvPr id="29" name="people-04:name"/>
          <p:cNvSpPr txBox="1"/>
          <p:nvPr/>
        </p:nvSpPr>
        <p:spPr>
          <a:xfrm>
            <a:off x="1355625" y="3517844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대학 (주관기관)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6070829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6070829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5362132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33" name="people-04:mark"/>
          <p:cNvSpPr/>
          <p:nvPr/>
        </p:nvSpPr>
        <p:spPr>
          <a:xfrm>
            <a:off x="8209492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people-04:mark-text"/>
          <p:cNvSpPr txBox="1"/>
          <p:nvPr/>
        </p:nvSpPr>
        <p:spPr>
          <a:xfrm>
            <a:off x="8209492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5" name="people-04:cell-text"/>
          <p:cNvSpPr txBox="1"/>
          <p:nvPr/>
        </p:nvSpPr>
        <p:spPr>
          <a:xfrm>
            <a:off x="7500794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통합 · 군집</a:t>
            </a:r>
          </a:p>
        </p:txBody>
      </p:sp>
      <p:sp>
        <p:nvSpPr>
          <p:cNvPr id="36" name="people-04:mark"/>
          <p:cNvSpPr/>
          <p:nvPr/>
        </p:nvSpPr>
        <p:spPr>
          <a:xfrm>
            <a:off x="10348155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people-04:mark-text"/>
          <p:cNvSpPr txBox="1"/>
          <p:nvPr/>
        </p:nvSpPr>
        <p:spPr>
          <a:xfrm>
            <a:off x="10348155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38" name="people-04:cell-text"/>
          <p:cNvSpPr txBox="1"/>
          <p:nvPr/>
        </p:nvSpPr>
        <p:spPr>
          <a:xfrm>
            <a:off x="9639457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39" name="people-04:row-rule"/>
          <p:cNvCxnSpPr/>
          <p:nvPr/>
        </p:nvCxnSpPr>
        <p:spPr>
          <a:xfrm>
            <a:off x="468000" y="413815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eople-04:logo" descr="logo-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00" y="4322312"/>
            <a:ext cx="779625" cy="252000"/>
          </a:xfrm>
          <a:prstGeom prst="rect">
            <a:avLst/>
          </a:prstGeom>
        </p:spPr>
      </p:pic>
      <p:sp>
        <p:nvSpPr>
          <p:cNvPr id="41" name="people-04:name"/>
          <p:cNvSpPr txBox="1"/>
          <p:nvPr/>
        </p:nvSpPr>
        <p:spPr>
          <a:xfrm>
            <a:off x="1355625" y="4138156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 기업</a:t>
            </a:r>
          </a:p>
        </p:txBody>
      </p:sp>
      <p:sp>
        <p:nvSpPr>
          <p:cNvPr id="42" name="people-04:mark"/>
          <p:cNvSpPr/>
          <p:nvPr/>
        </p:nvSpPr>
        <p:spPr>
          <a:xfrm>
            <a:off x="8209492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people-04:mark-text"/>
          <p:cNvSpPr txBox="1"/>
          <p:nvPr/>
        </p:nvSpPr>
        <p:spPr>
          <a:xfrm>
            <a:off x="8209492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44" name="people-04:cell-text"/>
          <p:cNvSpPr txBox="1"/>
          <p:nvPr/>
        </p:nvSpPr>
        <p:spPr>
          <a:xfrm>
            <a:off x="7500794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클라우드 분석</a:t>
            </a:r>
          </a:p>
        </p:txBody>
      </p:sp>
      <p:sp>
        <p:nvSpPr>
          <p:cNvPr id="45" name="people-04:mark"/>
          <p:cNvSpPr/>
          <p:nvPr/>
        </p:nvSpPr>
        <p:spPr>
          <a:xfrm>
            <a:off x="10348155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people-04:mark-text"/>
          <p:cNvSpPr txBox="1"/>
          <p:nvPr/>
        </p:nvSpPr>
        <p:spPr>
          <a:xfrm>
            <a:off x="10348155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47" name="people-04:cell-text"/>
          <p:cNvSpPr txBox="1"/>
          <p:nvPr/>
        </p:nvSpPr>
        <p:spPr>
          <a:xfrm>
            <a:off x="9639457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다중 염색 검증</a:t>
            </a:r>
          </a:p>
        </p:txBody>
      </p:sp>
      <p:cxnSp>
        <p:nvCxnSpPr>
          <p:cNvPr id="48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매달 네 기관이 데이터 회의를 열고, 원자료는 C 대학 서버 한 곳에 모은다.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