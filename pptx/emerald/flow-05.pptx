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(flow-05-a).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(flow-05-b).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(flow-05-c).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QC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 기준을 통과한 샘플만 정렬·정량으로 넘어간다</a:t>
            </a:r>
          </a:p>
        </p:txBody>
      </p:sp>
      <p:sp>
        <p:nvSpPr>
          <p:cNvPr id="5" name="flow-05:start"/>
          <p:cNvSpPr/>
          <p:nvPr/>
        </p:nvSpPr>
        <p:spPr>
          <a:xfrm>
            <a:off x="4745326" y="1896468"/>
            <a:ext cx="2701469" cy="48136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5:start-text"/>
          <p:cNvSpPr txBox="1"/>
          <p:nvPr/>
        </p:nvSpPr>
        <p:spPr>
          <a:xfrm>
            <a:off x="4925326" y="1896468"/>
            <a:ext cx="2341469" cy="48136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시퀀싱 원자료 (FASTQ)</a:t>
            </a:r>
          </a:p>
        </p:txBody>
      </p:sp>
      <p:cxnSp>
        <p:nvCxnSpPr>
          <p:cNvPr id="7" name="flow-05:trunk"/>
          <p:cNvCxnSpPr/>
          <p:nvPr/>
        </p:nvCxnSpPr>
        <p:spPr>
          <a:xfrm>
            <a:off x="6096060" y="2377835"/>
            <a:ext cx="0" cy="304188"/>
          </a:xfrm>
          <a:prstGeom prst="line">
            <a:avLst/>
          </a:prstGeom>
          <a:ln w="15875">
            <a:solidFill>
              <a:srgbClr val="0B6E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low-05:decision"/>
          <p:cNvSpPr/>
          <p:nvPr/>
        </p:nvSpPr>
        <p:spPr>
          <a:xfrm>
            <a:off x="4745326" y="2682023"/>
            <a:ext cx="2701469" cy="543145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flow-05:decision-text"/>
          <p:cNvSpPr txBox="1"/>
          <p:nvPr/>
        </p:nvSpPr>
        <p:spPr>
          <a:xfrm>
            <a:off x="4925326" y="2682023"/>
            <a:ext cx="2341469" cy="543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QC 기준 통과?</a:t>
            </a:r>
          </a:p>
        </p:txBody>
      </p:sp>
      <p:cxnSp>
        <p:nvCxnSpPr>
          <p:cNvPr id="10" name="flow-05:branch"/>
          <p:cNvCxnSpPr/>
          <p:nvPr/>
        </p:nvCxnSpPr>
        <p:spPr>
          <a:xfrm flipH="1">
            <a:off x="3282030" y="2953595"/>
            <a:ext cx="1463296" cy="0"/>
          </a:xfrm>
          <a:prstGeom prst="line">
            <a:avLst/>
          </a:prstGeom>
          <a:ln w="15875">
            <a:solidFill>
              <a:srgbClr val="0B6E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flow-05:branch"/>
          <p:cNvCxnSpPr/>
          <p:nvPr/>
        </p:nvCxnSpPr>
        <p:spPr>
          <a:xfrm>
            <a:off x="3282030" y="2953595"/>
            <a:ext cx="0" cy="913637"/>
          </a:xfrm>
          <a:prstGeom prst="line">
            <a:avLst/>
          </a:prstGeom>
          <a:ln w="15875">
            <a:solidFill>
              <a:srgbClr val="0B6E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-05:condition"/>
          <p:cNvSpPr/>
          <p:nvPr/>
        </p:nvSpPr>
        <p:spPr>
          <a:xfrm>
            <a:off x="3011396" y="3411200"/>
            <a:ext cx="541268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flow-05:condition-text"/>
          <p:cNvSpPr txBox="1"/>
          <p:nvPr/>
        </p:nvSpPr>
        <p:spPr>
          <a:xfrm>
            <a:off x="3011396" y="3411200"/>
            <a:ext cx="541268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0B6E5A"/>
                </a:solidFill>
              </a:rPr>
              <a:t>통과</a:t>
            </a:r>
          </a:p>
        </p:txBody>
      </p:sp>
      <p:sp>
        <p:nvSpPr>
          <p:cNvPr id="14" name="flow-05:result"/>
          <p:cNvSpPr/>
          <p:nvPr/>
        </p:nvSpPr>
        <p:spPr>
          <a:xfrm>
            <a:off x="1482030" y="3867232"/>
            <a:ext cx="3600000" cy="891236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flow-05:result-text"/>
          <p:cNvSpPr txBox="1"/>
          <p:nvPr/>
        </p:nvSpPr>
        <p:spPr>
          <a:xfrm>
            <a:off x="1626030" y="3867232"/>
            <a:ext cx="3312000" cy="8912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1" spc="-40">
                <a:solidFill>
                  <a:srgbClr val="FFFFFF"/>
                </a:solidFill>
              </a:rPr>
              <a:t>정렬 · 정량</a:t>
            </a:r>
          </a:p>
          <a:p>
            <a:pPr algn="ctr">
              <a:lnSpc>
                <a:spcPct val="125000"/>
              </a:lnSpc>
              <a:spcBef>
                <a:spcPts val="200"/>
              </a:spcBef>
            </a:pPr>
            <a:r>
              <a:rPr sz="1300" b="0" spc="-40">
                <a:solidFill>
                  <a:srgbClr val="FFFFFF"/>
                </a:solidFill>
              </a:rPr>
              <a:t>STAR 정렬 후 유전자별 count</a:t>
            </a:r>
          </a:p>
        </p:txBody>
      </p:sp>
      <p:cxnSp>
        <p:nvCxnSpPr>
          <p:cNvPr id="16" name="flow-05:branch"/>
          <p:cNvCxnSpPr/>
          <p:nvPr/>
        </p:nvCxnSpPr>
        <p:spPr>
          <a:xfrm>
            <a:off x="7446794" y="2953595"/>
            <a:ext cx="1463296" cy="0"/>
          </a:xfrm>
          <a:prstGeom prst="line">
            <a:avLst/>
          </a:prstGeom>
          <a:ln w="9525">
            <a:solidFill>
              <a:srgbClr val="AEB1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flow-05:branch"/>
          <p:cNvCxnSpPr/>
          <p:nvPr/>
        </p:nvCxnSpPr>
        <p:spPr>
          <a:xfrm>
            <a:off x="8910090" y="2953595"/>
            <a:ext cx="0" cy="913637"/>
          </a:xfrm>
          <a:prstGeom prst="line">
            <a:avLst/>
          </a:prstGeom>
          <a:ln w="9525">
            <a:solidFill>
              <a:srgbClr val="AEB1B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low-05:condition"/>
          <p:cNvSpPr/>
          <p:nvPr/>
        </p:nvSpPr>
        <p:spPr>
          <a:xfrm>
            <a:off x="8639456" y="3411200"/>
            <a:ext cx="541268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EB1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flow-05:condition-text"/>
          <p:cNvSpPr txBox="1"/>
          <p:nvPr/>
        </p:nvSpPr>
        <p:spPr>
          <a:xfrm>
            <a:off x="8639456" y="3411200"/>
            <a:ext cx="541268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미달</a:t>
            </a:r>
          </a:p>
        </p:txBody>
      </p:sp>
      <p:sp>
        <p:nvSpPr>
          <p:cNvPr id="20" name="flow-05:result"/>
          <p:cNvSpPr/>
          <p:nvPr/>
        </p:nvSpPr>
        <p:spPr>
          <a:xfrm>
            <a:off x="7110090" y="3867232"/>
            <a:ext cx="3600000" cy="89123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flow-05:result-text"/>
          <p:cNvSpPr txBox="1"/>
          <p:nvPr/>
        </p:nvSpPr>
        <p:spPr>
          <a:xfrm>
            <a:off x="7254090" y="3867232"/>
            <a:ext cx="3312000" cy="8912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재시퀀싱 요청</a:t>
            </a:r>
          </a:p>
          <a:p>
            <a:pPr algn="ctr">
              <a:lnSpc>
                <a:spcPct val="125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같은 라이브러리로 업체에 재요청</a:t>
            </a:r>
          </a:p>
        </p:txBody>
      </p:sp>
      <p:cxnSp>
        <p:nvCxnSpPr>
          <p:cNvPr id="22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120개 샘플 중 102개가 통과해 바로 분석에 들어갔다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주석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참조와 맞지 않는 클러스터는 새 세포 유형 후보로 따로 본다</a:t>
            </a:r>
          </a:p>
        </p:txBody>
      </p:sp>
      <p:sp>
        <p:nvSpPr>
          <p:cNvPr id="5" name="flow-05:decision"/>
          <p:cNvSpPr/>
          <p:nvPr/>
        </p:nvSpPr>
        <p:spPr>
          <a:xfrm>
            <a:off x="4745326" y="1896468"/>
            <a:ext cx="2701469" cy="543145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5:decision-text"/>
          <p:cNvSpPr txBox="1"/>
          <p:nvPr/>
        </p:nvSpPr>
        <p:spPr>
          <a:xfrm>
            <a:off x="4925326" y="1896468"/>
            <a:ext cx="2341469" cy="543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참조 주석과 일치도는?</a:t>
            </a:r>
          </a:p>
        </p:txBody>
      </p:sp>
      <p:cxnSp>
        <p:nvCxnSpPr>
          <p:cNvPr id="7" name="flow-05:branch"/>
          <p:cNvCxnSpPr/>
          <p:nvPr/>
        </p:nvCxnSpPr>
        <p:spPr>
          <a:xfrm flipH="1">
            <a:off x="2344020" y="2168040"/>
            <a:ext cx="2401306" cy="0"/>
          </a:xfrm>
          <a:prstGeom prst="line">
            <a:avLst/>
          </a:prstGeom>
          <a:ln w="9525">
            <a:solidFill>
              <a:srgbClr val="AEB1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flow-05:branch"/>
          <p:cNvCxnSpPr/>
          <p:nvPr/>
        </p:nvCxnSpPr>
        <p:spPr>
          <a:xfrm>
            <a:off x="2344020" y="2168040"/>
            <a:ext cx="0" cy="1468382"/>
          </a:xfrm>
          <a:prstGeom prst="line">
            <a:avLst/>
          </a:prstGeom>
          <a:ln w="9525">
            <a:solidFill>
              <a:srgbClr val="AEB1B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-05:condition"/>
          <p:cNvSpPr/>
          <p:nvPr/>
        </p:nvSpPr>
        <p:spPr>
          <a:xfrm>
            <a:off x="1893566" y="2903018"/>
            <a:ext cx="900908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EB1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5:condition-text"/>
          <p:cNvSpPr txBox="1"/>
          <p:nvPr/>
        </p:nvSpPr>
        <p:spPr>
          <a:xfrm>
            <a:off x="1893566" y="2903018"/>
            <a:ext cx="900908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90% 이상</a:t>
            </a:r>
          </a:p>
        </p:txBody>
      </p:sp>
      <p:sp>
        <p:nvSpPr>
          <p:cNvPr id="11" name="flow-05:result"/>
          <p:cNvSpPr/>
          <p:nvPr/>
        </p:nvSpPr>
        <p:spPr>
          <a:xfrm>
            <a:off x="724020" y="3636422"/>
            <a:ext cx="3240000" cy="112204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5:result-text"/>
          <p:cNvSpPr txBox="1"/>
          <p:nvPr/>
        </p:nvSpPr>
        <p:spPr>
          <a:xfrm>
            <a:off x="868020" y="3636422"/>
            <a:ext cx="2952000" cy="112204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자동 주석 확정</a:t>
            </a:r>
          </a:p>
          <a:p>
            <a:pPr algn="ctr">
              <a:lnSpc>
                <a:spcPct val="125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참조 라벨을 그대로 쓴다</a:t>
            </a:r>
          </a:p>
        </p:txBody>
      </p:sp>
      <p:cxnSp>
        <p:nvCxnSpPr>
          <p:cNvPr id="13" name="flow-05:branch"/>
          <p:cNvCxnSpPr/>
          <p:nvPr/>
        </p:nvCxnSpPr>
        <p:spPr>
          <a:xfrm>
            <a:off x="6096060" y="2439613"/>
            <a:ext cx="0" cy="1196809"/>
          </a:xfrm>
          <a:prstGeom prst="line">
            <a:avLst/>
          </a:prstGeom>
          <a:ln w="9525">
            <a:solidFill>
              <a:srgbClr val="AEB1B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flow-05:condition"/>
          <p:cNvSpPr/>
          <p:nvPr/>
        </p:nvSpPr>
        <p:spPr>
          <a:xfrm>
            <a:off x="5665363" y="2903018"/>
            <a:ext cx="861393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EB1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flow-05:condition-text"/>
          <p:cNvSpPr txBox="1"/>
          <p:nvPr/>
        </p:nvSpPr>
        <p:spPr>
          <a:xfrm>
            <a:off x="5665363" y="2903018"/>
            <a:ext cx="861393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70–90%</a:t>
            </a:r>
          </a:p>
        </p:txBody>
      </p:sp>
      <p:sp>
        <p:nvSpPr>
          <p:cNvPr id="16" name="flow-05:result"/>
          <p:cNvSpPr/>
          <p:nvPr/>
        </p:nvSpPr>
        <p:spPr>
          <a:xfrm>
            <a:off x="4476060" y="3636422"/>
            <a:ext cx="3240000" cy="112204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flow-05:result-text"/>
          <p:cNvSpPr txBox="1"/>
          <p:nvPr/>
        </p:nvSpPr>
        <p:spPr>
          <a:xfrm>
            <a:off x="4620060" y="3636422"/>
            <a:ext cx="2952000" cy="112204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마커로 수동 확인</a:t>
            </a:r>
          </a:p>
          <a:p>
            <a:pPr algn="ctr">
              <a:lnSpc>
                <a:spcPct val="125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알려진 마커 유전자 3개 이상</a:t>
            </a:r>
          </a:p>
        </p:txBody>
      </p:sp>
      <p:cxnSp>
        <p:nvCxnSpPr>
          <p:cNvPr id="18" name="flow-05:branch"/>
          <p:cNvCxnSpPr/>
          <p:nvPr/>
        </p:nvCxnSpPr>
        <p:spPr>
          <a:xfrm>
            <a:off x="7446794" y="2168040"/>
            <a:ext cx="2401306" cy="0"/>
          </a:xfrm>
          <a:prstGeom prst="line">
            <a:avLst/>
          </a:prstGeom>
          <a:ln w="15875">
            <a:solidFill>
              <a:srgbClr val="0B6E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flow-05:branch"/>
          <p:cNvCxnSpPr/>
          <p:nvPr/>
        </p:nvCxnSpPr>
        <p:spPr>
          <a:xfrm>
            <a:off x="9848100" y="2168040"/>
            <a:ext cx="0" cy="1468382"/>
          </a:xfrm>
          <a:prstGeom prst="line">
            <a:avLst/>
          </a:prstGeom>
          <a:ln w="15875">
            <a:solidFill>
              <a:srgbClr val="0B6E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flow-05:condition"/>
          <p:cNvSpPr/>
          <p:nvPr/>
        </p:nvSpPr>
        <p:spPr>
          <a:xfrm>
            <a:off x="9403934" y="2903018"/>
            <a:ext cx="888332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flow-05:condition-text"/>
          <p:cNvSpPr txBox="1"/>
          <p:nvPr/>
        </p:nvSpPr>
        <p:spPr>
          <a:xfrm>
            <a:off x="9403934" y="2903018"/>
            <a:ext cx="888332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0B6E5A"/>
                </a:solidFill>
              </a:rPr>
              <a:t>70% 미만</a:t>
            </a:r>
          </a:p>
        </p:txBody>
      </p:sp>
      <p:sp>
        <p:nvSpPr>
          <p:cNvPr id="22" name="flow-05:result"/>
          <p:cNvSpPr/>
          <p:nvPr/>
        </p:nvSpPr>
        <p:spPr>
          <a:xfrm>
            <a:off x="8228100" y="3636422"/>
            <a:ext cx="3240000" cy="1122046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flow-05:result-text"/>
          <p:cNvSpPr txBox="1"/>
          <p:nvPr/>
        </p:nvSpPr>
        <p:spPr>
          <a:xfrm>
            <a:off x="8372100" y="3636422"/>
            <a:ext cx="2952000" cy="112204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1" spc="-40">
                <a:solidFill>
                  <a:srgbClr val="FFFFFF"/>
                </a:solidFill>
              </a:rPr>
              <a:t>새 세포 유형 후보</a:t>
            </a:r>
          </a:p>
          <a:p>
            <a:pPr algn="ctr">
              <a:lnSpc>
                <a:spcPct val="125000"/>
              </a:lnSpc>
              <a:spcBef>
                <a:spcPts val="200"/>
              </a:spcBef>
            </a:pPr>
            <a:r>
              <a:rPr sz="1300" b="0" spc="-40">
                <a:solidFill>
                  <a:srgbClr val="FFFFFF"/>
                </a:solidFill>
              </a:rPr>
              <a:t>추가 실험으로 검증</a:t>
            </a:r>
          </a:p>
        </p:txBody>
      </p:sp>
      <p:cxnSp>
        <p:nvCxnSpPr>
          <p:cNvPr id="24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클러스터 24개 중 3개가 후보로 남았다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변이 해석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병원성 기준을 만족한 변이만 임상 보고서에 싣는다</a:t>
            </a:r>
          </a:p>
        </p:txBody>
      </p:sp>
      <p:sp>
        <p:nvSpPr>
          <p:cNvPr id="5" name="flow-05:start"/>
          <p:cNvSpPr/>
          <p:nvPr/>
        </p:nvSpPr>
        <p:spPr>
          <a:xfrm>
            <a:off x="4745326" y="1988825"/>
            <a:ext cx="2701469" cy="54616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5:start-text"/>
          <p:cNvSpPr txBox="1"/>
          <p:nvPr/>
        </p:nvSpPr>
        <p:spPr>
          <a:xfrm>
            <a:off x="4979326" y="1988825"/>
            <a:ext cx="2233469" cy="54616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후보 변이 목록</a:t>
            </a:r>
          </a:p>
        </p:txBody>
      </p:sp>
      <p:cxnSp>
        <p:nvCxnSpPr>
          <p:cNvPr id="7" name="flow-05:trunk"/>
          <p:cNvCxnSpPr/>
          <p:nvPr/>
        </p:nvCxnSpPr>
        <p:spPr>
          <a:xfrm>
            <a:off x="6096060" y="2534991"/>
            <a:ext cx="0" cy="3744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low-05:decision"/>
          <p:cNvSpPr/>
          <p:nvPr/>
        </p:nvSpPr>
        <p:spPr>
          <a:xfrm>
            <a:off x="4692674" y="2909391"/>
            <a:ext cx="2806771" cy="618745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flow-05:decision-text"/>
          <p:cNvSpPr txBox="1"/>
          <p:nvPr/>
        </p:nvSpPr>
        <p:spPr>
          <a:xfrm>
            <a:off x="4926674" y="2909391"/>
            <a:ext cx="2338772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ACMG 병원성 기준 충족?</a:t>
            </a:r>
          </a:p>
        </p:txBody>
      </p:sp>
      <p:cxnSp>
        <p:nvCxnSpPr>
          <p:cNvPr id="10" name="flow-05:branch"/>
          <p:cNvCxnSpPr/>
          <p:nvPr/>
        </p:nvCxnSpPr>
        <p:spPr>
          <a:xfrm flipH="1">
            <a:off x="3282030" y="3218764"/>
            <a:ext cx="1410644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flow-05:branch"/>
          <p:cNvCxnSpPr/>
          <p:nvPr/>
        </p:nvCxnSpPr>
        <p:spPr>
          <a:xfrm>
            <a:off x="3282030" y="3218764"/>
            <a:ext cx="0" cy="1104972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-05:condition"/>
          <p:cNvSpPr/>
          <p:nvPr/>
        </p:nvSpPr>
        <p:spPr>
          <a:xfrm>
            <a:off x="2968196" y="3750436"/>
            <a:ext cx="627668" cy="35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flow-05:condition-text"/>
          <p:cNvSpPr txBox="1"/>
          <p:nvPr/>
        </p:nvSpPr>
        <p:spPr>
          <a:xfrm>
            <a:off x="2968196" y="3750436"/>
            <a:ext cx="627668" cy="3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충족</a:t>
            </a:r>
          </a:p>
        </p:txBody>
      </p:sp>
      <p:sp>
        <p:nvSpPr>
          <p:cNvPr id="14" name="flow-05:result"/>
          <p:cNvSpPr/>
          <p:nvPr/>
        </p:nvSpPr>
        <p:spPr>
          <a:xfrm>
            <a:off x="942030" y="4323736"/>
            <a:ext cx="4680000" cy="968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flow-05:result-text"/>
          <p:cNvSpPr txBox="1"/>
          <p:nvPr/>
        </p:nvSpPr>
        <p:spPr>
          <a:xfrm>
            <a:off x="1129230" y="4323736"/>
            <a:ext cx="4305600" cy="96861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임상 보고서</a:t>
            </a:r>
          </a:p>
          <a:p>
            <a:pPr algn="ctr">
              <a:lnSpc>
                <a:spcPct val="125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담당 의사에게 2주 안에 전달</a:t>
            </a:r>
          </a:p>
        </p:txBody>
      </p:sp>
      <p:cxnSp>
        <p:nvCxnSpPr>
          <p:cNvPr id="16" name="flow-05:branch"/>
          <p:cNvCxnSpPr/>
          <p:nvPr/>
        </p:nvCxnSpPr>
        <p:spPr>
          <a:xfrm>
            <a:off x="7499446" y="3218764"/>
            <a:ext cx="1410644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flow-05:branch"/>
          <p:cNvCxnSpPr/>
          <p:nvPr/>
        </p:nvCxnSpPr>
        <p:spPr>
          <a:xfrm>
            <a:off x="8910090" y="3218764"/>
            <a:ext cx="0" cy="1104972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low-05:condition"/>
          <p:cNvSpPr/>
          <p:nvPr/>
        </p:nvSpPr>
        <p:spPr>
          <a:xfrm>
            <a:off x="8532939" y="3750436"/>
            <a:ext cx="754302" cy="35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flow-05:condition-text"/>
          <p:cNvSpPr txBox="1"/>
          <p:nvPr/>
        </p:nvSpPr>
        <p:spPr>
          <a:xfrm>
            <a:off x="8532939" y="3750436"/>
            <a:ext cx="754302" cy="3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미충족</a:t>
            </a:r>
          </a:p>
        </p:txBody>
      </p:sp>
      <p:sp>
        <p:nvSpPr>
          <p:cNvPr id="20" name="flow-05:result"/>
          <p:cNvSpPr/>
          <p:nvPr/>
        </p:nvSpPr>
        <p:spPr>
          <a:xfrm>
            <a:off x="6570090" y="4323736"/>
            <a:ext cx="4680000" cy="968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flow-05:result-text"/>
          <p:cNvSpPr txBox="1"/>
          <p:nvPr/>
        </p:nvSpPr>
        <p:spPr>
          <a:xfrm>
            <a:off x="6757290" y="4323736"/>
            <a:ext cx="4305600" cy="96861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연구용 목록 보관</a:t>
            </a:r>
          </a:p>
          <a:p>
            <a:pPr algn="ctr">
              <a:lnSpc>
                <a:spcPct val="125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근거가 쌓이면 다시 판정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에메랄드 클린 16:9">
  <a:themeElements>
    <a:clrScheme name="HaLab 에메랄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B6E5A"/>
      </a:accent1>
      <a:accent2>
        <a:srgbClr val="60A194"/>
      </a:accent2>
      <a:accent3>
        <a:srgbClr val="9DC5BD"/>
      </a:accent3>
      <a:accent4>
        <a:srgbClr val="7B4FE0"/>
      </a:accent4>
      <a:accent5>
        <a:srgbClr val="9DC5BD"/>
      </a:accent5>
      <a:accent6>
        <a:srgbClr val="E2E5EA"/>
      </a:accent6>
      <a:hlink>
        <a:srgbClr val="0B6E5A"/>
      </a:hlink>
      <a:folHlink>
        <a:srgbClr val="9DC5BD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