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네 명이 시료 · 실험 · 분석 · 데이터를 나눠 맡아요</a:t>
            </a:r>
          </a:p>
        </p:txBody>
      </p:sp>
      <p:sp>
        <p:nvSpPr>
          <p:cNvPr id="5" name="people-01:card"/>
          <p:cNvSpPr/>
          <p:nvPr/>
        </p:nvSpPr>
        <p:spPr>
          <a:xfrm>
            <a:off x="468000" y="1584000"/>
            <a:ext cx="4727570" cy="4596654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0" y="1800000"/>
            <a:ext cx="2160000" cy="2160000"/>
          </a:xfrm>
          <a:prstGeom prst="rect">
            <a:avLst/>
          </a:prstGeom>
        </p:spPr>
      </p:pic>
      <p:sp>
        <p:nvSpPr>
          <p:cNvPr id="7" name="people-01:name"/>
          <p:cNvSpPr txBox="1"/>
          <p:nvPr/>
        </p:nvSpPr>
        <p:spPr>
          <a:xfrm>
            <a:off x="684000" y="4068000"/>
            <a:ext cx="429557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0B6E5A"/>
                </a:solidFill>
              </a:rPr>
              <a:t>홍길동</a:t>
            </a:r>
          </a:p>
        </p:txBody>
      </p:sp>
      <p:sp>
        <p:nvSpPr>
          <p:cNvPr id="8" name="people-01:role"/>
          <p:cNvSpPr/>
          <p:nvPr/>
        </p:nvSpPr>
        <p:spPr>
          <a:xfrm>
            <a:off x="684000" y="4467931"/>
            <a:ext cx="794290" cy="198000"/>
          </a:xfrm>
          <a:prstGeom prst="roundRect">
            <a:avLst>
              <a:gd name="adj" fmla="val 50000"/>
            </a:avLst>
          </a:prstGeom>
          <a:solidFill>
            <a:srgbClr val="D3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people-01:role-text"/>
          <p:cNvSpPr txBox="1"/>
          <p:nvPr/>
        </p:nvSpPr>
        <p:spPr>
          <a:xfrm>
            <a:off x="684000" y="4467931"/>
            <a:ext cx="79429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0B6E5A"/>
                </a:solidFill>
                <a:latin typeface="Pretendard Medium"/>
                <a:ea typeface="Pretendard Medium"/>
                <a:cs typeface="Pretendard Medium"/>
              </a:rPr>
              <a:t>연구책임자</a:t>
            </a:r>
          </a:p>
        </p:txBody>
      </p:sp>
      <p:sp>
        <p:nvSpPr>
          <p:cNvPr id="10" name="people-01:affil"/>
          <p:cNvSpPr txBox="1"/>
          <p:nvPr/>
        </p:nvSpPr>
        <p:spPr>
          <a:xfrm>
            <a:off x="684000" y="4737931"/>
            <a:ext cx="429557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의과대학 교수</a:t>
            </a:r>
          </a:p>
        </p:txBody>
      </p:sp>
      <p:sp>
        <p:nvSpPr>
          <p:cNvPr id="11" name="people-01:bio"/>
          <p:cNvSpPr txBox="1"/>
          <p:nvPr/>
        </p:nvSpPr>
        <p:spPr>
          <a:xfrm>
            <a:off x="684000" y="5074343"/>
            <a:ext cx="4295570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단일세포 · 공간전사체 분석 총괄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미세환경 연구 12년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공간전사체 연구실 운영 (2018–)</a:t>
            </a:r>
          </a:p>
        </p:txBody>
      </p:sp>
      <p:sp>
        <p:nvSpPr>
          <p:cNvPr id="12" name="people-01:card"/>
          <p:cNvSpPr/>
          <p:nvPr/>
        </p:nvSpPr>
        <p:spPr>
          <a:xfrm>
            <a:off x="5411570" y="1584000"/>
            <a:ext cx="6312550" cy="138821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1800000"/>
            <a:ext cx="956218" cy="956218"/>
          </a:xfrm>
          <a:prstGeom prst="rect">
            <a:avLst/>
          </a:prstGeom>
        </p:spPr>
      </p:pic>
      <p:sp>
        <p:nvSpPr>
          <p:cNvPr id="14" name="people-01:name"/>
          <p:cNvSpPr txBox="1"/>
          <p:nvPr/>
        </p:nvSpPr>
        <p:spPr>
          <a:xfrm>
            <a:off x="6763788" y="1800000"/>
            <a:ext cx="1429972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A</a:t>
            </a:r>
          </a:p>
        </p:txBody>
      </p:sp>
      <p:sp>
        <p:nvSpPr>
          <p:cNvPr id="15" name="people-01:role"/>
          <p:cNvSpPr/>
          <p:nvPr/>
        </p:nvSpPr>
        <p:spPr>
          <a:xfrm>
            <a:off x="8337761" y="1864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3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1:role-text"/>
          <p:cNvSpPr txBox="1"/>
          <p:nvPr/>
        </p:nvSpPr>
        <p:spPr>
          <a:xfrm>
            <a:off x="8337761" y="1864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0B6E5A"/>
                </a:solidFill>
                <a:latin typeface="Pretendard Medium"/>
                <a:ea typeface="Pretendard Medium"/>
                <a:cs typeface="Pretendard Medium"/>
              </a:rPr>
              <a:t>임상 시료</a:t>
            </a:r>
          </a:p>
        </p:txBody>
      </p:sp>
      <p:sp>
        <p:nvSpPr>
          <p:cNvPr id="17" name="people-01:affil"/>
          <p:cNvSpPr txBox="1"/>
          <p:nvPr/>
        </p:nvSpPr>
        <p:spPr>
          <a:xfrm>
            <a:off x="6763788" y="2163538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○○병원 병리과</a:t>
            </a:r>
          </a:p>
        </p:txBody>
      </p:sp>
      <p:sp>
        <p:nvSpPr>
          <p:cNvPr id="18" name="people-01:bio"/>
          <p:cNvSpPr txBox="1"/>
          <p:nvPr/>
        </p:nvSpPr>
        <p:spPr>
          <a:xfrm>
            <a:off x="6763788" y="2499950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조직 은행 운영</a:t>
            </a:r>
          </a:p>
        </p:txBody>
      </p:sp>
      <p:sp>
        <p:nvSpPr>
          <p:cNvPr id="19" name="people-01:card"/>
          <p:cNvSpPr/>
          <p:nvPr/>
        </p:nvSpPr>
        <p:spPr>
          <a:xfrm>
            <a:off x="5411570" y="3188218"/>
            <a:ext cx="6312550" cy="138821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3404218"/>
            <a:ext cx="956218" cy="956218"/>
          </a:xfrm>
          <a:prstGeom prst="rect">
            <a:avLst/>
          </a:prstGeom>
        </p:spPr>
      </p:pic>
      <p:sp>
        <p:nvSpPr>
          <p:cNvPr id="21" name="people-01:name"/>
          <p:cNvSpPr txBox="1"/>
          <p:nvPr/>
        </p:nvSpPr>
        <p:spPr>
          <a:xfrm>
            <a:off x="6763788" y="3404218"/>
            <a:ext cx="1409588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B</a:t>
            </a:r>
          </a:p>
        </p:txBody>
      </p:sp>
      <p:sp>
        <p:nvSpPr>
          <p:cNvPr id="22" name="people-01:role"/>
          <p:cNvSpPr/>
          <p:nvPr/>
        </p:nvSpPr>
        <p:spPr>
          <a:xfrm>
            <a:off x="8317377" y="3468987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3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1:role-text"/>
          <p:cNvSpPr txBox="1"/>
          <p:nvPr/>
        </p:nvSpPr>
        <p:spPr>
          <a:xfrm>
            <a:off x="8317377" y="3468987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0B6E5A"/>
                </a:solidFill>
                <a:latin typeface="Pretendard Medium"/>
                <a:ea typeface="Pretendard Medium"/>
                <a:cs typeface="Pretendard Medium"/>
              </a:rPr>
              <a:t>실험 검증</a:t>
            </a:r>
          </a:p>
        </p:txBody>
      </p:sp>
      <p:sp>
        <p:nvSpPr>
          <p:cNvPr id="24" name="people-01:affil"/>
          <p:cNvSpPr txBox="1"/>
          <p:nvPr/>
        </p:nvSpPr>
        <p:spPr>
          <a:xfrm>
            <a:off x="6763788" y="3767756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생명과학과</a:t>
            </a:r>
          </a:p>
        </p:txBody>
      </p:sp>
      <p:sp>
        <p:nvSpPr>
          <p:cNvPr id="25" name="people-01:bio"/>
          <p:cNvSpPr txBox="1"/>
          <p:nvPr/>
        </p:nvSpPr>
        <p:spPr>
          <a:xfrm>
            <a:off x="6763788" y="4104168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오가노이드 · CRISPR 검증</a:t>
            </a:r>
          </a:p>
        </p:txBody>
      </p:sp>
      <p:sp>
        <p:nvSpPr>
          <p:cNvPr id="26" name="people-01:card"/>
          <p:cNvSpPr/>
          <p:nvPr/>
        </p:nvSpPr>
        <p:spPr>
          <a:xfrm>
            <a:off x="5411570" y="4792436"/>
            <a:ext cx="6312550" cy="138821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7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5008436"/>
            <a:ext cx="956218" cy="956218"/>
          </a:xfrm>
          <a:prstGeom prst="rect">
            <a:avLst/>
          </a:prstGeom>
        </p:spPr>
      </p:pic>
      <p:sp>
        <p:nvSpPr>
          <p:cNvPr id="28" name="people-01:name"/>
          <p:cNvSpPr txBox="1"/>
          <p:nvPr/>
        </p:nvSpPr>
        <p:spPr>
          <a:xfrm>
            <a:off x="6763788" y="5008436"/>
            <a:ext cx="1431446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C</a:t>
            </a:r>
          </a:p>
        </p:txBody>
      </p:sp>
      <p:sp>
        <p:nvSpPr>
          <p:cNvPr id="29" name="people-01:role"/>
          <p:cNvSpPr/>
          <p:nvPr/>
        </p:nvSpPr>
        <p:spPr>
          <a:xfrm>
            <a:off x="8339234" y="5073205"/>
            <a:ext cx="823316" cy="198000"/>
          </a:xfrm>
          <a:prstGeom prst="roundRect">
            <a:avLst>
              <a:gd name="adj" fmla="val 50000"/>
            </a:avLst>
          </a:prstGeom>
          <a:solidFill>
            <a:srgbClr val="D3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people-01:role-text"/>
          <p:cNvSpPr txBox="1"/>
          <p:nvPr/>
        </p:nvSpPr>
        <p:spPr>
          <a:xfrm>
            <a:off x="8339234" y="5073205"/>
            <a:ext cx="823316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0B6E5A"/>
                </a:solidFill>
                <a:latin typeface="Pretendard Medium"/>
                <a:ea typeface="Pretendard Medium"/>
                <a:cs typeface="Pretendard Medium"/>
              </a:rPr>
              <a:t>데이터 관리</a:t>
            </a:r>
          </a:p>
        </p:txBody>
      </p:sp>
      <p:sp>
        <p:nvSpPr>
          <p:cNvPr id="31" name="people-01:affil"/>
          <p:cNvSpPr txBox="1"/>
          <p:nvPr/>
        </p:nvSpPr>
        <p:spPr>
          <a:xfrm>
            <a:off x="6763788" y="5371974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의과대학 연구교수</a:t>
            </a:r>
          </a:p>
        </p:txBody>
      </p:sp>
      <p:sp>
        <p:nvSpPr>
          <p:cNvPr id="32" name="people-01:bio"/>
          <p:cNvSpPr txBox="1"/>
          <p:nvPr/>
        </p:nvSpPr>
        <p:spPr>
          <a:xfrm>
            <a:off x="6763788" y="5708386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데이터 표준화 · 공개 저장소 등록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책임자와 참여연구원 두 명이 함께해요</a:t>
            </a:r>
          </a:p>
        </p:txBody>
      </p:sp>
      <p:sp>
        <p:nvSpPr>
          <p:cNvPr id="5" name="people-01:card"/>
          <p:cNvSpPr/>
          <p:nvPr/>
        </p:nvSpPr>
        <p:spPr>
          <a:xfrm>
            <a:off x="468000" y="1584000"/>
            <a:ext cx="472757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people-01:photo"/>
          <p:cNvSpPr/>
          <p:nvPr/>
        </p:nvSpPr>
        <p:spPr>
          <a:xfrm>
            <a:off x="684000" y="1800000"/>
            <a:ext cx="2160000" cy="2160000"/>
          </a:xfrm>
          <a:prstGeom prst="rect">
            <a:avLst/>
          </a:prstGeom>
          <a:solidFill>
            <a:srgbClr val="E7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people-01:name"/>
          <p:cNvSpPr txBox="1"/>
          <p:nvPr/>
        </p:nvSpPr>
        <p:spPr>
          <a:xfrm>
            <a:off x="684000" y="4068000"/>
            <a:ext cx="429557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0B6E5A"/>
                </a:solidFill>
              </a:rPr>
              <a:t>홍길동</a:t>
            </a:r>
          </a:p>
        </p:txBody>
      </p:sp>
      <p:sp>
        <p:nvSpPr>
          <p:cNvPr id="8" name="people-01:role"/>
          <p:cNvSpPr/>
          <p:nvPr/>
        </p:nvSpPr>
        <p:spPr>
          <a:xfrm>
            <a:off x="684000" y="4467931"/>
            <a:ext cx="794290" cy="198000"/>
          </a:xfrm>
          <a:prstGeom prst="roundRect">
            <a:avLst>
              <a:gd name="adj" fmla="val 50000"/>
            </a:avLst>
          </a:prstGeom>
          <a:solidFill>
            <a:srgbClr val="D3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people-01:role-text"/>
          <p:cNvSpPr txBox="1"/>
          <p:nvPr/>
        </p:nvSpPr>
        <p:spPr>
          <a:xfrm>
            <a:off x="684000" y="4467931"/>
            <a:ext cx="79429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0B6E5A"/>
                </a:solidFill>
                <a:latin typeface="Pretendard Medium"/>
                <a:ea typeface="Pretendard Medium"/>
                <a:cs typeface="Pretendard Medium"/>
              </a:rPr>
              <a:t>연구책임자</a:t>
            </a:r>
          </a:p>
        </p:txBody>
      </p:sp>
      <p:sp>
        <p:nvSpPr>
          <p:cNvPr id="10" name="people-01:affil"/>
          <p:cNvSpPr txBox="1"/>
          <p:nvPr/>
        </p:nvSpPr>
        <p:spPr>
          <a:xfrm>
            <a:off x="684000" y="4737931"/>
            <a:ext cx="429557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의과대학 교수</a:t>
            </a:r>
          </a:p>
        </p:txBody>
      </p:sp>
      <p:sp>
        <p:nvSpPr>
          <p:cNvPr id="11" name="people-01:bio"/>
          <p:cNvSpPr txBox="1"/>
          <p:nvPr/>
        </p:nvSpPr>
        <p:spPr>
          <a:xfrm>
            <a:off x="684000" y="5074343"/>
            <a:ext cx="4295570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단일세포 · 공간전사체 분석 총괄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미세환경 연구 12년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공간전사체 연구실 운영 (2018–)</a:t>
            </a:r>
          </a:p>
        </p:txBody>
      </p:sp>
      <p:sp>
        <p:nvSpPr>
          <p:cNvPr id="12" name="people-01:card"/>
          <p:cNvSpPr/>
          <p:nvPr/>
        </p:nvSpPr>
        <p:spPr>
          <a:xfrm>
            <a:off x="5411570" y="1584000"/>
            <a:ext cx="6312550" cy="21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people-01:photo"/>
          <p:cNvSpPr/>
          <p:nvPr/>
        </p:nvSpPr>
        <p:spPr>
          <a:xfrm>
            <a:off x="5627570" y="1800000"/>
            <a:ext cx="1152000" cy="1152000"/>
          </a:xfrm>
          <a:prstGeom prst="rect">
            <a:avLst/>
          </a:prstGeom>
          <a:solidFill>
            <a:srgbClr val="E7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people-01:name"/>
          <p:cNvSpPr txBox="1"/>
          <p:nvPr/>
        </p:nvSpPr>
        <p:spPr>
          <a:xfrm>
            <a:off x="6959570" y="1800000"/>
            <a:ext cx="1429972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A</a:t>
            </a:r>
          </a:p>
        </p:txBody>
      </p:sp>
      <p:sp>
        <p:nvSpPr>
          <p:cNvPr id="15" name="people-01:role"/>
          <p:cNvSpPr/>
          <p:nvPr/>
        </p:nvSpPr>
        <p:spPr>
          <a:xfrm>
            <a:off x="8533543" y="1864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3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1:role-text"/>
          <p:cNvSpPr txBox="1"/>
          <p:nvPr/>
        </p:nvSpPr>
        <p:spPr>
          <a:xfrm>
            <a:off x="8533543" y="1864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0B6E5A"/>
                </a:solidFill>
                <a:latin typeface="Pretendard Medium"/>
                <a:ea typeface="Pretendard Medium"/>
                <a:cs typeface="Pretendard Medium"/>
              </a:rPr>
              <a:t>임상 시료</a:t>
            </a:r>
          </a:p>
        </p:txBody>
      </p:sp>
      <p:sp>
        <p:nvSpPr>
          <p:cNvPr id="17" name="people-01:affil"/>
          <p:cNvSpPr txBox="1"/>
          <p:nvPr/>
        </p:nvSpPr>
        <p:spPr>
          <a:xfrm>
            <a:off x="6959570" y="2163538"/>
            <a:ext cx="454855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○○병원 병리과</a:t>
            </a:r>
          </a:p>
        </p:txBody>
      </p:sp>
      <p:sp>
        <p:nvSpPr>
          <p:cNvPr id="18" name="people-01:bio"/>
          <p:cNvSpPr txBox="1"/>
          <p:nvPr/>
        </p:nvSpPr>
        <p:spPr>
          <a:xfrm>
            <a:off x="6959570" y="2499950"/>
            <a:ext cx="454855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조직 은행 운영</a:t>
            </a:r>
          </a:p>
        </p:txBody>
      </p:sp>
      <p:sp>
        <p:nvSpPr>
          <p:cNvPr id="19" name="people-01:card"/>
          <p:cNvSpPr/>
          <p:nvPr/>
        </p:nvSpPr>
        <p:spPr>
          <a:xfrm>
            <a:off x="5411570" y="3951000"/>
            <a:ext cx="6312550" cy="21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people-01:photo"/>
          <p:cNvSpPr/>
          <p:nvPr/>
        </p:nvSpPr>
        <p:spPr>
          <a:xfrm>
            <a:off x="5627570" y="4167000"/>
            <a:ext cx="1152000" cy="1152000"/>
          </a:xfrm>
          <a:prstGeom prst="rect">
            <a:avLst/>
          </a:prstGeom>
          <a:solidFill>
            <a:srgbClr val="E7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people-01:name"/>
          <p:cNvSpPr txBox="1"/>
          <p:nvPr/>
        </p:nvSpPr>
        <p:spPr>
          <a:xfrm>
            <a:off x="6959570" y="4167000"/>
            <a:ext cx="1409588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B</a:t>
            </a:r>
          </a:p>
        </p:txBody>
      </p:sp>
      <p:sp>
        <p:nvSpPr>
          <p:cNvPr id="22" name="people-01:role"/>
          <p:cNvSpPr/>
          <p:nvPr/>
        </p:nvSpPr>
        <p:spPr>
          <a:xfrm>
            <a:off x="8513159" y="4231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3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1:role-text"/>
          <p:cNvSpPr txBox="1"/>
          <p:nvPr/>
        </p:nvSpPr>
        <p:spPr>
          <a:xfrm>
            <a:off x="8513159" y="4231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0B6E5A"/>
                </a:solidFill>
                <a:latin typeface="Pretendard Medium"/>
                <a:ea typeface="Pretendard Medium"/>
                <a:cs typeface="Pretendard Medium"/>
              </a:rPr>
              <a:t>실험 검증</a:t>
            </a:r>
          </a:p>
        </p:txBody>
      </p:sp>
      <p:sp>
        <p:nvSpPr>
          <p:cNvPr id="24" name="people-01:affil"/>
          <p:cNvSpPr txBox="1"/>
          <p:nvPr/>
        </p:nvSpPr>
        <p:spPr>
          <a:xfrm>
            <a:off x="6959570" y="4530538"/>
            <a:ext cx="454855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생명과학과</a:t>
            </a:r>
          </a:p>
        </p:txBody>
      </p:sp>
      <p:sp>
        <p:nvSpPr>
          <p:cNvPr id="25" name="people-01:bio"/>
          <p:cNvSpPr txBox="1"/>
          <p:nvPr/>
        </p:nvSpPr>
        <p:spPr>
          <a:xfrm>
            <a:off x="6959570" y="4866950"/>
            <a:ext cx="454855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오가노이드 · CRISPR 검증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에메랄드 클린 16:9">
  <a:themeElements>
    <a:clrScheme name="HaLab 에메랄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B6E5A"/>
      </a:accent1>
      <a:accent2>
        <a:srgbClr val="60A194"/>
      </a:accent2>
      <a:accent3>
        <a:srgbClr val="9DC5BD"/>
      </a:accent3>
      <a:accent4>
        <a:srgbClr val="7B4FE0"/>
      </a:accent4>
      <a:accent5>
        <a:srgbClr val="9DC5BD"/>
      </a:accent5>
      <a:accent6>
        <a:srgbClr val="E2E5EA"/>
      </a:accent6>
      <a:hlink>
        <a:srgbClr val="0B6E5A"/>
      </a:hlink>
      <a:folHlink>
        <a:srgbClr val="9DC5BD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