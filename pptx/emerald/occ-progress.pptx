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CD8 signature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0B6E5A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0B6E5A"/>
                        </a:solidFill>
                        <a:latin typeface="Pretendard"/>
                      </a:rPr>
                      <a:t>3.2×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Normal</c:v>
                </c:pt>
                <c:pt idx="1">
                  <c:v>Tumor core</c:v>
                </c:pt>
                <c:pt idx="2">
                  <c:v>Border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Relative score (tumor core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lab meeting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Immune niches at the tumor border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Visium spatial transcriptomics, 4 sections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2026. 10. 16.</a:t>
            </a:r>
          </a:p>
          <a:p>
            <a:r>
              <a:t>MS student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map where immune cells sit at the tumor border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Known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Immune cells gather at the colorectal tumor border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Gap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Bulk and scRNA-seq lose where each cell sits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Aim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Map immune niches across the border with Visium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Last week's feedback is done for all three items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Check batch effects across sections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Harmony integration; sections now mix (LISI 1.8 → 3.1)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Use the pathologist's annotation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4 sections annotated: tumor / border / stroma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Add more immune markers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added CD8A, FOXP3, CD68 to the panel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1 · Integration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Harmony mixes the sections and keeps cell types apart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19572"/>
            <a:ext cx="657381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19572"/>
            <a:ext cx="657381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Before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449381" y="1800000"/>
            <a:ext cx="4322679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Before integration</a:t>
            </a:r>
          </a:p>
        </p:txBody>
      </p:sp>
      <p:pic>
        <p:nvPicPr>
          <p:cNvPr id="9" name="comp-03:image" descr="comp-03-umap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629" y="2235145"/>
            <a:ext cx="3544801" cy="2656295"/>
          </a:xfrm>
          <a:prstGeom prst="rect">
            <a:avLst/>
          </a:prstGeom>
        </p:spPr>
      </p:pic>
      <p:cxnSp>
        <p:nvCxnSpPr>
          <p:cNvPr id="10" name="comp-03:metric-rule"/>
          <p:cNvCxnSpPr/>
          <p:nvPr/>
        </p:nvCxnSpPr>
        <p:spPr>
          <a:xfrm>
            <a:off x="684000" y="499944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4999440"/>
            <a:ext cx="444886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Batch mixing (iLISI)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5132863" y="4999440"/>
            <a:ext cx="63919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1.8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5503680"/>
            <a:ext cx="444886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Type separation (cLISI)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5132863" y="5503680"/>
            <a:ext cx="63919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1.02</a:t>
            </a:r>
          </a:p>
        </p:txBody>
      </p:sp>
      <p:sp>
        <p:nvSpPr>
          <p:cNvPr id="16" name="comp-03:panel"/>
          <p:cNvSpPr/>
          <p:nvPr/>
        </p:nvSpPr>
        <p:spPr>
          <a:xfrm>
            <a:off x="620406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comp-03:tag"/>
          <p:cNvSpPr/>
          <p:nvPr/>
        </p:nvSpPr>
        <p:spPr>
          <a:xfrm>
            <a:off x="6420060" y="1819572"/>
            <a:ext cx="657381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comp-03:tag-text"/>
          <p:cNvSpPr txBox="1"/>
          <p:nvPr/>
        </p:nvSpPr>
        <p:spPr>
          <a:xfrm>
            <a:off x="6420060" y="1819572"/>
            <a:ext cx="657381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0B6E5A"/>
                </a:solidFill>
              </a:rPr>
              <a:t>After</a:t>
            </a:r>
          </a:p>
        </p:txBody>
      </p:sp>
      <p:sp>
        <p:nvSpPr>
          <p:cNvPr id="19" name="comp-03:title"/>
          <p:cNvSpPr txBox="1"/>
          <p:nvPr/>
        </p:nvSpPr>
        <p:spPr>
          <a:xfrm>
            <a:off x="7185441" y="1800000"/>
            <a:ext cx="4322679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Harmony</a:t>
            </a:r>
          </a:p>
        </p:txBody>
      </p:sp>
      <p:pic>
        <p:nvPicPr>
          <p:cNvPr id="20" name="comp-03:image" descr="comp-03-umap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826" y="2235145"/>
            <a:ext cx="3544529" cy="2656295"/>
          </a:xfrm>
          <a:prstGeom prst="rect">
            <a:avLst/>
          </a:prstGeom>
        </p:spPr>
      </p:pic>
      <p:cxnSp>
        <p:nvCxnSpPr>
          <p:cNvPr id="21" name="comp-03:metric-rule"/>
          <p:cNvCxnSpPr/>
          <p:nvPr/>
        </p:nvCxnSpPr>
        <p:spPr>
          <a:xfrm>
            <a:off x="6420060" y="499944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mp-03:metric-label"/>
          <p:cNvSpPr txBox="1"/>
          <p:nvPr/>
        </p:nvSpPr>
        <p:spPr>
          <a:xfrm>
            <a:off x="6420060" y="4999440"/>
            <a:ext cx="444886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Batch mixing (iLISI)</a:t>
            </a:r>
          </a:p>
        </p:txBody>
      </p:sp>
      <p:sp>
        <p:nvSpPr>
          <p:cNvPr id="23" name="comp-03:metric-value"/>
          <p:cNvSpPr txBox="1"/>
          <p:nvPr/>
        </p:nvSpPr>
        <p:spPr>
          <a:xfrm>
            <a:off x="10868923" y="4999440"/>
            <a:ext cx="63919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 spc="-40">
                <a:solidFill>
                  <a:srgbClr val="0B6E5A"/>
                </a:solidFill>
              </a:rPr>
              <a:t>3.1</a:t>
            </a:r>
          </a:p>
        </p:txBody>
      </p:sp>
      <p:cxnSp>
        <p:nvCxnSpPr>
          <p:cNvPr id="24" name="comp-03:metric-rule"/>
          <p:cNvCxnSpPr/>
          <p:nvPr/>
        </p:nvCxnSpPr>
        <p:spPr>
          <a:xfrm>
            <a:off x="642006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5503680"/>
            <a:ext cx="444886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Type separation (cLISI)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10868923" y="5503680"/>
            <a:ext cx="63919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1.04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2 · Spatial clusters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 3 sits along the tumor border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Section 2, 1,492 spots, 6 clusters (example data)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8044080" y="2925126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Tumor core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8512080" y="2289145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Clusters 1 and 2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8044080" y="3286699"/>
            <a:ext cx="288000" cy="288000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8512080" y="3285126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Border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8512080" y="3630271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 3, a thin band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3 · CD8 T cells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CD8 T-cell signature is 3.2× higher at the border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896468"/>
          <a:ext cx="11256120" cy="2517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4521913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Mean of 12 marker genes. 4 sections, 1,200 spots.</a:t>
            </a:r>
          </a:p>
        </p:txBody>
      </p:sp>
      <p:cxnSp>
        <p:nvCxnSpPr>
          <p:cNvPr id="7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CD8 T cells gather at the border but </a:t>
            </a:r>
            <a:r>
              <a:rPr sz="1400" b="1" spc="-40">
                <a:solidFill>
                  <a:srgbClr val="262B33"/>
                </a:solidFill>
              </a:rPr>
              <a:t>not inside the tumor core</a:t>
            </a:r>
            <a:r>
              <a:rPr sz="1400" b="0" spc="-40">
                <a:solidFill>
                  <a:srgbClr val="6B7280"/>
                </a:solidFill>
              </a:rPr>
              <a:t>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4 · Did not work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Deconvolution failed on 2 of 4 sections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870446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868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What I ran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214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cell2location with the public CRC scRNA-seq atlas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191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211573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210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What happened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555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Sections 3 and 4 did not converge after 30,000 epochs</a:t>
            </a:r>
          </a:p>
        </p:txBody>
      </p:sp>
      <p:sp>
        <p:nvSpPr>
          <p:cNvPr id="13" name="list-01:highlight"/>
          <p:cNvSpPr/>
          <p:nvPr/>
        </p:nvSpPr>
        <p:spPr>
          <a:xfrm>
            <a:off x="468000" y="4191126"/>
            <a:ext cx="11256120" cy="1341126"/>
          </a:xfrm>
          <a:prstGeom prst="rect">
            <a:avLst/>
          </a:prstGeom>
          <a:solidFill>
            <a:srgbClr val="E7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ist-01:marker"/>
          <p:cNvSpPr/>
          <p:nvPr/>
        </p:nvSpPr>
        <p:spPr>
          <a:xfrm>
            <a:off x="468000" y="4552699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551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My guess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896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The atlas has few stromal cells; a matched reference may help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Immune cells sit at the border, not in the core</a:t>
            </a:r>
          </a:p>
        </p:txBody>
      </p:sp>
      <p:sp>
        <p:nvSpPr>
          <p:cNvPr id="5" name="text-01:lines"/>
          <p:cNvSpPr txBox="1"/>
          <p:nvPr/>
        </p:nvSpPr>
        <p:spPr>
          <a:xfrm>
            <a:off x="468000" y="2729671"/>
            <a:ext cx="11256120" cy="1080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Batch effects</a:t>
            </a:r>
            <a:r>
              <a:rPr sz="1400" b="0" spc="-40">
                <a:solidFill>
                  <a:srgbClr val="6B7280"/>
                </a:solidFill>
              </a:rPr>
              <a:t> are gone after Harmony (LISI 1.8 → 3.1).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Cluster 3</a:t>
            </a:r>
            <a:r>
              <a:rPr sz="1400" b="0" spc="-40">
                <a:solidFill>
                  <a:srgbClr val="6B7280"/>
                </a:solidFill>
              </a:rPr>
              <a:t> forms a thin band along the tumor border.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CD8 T cells</a:t>
            </a:r>
            <a:r>
              <a:rPr sz="1400" b="0" spc="-40">
                <a:solidFill>
                  <a:srgbClr val="6B7280"/>
                </a:solidFill>
              </a:rPr>
              <a:t> are 3.2× higher at the border than in the core.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Next plans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Next: fix deconvolution, then validate with IHC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870446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868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Re-run deconvolution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214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Use a matched scRNA-seq reference from the same patients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191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211573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210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Validate the border niche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555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CD8 and FOXP3 IHC on 6 sections</a:t>
            </a:r>
          </a:p>
        </p:txBody>
      </p:sp>
      <p:sp>
        <p:nvSpPr>
          <p:cNvPr id="13" name="list-01:highlight"/>
          <p:cNvSpPr/>
          <p:nvPr/>
        </p:nvSpPr>
        <p:spPr>
          <a:xfrm>
            <a:off x="468000" y="4191126"/>
            <a:ext cx="11256120" cy="1341126"/>
          </a:xfrm>
          <a:prstGeom prst="rect">
            <a:avLst/>
          </a:prstGeom>
          <a:solidFill>
            <a:srgbClr val="E7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ist-01:marker"/>
          <p:cNvSpPr/>
          <p:nvPr/>
        </p:nvSpPr>
        <p:spPr>
          <a:xfrm>
            <a:off x="468000" y="4552699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551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Need help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896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Which cell–cell communication tool fits Visium spots?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에메랄드 클린 16:9">
  <a:themeElements>
    <a:clrScheme name="HaLab 에메랄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B6E5A"/>
      </a:accent1>
      <a:accent2>
        <a:srgbClr val="60A194"/>
      </a:accent2>
      <a:accent3>
        <a:srgbClr val="9DC5BD"/>
      </a:accent3>
      <a:accent4>
        <a:srgbClr val="7B4FE0"/>
      </a:accent4>
      <a:accent5>
        <a:srgbClr val="9DC5BD"/>
      </a:accent5>
      <a:accent6>
        <a:srgbClr val="E2E5EA"/>
      </a:accent6>
      <a:hlink>
        <a:srgbClr val="0B6E5A"/>
      </a:hlink>
      <a:folHlink>
        <a:srgbClr val="9DC5BD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