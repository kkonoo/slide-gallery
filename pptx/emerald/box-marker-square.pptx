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6"/>
    <p:sldId id="257" r:id="rId8"/>
    <p:sldId id="258" r:id="rId9"/>
    <p:sldId id="259" r:id="rId10"/>
  </p:sldIdLst>
  <p:sldSz cx="12192000" cy="6858000"/>
  <p:notesSz cx="6858000" cy="9144000"/>
  <p:defaultTextStyle>
    <a:defPPr marL="0" indent="0" algn="l">
      <a:lnSpc>
        <a:spcPct val="100000"/>
      </a:lnSpc>
      <a:spcBef>
        <a:spcPts val="0"/>
      </a:spcBef>
      <a:buNone/>
      <a:defRPr lang="ko-KR" sz="1800" b="0" kern="0" spc="-40">
        <a:solidFill>
          <a:schemeClr val="tx1"/>
        </a:solidFill>
        <a:latin typeface="+mn-lt"/>
        <a:ea typeface="+mn-ea"/>
      </a:defRPr>
    </a:defPPr>
  </p:defaultTextStyle>
  <p:extLst>
    <p:ext uri="{EFAFB233-063F-42B5-8137-9DF3F51BA10A}">
      <p15:sldGuideLst xmlns:p15="http://schemas.microsoft.com/office/powerpoint/2012/main">
        <p15:guide id="1" pos="295">
          <p15:clr>
            <a:srgbClr val="F26B43"/>
          </p15:clr>
        </p15:guide>
        <p15:guide id="2" pos="7385">
          <p15:clr>
            <a:srgbClr val="F26B43"/>
          </p15:clr>
        </p15:guide>
        <p15:guide id="3" orient="horz" pos="295">
          <p15:clr>
            <a:srgbClr val="F26B43"/>
          </p15:clr>
        </p15:guide>
        <p15:guide id="4" orient="horz" pos="4025">
          <p15:clr>
            <a:srgbClr val="F26B43"/>
          </p15:clr>
        </p15:guide>
        <p15:guide id="5" orient="horz" pos="862">
          <p15:clr>
            <a:srgbClr val="F26B43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3C2E1A5B-7D4F-4B8E-9A61-2F0C5D8E7B14}">
  <a:tblStyle styleId="{3C2E1A5B-7D4F-4B8E-9A61-2F0C5D8E7B14}" styleName="HaLab 가로선 표">
    <a:wholeTbl>
      <a:tcTxStyle>
        <a:fontRef idx="minor"/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6350">
              <a:solidFill>
                <a:schemeClr val="accent6"/>
              </a:solidFill>
            </a:ln>
          </a:top>
          <a:bottom>
            <a:ln w="6350">
              <a:solidFill>
                <a:schemeClr val="accent6"/>
              </a:solidFill>
            </a:ln>
          </a:bottom>
          <a:insideH>
            <a:ln w="6350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noFill/>
        </a:fill>
      </a:tcStyle>
    </a:wholeTbl>
    <a:firstRow>
      <a:tcTxStyle b="on">
        <a:fontRef idx="minor"/>
        <a:schemeClr val="tx1"/>
      </a:tcTxStyle>
      <a:tcStyle>
        <a:tcBdr>
          <a:top>
            <a:ln w="12700">
              <a:solidFill>
                <a:schemeClr val="tx1"/>
              </a:solidFill>
            </a:ln>
          </a:top>
          <a:bottom>
            <a:ln w="9525">
              <a:solidFill>
                <a:schemeClr val="tx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(layouts-b).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(list-01-b).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(flow-01-a).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(logic-03-a).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L1 표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강조 막대"/>
          <p:cNvSpPr/>
          <p:nvPr userDrawn="1"/>
        </p:nvSpPr>
        <p:spPr>
          <a:xfrm>
            <a:off x="468000" y="1516500"/>
            <a:ext cx="576000" cy="57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3" name="발표 구분"/>
          <p:cNvSpPr>
            <a:spLocks noGrp="1"/>
          </p:cNvSpPr>
          <p:nvPr>
            <p:ph type="body" idx="13"/>
          </p:nvPr>
        </p:nvSpPr>
        <p:spPr>
          <a:xfrm>
            <a:off x="468000" y="1714500"/>
            <a:ext cx="7879284" cy="324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발표 구분 (예: 2026 글로컬랩 발표평가)</a:t>
            </a:r>
          </a:p>
        </p:txBody>
      </p:sp>
      <p:sp>
        <p:nvSpPr>
          <p:cNvPr id="4" name="과제명"/>
          <p:cNvSpPr>
            <a:spLocks noGrp="1"/>
          </p:cNvSpPr>
          <p:nvPr>
            <p:ph type="ctrTitle"/>
          </p:nvPr>
        </p:nvSpPr>
        <p:spPr>
          <a:xfrm>
            <a:off x="468000" y="2110500"/>
            <a:ext cx="9004896" cy="1205971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8000"/>
              </a:lnSpc>
              <a:spcBef>
                <a:spcPts val="0"/>
              </a:spcBef>
              <a:buNone/>
              <a:defRPr lang="ko-KR" sz="40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과제명 (2줄 이내)</a:t>
            </a:r>
          </a:p>
        </p:txBody>
      </p:sp>
      <p:sp>
        <p:nvSpPr>
          <p:cNvPr id="5" name="부제"/>
          <p:cNvSpPr>
            <a:spLocks noGrp="1"/>
          </p:cNvSpPr>
          <p:nvPr>
            <p:ph type="subTitle" idx="1"/>
          </p:nvPr>
        </p:nvSpPr>
        <p:spPr>
          <a:xfrm>
            <a:off x="468000" y="3568471"/>
            <a:ext cx="9004896" cy="504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2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부제 또는 영문 과제명</a:t>
            </a:r>
          </a:p>
        </p:txBody>
      </p:sp>
      <p:sp>
        <p:nvSpPr>
          <p:cNvPr id="6" name="발표자"/>
          <p:cNvSpPr>
            <a:spLocks noGrp="1"/>
          </p:cNvSpPr>
          <p:nvPr>
            <p:ph type="body" idx="14"/>
          </p:nvPr>
        </p:nvSpPr>
        <p:spPr>
          <a:xfrm>
            <a:off x="468000" y="4288471"/>
            <a:ext cx="6753672" cy="432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발표자 · 소속</a:t>
            </a:r>
          </a:p>
        </p:txBody>
      </p:sp>
      <p:sp>
        <p:nvSpPr>
          <p:cNvPr id="7" name="기관 로고 줄"/>
          <p:cNvSpPr>
            <a:spLocks noGrp="1"/>
          </p:cNvSpPr>
          <p:nvPr>
            <p:ph type="body" idx="15"/>
          </p:nvPr>
        </p:nvSpPr>
        <p:spPr>
          <a:xfrm>
            <a:off x="468000" y="6174000"/>
            <a:ext cx="11256120" cy="432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기관 로고 (이 줄에 한 줄로)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L2 목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목차 제목"/>
          <p:cNvSpPr>
            <a:spLocks noGrp="1"/>
          </p:cNvSpPr>
          <p:nvPr>
            <p:ph type="title"/>
          </p:nvPr>
        </p:nvSpPr>
        <p:spPr>
          <a:xfrm>
            <a:off x="468000" y="2468880"/>
            <a:ext cx="3240000" cy="720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32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목차</a:t>
            </a:r>
          </a:p>
        </p:txBody>
      </p:sp>
      <p:sp>
        <p:nvSpPr>
          <p:cNvPr id="3" name="번호 1"/>
          <p:cNvSpPr>
            <a:spLocks noGrp="1"/>
          </p:cNvSpPr>
          <p:nvPr>
            <p:ph type="body" idx="20"/>
          </p:nvPr>
        </p:nvSpPr>
        <p:spPr>
          <a:xfrm>
            <a:off x="4511084" y="1436143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</a:t>
            </a:r>
          </a:p>
        </p:txBody>
      </p:sp>
      <p:sp>
        <p:nvSpPr>
          <p:cNvPr id="4" name="항목 1"/>
          <p:cNvSpPr>
            <a:spLocks noGrp="1"/>
          </p:cNvSpPr>
          <p:nvPr>
            <p:ph type="body" idx="30"/>
          </p:nvPr>
        </p:nvSpPr>
        <p:spPr>
          <a:xfrm>
            <a:off x="5087084" y="1296000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5" name="번호 2"/>
          <p:cNvSpPr>
            <a:spLocks noGrp="1"/>
          </p:cNvSpPr>
          <p:nvPr>
            <p:ph type="body" idx="21"/>
          </p:nvPr>
        </p:nvSpPr>
        <p:spPr>
          <a:xfrm>
            <a:off x="4511084" y="2076429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II</a:t>
            </a:r>
          </a:p>
        </p:txBody>
      </p:sp>
      <p:sp>
        <p:nvSpPr>
          <p:cNvPr id="6" name="항목 2"/>
          <p:cNvSpPr>
            <a:spLocks noGrp="1"/>
          </p:cNvSpPr>
          <p:nvPr>
            <p:ph type="body" idx="31"/>
          </p:nvPr>
        </p:nvSpPr>
        <p:spPr>
          <a:xfrm>
            <a:off x="5087084" y="1936286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7" name="번호 3"/>
          <p:cNvSpPr>
            <a:spLocks noGrp="1"/>
          </p:cNvSpPr>
          <p:nvPr>
            <p:ph type="body" idx="22"/>
          </p:nvPr>
        </p:nvSpPr>
        <p:spPr>
          <a:xfrm>
            <a:off x="4511084" y="2716714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III</a:t>
            </a:r>
          </a:p>
        </p:txBody>
      </p:sp>
      <p:sp>
        <p:nvSpPr>
          <p:cNvPr id="8" name="항목 3"/>
          <p:cNvSpPr>
            <a:spLocks noGrp="1"/>
          </p:cNvSpPr>
          <p:nvPr>
            <p:ph type="body" idx="32"/>
          </p:nvPr>
        </p:nvSpPr>
        <p:spPr>
          <a:xfrm>
            <a:off x="5087084" y="2576571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9" name="번호 4"/>
          <p:cNvSpPr>
            <a:spLocks noGrp="1"/>
          </p:cNvSpPr>
          <p:nvPr>
            <p:ph type="body" idx="23"/>
          </p:nvPr>
        </p:nvSpPr>
        <p:spPr>
          <a:xfrm>
            <a:off x="4511084" y="3357000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IV</a:t>
            </a:r>
          </a:p>
        </p:txBody>
      </p:sp>
      <p:sp>
        <p:nvSpPr>
          <p:cNvPr id="10" name="항목 4"/>
          <p:cNvSpPr>
            <a:spLocks noGrp="1"/>
          </p:cNvSpPr>
          <p:nvPr>
            <p:ph type="body" idx="33"/>
          </p:nvPr>
        </p:nvSpPr>
        <p:spPr>
          <a:xfrm>
            <a:off x="5087084" y="3216857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1" name="번호 5"/>
          <p:cNvSpPr>
            <a:spLocks noGrp="1"/>
          </p:cNvSpPr>
          <p:nvPr>
            <p:ph type="body" idx="24"/>
          </p:nvPr>
        </p:nvSpPr>
        <p:spPr>
          <a:xfrm>
            <a:off x="4511084" y="3997286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</a:t>
            </a:r>
          </a:p>
        </p:txBody>
      </p:sp>
      <p:sp>
        <p:nvSpPr>
          <p:cNvPr id="12" name="항목 5"/>
          <p:cNvSpPr>
            <a:spLocks noGrp="1"/>
          </p:cNvSpPr>
          <p:nvPr>
            <p:ph type="body" idx="34"/>
          </p:nvPr>
        </p:nvSpPr>
        <p:spPr>
          <a:xfrm>
            <a:off x="5087084" y="3857143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3" name="번호 6"/>
          <p:cNvSpPr>
            <a:spLocks noGrp="1"/>
          </p:cNvSpPr>
          <p:nvPr>
            <p:ph type="body" idx="25"/>
          </p:nvPr>
        </p:nvSpPr>
        <p:spPr>
          <a:xfrm>
            <a:off x="4511084" y="4637571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VI</a:t>
            </a:r>
          </a:p>
        </p:txBody>
      </p:sp>
      <p:sp>
        <p:nvSpPr>
          <p:cNvPr id="14" name="항목 6"/>
          <p:cNvSpPr>
            <a:spLocks noGrp="1"/>
          </p:cNvSpPr>
          <p:nvPr>
            <p:ph type="body" idx="35"/>
          </p:nvPr>
        </p:nvSpPr>
        <p:spPr>
          <a:xfrm>
            <a:off x="5087084" y="4497429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5" name="번호 7"/>
          <p:cNvSpPr>
            <a:spLocks noGrp="1"/>
          </p:cNvSpPr>
          <p:nvPr>
            <p:ph type="body" idx="26"/>
          </p:nvPr>
        </p:nvSpPr>
        <p:spPr>
          <a:xfrm>
            <a:off x="4511084" y="5277857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VII</a:t>
            </a:r>
          </a:p>
        </p:txBody>
      </p:sp>
      <p:sp>
        <p:nvSpPr>
          <p:cNvPr id="16" name="항목 7"/>
          <p:cNvSpPr>
            <a:spLocks noGrp="1"/>
          </p:cNvSpPr>
          <p:nvPr>
            <p:ph type="body" idx="36"/>
          </p:nvPr>
        </p:nvSpPr>
        <p:spPr>
          <a:xfrm>
            <a:off x="5087084" y="5137714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L3 간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번호"/>
          <p:cNvSpPr>
            <a:spLocks noGrp="1"/>
          </p:cNvSpPr>
          <p:nvPr>
            <p:ph type="body" idx="13"/>
          </p:nvPr>
        </p:nvSpPr>
        <p:spPr>
          <a:xfrm>
            <a:off x="468000" y="2880360"/>
            <a:ext cx="792000" cy="792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30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</a:t>
            </a:r>
          </a:p>
        </p:txBody>
      </p:sp>
      <p:sp>
        <p:nvSpPr>
          <p:cNvPr id="3" name="섹션 이름"/>
          <p:cNvSpPr>
            <a:spLocks noGrp="1"/>
          </p:cNvSpPr>
          <p:nvPr>
            <p:ph type="title"/>
          </p:nvPr>
        </p:nvSpPr>
        <p:spPr>
          <a:xfrm>
            <a:off x="1512000" y="2736360"/>
            <a:ext cx="10212120" cy="10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36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섹션 이름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L4 헤더 + 빈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라벨"/>
          <p:cNvSpPr>
            <a:spLocks noGrp="1"/>
          </p:cNvSpPr>
          <p:nvPr>
            <p:ph type="body" idx="13"/>
          </p:nvPr>
        </p:nvSpPr>
        <p:spPr>
          <a:xfrm>
            <a:off x="468000" y="468000"/>
            <a:ext cx="504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1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섹션 이름</a:t>
            </a:r>
          </a:p>
        </p:txBody>
      </p:sp>
      <p:sp>
        <p:nvSpPr>
          <p:cNvPr id="3" name="평가 지표 태그"/>
          <p:cNvSpPr>
            <a:spLocks noGrp="1"/>
          </p:cNvSpPr>
          <p:nvPr>
            <p:ph type="body" idx="14"/>
          </p:nvPr>
        </p:nvSpPr>
        <p:spPr>
          <a:xfrm>
            <a:off x="7404120" y="468000"/>
            <a:ext cx="432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평가 지표·사전질의 번호 (필요할 때만)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슬라이드 제목</a:t>
            </a:r>
          </a:p>
        </p:txBody>
      </p:sp>
      <p:cxnSp>
        <p:nvCxnSpPr>
          <p:cNvPr id="5" name="구분선"/>
          <p:cNvCxnSpPr/>
          <p:nvPr userDrawn="1"/>
        </p:nvCxnSpPr>
        <p:spPr>
          <a:xfrm>
            <a:off x="468000" y="1188000"/>
            <a:ext cx="11256120" cy="0"/>
          </a:xfrm>
          <a:prstGeom prst="line">
            <a:avLst/>
          </a:prstGeom>
          <a:ln w="9525">
            <a:solidFill>
              <a:schemeClr val="accent6"/>
            </a:solidFill>
          </a:ln>
        </p:spPr>
      </p:cxnSp>
      <p:sp>
        <p:nvSpPr>
          <p:cNvPr id="6" name="Slide Number"/>
          <p:cNvSpPr>
            <a:spLocks noGrp="1"/>
          </p:cNvSpPr>
          <p:nvPr>
            <p:ph type="sldNum" idx="12" sz="quarter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L5 2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라벨"/>
          <p:cNvSpPr>
            <a:spLocks noGrp="1"/>
          </p:cNvSpPr>
          <p:nvPr>
            <p:ph type="body" idx="13"/>
          </p:nvPr>
        </p:nvSpPr>
        <p:spPr>
          <a:xfrm>
            <a:off x="468000" y="468000"/>
            <a:ext cx="504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1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섹션 이름</a:t>
            </a:r>
          </a:p>
        </p:txBody>
      </p:sp>
      <p:sp>
        <p:nvSpPr>
          <p:cNvPr id="3" name="평가 지표 태그"/>
          <p:cNvSpPr>
            <a:spLocks noGrp="1"/>
          </p:cNvSpPr>
          <p:nvPr>
            <p:ph type="body" idx="14"/>
          </p:nvPr>
        </p:nvSpPr>
        <p:spPr>
          <a:xfrm>
            <a:off x="7404120" y="468000"/>
            <a:ext cx="432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평가 지표·사전질의 번호 (필요할 때만)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슬라이드 제목</a:t>
            </a:r>
          </a:p>
        </p:txBody>
      </p:sp>
      <p:cxnSp>
        <p:nvCxnSpPr>
          <p:cNvPr id="5" name="구분선"/>
          <p:cNvCxnSpPr/>
          <p:nvPr userDrawn="1"/>
        </p:nvCxnSpPr>
        <p:spPr>
          <a:xfrm>
            <a:off x="468000" y="1188000"/>
            <a:ext cx="11256120" cy="0"/>
          </a:xfrm>
          <a:prstGeom prst="line">
            <a:avLst/>
          </a:prstGeom>
          <a:ln w="9525">
            <a:solidFill>
              <a:schemeClr val="accent6"/>
            </a:solidFill>
          </a:ln>
        </p:spPr>
      </p:cxnSp>
      <p:sp>
        <p:nvSpPr>
          <p:cNvPr id="6" name="왼쪽 소제목"/>
          <p:cNvSpPr>
            <a:spLocks noGrp="1"/>
          </p:cNvSpPr>
          <p:nvPr>
            <p:ph type="body" idx="15"/>
          </p:nvPr>
        </p:nvSpPr>
        <p:spPr>
          <a:xfrm>
            <a:off x="468000" y="1368000"/>
            <a:ext cx="5448060" cy="360000"/>
          </a:xfrm>
          <a:prstGeom prst="rect">
            <a:avLst/>
          </a:prstGeom>
          <a:solidFill>
            <a:srgbClr val="D3E5E1"/>
          </a:solidFill>
          <a:ln>
            <a:noFill/>
          </a:ln>
        </p:spPr>
        <p:txBody>
          <a:bodyPr vert="horz" wrap="square" lIns="126000" tIns="0" rIns="12600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1" kern="0" spc="-4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왼쪽 소제목</a:t>
            </a:r>
          </a:p>
        </p:txBody>
      </p:sp>
      <p:sp>
        <p:nvSpPr>
          <p:cNvPr id="7" name="왼쪽 내용"/>
          <p:cNvSpPr>
            <a:spLocks noGrp="1"/>
          </p:cNvSpPr>
          <p:nvPr>
            <p:ph idx="16"/>
          </p:nvPr>
        </p:nvSpPr>
        <p:spPr>
          <a:xfrm>
            <a:off x="468000" y="1944000"/>
            <a:ext cx="5448060" cy="4446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항목 6개 이내 · 키워드 + 설명 1–2줄</a:t>
            </a:r>
          </a:p>
        </p:txBody>
      </p:sp>
      <p:sp>
        <p:nvSpPr>
          <p:cNvPr id="8" name="오른쪽 소제목"/>
          <p:cNvSpPr>
            <a:spLocks noGrp="1"/>
          </p:cNvSpPr>
          <p:nvPr>
            <p:ph type="body" idx="17"/>
          </p:nvPr>
        </p:nvSpPr>
        <p:spPr>
          <a:xfrm>
            <a:off x="6276060" y="1368000"/>
            <a:ext cx="5448060" cy="360000"/>
          </a:xfrm>
          <a:prstGeom prst="rect">
            <a:avLst/>
          </a:prstGeom>
          <a:solidFill>
            <a:srgbClr val="D3E5E1"/>
          </a:solidFill>
          <a:ln>
            <a:noFill/>
          </a:ln>
        </p:spPr>
        <p:txBody>
          <a:bodyPr vert="horz" wrap="square" lIns="126000" tIns="0" rIns="12600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1" kern="0" spc="-4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오른쪽 소제목</a:t>
            </a:r>
          </a:p>
        </p:txBody>
      </p:sp>
      <p:sp>
        <p:nvSpPr>
          <p:cNvPr id="9" name="오른쪽 내용"/>
          <p:cNvSpPr>
            <a:spLocks noGrp="1"/>
          </p:cNvSpPr>
          <p:nvPr>
            <p:ph idx="18"/>
          </p:nvPr>
        </p:nvSpPr>
        <p:spPr>
          <a:xfrm>
            <a:off x="6276060" y="1944000"/>
            <a:ext cx="5448060" cy="4446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항목 6개 이내 · 키워드 + 설명 1–2줄</a:t>
            </a:r>
          </a:p>
        </p:txBody>
      </p:sp>
      <p:sp>
        <p:nvSpPr>
          <p:cNvPr id="10" name="Slide Number"/>
          <p:cNvSpPr>
            <a:spLocks noGrp="1"/>
          </p:cNvSpPr>
          <p:nvPr>
            <p:ph type="sldNum" idx="12" sz="quarter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L6 마무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강조 막대"/>
          <p:cNvSpPr/>
          <p:nvPr userDrawn="1"/>
        </p:nvSpPr>
        <p:spPr>
          <a:xfrm>
            <a:off x="468000" y="1516500"/>
            <a:ext cx="576000" cy="57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3" name="과제명"/>
          <p:cNvSpPr>
            <a:spLocks noGrp="1"/>
          </p:cNvSpPr>
          <p:nvPr>
            <p:ph type="ctrTitle"/>
          </p:nvPr>
        </p:nvSpPr>
        <p:spPr>
          <a:xfrm>
            <a:off x="468000" y="2110500"/>
            <a:ext cx="9004896" cy="1205971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8000"/>
              </a:lnSpc>
              <a:spcBef>
                <a:spcPts val="0"/>
              </a:spcBef>
              <a:buNone/>
              <a:defRPr lang="ko-KR" sz="40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감사합니다</a:t>
            </a:r>
          </a:p>
        </p:txBody>
      </p:sp>
      <p:sp>
        <p:nvSpPr>
          <p:cNvPr id="4" name="부제"/>
          <p:cNvSpPr>
            <a:spLocks noGrp="1"/>
          </p:cNvSpPr>
          <p:nvPr>
            <p:ph type="subTitle" idx="1"/>
          </p:nvPr>
        </p:nvSpPr>
        <p:spPr>
          <a:xfrm>
            <a:off x="468000" y="3568471"/>
            <a:ext cx="9004896" cy="504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2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과제명 한 줄</a:t>
            </a:r>
          </a:p>
        </p:txBody>
      </p:sp>
      <p:sp>
        <p:nvSpPr>
          <p:cNvPr id="5" name="발표자"/>
          <p:cNvSpPr>
            <a:spLocks noGrp="1"/>
          </p:cNvSpPr>
          <p:nvPr>
            <p:ph type="body" idx="14"/>
          </p:nvPr>
        </p:nvSpPr>
        <p:spPr>
          <a:xfrm>
            <a:off x="468000" y="4288471"/>
            <a:ext cx="6753672" cy="432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발표자 · 연락처</a:t>
            </a:r>
          </a:p>
        </p:txBody>
      </p:sp>
      <p:sp>
        <p:nvSpPr>
          <p:cNvPr id="6" name="기관 로고 줄"/>
          <p:cNvSpPr>
            <a:spLocks noGrp="1"/>
          </p:cNvSpPr>
          <p:nvPr>
            <p:ph type="body" idx="15"/>
          </p:nvPr>
        </p:nvSpPr>
        <p:spPr>
          <a:xfrm>
            <a:off x="468000" y="6174000"/>
            <a:ext cx="11256120" cy="432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기관 로고 (이 줄에 한 줄로)</a:t>
            </a:r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마스터 제목 스타일 편집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8000" y="1368000"/>
            <a:ext cx="11256120" cy="5022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마스터 텍스트 스타일을 편집합니다</a:t>
            </a:r>
          </a:p>
          <a:p>
            <a:r>
              <a:rPr lang="ko-KR"/>
              <a:t>둘째 수준</a:t>
            </a:r>
          </a:p>
          <a:p>
            <a:r>
              <a:rPr lang="ko-KR"/>
              <a:t>셋째 수준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txStyles>
    <p:titleStyle>
      <a:lvl1pPr marL="0" indent="0" algn="l">
        <a:lnSpc>
          <a:spcPct val="100000"/>
        </a:lnSpc>
        <a:spcBef>
          <a:spcPts val="0"/>
        </a:spcBef>
        <a:buNone/>
        <a:defRPr lang="ko-KR" sz="2800" b="1" kern="0" spc="-60">
          <a:solidFill>
            <a:schemeClr val="tx1"/>
          </a:solidFill>
          <a:latin typeface="+mj-lt"/>
          <a:ea typeface="+mj-ea"/>
        </a:defRPr>
      </a:lvl1pPr>
    </p:titleStyle>
    <p:bodyStyle>
      <a:lvl1pPr marL="0" indent="0" algn="l">
        <a:lnSpc>
          <a:spcPct val="120000"/>
        </a:lnSpc>
        <a:spcBef>
          <a:spcPts val="560"/>
        </a:spcBef>
        <a:buNone/>
        <a:defRPr lang="ko-KR" sz="1400" b="0" kern="0" spc="-40">
          <a:solidFill>
            <a:schemeClr val="tx1"/>
          </a:solidFill>
          <a:latin typeface="+mn-lt"/>
          <a:ea typeface="+mn-ea"/>
        </a:defRPr>
      </a:lvl1pPr>
      <a:lvl2pPr marL="162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–"/>
        <a:defRPr lang="ko-KR" sz="1400" b="0" kern="0" spc="-40">
          <a:solidFill>
            <a:schemeClr val="tx2"/>
          </a:solidFill>
          <a:latin typeface="+mn-lt"/>
          <a:ea typeface="+mn-ea"/>
        </a:defRPr>
      </a:lvl2pPr>
      <a:lvl3pPr marL="306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3pPr>
      <a:lvl4pPr marL="450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4pPr>
      <a:lvl5pPr marL="594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5pPr>
      <a:lvl6pPr marL="738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6pPr>
      <a:lvl7pPr marL="882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7pPr>
      <a:lvl8pPr marL="1026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8pPr>
      <a:lvl9pPr marL="1170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9pPr>
    </p:bodyStyle>
    <p:otherStyle>
      <a:defPPr marL="0" indent="0" algn="l">
        <a:lnSpc>
          <a:spcPct val="100000"/>
        </a:lnSpc>
        <a:spcBef>
          <a:spcPts val="0"/>
        </a:spcBef>
        <a:buNone/>
        <a:defRPr lang="ko-KR" sz="1400" b="0" kern="0" spc="-40">
          <a:solidFill>
            <a:schemeClr val="tx1"/>
          </a:solidFill>
          <a:latin typeface="+mn-lt"/>
          <a:ea typeface="+mn-ea"/>
        </a:defRPr>
      </a:def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목차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0"/>
          </p:nvPr>
        </p:nvSpPr>
        <p:spPr>
          <a:prstGeom prst="rect">
            <a:avLst/>
          </a:prstGeom>
        </p:spPr>
        <p:txBody>
          <a:bodyPr/>
          <a:lstStyle/>
          <a:p>
            <a:r>
              <a:t>I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30"/>
          </p:nvPr>
        </p:nvSpPr>
        <p:spPr/>
        <p:txBody>
          <a:bodyPr/>
          <a:lstStyle/>
          <a:p>
            <a:r>
              <a:t>Background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2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II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31"/>
          </p:nvPr>
        </p:nvSpPr>
        <p:spPr/>
        <p:txBody>
          <a:bodyPr/>
          <a:lstStyle/>
          <a:p>
            <a:r>
              <a:t>In the previous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22"/>
          </p:nvPr>
        </p:nvSpPr>
        <p:spPr>
          <a:prstGeom prst="rect">
            <a:avLst/>
          </a:prstGeom>
        </p:spPr>
        <p:txBody>
          <a:bodyPr/>
          <a:lstStyle/>
          <a:p>
            <a:r>
              <a:t>III</a:t>
            </a:r>
          </a:p>
        </p:txBody>
      </p:sp>
      <p:sp>
        <p:nvSpPr>
          <p:cNvPr id="8" name="Text Placeholder 7"/>
          <p:cNvSpPr>
            <a:spLocks noGrp="1"/>
          </p:cNvSpPr>
          <p:nvPr>
            <p:ph type="body" idx="32"/>
          </p:nvPr>
        </p:nvSpPr>
        <p:spPr/>
        <p:txBody>
          <a:bodyPr/>
          <a:lstStyle/>
          <a:p>
            <a:r>
              <a:t>Results</a:t>
            </a:r>
          </a:p>
        </p:txBody>
      </p:sp>
      <p:sp>
        <p:nvSpPr>
          <p:cNvPr id="9" name="Text Placeholder 8"/>
          <p:cNvSpPr>
            <a:spLocks noGrp="1"/>
          </p:cNvSpPr>
          <p:nvPr>
            <p:ph type="body" idx="23"/>
          </p:nvPr>
        </p:nvSpPr>
        <p:spPr>
          <a:prstGeom prst="rect">
            <a:avLst/>
          </a:prstGeom>
        </p:spPr>
        <p:txBody>
          <a:bodyPr/>
          <a:lstStyle/>
          <a:p>
            <a:r>
              <a:t>IV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idx="33"/>
          </p:nvPr>
        </p:nvSpPr>
        <p:spPr/>
        <p:txBody>
          <a:bodyPr/>
          <a:lstStyle/>
          <a:p>
            <a:r>
              <a:t>Summary</a:t>
            </a:r>
          </a:p>
        </p:txBody>
      </p:sp>
      <p:sp>
        <p:nvSpPr>
          <p:cNvPr id="11" name="Text Placeholder 10"/>
          <p:cNvSpPr>
            <a:spLocks noGrp="1"/>
          </p:cNvSpPr>
          <p:nvPr>
            <p:ph type="body" idx="24"/>
          </p:nvPr>
        </p:nvSpPr>
        <p:spPr>
          <a:prstGeom prst="rect">
            <a:avLst/>
          </a:prstGeom>
        </p:spPr>
        <p:txBody>
          <a:bodyPr/>
          <a:lstStyle/>
          <a:p>
            <a:r>
              <a:t>V</a:t>
            </a:r>
          </a:p>
        </p:txBody>
      </p:sp>
      <p:sp>
        <p:nvSpPr>
          <p:cNvPr id="12" name="Text Placeholder 11"/>
          <p:cNvSpPr>
            <a:spLocks noGrp="1"/>
          </p:cNvSpPr>
          <p:nvPr>
            <p:ph type="body" idx="34"/>
          </p:nvPr>
        </p:nvSpPr>
        <p:spPr/>
        <p:txBody>
          <a:bodyPr/>
          <a:lstStyle/>
          <a:p>
            <a:r>
              <a:t>Next plans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Progress report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Progress report는 다섯 부분이에요</a:t>
            </a:r>
          </a:p>
        </p:txBody>
      </p:sp>
      <p:cxnSp>
        <p:nvCxnSpPr>
          <p:cNvPr id="5" name="list-01:line"/>
          <p:cNvCxnSpPr/>
          <p:nvPr/>
        </p:nvCxnSpPr>
        <p:spPr>
          <a:xfrm>
            <a:off x="468000" y="2964000"/>
            <a:ext cx="552006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list-01:marker"/>
          <p:cNvSpPr/>
          <p:nvPr/>
        </p:nvSpPr>
        <p:spPr>
          <a:xfrm>
            <a:off x="468000" y="1984446"/>
            <a:ext cx="288000" cy="288000"/>
          </a:xfrm>
          <a:prstGeom prst="rect">
            <a:avLst/>
          </a:prstGeom>
          <a:solidFill>
            <a:srgbClr val="0B6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spc="-4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7" name="list-01:title"/>
          <p:cNvSpPr txBox="1"/>
          <p:nvPr/>
        </p:nvSpPr>
        <p:spPr>
          <a:xfrm>
            <a:off x="936000" y="1982874"/>
            <a:ext cx="5052060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Background</a:t>
            </a:r>
          </a:p>
        </p:txBody>
      </p:sp>
      <p:sp>
        <p:nvSpPr>
          <p:cNvPr id="8" name="list-01:desc"/>
          <p:cNvSpPr txBox="1"/>
          <p:nvPr/>
        </p:nvSpPr>
        <p:spPr>
          <a:xfrm>
            <a:off x="936000" y="2328019"/>
            <a:ext cx="5052060" cy="2939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알려진 것과 한계, 연구 목표. 두 번째부터는 1–2장</a:t>
            </a:r>
          </a:p>
        </p:txBody>
      </p:sp>
      <p:cxnSp>
        <p:nvCxnSpPr>
          <p:cNvPr id="9" name="list-01:line"/>
          <p:cNvCxnSpPr/>
          <p:nvPr/>
        </p:nvCxnSpPr>
        <p:spPr>
          <a:xfrm>
            <a:off x="468000" y="4305126"/>
            <a:ext cx="552006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list-01:marker"/>
          <p:cNvSpPr/>
          <p:nvPr/>
        </p:nvSpPr>
        <p:spPr>
          <a:xfrm>
            <a:off x="468000" y="3325573"/>
            <a:ext cx="288000" cy="288000"/>
          </a:xfrm>
          <a:prstGeom prst="rect">
            <a:avLst/>
          </a:prstGeom>
          <a:solidFill>
            <a:srgbClr val="0B6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spc="-4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1" name="list-01:title"/>
          <p:cNvSpPr txBox="1"/>
          <p:nvPr/>
        </p:nvSpPr>
        <p:spPr>
          <a:xfrm>
            <a:off x="936000" y="3324000"/>
            <a:ext cx="5052060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In the previous</a:t>
            </a:r>
          </a:p>
        </p:txBody>
      </p:sp>
      <p:sp>
        <p:nvSpPr>
          <p:cNvPr id="12" name="list-01:desc"/>
          <p:cNvSpPr txBox="1"/>
          <p:nvPr/>
        </p:nvSpPr>
        <p:spPr>
          <a:xfrm>
            <a:off x="936000" y="3669145"/>
            <a:ext cx="5052060" cy="2939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지난번 Next plans와 받은 피드백</a:t>
            </a:r>
          </a:p>
        </p:txBody>
      </p:sp>
      <p:sp>
        <p:nvSpPr>
          <p:cNvPr id="13" name="list-01:marker"/>
          <p:cNvSpPr/>
          <p:nvPr/>
        </p:nvSpPr>
        <p:spPr>
          <a:xfrm>
            <a:off x="468000" y="4666699"/>
            <a:ext cx="288000" cy="288000"/>
          </a:xfrm>
          <a:prstGeom prst="rect">
            <a:avLst/>
          </a:prstGeom>
          <a:solidFill>
            <a:srgbClr val="0B6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spc="-4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4" name="list-01:title"/>
          <p:cNvSpPr txBox="1"/>
          <p:nvPr/>
        </p:nvSpPr>
        <p:spPr>
          <a:xfrm>
            <a:off x="936000" y="4665126"/>
            <a:ext cx="5052060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Results</a:t>
            </a:r>
          </a:p>
        </p:txBody>
      </p:sp>
      <p:sp>
        <p:nvSpPr>
          <p:cNvPr id="15" name="list-01:desc"/>
          <p:cNvSpPr txBox="1"/>
          <p:nvPr/>
        </p:nvSpPr>
        <p:spPr>
          <a:xfrm>
            <a:off x="936000" y="5010271"/>
            <a:ext cx="5052060" cy="2939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왜 했는지 → 결과 → 한 줄 요약</a:t>
            </a:r>
          </a:p>
        </p:txBody>
      </p:sp>
      <p:cxnSp>
        <p:nvCxnSpPr>
          <p:cNvPr id="16" name="list-01:line"/>
          <p:cNvCxnSpPr/>
          <p:nvPr/>
        </p:nvCxnSpPr>
        <p:spPr>
          <a:xfrm>
            <a:off x="6204060" y="2964000"/>
            <a:ext cx="552006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list-01:marker"/>
          <p:cNvSpPr/>
          <p:nvPr/>
        </p:nvSpPr>
        <p:spPr>
          <a:xfrm>
            <a:off x="6204060" y="1984446"/>
            <a:ext cx="288000" cy="288000"/>
          </a:xfrm>
          <a:prstGeom prst="rect">
            <a:avLst/>
          </a:prstGeom>
          <a:solidFill>
            <a:srgbClr val="0B6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spc="-4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18" name="list-01:title"/>
          <p:cNvSpPr txBox="1"/>
          <p:nvPr/>
        </p:nvSpPr>
        <p:spPr>
          <a:xfrm>
            <a:off x="6672060" y="1982874"/>
            <a:ext cx="5052060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Summary</a:t>
            </a:r>
          </a:p>
        </p:txBody>
      </p:sp>
      <p:sp>
        <p:nvSpPr>
          <p:cNvPr id="19" name="list-01:desc"/>
          <p:cNvSpPr txBox="1"/>
          <p:nvPr/>
        </p:nvSpPr>
        <p:spPr>
          <a:xfrm>
            <a:off x="6672060" y="2328019"/>
            <a:ext cx="5052060" cy="2939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이번에 알게 된 것 3줄 이내</a:t>
            </a:r>
          </a:p>
        </p:txBody>
      </p:sp>
      <p:sp>
        <p:nvSpPr>
          <p:cNvPr id="20" name="list-01:marker"/>
          <p:cNvSpPr/>
          <p:nvPr/>
        </p:nvSpPr>
        <p:spPr>
          <a:xfrm>
            <a:off x="6204060" y="3325573"/>
            <a:ext cx="288000" cy="288000"/>
          </a:xfrm>
          <a:prstGeom prst="rect">
            <a:avLst/>
          </a:prstGeom>
          <a:solidFill>
            <a:srgbClr val="0B6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spc="-40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21" name="list-01:title"/>
          <p:cNvSpPr txBox="1"/>
          <p:nvPr/>
        </p:nvSpPr>
        <p:spPr>
          <a:xfrm>
            <a:off x="6672060" y="3324000"/>
            <a:ext cx="5052060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Next plans</a:t>
            </a:r>
          </a:p>
        </p:txBody>
      </p:sp>
      <p:sp>
        <p:nvSpPr>
          <p:cNvPr id="22" name="list-01:desc"/>
          <p:cNvSpPr txBox="1"/>
          <p:nvPr/>
        </p:nvSpPr>
        <p:spPr>
          <a:xfrm>
            <a:off x="6672060" y="3669145"/>
            <a:ext cx="5052060" cy="2939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다음 단계와 도움이 필요한 것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2</a:t>
            </a:fld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단일세포 전사체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품질 필터링이 결과를 좌우해요</a:t>
            </a:r>
          </a:p>
        </p:txBody>
      </p:sp>
      <p:cxnSp>
        <p:nvCxnSpPr>
          <p:cNvPr id="5" name="flow-01:line"/>
          <p:cNvCxnSpPr/>
          <p:nvPr/>
        </p:nvCxnSpPr>
        <p:spPr>
          <a:xfrm>
            <a:off x="702000" y="2816041"/>
            <a:ext cx="9004896" cy="0"/>
          </a:xfrm>
          <a:prstGeom prst="line">
            <a:avLst/>
          </a:prstGeom>
          <a:ln w="15875">
            <a:solidFill>
              <a:srgbClr val="9DC5BD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flow-01:marker"/>
          <p:cNvSpPr/>
          <p:nvPr/>
        </p:nvSpPr>
        <p:spPr>
          <a:xfrm>
            <a:off x="468000" y="2582041"/>
            <a:ext cx="468000" cy="468000"/>
          </a:xfrm>
          <a:prstGeom prst="rect">
            <a:avLst/>
          </a:prstGeom>
          <a:solidFill>
            <a:srgbClr val="FFFFFF"/>
          </a:solidFill>
          <a:ln w="9525">
            <a:solidFill>
              <a:srgbClr val="0B6E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0B6E5A"/>
                </a:solidFill>
              </a:rPr>
              <a:t>1</a:t>
            </a:r>
          </a:p>
        </p:txBody>
      </p:sp>
      <p:sp>
        <p:nvSpPr>
          <p:cNvPr id="7" name="flow-01:title"/>
          <p:cNvSpPr txBox="1"/>
          <p:nvPr/>
        </p:nvSpPr>
        <p:spPr>
          <a:xfrm>
            <a:off x="468000" y="3213841"/>
            <a:ext cx="1970424" cy="30934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700" b="1" spc="-40">
                <a:solidFill>
                  <a:srgbClr val="262B33"/>
                </a:solidFill>
              </a:rPr>
              <a:t>세포 분리</a:t>
            </a:r>
          </a:p>
        </p:txBody>
      </p:sp>
      <p:sp>
        <p:nvSpPr>
          <p:cNvPr id="8" name="flow-01:desc"/>
          <p:cNvSpPr txBox="1"/>
          <p:nvPr/>
        </p:nvSpPr>
        <p:spPr>
          <a:xfrm>
            <a:off x="468000" y="3593383"/>
            <a:ext cx="1970424" cy="51253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300" b="0" spc="-40">
                <a:solidFill>
                  <a:srgbClr val="6B7280"/>
                </a:solidFill>
              </a:rPr>
              <a:t>조직을 효소로 풀어 단일세포 현탁액</a:t>
            </a:r>
          </a:p>
        </p:txBody>
      </p:sp>
      <p:sp>
        <p:nvSpPr>
          <p:cNvPr id="9" name="flow-01:marker"/>
          <p:cNvSpPr/>
          <p:nvPr/>
        </p:nvSpPr>
        <p:spPr>
          <a:xfrm>
            <a:off x="2719224" y="2582041"/>
            <a:ext cx="468000" cy="468000"/>
          </a:xfrm>
          <a:prstGeom prst="rect">
            <a:avLst/>
          </a:prstGeom>
          <a:solidFill>
            <a:srgbClr val="FFFFFF"/>
          </a:solidFill>
          <a:ln w="9525">
            <a:solidFill>
              <a:srgbClr val="0B6E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0B6E5A"/>
                </a:solidFill>
              </a:rPr>
              <a:t>2</a:t>
            </a:r>
          </a:p>
        </p:txBody>
      </p:sp>
      <p:sp>
        <p:nvSpPr>
          <p:cNvPr id="10" name="flow-01:title"/>
          <p:cNvSpPr txBox="1"/>
          <p:nvPr/>
        </p:nvSpPr>
        <p:spPr>
          <a:xfrm>
            <a:off x="2719224" y="3213841"/>
            <a:ext cx="1970424" cy="30934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700" b="1" spc="-40">
                <a:solidFill>
                  <a:srgbClr val="262B33"/>
                </a:solidFill>
              </a:rPr>
              <a:t>라이브러리 제작</a:t>
            </a:r>
          </a:p>
        </p:txBody>
      </p:sp>
      <p:sp>
        <p:nvSpPr>
          <p:cNvPr id="11" name="flow-01:desc"/>
          <p:cNvSpPr txBox="1"/>
          <p:nvPr/>
        </p:nvSpPr>
        <p:spPr>
          <a:xfrm>
            <a:off x="2719224" y="3593383"/>
            <a:ext cx="1970424" cy="51253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300" b="0" spc="-40">
                <a:solidFill>
                  <a:srgbClr val="6B7280"/>
                </a:solidFill>
              </a:rPr>
              <a:t>세포마다 바코드를 붙여 cDNA 증폭</a:t>
            </a:r>
          </a:p>
        </p:txBody>
      </p:sp>
      <p:sp>
        <p:nvSpPr>
          <p:cNvPr id="12" name="flow-01:marker"/>
          <p:cNvSpPr/>
          <p:nvPr/>
        </p:nvSpPr>
        <p:spPr>
          <a:xfrm>
            <a:off x="4970448" y="2582041"/>
            <a:ext cx="468000" cy="468000"/>
          </a:xfrm>
          <a:prstGeom prst="rect">
            <a:avLst/>
          </a:prstGeom>
          <a:solidFill>
            <a:srgbClr val="FFFFFF"/>
          </a:solidFill>
          <a:ln w="9525">
            <a:solidFill>
              <a:srgbClr val="0B6E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0B6E5A"/>
                </a:solidFill>
              </a:rPr>
              <a:t>3</a:t>
            </a:r>
          </a:p>
        </p:txBody>
      </p:sp>
      <p:sp>
        <p:nvSpPr>
          <p:cNvPr id="13" name="flow-01:title"/>
          <p:cNvSpPr txBox="1"/>
          <p:nvPr/>
        </p:nvSpPr>
        <p:spPr>
          <a:xfrm>
            <a:off x="4970448" y="3213841"/>
            <a:ext cx="1970424" cy="30934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700" b="1" spc="-40">
                <a:solidFill>
                  <a:srgbClr val="262B33"/>
                </a:solidFill>
              </a:rPr>
              <a:t>시퀀싱</a:t>
            </a:r>
          </a:p>
        </p:txBody>
      </p:sp>
      <p:sp>
        <p:nvSpPr>
          <p:cNvPr id="14" name="flow-01:desc"/>
          <p:cNvSpPr txBox="1"/>
          <p:nvPr/>
        </p:nvSpPr>
        <p:spPr>
          <a:xfrm>
            <a:off x="4970448" y="3593383"/>
            <a:ext cx="1970424" cy="51253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300" b="0" spc="-40">
                <a:solidFill>
                  <a:srgbClr val="6B7280"/>
                </a:solidFill>
              </a:rPr>
              <a:t>세포당 2–5만 리드</a:t>
            </a:r>
          </a:p>
        </p:txBody>
      </p:sp>
      <p:sp>
        <p:nvSpPr>
          <p:cNvPr id="15" name="flow-01:marker"/>
          <p:cNvSpPr/>
          <p:nvPr/>
        </p:nvSpPr>
        <p:spPr>
          <a:xfrm>
            <a:off x="7221672" y="2582041"/>
            <a:ext cx="468000" cy="468000"/>
          </a:xfrm>
          <a:prstGeom prst="rect">
            <a:avLst/>
          </a:prstGeom>
          <a:solidFill>
            <a:srgbClr val="0B6E5A"/>
          </a:solidFill>
          <a:ln w="9525">
            <a:solidFill>
              <a:srgbClr val="0B6E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16" name="flow-01:title"/>
          <p:cNvSpPr txBox="1"/>
          <p:nvPr/>
        </p:nvSpPr>
        <p:spPr>
          <a:xfrm>
            <a:off x="7221672" y="3213841"/>
            <a:ext cx="1970424" cy="30934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700" b="1" spc="-40">
                <a:solidFill>
                  <a:srgbClr val="0B6E5A"/>
                </a:solidFill>
              </a:rPr>
              <a:t>품질 필터링</a:t>
            </a:r>
          </a:p>
        </p:txBody>
      </p:sp>
      <p:sp>
        <p:nvSpPr>
          <p:cNvPr id="17" name="flow-01:desc"/>
          <p:cNvSpPr txBox="1"/>
          <p:nvPr/>
        </p:nvSpPr>
        <p:spPr>
          <a:xfrm>
            <a:off x="7221672" y="3593383"/>
            <a:ext cx="1970424" cy="51253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300" b="0" spc="-40">
                <a:solidFill>
                  <a:srgbClr val="6B7280"/>
                </a:solidFill>
              </a:rPr>
              <a:t>죽은 세포 · 이중 세포 제거</a:t>
            </a:r>
          </a:p>
        </p:txBody>
      </p:sp>
      <p:sp>
        <p:nvSpPr>
          <p:cNvPr id="18" name="flow-01:marker"/>
          <p:cNvSpPr/>
          <p:nvPr/>
        </p:nvSpPr>
        <p:spPr>
          <a:xfrm>
            <a:off x="9472896" y="2582041"/>
            <a:ext cx="468000" cy="468000"/>
          </a:xfrm>
          <a:prstGeom prst="rect">
            <a:avLst/>
          </a:prstGeom>
          <a:solidFill>
            <a:srgbClr val="FFFFFF"/>
          </a:solidFill>
          <a:ln w="9525">
            <a:solidFill>
              <a:srgbClr val="0B6E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0B6E5A"/>
                </a:solidFill>
              </a:rPr>
              <a:t>5</a:t>
            </a:r>
          </a:p>
        </p:txBody>
      </p:sp>
      <p:sp>
        <p:nvSpPr>
          <p:cNvPr id="19" name="flow-01:title"/>
          <p:cNvSpPr txBox="1"/>
          <p:nvPr/>
        </p:nvSpPr>
        <p:spPr>
          <a:xfrm>
            <a:off x="9472896" y="3213841"/>
            <a:ext cx="1970424" cy="30934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700" b="1" spc="-40">
                <a:solidFill>
                  <a:srgbClr val="262B33"/>
                </a:solidFill>
              </a:rPr>
              <a:t>군집 분석</a:t>
            </a:r>
          </a:p>
        </p:txBody>
      </p:sp>
      <p:sp>
        <p:nvSpPr>
          <p:cNvPr id="20" name="flow-01:desc"/>
          <p:cNvSpPr txBox="1"/>
          <p:nvPr/>
        </p:nvSpPr>
        <p:spPr>
          <a:xfrm>
            <a:off x="9472896" y="3593383"/>
            <a:ext cx="1970424" cy="51253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300" b="0" spc="-40">
                <a:solidFill>
                  <a:srgbClr val="6B7280"/>
                </a:solidFill>
              </a:rPr>
              <a:t>비슷한 발현끼리 묶어 세포 유형 찾기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3</a:t>
            </a:fld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연구 필요성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왜 메타게놈 분석이 필요할까요?</a:t>
            </a:r>
          </a:p>
        </p:txBody>
      </p:sp>
      <p:sp>
        <p:nvSpPr>
          <p:cNvPr id="5" name="logic-03:row"/>
          <p:cNvSpPr/>
          <p:nvPr/>
        </p:nvSpPr>
        <p:spPr>
          <a:xfrm>
            <a:off x="468000" y="2118000"/>
            <a:ext cx="11256120" cy="752727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logic-03:marker"/>
          <p:cNvSpPr/>
          <p:nvPr/>
        </p:nvSpPr>
        <p:spPr>
          <a:xfrm>
            <a:off x="648000" y="2350364"/>
            <a:ext cx="288000" cy="288000"/>
          </a:xfrm>
          <a:prstGeom prst="rect">
            <a:avLst/>
          </a:prstGeom>
          <a:solidFill>
            <a:srgbClr val="FFFFFF"/>
          </a:solidFill>
          <a:ln w="9525">
            <a:solidFill>
              <a:srgbClr val="0B6E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0B6E5A"/>
                </a:solidFill>
              </a:rPr>
              <a:t>1</a:t>
            </a:r>
          </a:p>
        </p:txBody>
      </p:sp>
      <p:sp>
        <p:nvSpPr>
          <p:cNvPr id="7" name="logic-03:label"/>
          <p:cNvSpPr txBox="1"/>
          <p:nvPr/>
        </p:nvSpPr>
        <p:spPr>
          <a:xfrm>
            <a:off x="1044000" y="2118000"/>
            <a:ext cx="1152000" cy="752727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배경</a:t>
            </a:r>
          </a:p>
        </p:txBody>
      </p:sp>
      <p:sp>
        <p:nvSpPr>
          <p:cNvPr id="8" name="logic-03:text"/>
          <p:cNvSpPr txBox="1"/>
          <p:nvPr/>
        </p:nvSpPr>
        <p:spPr>
          <a:xfrm>
            <a:off x="2268000" y="2118000"/>
            <a:ext cx="9240120" cy="752727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35000"/>
              </a:lnSpc>
            </a:pPr>
            <a:r>
              <a:rPr sz="1400" b="0" spc="-40">
                <a:solidFill>
                  <a:srgbClr val="262B33"/>
                </a:solidFill>
              </a:rPr>
              <a:t>장내 미생물 구성은 대장암 위험과 연관된다</a:t>
            </a:r>
          </a:p>
        </p:txBody>
      </p:sp>
      <p:cxnSp>
        <p:nvCxnSpPr>
          <p:cNvPr id="9" name="logic-03:link"/>
          <p:cNvCxnSpPr/>
          <p:nvPr/>
        </p:nvCxnSpPr>
        <p:spPr>
          <a:xfrm>
            <a:off x="792000" y="2870727"/>
            <a:ext cx="0" cy="2160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logic-03:row"/>
          <p:cNvSpPr/>
          <p:nvPr/>
        </p:nvSpPr>
        <p:spPr>
          <a:xfrm>
            <a:off x="468000" y="3086727"/>
            <a:ext cx="11256120" cy="752727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logic-03:marker"/>
          <p:cNvSpPr/>
          <p:nvPr/>
        </p:nvSpPr>
        <p:spPr>
          <a:xfrm>
            <a:off x="648000" y="3319091"/>
            <a:ext cx="288000" cy="288000"/>
          </a:xfrm>
          <a:prstGeom prst="rect">
            <a:avLst/>
          </a:prstGeom>
          <a:solidFill>
            <a:srgbClr val="FFFFFF"/>
          </a:solidFill>
          <a:ln w="9525">
            <a:solidFill>
              <a:srgbClr val="0B6E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0B6E5A"/>
                </a:solidFill>
              </a:rPr>
              <a:t>2</a:t>
            </a:r>
          </a:p>
        </p:txBody>
      </p:sp>
      <p:sp>
        <p:nvSpPr>
          <p:cNvPr id="12" name="logic-03:label"/>
          <p:cNvSpPr txBox="1"/>
          <p:nvPr/>
        </p:nvSpPr>
        <p:spPr>
          <a:xfrm>
            <a:off x="1044000" y="3086727"/>
            <a:ext cx="1152000" cy="752727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한계</a:t>
            </a:r>
          </a:p>
        </p:txBody>
      </p:sp>
      <p:sp>
        <p:nvSpPr>
          <p:cNvPr id="13" name="logic-03:text"/>
          <p:cNvSpPr txBox="1"/>
          <p:nvPr/>
        </p:nvSpPr>
        <p:spPr>
          <a:xfrm>
            <a:off x="2268000" y="3086727"/>
            <a:ext cx="9240120" cy="752727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35000"/>
              </a:lnSpc>
            </a:pPr>
            <a:r>
              <a:rPr sz="1400" b="0" spc="-40">
                <a:solidFill>
                  <a:srgbClr val="262B33"/>
                </a:solidFill>
              </a:rPr>
              <a:t>16S 분석은 균주 수준의 기능을 구분하지 못한다</a:t>
            </a:r>
          </a:p>
        </p:txBody>
      </p:sp>
      <p:cxnSp>
        <p:nvCxnSpPr>
          <p:cNvPr id="14" name="logic-03:link"/>
          <p:cNvCxnSpPr/>
          <p:nvPr/>
        </p:nvCxnSpPr>
        <p:spPr>
          <a:xfrm>
            <a:off x="792000" y="3839455"/>
            <a:ext cx="0" cy="2160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logic-03:row"/>
          <p:cNvSpPr/>
          <p:nvPr/>
        </p:nvSpPr>
        <p:spPr>
          <a:xfrm>
            <a:off x="468000" y="4055455"/>
            <a:ext cx="11256120" cy="978545"/>
          </a:xfrm>
          <a:prstGeom prst="rect">
            <a:avLst/>
          </a:prstGeom>
          <a:solidFill>
            <a:srgbClr val="0B6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logic-03:marker"/>
          <p:cNvSpPr/>
          <p:nvPr/>
        </p:nvSpPr>
        <p:spPr>
          <a:xfrm>
            <a:off x="648000" y="4400727"/>
            <a:ext cx="288000" cy="28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0B6E5A"/>
                </a:solidFill>
              </a:rPr>
              <a:t>3</a:t>
            </a:r>
          </a:p>
        </p:txBody>
      </p:sp>
      <p:sp>
        <p:nvSpPr>
          <p:cNvPr id="17" name="logic-03:label"/>
          <p:cNvSpPr txBox="1"/>
          <p:nvPr/>
        </p:nvSpPr>
        <p:spPr>
          <a:xfrm>
            <a:off x="1044000" y="4055455"/>
            <a:ext cx="1152000" cy="978545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FFFFFF"/>
                </a:solidFill>
              </a:rPr>
              <a:t>목표</a:t>
            </a:r>
          </a:p>
        </p:txBody>
      </p:sp>
      <p:sp>
        <p:nvSpPr>
          <p:cNvPr id="18" name="logic-03:text"/>
          <p:cNvSpPr txBox="1"/>
          <p:nvPr/>
        </p:nvSpPr>
        <p:spPr>
          <a:xfrm>
            <a:off x="2268000" y="4055455"/>
            <a:ext cx="9240120" cy="978545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35000"/>
              </a:lnSpc>
            </a:pPr>
            <a:r>
              <a:rPr sz="1800" b="1" spc="-40">
                <a:solidFill>
                  <a:srgbClr val="FFFFFF"/>
                </a:solidFill>
              </a:rPr>
              <a:t>메타게놈으로 대장암 관련 균주의 기능 유전자를 규명한다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4</a:t>
            </a:fld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HaLab 에메랄드 클린 16:9">
  <a:themeElements>
    <a:clrScheme name="HaLab 에메랄드 클린 16:9">
      <a:dk1>
        <a:srgbClr val="262B33"/>
      </a:dk1>
      <a:lt1>
        <a:srgbClr val="FFFFFF"/>
      </a:lt1>
      <a:dk2>
        <a:srgbClr val="6B7280"/>
      </a:dk2>
      <a:lt2>
        <a:srgbClr val="FBFBFB"/>
      </a:lt2>
      <a:accent1>
        <a:srgbClr val="0B6E5A"/>
      </a:accent1>
      <a:accent2>
        <a:srgbClr val="60A194"/>
      </a:accent2>
      <a:accent3>
        <a:srgbClr val="9DC5BD"/>
      </a:accent3>
      <a:accent4>
        <a:srgbClr val="7B4FE0"/>
      </a:accent4>
      <a:accent5>
        <a:srgbClr val="9DC5BD"/>
      </a:accent5>
      <a:accent6>
        <a:srgbClr val="E2E5EA"/>
      </a:accent6>
      <a:hlink>
        <a:srgbClr val="0B6E5A"/>
      </a:hlink>
      <a:folHlink>
        <a:srgbClr val="9DC5BD"/>
      </a:folHlink>
    </a:clrScheme>
    <a:fontScheme name="Pretendard">
      <a:majorFont>
        <a:latin typeface="Pretendard"/>
        <a:ea typeface="Pretendard"/>
        <a:cs typeface=""/>
        <a:font script="Hang" typeface="Pretendard"/>
      </a:majorFont>
      <a:minorFont>
        <a:latin typeface="Pretendard"/>
        <a:ea typeface="Pretendard"/>
        <a:cs typeface=""/>
        <a:font script="Hang" typeface="Pretendard"/>
      </a:minorFont>
    </a:fontScheme>
    <a:fmtScheme name="HaLab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9525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>
    <a:spDef>
      <a:spPr>
        <a:solidFill>
          <a:schemeClr val="bg1"/>
        </a:solidFill>
        <a:ln w="9525">
          <a:solidFill>
            <a:schemeClr val="accent6"/>
          </a:solidFill>
        </a:ln>
      </a:spPr>
      <a:bodyPr rtlCol="0" anchor="ctr"/>
      <a:lstStyle>
        <a:defPPr algn="ctr">
          <a:defRPr lang="ko-KR"/>
        </a:defPPr>
      </a:lstStyle>
      <a:style>
        <a:lnRef idx="0">
          <a:schemeClr val="accent6"/>
        </a:lnRef>
        <a:fillRef idx="0">
          <a:schemeClr val="bg1"/>
        </a:fillRef>
        <a:effectRef idx="0">
          <a:schemeClr val="accent1"/>
        </a:effectRef>
        <a:fontRef idx="minor">
          <a:schemeClr val="tx1"/>
        </a:fontRef>
      </a:style>
    </a:spDef>
    <a:lnDef>
      <a:spPr>
        <a:ln w="9525">
          <a:solidFill>
            <a:schemeClr val="tx2"/>
          </a:solidFill>
        </a:ln>
      </a:spPr>
      <a:bodyPr/>
      <a:lstStyle/>
      <a:style>
        <a:lnRef idx="0">
          <a:schemeClr val="tx2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>
          <a:lnSpc>
            <a:spcPct val="120000"/>
          </a:lnSpc>
          <a:defRPr lang="ko-KR" spc="-40"/>
        </a:defPPr>
      </a:lstStyle>
    </a:tx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>
  <Application>Microsoft Office PowerPoint</Application>
  <Slides>0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HaLab 틸 클린 16:9</dc:title>
  <dc:creator>HaLab</dc:creator>
</cp:coreProperties>
</file>