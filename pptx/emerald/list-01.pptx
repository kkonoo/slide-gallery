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(list-01-g).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(list-01-h).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(list-01-i).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(list-01-j).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랩미팅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랩미팅은 이렇게 진행해요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4466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6660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14:00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430195" y="1685861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1898195" y="16842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공지 · 일정 확인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1898195" y="20294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 주 마감과 장비 예약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33502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25696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14:10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430195" y="2589461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1898195" y="25878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Progress report 1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1898195" y="29330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발표 15분 + 질의응답 5분</a:t>
            </a:r>
          </a:p>
        </p:txBody>
      </p:sp>
      <p:cxnSp>
        <p:nvCxnSpPr>
          <p:cNvPr id="15" name="list-01:line"/>
          <p:cNvCxnSpPr/>
          <p:nvPr/>
        </p:nvCxnSpPr>
        <p:spPr>
          <a:xfrm>
            <a:off x="468000" y="42538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st-01:lead"/>
          <p:cNvSpPr txBox="1"/>
          <p:nvPr/>
        </p:nvSpPr>
        <p:spPr>
          <a:xfrm>
            <a:off x="648000" y="34732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14:30</a:t>
            </a:r>
          </a:p>
        </p:txBody>
      </p:sp>
      <p:sp>
        <p:nvSpPr>
          <p:cNvPr id="17" name="list-01:marker"/>
          <p:cNvSpPr/>
          <p:nvPr/>
        </p:nvSpPr>
        <p:spPr>
          <a:xfrm>
            <a:off x="1430195" y="3493061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1898195" y="34914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Progress report 2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1898195" y="38366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발표 15분 + 질의응답 5분</a:t>
            </a:r>
          </a:p>
        </p:txBody>
      </p:sp>
      <p:sp>
        <p:nvSpPr>
          <p:cNvPr id="20" name="list-01:highlight"/>
          <p:cNvSpPr/>
          <p:nvPr/>
        </p:nvSpPr>
        <p:spPr>
          <a:xfrm>
            <a:off x="468000" y="4253852"/>
            <a:ext cx="11256120" cy="90360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1" name="list-01:line"/>
          <p:cNvCxnSpPr/>
          <p:nvPr/>
        </p:nvCxnSpPr>
        <p:spPr>
          <a:xfrm>
            <a:off x="468000" y="5157452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list-01:lead"/>
          <p:cNvSpPr txBox="1"/>
          <p:nvPr/>
        </p:nvSpPr>
        <p:spPr>
          <a:xfrm>
            <a:off x="648000" y="43768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14:50</a:t>
            </a:r>
          </a:p>
        </p:txBody>
      </p:sp>
      <p:sp>
        <p:nvSpPr>
          <p:cNvPr id="23" name="list-01:marker"/>
          <p:cNvSpPr/>
          <p:nvPr/>
        </p:nvSpPr>
        <p:spPr>
          <a:xfrm>
            <a:off x="1430195" y="4396661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list-01:title"/>
          <p:cNvSpPr txBox="1"/>
          <p:nvPr/>
        </p:nvSpPr>
        <p:spPr>
          <a:xfrm>
            <a:off x="1898195" y="43950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Journal club</a:t>
            </a:r>
          </a:p>
        </p:txBody>
      </p:sp>
      <p:sp>
        <p:nvSpPr>
          <p:cNvPr id="25" name="list-01:desc"/>
          <p:cNvSpPr txBox="1"/>
          <p:nvPr/>
        </p:nvSpPr>
        <p:spPr>
          <a:xfrm>
            <a:off x="1898195" y="47402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새 분석 방법을 다룬 논문 한 편을 같이 공부</a:t>
            </a:r>
          </a:p>
        </p:txBody>
      </p:sp>
      <p:sp>
        <p:nvSpPr>
          <p:cNvPr id="26" name="list-01:lead"/>
          <p:cNvSpPr txBox="1"/>
          <p:nvPr/>
        </p:nvSpPr>
        <p:spPr>
          <a:xfrm>
            <a:off x="648000" y="5280492"/>
            <a:ext cx="782195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15:30</a:t>
            </a:r>
          </a:p>
        </p:txBody>
      </p:sp>
      <p:sp>
        <p:nvSpPr>
          <p:cNvPr id="27" name="list-01:marker"/>
          <p:cNvSpPr/>
          <p:nvPr/>
        </p:nvSpPr>
        <p:spPr>
          <a:xfrm>
            <a:off x="1430195" y="5300261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list-01:title"/>
          <p:cNvSpPr txBox="1"/>
          <p:nvPr/>
        </p:nvSpPr>
        <p:spPr>
          <a:xfrm>
            <a:off x="1898195" y="5298689"/>
            <a:ext cx="982592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다음 주 발표자 확인</a:t>
            </a:r>
          </a:p>
        </p:txBody>
      </p:sp>
      <p:sp>
        <p:nvSpPr>
          <p:cNvPr id="29" name="list-01:desc"/>
          <p:cNvSpPr txBox="1"/>
          <p:nvPr/>
        </p:nvSpPr>
        <p:spPr>
          <a:xfrm>
            <a:off x="1898195" y="5643834"/>
            <a:ext cx="9825925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발표 자료는 전날까지 공유 폴더에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연습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발표에서 자주 하는 실수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 txBox="1"/>
          <p:nvPr/>
        </p:nvSpPr>
        <p:spPr>
          <a:xfrm>
            <a:off x="468000" y="1982874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슬라이드의 글을 그대로 읽기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할 말은 발표자 노트에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 txBox="1"/>
          <p:nvPr/>
        </p:nvSpPr>
        <p:spPr>
          <a:xfrm>
            <a:off x="468000" y="3324000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 장이 너무 많음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메시지에 필요한 것만, 나머지는 보충 슬라이드로</a:t>
            </a:r>
          </a:p>
        </p:txBody>
      </p:sp>
      <p:sp>
        <p:nvSpPr>
          <p:cNvPr id="13" name="list-01:marker"/>
          <p:cNvSpPr txBox="1"/>
          <p:nvPr/>
        </p:nvSpPr>
        <p:spPr>
          <a:xfrm>
            <a:off x="468000" y="4665126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"보시다시피…"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무엇을 봐야 하는지 직접 말하기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 txBox="1"/>
          <p:nvPr/>
        </p:nvSpPr>
        <p:spPr>
          <a:xfrm>
            <a:off x="6204060" y="1982874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잘 안 된 결과 숨기기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랩미팅에서는 오히려 꼭 보여 주기</a:t>
            </a:r>
          </a:p>
        </p:txBody>
      </p:sp>
      <p:cxnSp>
        <p:nvCxnSpPr>
          <p:cNvPr id="20" name="list-01:line"/>
          <p:cNvCxnSpPr/>
          <p:nvPr/>
        </p:nvCxnSpPr>
        <p:spPr>
          <a:xfrm>
            <a:off x="620406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ist-01:marker"/>
          <p:cNvSpPr txBox="1"/>
          <p:nvPr/>
        </p:nvSpPr>
        <p:spPr>
          <a:xfrm>
            <a:off x="6204060" y="3324000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22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연속값을 평균 막대로만</a:t>
            </a:r>
          </a:p>
        </p:txBody>
      </p:sp>
      <p:sp>
        <p:nvSpPr>
          <p:cNvPr id="23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점을 모두 보여 주기</a:t>
            </a:r>
          </a:p>
        </p:txBody>
      </p:sp>
      <p:sp>
        <p:nvSpPr>
          <p:cNvPr id="24" name="list-01:marker"/>
          <p:cNvSpPr txBox="1"/>
          <p:nvPr/>
        </p:nvSpPr>
        <p:spPr>
          <a:xfrm>
            <a:off x="6204060" y="4665126"/>
            <a:ext cx="288000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6B7280"/>
                </a:solidFill>
              </a:rPr>
              <a:t>✕</a:t>
            </a:r>
          </a:p>
        </p:txBody>
      </p:sp>
      <p:sp>
        <p:nvSpPr>
          <p:cNvPr id="25" name="list-01:title"/>
          <p:cNvSpPr txBox="1"/>
          <p:nvPr/>
        </p:nvSpPr>
        <p:spPr>
          <a:xfrm>
            <a:off x="667206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빨강 · 초록을 같이 쓰기</a:t>
            </a:r>
          </a:p>
        </p:txBody>
      </p:sp>
      <p:sp>
        <p:nvSpPr>
          <p:cNvPr id="26" name="list-01:desc"/>
          <p:cNvSpPr txBox="1"/>
          <p:nvPr/>
        </p:nvSpPr>
        <p:spPr>
          <a:xfrm>
            <a:off x="667206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색맹에 안전한 팔레트로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그래프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보여 줄 것에 맞춰 그래프를 골라요</a:t>
            </a:r>
          </a:p>
        </p:txBody>
      </p:sp>
      <p:sp>
        <p:nvSpPr>
          <p:cNvPr id="5" name="list-01:heading"/>
          <p:cNvSpPr txBox="1"/>
          <p:nvPr/>
        </p:nvSpPr>
        <p:spPr>
          <a:xfrm>
            <a:off x="468000" y="2059910"/>
            <a:ext cx="1125612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보여 줄 것 → 그래프</a:t>
            </a:r>
          </a:p>
        </p:txBody>
      </p:sp>
      <p:cxnSp>
        <p:nvCxnSpPr>
          <p:cNvPr id="6" name="list-01:line"/>
          <p:cNvCxnSpPr/>
          <p:nvPr/>
        </p:nvCxnSpPr>
        <p:spPr>
          <a:xfrm>
            <a:off x="468000" y="2437910"/>
            <a:ext cx="1125612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ist-01:line"/>
          <p:cNvCxnSpPr/>
          <p:nvPr/>
        </p:nvCxnSpPr>
        <p:spPr>
          <a:xfrm>
            <a:off x="468000" y="348505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ist-01:title"/>
          <p:cNvSpPr txBox="1"/>
          <p:nvPr/>
        </p:nvSpPr>
        <p:spPr>
          <a:xfrm>
            <a:off x="468000" y="283391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두세 그룹의 연속값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173564" y="283391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dot plot, box + 점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4962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title"/>
          <p:cNvSpPr txBox="1"/>
          <p:nvPr/>
        </p:nvSpPr>
        <p:spPr>
          <a:xfrm>
            <a:off x="468000" y="3845055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같은 대상의 전 · 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2173564" y="3845055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짝을 선으로 잇는 before–after plot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468000" y="485620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두 연속 변수의 관계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173564" y="485620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scatter + 회귀선</a:t>
            </a:r>
          </a:p>
        </p:txBody>
      </p:sp>
      <p:cxnSp>
        <p:nvCxnSpPr>
          <p:cNvPr id="15" name="list-01:line"/>
          <p:cNvCxnSpPr/>
          <p:nvPr/>
        </p:nvCxnSpPr>
        <p:spPr>
          <a:xfrm>
            <a:off x="6204060" y="348505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st-01:title"/>
          <p:cNvSpPr txBox="1"/>
          <p:nvPr/>
        </p:nvSpPr>
        <p:spPr>
          <a:xfrm>
            <a:off x="6204060" y="283391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시간에 따른 변화</a:t>
            </a:r>
          </a:p>
        </p:txBody>
      </p:sp>
      <p:sp>
        <p:nvSpPr>
          <p:cNvPr id="17" name="list-01:desc"/>
          <p:cNvSpPr txBox="1"/>
          <p:nvPr/>
        </p:nvSpPr>
        <p:spPr>
          <a:xfrm>
            <a:off x="7909624" y="283391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선 그래프 (평균 ± SD)</a:t>
            </a:r>
          </a:p>
        </p:txBody>
      </p:sp>
      <p:cxnSp>
        <p:nvCxnSpPr>
          <p:cNvPr id="18" name="list-01:line"/>
          <p:cNvCxnSpPr/>
          <p:nvPr/>
        </p:nvCxnSpPr>
        <p:spPr>
          <a:xfrm>
            <a:off x="6204060" y="44962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ist-01:title"/>
          <p:cNvSpPr txBox="1"/>
          <p:nvPr/>
        </p:nvSpPr>
        <p:spPr>
          <a:xfrm>
            <a:off x="6204060" y="3845055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개수 · 비율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7909624" y="3845055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막대 (y축은 0부터)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204060" y="4856200"/>
            <a:ext cx="170556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생존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7909624" y="4856200"/>
            <a:ext cx="3814496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Kaplan–Meier 곡선 + number at risk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질의응답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질문을 받으면 세 단계로 답해요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끝까지 듣고 다시 말하기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"○○에 대한 질문이시죠?" 하고 짧게 확인해요.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답 → 근거 순서로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답을 먼저, 근거는 데이터와 슬라이드 번호로 짧게.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모르면 솔직하게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"확인해 보겠습니다", 좋은 제안이면 "다음 분석에 넣어 보겠습니다".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375916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2539488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2537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883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6204060" y="2375916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6204060" y="2539488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6672060" y="2537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6672060" y="2883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3" name="list-01:line"/>
          <p:cNvCxnSpPr/>
          <p:nvPr/>
        </p:nvCxnSpPr>
        <p:spPr>
          <a:xfrm>
            <a:off x="468000" y="3717042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ist-01:marker"/>
          <p:cNvSpPr/>
          <p:nvPr/>
        </p:nvSpPr>
        <p:spPr>
          <a:xfrm>
            <a:off x="468000" y="3880615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3879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224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cxnSp>
        <p:nvCxnSpPr>
          <p:cNvPr id="17" name="list-01:line"/>
          <p:cNvCxnSpPr/>
          <p:nvPr/>
        </p:nvCxnSpPr>
        <p:spPr>
          <a:xfrm>
            <a:off x="6204060" y="3717042"/>
            <a:ext cx="552006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list-01:marker"/>
          <p:cNvSpPr/>
          <p:nvPr/>
        </p:nvSpPr>
        <p:spPr>
          <a:xfrm>
            <a:off x="6204060" y="3880615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list-01:title"/>
          <p:cNvSpPr txBox="1"/>
          <p:nvPr/>
        </p:nvSpPr>
        <p:spPr>
          <a:xfrm>
            <a:off x="6672060" y="3879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6672060" y="4224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62277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749030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7474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0926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375227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2878530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28769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2221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3" name="list-01:line"/>
          <p:cNvCxnSpPr/>
          <p:nvPr/>
        </p:nvCxnSpPr>
        <p:spPr>
          <a:xfrm>
            <a:off x="468000" y="488177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ist-01:marker"/>
          <p:cNvSpPr/>
          <p:nvPr/>
        </p:nvSpPr>
        <p:spPr>
          <a:xfrm>
            <a:off x="468000" y="4008030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0064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3516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17" name="list-01:marker"/>
          <p:cNvSpPr/>
          <p:nvPr/>
        </p:nvSpPr>
        <p:spPr>
          <a:xfrm>
            <a:off x="468000" y="5137530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936000" y="5135958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936000" y="5481103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3411042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2431488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2429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775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sp>
        <p:nvSpPr>
          <p:cNvPr id="9" name="list-01:marker"/>
          <p:cNvSpPr/>
          <p:nvPr/>
        </p:nvSpPr>
        <p:spPr>
          <a:xfrm>
            <a:off x="468000" y="3772615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list-01:title"/>
          <p:cNvSpPr txBox="1"/>
          <p:nvPr/>
        </p:nvSpPr>
        <p:spPr>
          <a:xfrm>
            <a:off x="936000" y="3771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1" name="list-01:desc"/>
          <p:cNvSpPr txBox="1"/>
          <p:nvPr/>
        </p:nvSpPr>
        <p:spPr>
          <a:xfrm>
            <a:off x="936000" y="4116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2" name="list-01:line"/>
          <p:cNvCxnSpPr/>
          <p:nvPr/>
        </p:nvCxnSpPr>
        <p:spPr>
          <a:xfrm>
            <a:off x="6204060" y="3411042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list-01:marker"/>
          <p:cNvSpPr/>
          <p:nvPr/>
        </p:nvSpPr>
        <p:spPr>
          <a:xfrm>
            <a:off x="6204060" y="2431488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6672060" y="242991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6672060" y="277506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6204060" y="3772615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6672060" y="3771042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6672060" y="4116187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슬라이드 한 장의 틀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63200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title"/>
          <p:cNvSpPr txBox="1"/>
          <p:nvPr/>
        </p:nvSpPr>
        <p:spPr>
          <a:xfrm>
            <a:off x="468000" y="1980861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7" name="list-01:desc"/>
          <p:cNvSpPr txBox="1"/>
          <p:nvPr/>
        </p:nvSpPr>
        <p:spPr>
          <a:xfrm>
            <a:off x="2991492" y="1980861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8" name="list-01:line"/>
          <p:cNvCxnSpPr/>
          <p:nvPr/>
        </p:nvCxnSpPr>
        <p:spPr>
          <a:xfrm>
            <a:off x="468000" y="364315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list-01:title"/>
          <p:cNvSpPr txBox="1"/>
          <p:nvPr/>
        </p:nvSpPr>
        <p:spPr>
          <a:xfrm>
            <a:off x="468000" y="2992006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0" name="list-01:desc"/>
          <p:cNvSpPr txBox="1"/>
          <p:nvPr/>
        </p:nvSpPr>
        <p:spPr>
          <a:xfrm>
            <a:off x="2991492" y="2992006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1" name="list-01:line"/>
          <p:cNvCxnSpPr/>
          <p:nvPr/>
        </p:nvCxnSpPr>
        <p:spPr>
          <a:xfrm>
            <a:off x="468000" y="465429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st-01:title"/>
          <p:cNvSpPr txBox="1"/>
          <p:nvPr/>
        </p:nvSpPr>
        <p:spPr>
          <a:xfrm>
            <a:off x="468000" y="4003151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2991492" y="4003151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468000" y="5014296"/>
            <a:ext cx="2523492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2991492" y="5014296"/>
            <a:ext cx="8732628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준비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 전에 여섯 가지를 확인해요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375916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title"/>
          <p:cNvSpPr txBox="1"/>
          <p:nvPr/>
        </p:nvSpPr>
        <p:spPr>
          <a:xfrm>
            <a:off x="468000" y="2537916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제목만 넘겨 읽기</a:t>
            </a:r>
          </a:p>
        </p:txBody>
      </p:sp>
      <p:sp>
        <p:nvSpPr>
          <p:cNvPr id="7" name="list-01:desc"/>
          <p:cNvSpPr txBox="1"/>
          <p:nvPr/>
        </p:nvSpPr>
        <p:spPr>
          <a:xfrm>
            <a:off x="468000" y="2883061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제목만 읽어도 이야기가 이어지나요?</a:t>
            </a:r>
          </a:p>
        </p:txBody>
      </p:sp>
      <p:cxnSp>
        <p:nvCxnSpPr>
          <p:cNvPr id="8" name="list-01:line"/>
          <p:cNvCxnSpPr/>
          <p:nvPr/>
        </p:nvCxnSpPr>
        <p:spPr>
          <a:xfrm>
            <a:off x="4292040" y="2375916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list-01:title"/>
          <p:cNvSpPr txBox="1"/>
          <p:nvPr/>
        </p:nvSpPr>
        <p:spPr>
          <a:xfrm>
            <a:off x="4292040" y="2537916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축 · 단위 · n</a:t>
            </a:r>
          </a:p>
        </p:txBody>
      </p:sp>
      <p:sp>
        <p:nvSpPr>
          <p:cNvPr id="10" name="list-01:desc"/>
          <p:cNvSpPr txBox="1"/>
          <p:nvPr/>
        </p:nvSpPr>
        <p:spPr>
          <a:xfrm>
            <a:off x="4292040" y="2883061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모든 그래프에 축 이름, 단위, n, 통계 표시</a:t>
            </a:r>
          </a:p>
        </p:txBody>
      </p:sp>
      <p:cxnSp>
        <p:nvCxnSpPr>
          <p:cNvPr id="11" name="list-01:line"/>
          <p:cNvCxnSpPr/>
          <p:nvPr/>
        </p:nvCxnSpPr>
        <p:spPr>
          <a:xfrm>
            <a:off x="8116080" y="2375916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st-01:title"/>
          <p:cNvSpPr txBox="1"/>
          <p:nvPr/>
        </p:nvSpPr>
        <p:spPr>
          <a:xfrm>
            <a:off x="8116080" y="2537916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약어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116080" y="2883061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처음 나올 때 풀어 썼나요?</a:t>
            </a:r>
          </a:p>
        </p:txBody>
      </p:sp>
      <p:cxnSp>
        <p:nvCxnSpPr>
          <p:cNvPr id="14" name="list-01:line"/>
          <p:cNvCxnSpPr/>
          <p:nvPr/>
        </p:nvCxnSpPr>
        <p:spPr>
          <a:xfrm>
            <a:off x="468000" y="3717042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ist-01:title"/>
          <p:cNvSpPr txBox="1"/>
          <p:nvPr/>
        </p:nvSpPr>
        <p:spPr>
          <a:xfrm>
            <a:off x="468000" y="3879042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소리 내어 두 번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468000" y="4224187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시간을 재며 소리 내어 연습해요</a:t>
            </a:r>
          </a:p>
        </p:txBody>
      </p:sp>
      <p:cxnSp>
        <p:nvCxnSpPr>
          <p:cNvPr id="17" name="list-01:line"/>
          <p:cNvCxnSpPr/>
          <p:nvPr/>
        </p:nvCxnSpPr>
        <p:spPr>
          <a:xfrm>
            <a:off x="4292040" y="3717042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list-01:title"/>
          <p:cNvSpPr txBox="1"/>
          <p:nvPr/>
        </p:nvSpPr>
        <p:spPr>
          <a:xfrm>
            <a:off x="4292040" y="3879042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예상 질문 다섯 개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4292040" y="4224187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답과 보충 슬라이드는 맨 뒤에</a:t>
            </a:r>
          </a:p>
        </p:txBody>
      </p:sp>
      <p:cxnSp>
        <p:nvCxnSpPr>
          <p:cNvPr id="20" name="list-01:line"/>
          <p:cNvCxnSpPr/>
          <p:nvPr/>
        </p:nvCxnSpPr>
        <p:spPr>
          <a:xfrm>
            <a:off x="8116080" y="3717042"/>
            <a:ext cx="360804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ist-01:title"/>
          <p:cNvSpPr txBox="1"/>
          <p:nvPr/>
        </p:nvSpPr>
        <p:spPr>
          <a:xfrm>
            <a:off x="8116080" y="3879042"/>
            <a:ext cx="3608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슬라이드 번호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8116080" y="4224187"/>
            <a:ext cx="3608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질문받을 때 바로 찾을 수 있어요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