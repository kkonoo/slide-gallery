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운영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정보와 혈액 시료는 따로 흘러 분석팀에서 만난다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215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6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55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6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496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bel-rule"/>
          <p:cNvCxnSpPr/>
          <p:nvPr/>
        </p:nvCxnSpPr>
        <p:spPr>
          <a:xfrm>
            <a:off x="2077923" y="2154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06:lane"/>
          <p:cNvSpPr txBox="1"/>
          <p:nvPr/>
        </p:nvSpPr>
        <p:spPr>
          <a:xfrm>
            <a:off x="468000" y="2154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 책임자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2856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코디네이터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3558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바이오뱅크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4260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분석팀</a:t>
            </a:r>
          </a:p>
        </p:txBody>
      </p:sp>
      <p:sp>
        <p:nvSpPr>
          <p:cNvPr id="15" name="flow-06:task"/>
          <p:cNvSpPr/>
          <p:nvPr/>
        </p:nvSpPr>
        <p:spPr>
          <a:xfrm>
            <a:off x="2293923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2387523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연구 계획 · IRB</a:t>
            </a:r>
          </a:p>
        </p:txBody>
      </p:sp>
      <p:sp>
        <p:nvSpPr>
          <p:cNvPr id="17" name="flow-06:task"/>
          <p:cNvSpPr/>
          <p:nvPr/>
        </p:nvSpPr>
        <p:spPr>
          <a:xfrm>
            <a:off x="426636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435996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동의 · 등록</a:t>
            </a:r>
          </a:p>
        </p:txBody>
      </p:sp>
      <p:sp>
        <p:nvSpPr>
          <p:cNvPr id="19" name="flow-06:task"/>
          <p:cNvSpPr/>
          <p:nvPr/>
        </p:nvSpPr>
        <p:spPr>
          <a:xfrm>
            <a:off x="6238802" y="3713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6332402" y="3713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혈액 분주 · 보관</a:t>
            </a:r>
          </a:p>
        </p:txBody>
      </p:sp>
      <p:sp>
        <p:nvSpPr>
          <p:cNvPr id="21" name="flow-06:task"/>
          <p:cNvSpPr/>
          <p:nvPr/>
        </p:nvSpPr>
        <p:spPr>
          <a:xfrm>
            <a:off x="623880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633240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정보 입력</a:t>
            </a:r>
          </a:p>
        </p:txBody>
      </p:sp>
      <p:sp>
        <p:nvSpPr>
          <p:cNvPr id="23" name="flow-06:task"/>
          <p:cNvSpPr/>
          <p:nvPr/>
        </p:nvSpPr>
        <p:spPr>
          <a:xfrm>
            <a:off x="8211241" y="4415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830484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유전형 분석</a:t>
            </a:r>
          </a:p>
        </p:txBody>
      </p:sp>
      <p:sp>
        <p:nvSpPr>
          <p:cNvPr id="25" name="flow-06:task"/>
          <p:cNvSpPr/>
          <p:nvPr/>
        </p:nvSpPr>
        <p:spPr>
          <a:xfrm>
            <a:off x="10183681" y="4415751"/>
            <a:ext cx="1540439" cy="390499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1027728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연관 분석</a:t>
            </a:r>
          </a:p>
        </p:txBody>
      </p:sp>
      <p:sp>
        <p:nvSpPr>
          <p:cNvPr id="27" name="flow-06:task"/>
          <p:cNvSpPr/>
          <p:nvPr/>
        </p:nvSpPr>
        <p:spPr>
          <a:xfrm>
            <a:off x="10183681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flow-06:task-text"/>
          <p:cNvSpPr txBox="1"/>
          <p:nvPr/>
        </p:nvSpPr>
        <p:spPr>
          <a:xfrm>
            <a:off x="10277281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결과 검토</a:t>
            </a:r>
          </a:p>
        </p:txBody>
      </p:sp>
      <p:cxnSp>
        <p:nvCxnSpPr>
          <p:cNvPr id="29" name="flow-06:handoff"/>
          <p:cNvCxnSpPr/>
          <p:nvPr/>
        </p:nvCxnSpPr>
        <p:spPr>
          <a:xfrm>
            <a:off x="3834362" y="2505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050362" y="2505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405036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580680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022802" y="3207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6022802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7779241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7995241" y="3909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799524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06:handoff"/>
          <p:cNvCxnSpPr/>
          <p:nvPr/>
        </p:nvCxnSpPr>
        <p:spPr>
          <a:xfrm>
            <a:off x="7779241" y="3207000"/>
            <a:ext cx="21884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low-06:handoff"/>
          <p:cNvCxnSpPr/>
          <p:nvPr/>
        </p:nvCxnSpPr>
        <p:spPr>
          <a:xfrm>
            <a:off x="9967681" y="3207000"/>
            <a:ext cx="0" cy="140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flow-06:handoff"/>
          <p:cNvCxnSpPr/>
          <p:nvPr/>
        </p:nvCxnSpPr>
        <p:spPr>
          <a:xfrm>
            <a:off x="996768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ow-06:handoff"/>
          <p:cNvCxnSpPr/>
          <p:nvPr/>
        </p:nvCxnSpPr>
        <p:spPr>
          <a:xfrm flipV="1">
            <a:off x="10953900" y="2700249"/>
            <a:ext cx="0" cy="171550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공유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 전 검토는 다섯 주체가 한 번씩만 맡는다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58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4876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3912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948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51984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ne-rule"/>
          <p:cNvCxnSpPr/>
          <p:nvPr/>
        </p:nvCxnSpPr>
        <p:spPr>
          <a:xfrm>
            <a:off x="468000" y="610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6:label-rule"/>
          <p:cNvCxnSpPr/>
          <p:nvPr/>
        </p:nvCxnSpPr>
        <p:spPr>
          <a:xfrm>
            <a:off x="1820984" y="1584000"/>
            <a:ext cx="0" cy="451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6:lane"/>
          <p:cNvSpPr txBox="1"/>
          <p:nvPr/>
        </p:nvSpPr>
        <p:spPr>
          <a:xfrm>
            <a:off x="468000" y="15840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데이터 생산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24876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관리자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메타데이터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33912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책임자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승인</a:t>
            </a:r>
          </a:p>
        </p:txBody>
      </p:sp>
      <p:sp>
        <p:nvSpPr>
          <p:cNvPr id="15" name="flow-06:lane"/>
          <p:cNvSpPr txBox="1"/>
          <p:nvPr/>
        </p:nvSpPr>
        <p:spPr>
          <a:xfrm>
            <a:off x="468000" y="42948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IRB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개인정보 검토</a:t>
            </a:r>
          </a:p>
        </p:txBody>
      </p:sp>
      <p:sp>
        <p:nvSpPr>
          <p:cNvPr id="16" name="flow-06:lane"/>
          <p:cNvSpPr txBox="1"/>
          <p:nvPr/>
        </p:nvSpPr>
        <p:spPr>
          <a:xfrm>
            <a:off x="468000" y="51984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저장소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GEO · SRA</a:t>
            </a:r>
          </a:p>
        </p:txBody>
      </p:sp>
      <p:sp>
        <p:nvSpPr>
          <p:cNvPr id="17" name="flow-06:task"/>
          <p:cNvSpPr/>
          <p:nvPr/>
        </p:nvSpPr>
        <p:spPr>
          <a:xfrm>
            <a:off x="2036984" y="17458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2108984" y="17458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원자료 정리</a:t>
            </a:r>
          </a:p>
        </p:txBody>
      </p:sp>
      <p:sp>
        <p:nvSpPr>
          <p:cNvPr id="19" name="flow-06:task"/>
          <p:cNvSpPr/>
          <p:nvPr/>
        </p:nvSpPr>
        <p:spPr>
          <a:xfrm>
            <a:off x="2036984" y="26494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2108984" y="26494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메타데이터 작성</a:t>
            </a:r>
          </a:p>
        </p:txBody>
      </p:sp>
      <p:sp>
        <p:nvSpPr>
          <p:cNvPr id="21" name="flow-06:task"/>
          <p:cNvSpPr/>
          <p:nvPr/>
        </p:nvSpPr>
        <p:spPr>
          <a:xfrm>
            <a:off x="4566768" y="35530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4638768" y="35530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공개 범위 승인</a:t>
            </a:r>
          </a:p>
        </p:txBody>
      </p:sp>
      <p:sp>
        <p:nvSpPr>
          <p:cNvPr id="23" name="flow-06:task"/>
          <p:cNvSpPr/>
          <p:nvPr/>
        </p:nvSpPr>
        <p:spPr>
          <a:xfrm>
            <a:off x="7096552" y="4456620"/>
            <a:ext cx="2097784" cy="579959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7168552" y="44566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비식별 검토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1–2주</a:t>
            </a:r>
          </a:p>
        </p:txBody>
      </p:sp>
      <p:sp>
        <p:nvSpPr>
          <p:cNvPr id="25" name="flow-06:task"/>
          <p:cNvSpPr/>
          <p:nvPr/>
        </p:nvSpPr>
        <p:spPr>
          <a:xfrm>
            <a:off x="9626336" y="53602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9698336" y="53602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업로드 · 접수번호</a:t>
            </a:r>
          </a:p>
        </p:txBody>
      </p:sp>
      <p:cxnSp>
        <p:nvCxnSpPr>
          <p:cNvPr id="27" name="flow-06:handoff"/>
          <p:cNvCxnSpPr/>
          <p:nvPr/>
        </p:nvCxnSpPr>
        <p:spPr>
          <a:xfrm>
            <a:off x="3085876" y="2325780"/>
            <a:ext cx="0" cy="32364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4134768" y="29394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4350768" y="29394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350768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6664552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6880552" y="38430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880552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194336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410336" y="47466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9410336" y="56502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DD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CB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B8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94B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low-06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92896"/>
            <a:ext cx="581850" cy="216000"/>
          </a:xfrm>
          <a:prstGeom prst="rect">
            <a:avLst/>
          </a:prstGeom>
        </p:spPr>
      </p:pic>
      <p:sp>
        <p:nvSpPr>
          <p:cNvPr id="11" name="flow-06:lane"/>
          <p:cNvSpPr txBox="1"/>
          <p:nvPr/>
        </p:nvSpPr>
        <p:spPr>
          <a:xfrm>
            <a:off x="468000" y="2362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pic>
        <p:nvPicPr>
          <p:cNvPr id="12" name="flow-06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46896"/>
            <a:ext cx="668250" cy="216000"/>
          </a:xfrm>
          <a:prstGeom prst="rect">
            <a:avLst/>
          </a:prstGeom>
        </p:spPr>
      </p:pic>
      <p:sp>
        <p:nvSpPr>
          <p:cNvPr id="13" name="flow-06:lane"/>
          <p:cNvSpPr txBox="1"/>
          <p:nvPr/>
        </p:nvSpPr>
        <p:spPr>
          <a:xfrm>
            <a:off x="468000" y="3316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pic>
        <p:nvPicPr>
          <p:cNvPr id="14" name="flow-06:logo" descr="logo-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000896"/>
            <a:ext cx="668250" cy="216000"/>
          </a:xfrm>
          <a:prstGeom prst="rect">
            <a:avLst/>
          </a:prstGeom>
        </p:spPr>
      </p:pic>
      <p:sp>
        <p:nvSpPr>
          <p:cNvPr id="15" name="flow-06:lane"/>
          <p:cNvSpPr txBox="1"/>
          <p:nvPr/>
        </p:nvSpPr>
        <p:spPr>
          <a:xfrm>
            <a:off x="468000" y="4270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6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8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20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2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4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6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