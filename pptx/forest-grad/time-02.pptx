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(time-02-a).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(time-02-b).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1F5236"/>
              </a:gs>
              <a:gs pos="100000">
                <a:srgbClr val="5E7F25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1F5236"/>
              </a:gs>
              <a:gs pos="100000">
                <a:srgbClr val="5E7F25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계획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첫 논문까지 1년 반을 잡아요</a:t>
            </a:r>
          </a:p>
        </p:txBody>
      </p:sp>
      <p:sp>
        <p:nvSpPr>
          <p:cNvPr id="5" name="time-02:band"/>
          <p:cNvSpPr/>
          <p:nvPr/>
        </p:nvSpPr>
        <p:spPr>
          <a:xfrm>
            <a:off x="468000" y="2821765"/>
            <a:ext cx="11256120" cy="149760"/>
          </a:xfrm>
          <a:prstGeom prst="rect">
            <a:avLst/>
          </a:prstGeom>
          <a:gradFill rotWithShape="1">
            <a:gsLst>
              <a:gs pos="0">
                <a:srgbClr val="1F5236"/>
              </a:gs>
              <a:gs pos="100000">
                <a:srgbClr val="5E7F2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ime-02:date"/>
          <p:cNvSpPr txBox="1"/>
          <p:nvPr/>
        </p:nvSpPr>
        <p:spPr>
          <a:xfrm>
            <a:off x="468000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2026. 3.</a:t>
            </a:r>
          </a:p>
        </p:txBody>
      </p:sp>
      <p:sp>
        <p:nvSpPr>
          <p:cNvPr id="7" name="time-02:marker"/>
          <p:cNvSpPr/>
          <p:nvPr/>
        </p:nvSpPr>
        <p:spPr>
          <a:xfrm>
            <a:off x="468000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053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05336"/>
                </a:solidFill>
              </a:rPr>
              <a:t>1</a:t>
            </a:r>
          </a:p>
        </p:txBody>
      </p:sp>
      <p:cxnSp>
        <p:nvCxnSpPr>
          <p:cNvPr id="8" name="time-02:tick"/>
          <p:cNvCxnSpPr/>
          <p:nvPr/>
        </p:nvCxnSpPr>
        <p:spPr>
          <a:xfrm>
            <a:off x="678600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me-02:title"/>
          <p:cNvSpPr txBox="1"/>
          <p:nvPr/>
        </p:nvSpPr>
        <p:spPr>
          <a:xfrm>
            <a:off x="468000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연구실 합류</a:t>
            </a:r>
          </a:p>
        </p:txBody>
      </p:sp>
      <p:sp>
        <p:nvSpPr>
          <p:cNvPr id="10" name="time-02:desc"/>
          <p:cNvSpPr txBox="1"/>
          <p:nvPr/>
        </p:nvSpPr>
        <p:spPr>
          <a:xfrm>
            <a:off x="468000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분야 탐색 · 기본 분석 익히기</a:t>
            </a:r>
          </a:p>
        </p:txBody>
      </p:sp>
      <p:sp>
        <p:nvSpPr>
          <p:cNvPr id="11" name="time-02:date"/>
          <p:cNvSpPr txBox="1"/>
          <p:nvPr/>
        </p:nvSpPr>
        <p:spPr>
          <a:xfrm>
            <a:off x="2719224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2026. 7.</a:t>
            </a:r>
          </a:p>
        </p:txBody>
      </p:sp>
      <p:sp>
        <p:nvSpPr>
          <p:cNvPr id="12" name="time-02:marker"/>
          <p:cNvSpPr/>
          <p:nvPr/>
        </p:nvSpPr>
        <p:spPr>
          <a:xfrm>
            <a:off x="2719224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D5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D5C32"/>
                </a:solidFill>
              </a:rPr>
              <a:t>2</a:t>
            </a:r>
          </a:p>
        </p:txBody>
      </p:sp>
      <p:cxnSp>
        <p:nvCxnSpPr>
          <p:cNvPr id="13" name="time-02:tick"/>
          <p:cNvCxnSpPr/>
          <p:nvPr/>
        </p:nvCxnSpPr>
        <p:spPr>
          <a:xfrm>
            <a:off x="2929824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me-02:title"/>
          <p:cNvSpPr txBox="1"/>
          <p:nvPr/>
        </p:nvSpPr>
        <p:spPr>
          <a:xfrm>
            <a:off x="2719224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주제 확정</a:t>
            </a:r>
          </a:p>
        </p:txBody>
      </p:sp>
      <p:sp>
        <p:nvSpPr>
          <p:cNvPr id="15" name="time-02:desc"/>
          <p:cNvSpPr txBox="1"/>
          <p:nvPr/>
        </p:nvSpPr>
        <p:spPr>
          <a:xfrm>
            <a:off x="2719224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연구 질문과 데이터 정하기</a:t>
            </a:r>
          </a:p>
        </p:txBody>
      </p:sp>
      <p:sp>
        <p:nvSpPr>
          <p:cNvPr id="16" name="time-02:date"/>
          <p:cNvSpPr txBox="1"/>
          <p:nvPr/>
        </p:nvSpPr>
        <p:spPr>
          <a:xfrm>
            <a:off x="4970448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2026. 12.</a:t>
            </a:r>
          </a:p>
        </p:txBody>
      </p:sp>
      <p:sp>
        <p:nvSpPr>
          <p:cNvPr id="17" name="time-02:marker"/>
          <p:cNvSpPr/>
          <p:nvPr/>
        </p:nvSpPr>
        <p:spPr>
          <a:xfrm>
            <a:off x="4970448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3965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39652F"/>
                </a:solidFill>
              </a:rPr>
              <a:t>3</a:t>
            </a:r>
          </a:p>
        </p:txBody>
      </p:sp>
      <p:cxnSp>
        <p:nvCxnSpPr>
          <p:cNvPr id="18" name="time-02:tick"/>
          <p:cNvCxnSpPr/>
          <p:nvPr/>
        </p:nvCxnSpPr>
        <p:spPr>
          <a:xfrm>
            <a:off x="5181048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ime-02:title"/>
          <p:cNvSpPr txBox="1"/>
          <p:nvPr/>
        </p:nvSpPr>
        <p:spPr>
          <a:xfrm>
            <a:off x="4970448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첫 결과 발표</a:t>
            </a:r>
          </a:p>
        </p:txBody>
      </p:sp>
      <p:sp>
        <p:nvSpPr>
          <p:cNvPr id="20" name="time-02:desc"/>
          <p:cNvSpPr txBox="1"/>
          <p:nvPr/>
        </p:nvSpPr>
        <p:spPr>
          <a:xfrm>
            <a:off x="4970448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랩미팅 Progress report</a:t>
            </a:r>
          </a:p>
        </p:txBody>
      </p:sp>
      <p:sp>
        <p:nvSpPr>
          <p:cNvPr id="21" name="time-02:date"/>
          <p:cNvSpPr txBox="1"/>
          <p:nvPr/>
        </p:nvSpPr>
        <p:spPr>
          <a:xfrm>
            <a:off x="7221672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2027. 5.</a:t>
            </a:r>
          </a:p>
        </p:txBody>
      </p:sp>
      <p:sp>
        <p:nvSpPr>
          <p:cNvPr id="22" name="time-02:marker"/>
          <p:cNvSpPr/>
          <p:nvPr/>
        </p:nvSpPr>
        <p:spPr>
          <a:xfrm>
            <a:off x="7221672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66E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66E2B"/>
                </a:solidFill>
              </a:rPr>
              <a:t>4</a:t>
            </a:r>
          </a:p>
        </p:txBody>
      </p:sp>
      <p:cxnSp>
        <p:nvCxnSpPr>
          <p:cNvPr id="23" name="time-02:tick"/>
          <p:cNvCxnSpPr/>
          <p:nvPr/>
        </p:nvCxnSpPr>
        <p:spPr>
          <a:xfrm>
            <a:off x="7432272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ime-02:title"/>
          <p:cNvSpPr txBox="1"/>
          <p:nvPr/>
        </p:nvSpPr>
        <p:spPr>
          <a:xfrm>
            <a:off x="7221672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학회 포스터</a:t>
            </a:r>
          </a:p>
        </p:txBody>
      </p:sp>
      <p:sp>
        <p:nvSpPr>
          <p:cNvPr id="25" name="time-02:desc"/>
          <p:cNvSpPr txBox="1"/>
          <p:nvPr/>
        </p:nvSpPr>
        <p:spPr>
          <a:xfrm>
            <a:off x="7221672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연구실 밖 첫 발표</a:t>
            </a:r>
          </a:p>
        </p:txBody>
      </p:sp>
      <p:sp>
        <p:nvSpPr>
          <p:cNvPr id="26" name="time-02:date"/>
          <p:cNvSpPr txBox="1"/>
          <p:nvPr/>
        </p:nvSpPr>
        <p:spPr>
          <a:xfrm>
            <a:off x="9472896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2027. 10.</a:t>
            </a:r>
          </a:p>
        </p:txBody>
      </p:sp>
      <p:sp>
        <p:nvSpPr>
          <p:cNvPr id="27" name="time-02:marker"/>
          <p:cNvSpPr/>
          <p:nvPr/>
        </p:nvSpPr>
        <p:spPr>
          <a:xfrm>
            <a:off x="9472896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5377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537728"/>
                </a:solidFill>
              </a:rPr>
              <a:t>5</a:t>
            </a:r>
          </a:p>
        </p:txBody>
      </p:sp>
      <p:cxnSp>
        <p:nvCxnSpPr>
          <p:cNvPr id="28" name="time-02:tick"/>
          <p:cNvCxnSpPr/>
          <p:nvPr/>
        </p:nvCxnSpPr>
        <p:spPr>
          <a:xfrm>
            <a:off x="9683496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ime-02:title"/>
          <p:cNvSpPr txBox="1"/>
          <p:nvPr/>
        </p:nvSpPr>
        <p:spPr>
          <a:xfrm>
            <a:off x="9472896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논문 투고</a:t>
            </a:r>
          </a:p>
        </p:txBody>
      </p:sp>
      <p:sp>
        <p:nvSpPr>
          <p:cNvPr id="30" name="time-02:desc"/>
          <p:cNvSpPr txBox="1"/>
          <p:nvPr/>
        </p:nvSpPr>
        <p:spPr>
          <a:xfrm>
            <a:off x="9472896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첫 논문 원고 완성</a:t>
            </a:r>
          </a:p>
        </p:txBody>
      </p:sp>
      <p:cxnSp>
        <p:nvCxnSpPr>
          <p:cNvPr id="31" name="conclusion:line"/>
          <p:cNvCxnSpPr/>
          <p:nvPr/>
        </p:nvCxnSpPr>
        <p:spPr>
          <a:xfrm>
            <a:off x="468000" y="443646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conclusion:text"/>
          <p:cNvSpPr txBox="1"/>
          <p:nvPr/>
        </p:nvSpPr>
        <p:spPr>
          <a:xfrm>
            <a:off x="468000" y="4634469"/>
            <a:ext cx="7944687" cy="6419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주제를 정한 뒤에는 결과가 나오는 대로 랩미팅에서 보여 주고 피드백을 받아요.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 spc="-40">
                <a:solidFill>
                  <a:srgbClr val="6B7280"/>
                </a:solidFill>
              </a:rPr>
              <a:t>학회 포스터 초록은 내기 1주 전에 미리 알려 주세요.</a:t>
            </a:r>
          </a:p>
        </p:txBody>
      </p:sp>
      <p:sp>
        <p:nvSpPr>
          <p:cNvPr id="33" name="conclusion:callout"/>
          <p:cNvSpPr/>
          <p:nvPr/>
        </p:nvSpPr>
        <p:spPr>
          <a:xfrm>
            <a:off x="8628687" y="4634469"/>
            <a:ext cx="3095433" cy="864000"/>
          </a:xfrm>
          <a:prstGeom prst="rect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conclusion:callout-text"/>
          <p:cNvSpPr txBox="1"/>
          <p:nvPr/>
        </p:nvSpPr>
        <p:spPr>
          <a:xfrm>
            <a:off x="8736687" y="4634469"/>
            <a:ext cx="2879433" cy="86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112D1E"/>
                </a:solidFill>
                <a:latin typeface="Pretendard Medium"/>
                <a:ea typeface="Pretendard Medium"/>
                <a:cs typeface="Pretendard Medium"/>
              </a:rPr>
              <a:t>투고 목표</a:t>
            </a:r>
          </a:p>
          <a:p>
            <a:pPr algn="ctr">
              <a:lnSpc>
                <a:spcPct val="125000"/>
              </a:lnSpc>
            </a:pPr>
            <a:r>
              <a:rPr sz="2000" b="1" spc="-40">
                <a:solidFill>
                  <a:srgbClr val="112D1E"/>
                </a:solidFill>
              </a:rPr>
              <a:t>2027년 10월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계획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다음 이정표는 12월 첫 결과 발표예요</a:t>
            </a:r>
          </a:p>
        </p:txBody>
      </p:sp>
      <p:sp>
        <p:nvSpPr>
          <p:cNvPr id="5" name="time-02:band"/>
          <p:cNvSpPr/>
          <p:nvPr/>
        </p:nvSpPr>
        <p:spPr>
          <a:xfrm>
            <a:off x="468000" y="3247766"/>
            <a:ext cx="11256120" cy="149760"/>
          </a:xfrm>
          <a:prstGeom prst="rect">
            <a:avLst/>
          </a:prstGeom>
          <a:gradFill rotWithShape="1">
            <a:gsLst>
              <a:gs pos="0">
                <a:srgbClr val="1F5236"/>
              </a:gs>
              <a:gs pos="100000">
                <a:srgbClr val="5E7F2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ime-02:date"/>
          <p:cNvSpPr txBox="1"/>
          <p:nvPr/>
        </p:nvSpPr>
        <p:spPr>
          <a:xfrm>
            <a:off x="468000" y="2311766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2026. 3.</a:t>
            </a:r>
          </a:p>
        </p:txBody>
      </p:sp>
      <p:sp>
        <p:nvSpPr>
          <p:cNvPr id="7" name="time-02:marker"/>
          <p:cNvSpPr/>
          <p:nvPr/>
        </p:nvSpPr>
        <p:spPr>
          <a:xfrm>
            <a:off x="468000" y="3112046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053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05336"/>
                </a:solidFill>
              </a:rPr>
              <a:t>1</a:t>
            </a:r>
          </a:p>
        </p:txBody>
      </p:sp>
      <p:cxnSp>
        <p:nvCxnSpPr>
          <p:cNvPr id="8" name="time-02:tick"/>
          <p:cNvCxnSpPr/>
          <p:nvPr/>
        </p:nvCxnSpPr>
        <p:spPr>
          <a:xfrm>
            <a:off x="678600" y="3575366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me-02:title"/>
          <p:cNvSpPr txBox="1"/>
          <p:nvPr/>
        </p:nvSpPr>
        <p:spPr>
          <a:xfrm>
            <a:off x="468000" y="4043366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연구실 합류</a:t>
            </a:r>
          </a:p>
        </p:txBody>
      </p:sp>
      <p:sp>
        <p:nvSpPr>
          <p:cNvPr id="10" name="time-02:desc"/>
          <p:cNvSpPr txBox="1"/>
          <p:nvPr/>
        </p:nvSpPr>
        <p:spPr>
          <a:xfrm>
            <a:off x="468000" y="4409914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분야 탐색 · 기본 분석 익히기</a:t>
            </a:r>
          </a:p>
        </p:txBody>
      </p:sp>
      <p:sp>
        <p:nvSpPr>
          <p:cNvPr id="11" name="time-02:date"/>
          <p:cNvSpPr txBox="1"/>
          <p:nvPr/>
        </p:nvSpPr>
        <p:spPr>
          <a:xfrm>
            <a:off x="2719224" y="2311766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2026. 7.</a:t>
            </a:r>
          </a:p>
        </p:txBody>
      </p:sp>
      <p:sp>
        <p:nvSpPr>
          <p:cNvPr id="12" name="time-02:marker"/>
          <p:cNvSpPr/>
          <p:nvPr/>
        </p:nvSpPr>
        <p:spPr>
          <a:xfrm>
            <a:off x="2719224" y="3112046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D5C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D5C32"/>
                </a:solidFill>
              </a:rPr>
              <a:t>2</a:t>
            </a:r>
          </a:p>
        </p:txBody>
      </p:sp>
      <p:cxnSp>
        <p:nvCxnSpPr>
          <p:cNvPr id="13" name="time-02:tick"/>
          <p:cNvCxnSpPr/>
          <p:nvPr/>
        </p:nvCxnSpPr>
        <p:spPr>
          <a:xfrm>
            <a:off x="2929824" y="3575366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me-02:title"/>
          <p:cNvSpPr txBox="1"/>
          <p:nvPr/>
        </p:nvSpPr>
        <p:spPr>
          <a:xfrm>
            <a:off x="2719224" y="4043366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주제 확정</a:t>
            </a:r>
          </a:p>
        </p:txBody>
      </p:sp>
      <p:sp>
        <p:nvSpPr>
          <p:cNvPr id="15" name="time-02:desc"/>
          <p:cNvSpPr txBox="1"/>
          <p:nvPr/>
        </p:nvSpPr>
        <p:spPr>
          <a:xfrm>
            <a:off x="2719224" y="4409914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연구 질문과 데이터 정하기</a:t>
            </a:r>
          </a:p>
        </p:txBody>
      </p:sp>
      <p:sp>
        <p:nvSpPr>
          <p:cNvPr id="16" name="time-02:date"/>
          <p:cNvSpPr txBox="1"/>
          <p:nvPr/>
        </p:nvSpPr>
        <p:spPr>
          <a:xfrm>
            <a:off x="4970448" y="2311766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2026. 12.</a:t>
            </a:r>
          </a:p>
        </p:txBody>
      </p:sp>
      <p:sp>
        <p:nvSpPr>
          <p:cNvPr id="17" name="time-02:marker"/>
          <p:cNvSpPr/>
          <p:nvPr/>
        </p:nvSpPr>
        <p:spPr>
          <a:xfrm>
            <a:off x="4970448" y="3112046"/>
            <a:ext cx="421200" cy="421200"/>
          </a:xfrm>
          <a:prstGeom prst="ellipse">
            <a:avLst/>
          </a:prstGeom>
          <a:solidFill>
            <a:srgbClr val="39652F"/>
          </a:solidFill>
          <a:ln w="9525">
            <a:solidFill>
              <a:srgbClr val="3965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3</a:t>
            </a:r>
          </a:p>
        </p:txBody>
      </p:sp>
      <p:cxnSp>
        <p:nvCxnSpPr>
          <p:cNvPr id="18" name="time-02:tick"/>
          <p:cNvCxnSpPr/>
          <p:nvPr/>
        </p:nvCxnSpPr>
        <p:spPr>
          <a:xfrm>
            <a:off x="5181048" y="3575366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ime-02:title"/>
          <p:cNvSpPr txBox="1"/>
          <p:nvPr/>
        </p:nvSpPr>
        <p:spPr>
          <a:xfrm>
            <a:off x="4970448" y="4043366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첫 결과 발표</a:t>
            </a:r>
          </a:p>
        </p:txBody>
      </p:sp>
      <p:sp>
        <p:nvSpPr>
          <p:cNvPr id="20" name="time-02:desc"/>
          <p:cNvSpPr txBox="1"/>
          <p:nvPr/>
        </p:nvSpPr>
        <p:spPr>
          <a:xfrm>
            <a:off x="4970448" y="4409914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랩미팅 Progress report</a:t>
            </a:r>
          </a:p>
        </p:txBody>
      </p:sp>
      <p:sp>
        <p:nvSpPr>
          <p:cNvPr id="21" name="time-02:date"/>
          <p:cNvSpPr txBox="1"/>
          <p:nvPr/>
        </p:nvSpPr>
        <p:spPr>
          <a:xfrm>
            <a:off x="7221672" y="2311766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2027. 5.</a:t>
            </a:r>
          </a:p>
        </p:txBody>
      </p:sp>
      <p:sp>
        <p:nvSpPr>
          <p:cNvPr id="22" name="time-02:marker"/>
          <p:cNvSpPr/>
          <p:nvPr/>
        </p:nvSpPr>
        <p:spPr>
          <a:xfrm>
            <a:off x="7221672" y="3112046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66E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66E2B"/>
                </a:solidFill>
              </a:rPr>
              <a:t>4</a:t>
            </a:r>
          </a:p>
        </p:txBody>
      </p:sp>
      <p:cxnSp>
        <p:nvCxnSpPr>
          <p:cNvPr id="23" name="time-02:tick"/>
          <p:cNvCxnSpPr/>
          <p:nvPr/>
        </p:nvCxnSpPr>
        <p:spPr>
          <a:xfrm>
            <a:off x="7432272" y="3575366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ime-02:title"/>
          <p:cNvSpPr txBox="1"/>
          <p:nvPr/>
        </p:nvSpPr>
        <p:spPr>
          <a:xfrm>
            <a:off x="7221672" y="4043366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학회 포스터</a:t>
            </a:r>
          </a:p>
        </p:txBody>
      </p:sp>
      <p:sp>
        <p:nvSpPr>
          <p:cNvPr id="25" name="time-02:desc"/>
          <p:cNvSpPr txBox="1"/>
          <p:nvPr/>
        </p:nvSpPr>
        <p:spPr>
          <a:xfrm>
            <a:off x="7221672" y="4409914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연구실 밖 첫 발표</a:t>
            </a:r>
          </a:p>
        </p:txBody>
      </p:sp>
      <p:sp>
        <p:nvSpPr>
          <p:cNvPr id="26" name="time-02:date"/>
          <p:cNvSpPr txBox="1"/>
          <p:nvPr/>
        </p:nvSpPr>
        <p:spPr>
          <a:xfrm>
            <a:off x="9472896" y="2311766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2027. 10.</a:t>
            </a:r>
          </a:p>
        </p:txBody>
      </p:sp>
      <p:sp>
        <p:nvSpPr>
          <p:cNvPr id="27" name="time-02:marker"/>
          <p:cNvSpPr/>
          <p:nvPr/>
        </p:nvSpPr>
        <p:spPr>
          <a:xfrm>
            <a:off x="9472896" y="3112046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5377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537728"/>
                </a:solidFill>
              </a:rPr>
              <a:t>5</a:t>
            </a:r>
          </a:p>
        </p:txBody>
      </p:sp>
      <p:cxnSp>
        <p:nvCxnSpPr>
          <p:cNvPr id="28" name="time-02:tick"/>
          <p:cNvCxnSpPr/>
          <p:nvPr/>
        </p:nvCxnSpPr>
        <p:spPr>
          <a:xfrm>
            <a:off x="9683496" y="3575366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ime-02:title"/>
          <p:cNvSpPr txBox="1"/>
          <p:nvPr/>
        </p:nvSpPr>
        <p:spPr>
          <a:xfrm>
            <a:off x="9472896" y="4043366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논문 투고</a:t>
            </a:r>
          </a:p>
        </p:txBody>
      </p:sp>
      <p:sp>
        <p:nvSpPr>
          <p:cNvPr id="30" name="time-02:desc"/>
          <p:cNvSpPr txBox="1"/>
          <p:nvPr/>
        </p:nvSpPr>
        <p:spPr>
          <a:xfrm>
            <a:off x="9472896" y="4409914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첫 논문 원고 완성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포레스트 클린 16:9">
  <a:themeElements>
    <a:clrScheme name="HaLab 포레스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1F5236"/>
      </a:accent1>
      <a:accent2>
        <a:srgbClr val="6D8F7C"/>
      </a:accent2>
      <a:accent3>
        <a:srgbClr val="A5BAAF"/>
      </a:accent3>
      <a:accent4>
        <a:srgbClr val="F2B33D"/>
      </a:accent4>
      <a:accent5>
        <a:srgbClr val="A5BAAF"/>
      </a:accent5>
      <a:accent6>
        <a:srgbClr val="E2E5EA"/>
      </a:accent6>
      <a:hlink>
        <a:srgbClr val="1F5236"/>
      </a:hlink>
      <a:folHlink>
        <a:srgbClr val="A5BAAF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