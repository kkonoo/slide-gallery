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0B6E5A"/>
            </a:gs>
            <a:gs pos="100000">
              <a:srgbClr val="16708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0B6E5A"/>
            </a:gs>
            <a:gs pos="100000">
              <a:srgbClr val="16708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0B6E5A"/>
            </a:gs>
            <a:gs pos="100000">
              <a:srgbClr val="16708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2026 ○○ 연구사업 발표평가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3년 과제 · 연구책임자 발표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연구의 필요성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선행 연구와 차별성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연구 목표와 추진 전략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추진체계와 일정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성과지표와 기대효과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VI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r>
              <a:t>연구진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연구의 필요성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반응 예측 표지자가 없어 환자 90%가 효과 없는 치료를 받아요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면역항암제 반응률은 대장암 환자의 약 10%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기존 표지자(MSI)는 공간 정보 없이 반응군 절반만 맞힌다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종양 경계부 공간 신호로 반응을 미리 예측한다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선행 연구와 차별성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쓰는 예측은 이 과제가 처음이에요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기존 (MSI 검사)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0B6E5A"/>
                </a:solidFill>
              </a:rPr>
              <a:t>제안 (공간 신호)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불안정성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면역세포 위치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약 50%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반응군 예측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목표 80% 이상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DNA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필요한 시료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기존 병리 절편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결과까지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1주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연구 목표와 추진 전략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가지 전략으로 3년 안에 예측 모델을 검증해요</a:t>
            </a:r>
          </a:p>
        </p:txBody>
      </p:sp>
      <p:sp>
        <p:nvSpPr>
          <p:cNvPr id="5" name="logic-04:goal"/>
          <p:cNvSpPr/>
          <p:nvPr/>
        </p:nvSpPr>
        <p:spPr>
          <a:xfrm>
            <a:off x="3282030" y="2028549"/>
            <a:ext cx="5628060" cy="715585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4:goal-text"/>
          <p:cNvSpPr txBox="1"/>
          <p:nvPr/>
        </p:nvSpPr>
        <p:spPr>
          <a:xfrm>
            <a:off x="3562830" y="2028549"/>
            <a:ext cx="5066460" cy="7155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공간 신호 기반 면역항암 반응 예측 모델 개발</a:t>
            </a:r>
          </a:p>
        </p:txBody>
      </p:sp>
      <p:cxnSp>
        <p:nvCxnSpPr>
          <p:cNvPr id="7" name="logic-04:link"/>
          <p:cNvCxnSpPr/>
          <p:nvPr/>
        </p:nvCxnSpPr>
        <p:spPr>
          <a:xfrm>
            <a:off x="6096060" y="27441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4:link"/>
          <p:cNvCxnSpPr/>
          <p:nvPr/>
        </p:nvCxnSpPr>
        <p:spPr>
          <a:xfrm>
            <a:off x="2272020" y="302493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4:link"/>
          <p:cNvCxnSpPr/>
          <p:nvPr/>
        </p:nvCxnSpPr>
        <p:spPr>
          <a:xfrm>
            <a:off x="227202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4:strategy"/>
          <p:cNvSpPr/>
          <p:nvPr/>
        </p:nvSpPr>
        <p:spPr>
          <a:xfrm>
            <a:off x="468000" y="3305735"/>
            <a:ext cx="3608040" cy="618745"/>
          </a:xfrm>
          <a:prstGeom prst="rect">
            <a:avLst/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4:marker"/>
          <p:cNvSpPr/>
          <p:nvPr/>
        </p:nvSpPr>
        <p:spPr>
          <a:xfrm>
            <a:off x="608400" y="3451307"/>
            <a:ext cx="327600" cy="3276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logic-04:strategy-text"/>
          <p:cNvSpPr txBox="1"/>
          <p:nvPr/>
        </p:nvSpPr>
        <p:spPr>
          <a:xfrm>
            <a:off x="107640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0B6E5A"/>
                </a:solidFill>
              </a:rPr>
              <a:t>공간 지도 구축</a:t>
            </a:r>
          </a:p>
        </p:txBody>
      </p:sp>
      <p:sp>
        <p:nvSpPr>
          <p:cNvPr id="13" name="logic-04:task"/>
          <p:cNvSpPr/>
          <p:nvPr/>
        </p:nvSpPr>
        <p:spPr>
          <a:xfrm>
            <a:off x="84240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4:task-text"/>
          <p:cNvSpPr txBox="1"/>
          <p:nvPr/>
        </p:nvSpPr>
        <p:spPr>
          <a:xfrm>
            <a:off x="98280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환자 60명 절편 Visium</a:t>
            </a:r>
          </a:p>
        </p:txBody>
      </p:sp>
      <p:cxnSp>
        <p:nvCxnSpPr>
          <p:cNvPr id="15" name="logic-04:link"/>
          <p:cNvCxnSpPr/>
          <p:nvPr/>
        </p:nvCxnSpPr>
        <p:spPr>
          <a:xfrm>
            <a:off x="65520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4:task"/>
          <p:cNvSpPr/>
          <p:nvPr/>
        </p:nvSpPr>
        <p:spPr>
          <a:xfrm>
            <a:off x="84240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4:task-text"/>
          <p:cNvSpPr txBox="1"/>
          <p:nvPr/>
        </p:nvSpPr>
        <p:spPr>
          <a:xfrm>
            <a:off x="98280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경계부 면역 틈새 정의</a:t>
            </a:r>
          </a:p>
        </p:txBody>
      </p:sp>
      <p:cxnSp>
        <p:nvCxnSpPr>
          <p:cNvPr id="18" name="logic-04:link"/>
          <p:cNvCxnSpPr/>
          <p:nvPr/>
        </p:nvCxnSpPr>
        <p:spPr>
          <a:xfrm>
            <a:off x="65520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4:link"/>
          <p:cNvCxnSpPr/>
          <p:nvPr/>
        </p:nvCxnSpPr>
        <p:spPr>
          <a:xfrm>
            <a:off x="65520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4:link"/>
          <p:cNvCxnSpPr/>
          <p:nvPr/>
        </p:nvCxnSpPr>
        <p:spPr>
          <a:xfrm>
            <a:off x="609606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4:strategy"/>
          <p:cNvSpPr/>
          <p:nvPr/>
        </p:nvSpPr>
        <p:spPr>
          <a:xfrm>
            <a:off x="4292040" y="3305735"/>
            <a:ext cx="3608040" cy="618745"/>
          </a:xfrm>
          <a:prstGeom prst="rect">
            <a:avLst/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4:marker"/>
          <p:cNvSpPr/>
          <p:nvPr/>
        </p:nvSpPr>
        <p:spPr>
          <a:xfrm>
            <a:off x="4432440" y="3451307"/>
            <a:ext cx="327600" cy="3276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logic-04:strategy-text"/>
          <p:cNvSpPr txBox="1"/>
          <p:nvPr/>
        </p:nvSpPr>
        <p:spPr>
          <a:xfrm>
            <a:off x="490044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0B6E5A"/>
                </a:solidFill>
              </a:rPr>
              <a:t>예측 모델 개발</a:t>
            </a:r>
          </a:p>
        </p:txBody>
      </p:sp>
      <p:sp>
        <p:nvSpPr>
          <p:cNvPr id="24" name="logic-04:task"/>
          <p:cNvSpPr/>
          <p:nvPr/>
        </p:nvSpPr>
        <p:spPr>
          <a:xfrm>
            <a:off x="466644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logic-04:task-text"/>
          <p:cNvSpPr txBox="1"/>
          <p:nvPr/>
        </p:nvSpPr>
        <p:spPr>
          <a:xfrm>
            <a:off x="480684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공간 특징 추출</a:t>
            </a:r>
          </a:p>
        </p:txBody>
      </p:sp>
      <p:cxnSp>
        <p:nvCxnSpPr>
          <p:cNvPr id="26" name="logic-04:link"/>
          <p:cNvCxnSpPr/>
          <p:nvPr/>
        </p:nvCxnSpPr>
        <p:spPr>
          <a:xfrm>
            <a:off x="447924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ogic-04:task"/>
          <p:cNvSpPr/>
          <p:nvPr/>
        </p:nvSpPr>
        <p:spPr>
          <a:xfrm>
            <a:off x="466644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4:task-text"/>
          <p:cNvSpPr txBox="1"/>
          <p:nvPr/>
        </p:nvSpPr>
        <p:spPr>
          <a:xfrm>
            <a:off x="480684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반응 예측 모델 학습</a:t>
            </a:r>
          </a:p>
        </p:txBody>
      </p:sp>
      <p:cxnSp>
        <p:nvCxnSpPr>
          <p:cNvPr id="29" name="logic-04:link"/>
          <p:cNvCxnSpPr/>
          <p:nvPr/>
        </p:nvCxnSpPr>
        <p:spPr>
          <a:xfrm>
            <a:off x="447924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ogic-04:link"/>
          <p:cNvCxnSpPr/>
          <p:nvPr/>
        </p:nvCxnSpPr>
        <p:spPr>
          <a:xfrm>
            <a:off x="447924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ogic-04:link"/>
          <p:cNvCxnSpPr/>
          <p:nvPr/>
        </p:nvCxnSpPr>
        <p:spPr>
          <a:xfrm>
            <a:off x="992010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logic-04:strategy"/>
          <p:cNvSpPr/>
          <p:nvPr/>
        </p:nvSpPr>
        <p:spPr>
          <a:xfrm>
            <a:off x="8116080" y="3305735"/>
            <a:ext cx="3608040" cy="618745"/>
          </a:xfrm>
          <a:prstGeom prst="rect">
            <a:avLst/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logic-04:marker"/>
          <p:cNvSpPr/>
          <p:nvPr/>
        </p:nvSpPr>
        <p:spPr>
          <a:xfrm>
            <a:off x="8256480" y="3451307"/>
            <a:ext cx="327600" cy="3276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logic-04:strategy-text"/>
          <p:cNvSpPr txBox="1"/>
          <p:nvPr/>
        </p:nvSpPr>
        <p:spPr>
          <a:xfrm>
            <a:off x="872448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0B6E5A"/>
                </a:solidFill>
              </a:rPr>
              <a:t>독립 검증</a:t>
            </a:r>
          </a:p>
        </p:txBody>
      </p:sp>
      <p:sp>
        <p:nvSpPr>
          <p:cNvPr id="35" name="logic-04:task"/>
          <p:cNvSpPr/>
          <p:nvPr/>
        </p:nvSpPr>
        <p:spPr>
          <a:xfrm>
            <a:off x="849048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logic-04:task-text"/>
          <p:cNvSpPr txBox="1"/>
          <p:nvPr/>
        </p:nvSpPr>
        <p:spPr>
          <a:xfrm>
            <a:off x="863088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40명</a:t>
            </a:r>
          </a:p>
        </p:txBody>
      </p:sp>
      <p:cxnSp>
        <p:nvCxnSpPr>
          <p:cNvPr id="37" name="logic-04:link"/>
          <p:cNvCxnSpPr/>
          <p:nvPr/>
        </p:nvCxnSpPr>
        <p:spPr>
          <a:xfrm>
            <a:off x="830328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logic-04:task"/>
          <p:cNvSpPr/>
          <p:nvPr/>
        </p:nvSpPr>
        <p:spPr>
          <a:xfrm>
            <a:off x="849048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logic-04:task-text"/>
          <p:cNvSpPr txBox="1"/>
          <p:nvPr/>
        </p:nvSpPr>
        <p:spPr>
          <a:xfrm>
            <a:off x="863088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임상 적용성 평가</a:t>
            </a:r>
          </a:p>
        </p:txBody>
      </p:sp>
      <p:cxnSp>
        <p:nvCxnSpPr>
          <p:cNvPr id="40" name="logic-04:link"/>
          <p:cNvCxnSpPr/>
          <p:nvPr/>
        </p:nvCxnSpPr>
        <p:spPr>
          <a:xfrm>
            <a:off x="830328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ogic-04:link"/>
          <p:cNvCxnSpPr/>
          <p:nvPr/>
        </p:nvCxnSpPr>
        <p:spPr>
          <a:xfrm>
            <a:off x="830328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추진체계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기관이 시료 · 분석 · 검증을 나눠 맡아요</a:t>
            </a:r>
          </a:p>
        </p:txBody>
      </p:sp>
      <p:sp>
        <p:nvSpPr>
          <p:cNvPr id="5" name="struct-01:node"/>
          <p:cNvSpPr/>
          <p:nvPr/>
        </p:nvSpPr>
        <p:spPr>
          <a:xfrm>
            <a:off x="3844836" y="2263629"/>
            <a:ext cx="4502448" cy="958757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1:node-text"/>
          <p:cNvSpPr txBox="1"/>
          <p:nvPr/>
        </p:nvSpPr>
        <p:spPr>
          <a:xfrm>
            <a:off x="3985236" y="2497629"/>
            <a:ext cx="4221648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HaLab (주관)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FFFFFF"/>
                </a:solidFill>
              </a:rPr>
              <a:t>공간 분석 · 예측 모델 개발 총괄</a:t>
            </a:r>
          </a:p>
        </p:txBody>
      </p:sp>
      <p:sp>
        <p:nvSpPr>
          <p:cNvPr id="7" name="struct-01:node"/>
          <p:cNvSpPr/>
          <p:nvPr/>
        </p:nvSpPr>
        <p:spPr>
          <a:xfrm>
            <a:off x="8908884" y="2263629"/>
            <a:ext cx="2815236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1:node-text"/>
          <p:cNvSpPr txBox="1"/>
          <p:nvPr/>
        </p:nvSpPr>
        <p:spPr>
          <a:xfrm>
            <a:off x="9049284" y="2497629"/>
            <a:ext cx="2534436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자문단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통계 · 임상 자문</a:t>
            </a:r>
          </a:p>
        </p:txBody>
      </p:sp>
      <p:cxnSp>
        <p:nvCxnSpPr>
          <p:cNvPr id="9" name="struct-01:partner-link"/>
          <p:cNvCxnSpPr/>
          <p:nvPr/>
        </p:nvCxnSpPr>
        <p:spPr>
          <a:xfrm>
            <a:off x="8347284" y="2743007"/>
            <a:ext cx="5616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1:link"/>
          <p:cNvCxnSpPr/>
          <p:nvPr/>
        </p:nvCxnSpPr>
        <p:spPr>
          <a:xfrm>
            <a:off x="6096060" y="3222386"/>
            <a:ext cx="0" cy="23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uct-01:link"/>
          <p:cNvCxnSpPr/>
          <p:nvPr/>
        </p:nvCxnSpPr>
        <p:spPr>
          <a:xfrm>
            <a:off x="2272020" y="3456386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uct-01:link"/>
          <p:cNvCxnSpPr/>
          <p:nvPr/>
        </p:nvCxnSpPr>
        <p:spPr>
          <a:xfrm>
            <a:off x="227202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1:node"/>
          <p:cNvSpPr/>
          <p:nvPr/>
        </p:nvSpPr>
        <p:spPr>
          <a:xfrm>
            <a:off x="46800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1:node-text"/>
          <p:cNvSpPr txBox="1"/>
          <p:nvPr/>
        </p:nvSpPr>
        <p:spPr>
          <a:xfrm>
            <a:off x="60840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환자 시료와 임상 정보</a:t>
            </a:r>
          </a:p>
        </p:txBody>
      </p:sp>
      <p:cxnSp>
        <p:nvCxnSpPr>
          <p:cNvPr id="15" name="struct-01:link"/>
          <p:cNvCxnSpPr/>
          <p:nvPr/>
        </p:nvCxnSpPr>
        <p:spPr>
          <a:xfrm>
            <a:off x="609606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1:node"/>
          <p:cNvSpPr/>
          <p:nvPr/>
        </p:nvSpPr>
        <p:spPr>
          <a:xfrm>
            <a:off x="429204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ruct-01:node-text"/>
          <p:cNvSpPr txBox="1"/>
          <p:nvPr/>
        </p:nvSpPr>
        <p:spPr>
          <a:xfrm>
            <a:off x="443244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오가노이드 기능 검증</a:t>
            </a:r>
          </a:p>
        </p:txBody>
      </p:sp>
      <p:cxnSp>
        <p:nvCxnSpPr>
          <p:cNvPr id="18" name="struct-01:link"/>
          <p:cNvCxnSpPr/>
          <p:nvPr/>
        </p:nvCxnSpPr>
        <p:spPr>
          <a:xfrm>
            <a:off x="992010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ruct-01:node"/>
          <p:cNvSpPr/>
          <p:nvPr/>
        </p:nvSpPr>
        <p:spPr>
          <a:xfrm>
            <a:off x="811608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1:node-text"/>
          <p:cNvSpPr txBox="1"/>
          <p:nvPr/>
        </p:nvSpPr>
        <p:spPr>
          <a:xfrm>
            <a:off x="825648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Visium 라이브러리 · 시퀀싱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역할 분담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세부 업무마다 주관 기관이 하나씩 있어요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시료 · 임상 정보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5380132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7518794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분석 · 모델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9657457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기능 검증</a:t>
            </a:r>
          </a:p>
        </p:txBody>
      </p:sp>
      <p:cxnSp>
        <p:nvCxnSpPr>
          <p:cNvPr id="9" name="people-04:head-rule"/>
          <p:cNvCxnSpPr/>
          <p:nvPr/>
        </p:nvCxnSpPr>
        <p:spPr>
          <a:xfrm>
            <a:off x="468000" y="2060097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eople-04:name"/>
          <p:cNvSpPr txBox="1"/>
          <p:nvPr/>
        </p:nvSpPr>
        <p:spPr>
          <a:xfrm>
            <a:off x="468000" y="2060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HaLab (주관)</a:t>
            </a:r>
          </a:p>
        </p:txBody>
      </p:sp>
      <p:sp>
        <p:nvSpPr>
          <p:cNvPr id="11" name="people-04:mark"/>
          <p:cNvSpPr/>
          <p:nvPr/>
        </p:nvSpPr>
        <p:spPr>
          <a:xfrm>
            <a:off x="6048877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people-04:mark-text"/>
          <p:cNvSpPr txBox="1"/>
          <p:nvPr/>
        </p:nvSpPr>
        <p:spPr>
          <a:xfrm>
            <a:off x="6048877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0B6E5A"/>
                </a:solidFill>
              </a:rPr>
              <a:t>참여</a:t>
            </a:r>
          </a:p>
        </p:txBody>
      </p:sp>
      <p:sp>
        <p:nvSpPr>
          <p:cNvPr id="13" name="people-04:cell-text"/>
          <p:cNvSpPr txBox="1"/>
          <p:nvPr/>
        </p:nvSpPr>
        <p:spPr>
          <a:xfrm>
            <a:off x="5362132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품질 관리</a:t>
            </a:r>
          </a:p>
        </p:txBody>
      </p:sp>
      <p:sp>
        <p:nvSpPr>
          <p:cNvPr id="14" name="people-04:mark"/>
          <p:cNvSpPr/>
          <p:nvPr/>
        </p:nvSpPr>
        <p:spPr>
          <a:xfrm>
            <a:off x="8187539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people-04:mark-text"/>
          <p:cNvSpPr txBox="1"/>
          <p:nvPr/>
        </p:nvSpPr>
        <p:spPr>
          <a:xfrm>
            <a:off x="8187539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6" name="people-04:cell-text"/>
          <p:cNvSpPr txBox="1"/>
          <p:nvPr/>
        </p:nvSpPr>
        <p:spPr>
          <a:xfrm>
            <a:off x="7500794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예측 모델</a:t>
            </a:r>
          </a:p>
        </p:txBody>
      </p:sp>
      <p:sp>
        <p:nvSpPr>
          <p:cNvPr id="17" name="people-04:mark"/>
          <p:cNvSpPr/>
          <p:nvPr/>
        </p:nvSpPr>
        <p:spPr>
          <a:xfrm>
            <a:off x="10326202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people-04:mark-text"/>
          <p:cNvSpPr txBox="1"/>
          <p:nvPr/>
        </p:nvSpPr>
        <p:spPr>
          <a:xfrm>
            <a:off x="10326202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0B6E5A"/>
                </a:solidFill>
              </a:rPr>
              <a:t>참여</a:t>
            </a:r>
          </a:p>
        </p:txBody>
      </p:sp>
      <p:sp>
        <p:nvSpPr>
          <p:cNvPr id="19" name="people-04:cell-text"/>
          <p:cNvSpPr txBox="1"/>
          <p:nvPr/>
        </p:nvSpPr>
        <p:spPr>
          <a:xfrm>
            <a:off x="9639457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후보 선정</a:t>
            </a:r>
          </a:p>
        </p:txBody>
      </p:sp>
      <p:cxnSp>
        <p:nvCxnSpPr>
          <p:cNvPr id="20" name="people-04:row-rule"/>
          <p:cNvCxnSpPr/>
          <p:nvPr/>
        </p:nvCxnSpPr>
        <p:spPr>
          <a:xfrm>
            <a:off x="468000" y="3068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eople-04:name"/>
          <p:cNvSpPr txBox="1"/>
          <p:nvPr/>
        </p:nvSpPr>
        <p:spPr>
          <a:xfrm>
            <a:off x="468000" y="3068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3910214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3910214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4" name="people-04:cell-text"/>
          <p:cNvSpPr txBox="1"/>
          <p:nvPr/>
        </p:nvSpPr>
        <p:spPr>
          <a:xfrm>
            <a:off x="3223469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환자 60명</a:t>
            </a:r>
          </a:p>
        </p:txBody>
      </p:sp>
      <p:sp>
        <p:nvSpPr>
          <p:cNvPr id="25" name="people-04:mark"/>
          <p:cNvSpPr/>
          <p:nvPr/>
        </p:nvSpPr>
        <p:spPr>
          <a:xfrm>
            <a:off x="8187539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people-04:mark-text"/>
          <p:cNvSpPr txBox="1"/>
          <p:nvPr/>
        </p:nvSpPr>
        <p:spPr>
          <a:xfrm>
            <a:off x="8187539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0B6E5A"/>
                </a:solidFill>
              </a:rPr>
              <a:t>참여</a:t>
            </a:r>
          </a:p>
        </p:txBody>
      </p:sp>
      <p:sp>
        <p:nvSpPr>
          <p:cNvPr id="27" name="people-04:cell-text"/>
          <p:cNvSpPr txBox="1"/>
          <p:nvPr/>
        </p:nvSpPr>
        <p:spPr>
          <a:xfrm>
            <a:off x="7500794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병리 주석</a:t>
            </a:r>
          </a:p>
        </p:txBody>
      </p:sp>
      <p:cxnSp>
        <p:nvCxnSpPr>
          <p:cNvPr id="28" name="people-04:row-rule"/>
          <p:cNvCxnSpPr/>
          <p:nvPr/>
        </p:nvCxnSpPr>
        <p:spPr>
          <a:xfrm>
            <a:off x="468000" y="4076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people-04:name"/>
          <p:cNvSpPr txBox="1"/>
          <p:nvPr/>
        </p:nvSpPr>
        <p:spPr>
          <a:xfrm>
            <a:off x="468000" y="4076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10326202" y="4300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10326202" y="4300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2" name="people-04:cell-text"/>
          <p:cNvSpPr txBox="1"/>
          <p:nvPr/>
        </p:nvSpPr>
        <p:spPr>
          <a:xfrm>
            <a:off x="9639457" y="4660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오가노이드</a:t>
            </a:r>
          </a:p>
        </p:txBody>
      </p:sp>
      <p:cxnSp>
        <p:nvCxnSpPr>
          <p:cNvPr id="33" name="people-04:row-rule"/>
          <p:cNvCxnSpPr/>
          <p:nvPr/>
        </p:nvCxnSpPr>
        <p:spPr>
          <a:xfrm>
            <a:off x="468000" y="5084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eople-04:name"/>
          <p:cNvSpPr txBox="1"/>
          <p:nvPr/>
        </p:nvSpPr>
        <p:spPr>
          <a:xfrm>
            <a:off x="468000" y="5084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35" name="people-04:mark"/>
          <p:cNvSpPr/>
          <p:nvPr/>
        </p:nvSpPr>
        <p:spPr>
          <a:xfrm>
            <a:off x="6048877" y="5308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people-04:mark-text"/>
          <p:cNvSpPr txBox="1"/>
          <p:nvPr/>
        </p:nvSpPr>
        <p:spPr>
          <a:xfrm>
            <a:off x="6048877" y="5308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7" name="people-04:cell-text"/>
          <p:cNvSpPr txBox="1"/>
          <p:nvPr/>
        </p:nvSpPr>
        <p:spPr>
          <a:xfrm>
            <a:off x="5362132" y="5668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라이브러리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연차별 일정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2차년도 말까지 모델을 만들고 3차년도에 검증해요</a:t>
            </a:r>
          </a:p>
        </p:txBody>
      </p:sp>
      <p:sp>
        <p:nvSpPr>
          <p:cNvPr id="5" name="time-03:year"/>
          <p:cNvSpPr txBox="1"/>
          <p:nvPr/>
        </p:nvSpPr>
        <p:spPr>
          <a:xfrm>
            <a:off x="328203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1차년도</a:t>
            </a:r>
          </a:p>
        </p:txBody>
      </p:sp>
      <p:sp>
        <p:nvSpPr>
          <p:cNvPr id="6" name="time-03:quarter"/>
          <p:cNvSpPr txBox="1"/>
          <p:nvPr/>
        </p:nvSpPr>
        <p:spPr>
          <a:xfrm>
            <a:off x="328203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7" name="time-03:quarter"/>
          <p:cNvSpPr txBox="1"/>
          <p:nvPr/>
        </p:nvSpPr>
        <p:spPr>
          <a:xfrm>
            <a:off x="3985538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8" name="time-03:quarter"/>
          <p:cNvSpPr txBox="1"/>
          <p:nvPr/>
        </p:nvSpPr>
        <p:spPr>
          <a:xfrm>
            <a:off x="468904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9" name="time-03:quarter"/>
          <p:cNvSpPr txBox="1"/>
          <p:nvPr/>
        </p:nvSpPr>
        <p:spPr>
          <a:xfrm>
            <a:off x="539255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0" name="time-03:year"/>
          <p:cNvSpPr txBox="1"/>
          <p:nvPr/>
        </p:nvSpPr>
        <p:spPr>
          <a:xfrm>
            <a:off x="609606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2차년도</a:t>
            </a:r>
          </a:p>
        </p:txBody>
      </p:sp>
      <p:sp>
        <p:nvSpPr>
          <p:cNvPr id="11" name="time-03:quarter"/>
          <p:cNvSpPr txBox="1"/>
          <p:nvPr/>
        </p:nvSpPr>
        <p:spPr>
          <a:xfrm>
            <a:off x="609606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2" name="time-03:quarter"/>
          <p:cNvSpPr txBox="1"/>
          <p:nvPr/>
        </p:nvSpPr>
        <p:spPr>
          <a:xfrm>
            <a:off x="679956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3" name="time-03:quarter"/>
          <p:cNvSpPr txBox="1"/>
          <p:nvPr/>
        </p:nvSpPr>
        <p:spPr>
          <a:xfrm>
            <a:off x="750307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4" name="time-03:quarter"/>
          <p:cNvSpPr txBox="1"/>
          <p:nvPr/>
        </p:nvSpPr>
        <p:spPr>
          <a:xfrm>
            <a:off x="820658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5" name="time-03:year"/>
          <p:cNvSpPr txBox="1"/>
          <p:nvPr/>
        </p:nvSpPr>
        <p:spPr>
          <a:xfrm>
            <a:off x="891009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3차년도</a:t>
            </a:r>
          </a:p>
        </p:txBody>
      </p:sp>
      <p:sp>
        <p:nvSpPr>
          <p:cNvPr id="16" name="time-03:quarter"/>
          <p:cNvSpPr txBox="1"/>
          <p:nvPr/>
        </p:nvSpPr>
        <p:spPr>
          <a:xfrm>
            <a:off x="891009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7" name="time-03:quarter"/>
          <p:cNvSpPr txBox="1"/>
          <p:nvPr/>
        </p:nvSpPr>
        <p:spPr>
          <a:xfrm>
            <a:off x="961359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8" name="time-03:quarter"/>
          <p:cNvSpPr txBox="1"/>
          <p:nvPr/>
        </p:nvSpPr>
        <p:spPr>
          <a:xfrm>
            <a:off x="1031710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9" name="time-03:quarter"/>
          <p:cNvSpPr txBox="1"/>
          <p:nvPr/>
        </p:nvSpPr>
        <p:spPr>
          <a:xfrm>
            <a:off x="1102061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cxnSp>
        <p:nvCxnSpPr>
          <p:cNvPr id="20" name="time-03:head-rule"/>
          <p:cNvCxnSpPr/>
          <p:nvPr/>
        </p:nvCxnSpPr>
        <p:spPr>
          <a:xfrm>
            <a:off x="468000" y="252000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ime-03:grid"/>
          <p:cNvCxnSpPr/>
          <p:nvPr/>
        </p:nvCxnSpPr>
        <p:spPr>
          <a:xfrm>
            <a:off x="328203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ime-03:grid"/>
          <p:cNvCxnSpPr/>
          <p:nvPr/>
        </p:nvCxnSpPr>
        <p:spPr>
          <a:xfrm>
            <a:off x="3985538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ime-03:grid"/>
          <p:cNvCxnSpPr/>
          <p:nvPr/>
        </p:nvCxnSpPr>
        <p:spPr>
          <a:xfrm>
            <a:off x="468904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ime-03:grid"/>
          <p:cNvCxnSpPr/>
          <p:nvPr/>
        </p:nvCxnSpPr>
        <p:spPr>
          <a:xfrm>
            <a:off x="539255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ime-03:grid"/>
          <p:cNvCxnSpPr/>
          <p:nvPr/>
        </p:nvCxnSpPr>
        <p:spPr>
          <a:xfrm>
            <a:off x="609606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ime-03:grid"/>
          <p:cNvCxnSpPr/>
          <p:nvPr/>
        </p:nvCxnSpPr>
        <p:spPr>
          <a:xfrm>
            <a:off x="679956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ime-03:grid"/>
          <p:cNvCxnSpPr/>
          <p:nvPr/>
        </p:nvCxnSpPr>
        <p:spPr>
          <a:xfrm>
            <a:off x="750307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ime-03:grid"/>
          <p:cNvCxnSpPr/>
          <p:nvPr/>
        </p:nvCxnSpPr>
        <p:spPr>
          <a:xfrm>
            <a:off x="820658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ime-03:grid"/>
          <p:cNvCxnSpPr/>
          <p:nvPr/>
        </p:nvCxnSpPr>
        <p:spPr>
          <a:xfrm>
            <a:off x="891009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ime-03:grid"/>
          <p:cNvCxnSpPr/>
          <p:nvPr/>
        </p:nvCxnSpPr>
        <p:spPr>
          <a:xfrm>
            <a:off x="961359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ime-03:grid"/>
          <p:cNvCxnSpPr/>
          <p:nvPr/>
        </p:nvCxnSpPr>
        <p:spPr>
          <a:xfrm>
            <a:off x="1031710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ime-03:grid"/>
          <p:cNvCxnSpPr/>
          <p:nvPr/>
        </p:nvCxnSpPr>
        <p:spPr>
          <a:xfrm>
            <a:off x="1102061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ime-03:grid"/>
          <p:cNvCxnSpPr/>
          <p:nvPr/>
        </p:nvCxnSpPr>
        <p:spPr>
          <a:xfrm>
            <a:off x="1172412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me-03:name"/>
          <p:cNvSpPr txBox="1"/>
          <p:nvPr/>
        </p:nvSpPr>
        <p:spPr>
          <a:xfrm>
            <a:off x="468000" y="253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환자 모집 · 시료 확보</a:t>
            </a:r>
          </a:p>
        </p:txBody>
      </p:sp>
      <p:sp>
        <p:nvSpPr>
          <p:cNvPr id="35" name="time-03:bar"/>
          <p:cNvSpPr/>
          <p:nvPr/>
        </p:nvSpPr>
        <p:spPr>
          <a:xfrm>
            <a:off x="3310830" y="2678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time-03:row-rule"/>
          <p:cNvCxnSpPr/>
          <p:nvPr/>
        </p:nvCxnSpPr>
        <p:spPr>
          <a:xfrm>
            <a:off x="468000" y="300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ime-03:name"/>
          <p:cNvSpPr txBox="1"/>
          <p:nvPr/>
        </p:nvSpPr>
        <p:spPr>
          <a:xfrm>
            <a:off x="468000" y="3006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38" name="time-03:bar"/>
          <p:cNvSpPr/>
          <p:nvPr/>
        </p:nvSpPr>
        <p:spPr>
          <a:xfrm>
            <a:off x="4014338" y="3146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time-03:row-rule"/>
          <p:cNvCxnSpPr/>
          <p:nvPr/>
        </p:nvCxnSpPr>
        <p:spPr>
          <a:xfrm>
            <a:off x="468000" y="3474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ime-03:name"/>
          <p:cNvSpPr txBox="1"/>
          <p:nvPr/>
        </p:nvSpPr>
        <p:spPr>
          <a:xfrm>
            <a:off x="468000" y="3474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공간 지도 구축</a:t>
            </a:r>
          </a:p>
        </p:txBody>
      </p:sp>
      <p:sp>
        <p:nvSpPr>
          <p:cNvPr id="41" name="time-03:bar"/>
          <p:cNvSpPr/>
          <p:nvPr/>
        </p:nvSpPr>
        <p:spPr>
          <a:xfrm>
            <a:off x="4717845" y="3614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time-03:row-rule"/>
          <p:cNvCxnSpPr/>
          <p:nvPr/>
        </p:nvCxnSpPr>
        <p:spPr>
          <a:xfrm>
            <a:off x="468000" y="3942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ime-03:name"/>
          <p:cNvSpPr txBox="1"/>
          <p:nvPr/>
        </p:nvSpPr>
        <p:spPr>
          <a:xfrm>
            <a:off x="468000" y="3942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예측 모델 개발</a:t>
            </a:r>
          </a:p>
        </p:txBody>
      </p:sp>
      <p:sp>
        <p:nvSpPr>
          <p:cNvPr id="44" name="time-03:bar"/>
          <p:cNvSpPr/>
          <p:nvPr/>
        </p:nvSpPr>
        <p:spPr>
          <a:xfrm>
            <a:off x="6828367" y="4082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time-03:row-rule"/>
          <p:cNvCxnSpPr/>
          <p:nvPr/>
        </p:nvCxnSpPr>
        <p:spPr>
          <a:xfrm>
            <a:off x="468000" y="4410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ime-03:name"/>
          <p:cNvSpPr txBox="1"/>
          <p:nvPr/>
        </p:nvSpPr>
        <p:spPr>
          <a:xfrm>
            <a:off x="468000" y="4410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검증</a:t>
            </a:r>
          </a:p>
        </p:txBody>
      </p:sp>
      <p:sp>
        <p:nvSpPr>
          <p:cNvPr id="47" name="time-03:bar"/>
          <p:cNvSpPr/>
          <p:nvPr/>
        </p:nvSpPr>
        <p:spPr>
          <a:xfrm>
            <a:off x="8938890" y="4550400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time-03:row-rule"/>
          <p:cNvCxnSpPr/>
          <p:nvPr/>
        </p:nvCxnSpPr>
        <p:spPr>
          <a:xfrm>
            <a:off x="468000" y="4878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me-03:name"/>
          <p:cNvSpPr txBox="1"/>
          <p:nvPr/>
        </p:nvSpPr>
        <p:spPr>
          <a:xfrm>
            <a:off x="468000" y="487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논문 · 특허</a:t>
            </a:r>
          </a:p>
        </p:txBody>
      </p:sp>
      <p:sp>
        <p:nvSpPr>
          <p:cNvPr id="50" name="time-03:bar"/>
          <p:cNvSpPr/>
          <p:nvPr/>
        </p:nvSpPr>
        <p:spPr>
          <a:xfrm>
            <a:off x="8235382" y="5018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1" name="time-03:row-rule"/>
          <p:cNvCxnSpPr/>
          <p:nvPr/>
        </p:nvCxnSpPr>
        <p:spPr>
          <a:xfrm>
            <a:off x="468000" y="534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성과지표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3년 동안 논문 6편과 특허 2건을 목표로 해요</a:t>
            </a:r>
          </a:p>
        </p:txBody>
      </p:sp>
      <p:graphicFrame>
        <p:nvGraphicFramePr>
          <p:cNvPr id="5" name="data-07:table"/>
          <p:cNvGraphicFramePr>
            <a:graphicFrameLocks noGrp="1"/>
          </p:cNvGraphicFramePr>
          <p:nvPr/>
        </p:nvGraphicFramePr>
        <p:xfrm>
          <a:off x="468000" y="2010000"/>
          <a:ext cx="11256119" cy="3240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4078390"/>
                <a:gridCol w="1941529"/>
                <a:gridCol w="2013090"/>
                <a:gridCol w="2027398"/>
                <a:gridCol w="1195712"/>
              </a:tblGrid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성과지표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2차년도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3차년도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합계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SCI 논문 (편)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특허 출원 (건)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공개 데이터 (세트)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학회 발표 (회)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7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기대효과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가장 큰 효과는 효과 없는 치료를 줄이는 것이에요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2106783"/>
            <a:ext cx="11256120" cy="57518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748800" y="2106783"/>
            <a:ext cx="10694520" cy="575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기존 병리 절편으로 면역항암 반응을 미리 예측하는 기술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681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2272020" y="284396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227202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609606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5:link"/>
          <p:cNvCxnSpPr/>
          <p:nvPr/>
        </p:nvCxnSpPr>
        <p:spPr>
          <a:xfrm>
            <a:off x="992010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5:area"/>
          <p:cNvSpPr/>
          <p:nvPr/>
        </p:nvSpPr>
        <p:spPr>
          <a:xfrm>
            <a:off x="46800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"/>
          <p:cNvSpPr/>
          <p:nvPr/>
        </p:nvSpPr>
        <p:spPr>
          <a:xfrm>
            <a:off x="63180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5:label-text"/>
          <p:cNvSpPr txBox="1"/>
          <p:nvPr/>
        </p:nvSpPr>
        <p:spPr>
          <a:xfrm>
            <a:off x="63180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B6E5A"/>
                </a:solidFill>
              </a:rPr>
              <a:t>학술</a:t>
            </a:r>
          </a:p>
        </p:txBody>
      </p:sp>
      <p:sp>
        <p:nvSpPr>
          <p:cNvPr id="15" name="logic-05:effects"/>
          <p:cNvSpPr txBox="1"/>
          <p:nvPr/>
        </p:nvSpPr>
        <p:spPr>
          <a:xfrm>
            <a:off x="63180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 면역 틈새 지도를 국제 학술지에 보고</a:t>
            </a:r>
          </a:p>
        </p:txBody>
      </p:sp>
      <p:cxnSp>
        <p:nvCxnSpPr>
          <p:cNvPr id="16" name="logic-05:rule"/>
          <p:cNvCxnSpPr/>
          <p:nvPr/>
        </p:nvCxnSpPr>
        <p:spPr>
          <a:xfrm>
            <a:off x="63180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gic-05:value"/>
          <p:cNvSpPr txBox="1"/>
          <p:nvPr/>
        </p:nvSpPr>
        <p:spPr>
          <a:xfrm>
            <a:off x="63180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6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8" name="logic-05:metric"/>
          <p:cNvSpPr txBox="1"/>
          <p:nvPr/>
        </p:nvSpPr>
        <p:spPr>
          <a:xfrm>
            <a:off x="63180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SCI 논문</a:t>
            </a:r>
          </a:p>
        </p:txBody>
      </p:sp>
      <p:sp>
        <p:nvSpPr>
          <p:cNvPr id="19" name="logic-05:area"/>
          <p:cNvSpPr/>
          <p:nvPr/>
        </p:nvSpPr>
        <p:spPr>
          <a:xfrm>
            <a:off x="429204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"/>
          <p:cNvSpPr/>
          <p:nvPr/>
        </p:nvSpPr>
        <p:spPr>
          <a:xfrm>
            <a:off x="445584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logic-05:label-text"/>
          <p:cNvSpPr txBox="1"/>
          <p:nvPr/>
        </p:nvSpPr>
        <p:spPr>
          <a:xfrm>
            <a:off x="445584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B6E5A"/>
                </a:solidFill>
              </a:rPr>
              <a:t>산업</a:t>
            </a:r>
          </a:p>
        </p:txBody>
      </p:sp>
      <p:sp>
        <p:nvSpPr>
          <p:cNvPr id="22" name="logic-05:effects"/>
          <p:cNvSpPr txBox="1"/>
          <p:nvPr/>
        </p:nvSpPr>
        <p:spPr>
          <a:xfrm>
            <a:off x="445584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진단 기업에 예측 알고리즘 이전</a:t>
            </a:r>
          </a:p>
        </p:txBody>
      </p:sp>
      <p:cxnSp>
        <p:nvCxnSpPr>
          <p:cNvPr id="23" name="logic-05:rule"/>
          <p:cNvCxnSpPr/>
          <p:nvPr/>
        </p:nvCxnSpPr>
        <p:spPr>
          <a:xfrm>
            <a:off x="445584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ogic-05:value"/>
          <p:cNvSpPr txBox="1"/>
          <p:nvPr/>
        </p:nvSpPr>
        <p:spPr>
          <a:xfrm>
            <a:off x="445584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건</a:t>
            </a:r>
          </a:p>
        </p:txBody>
      </p:sp>
      <p:sp>
        <p:nvSpPr>
          <p:cNvPr id="25" name="logic-05:metric"/>
          <p:cNvSpPr txBox="1"/>
          <p:nvPr/>
        </p:nvSpPr>
        <p:spPr>
          <a:xfrm>
            <a:off x="445584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특허 출원</a:t>
            </a:r>
          </a:p>
        </p:txBody>
      </p:sp>
      <p:sp>
        <p:nvSpPr>
          <p:cNvPr id="26" name="logic-05:area"/>
          <p:cNvSpPr/>
          <p:nvPr/>
        </p:nvSpPr>
        <p:spPr>
          <a:xfrm>
            <a:off x="8116080" y="3005969"/>
            <a:ext cx="3608040" cy="2050466"/>
          </a:xfrm>
          <a:prstGeom prst="rect">
            <a:avLst/>
          </a:prstGeom>
          <a:solidFill>
            <a:srgbClr val="E7F0EE"/>
          </a:solidFill>
          <a:ln w="12700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logic-05:label"/>
          <p:cNvSpPr/>
          <p:nvPr/>
        </p:nvSpPr>
        <p:spPr>
          <a:xfrm>
            <a:off x="827988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5:label-text"/>
          <p:cNvSpPr txBox="1"/>
          <p:nvPr/>
        </p:nvSpPr>
        <p:spPr>
          <a:xfrm>
            <a:off x="827988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사회</a:t>
            </a:r>
          </a:p>
        </p:txBody>
      </p:sp>
      <p:sp>
        <p:nvSpPr>
          <p:cNvPr id="29" name="logic-05:effects"/>
          <p:cNvSpPr txBox="1"/>
          <p:nvPr/>
        </p:nvSpPr>
        <p:spPr>
          <a:xfrm>
            <a:off x="827988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반응하지 않을 환자의 불필요한 치료를 줄임</a:t>
            </a:r>
          </a:p>
        </p:txBody>
      </p:sp>
      <p:cxnSp>
        <p:nvCxnSpPr>
          <p:cNvPr id="30" name="logic-05:rule"/>
          <p:cNvCxnSpPr/>
          <p:nvPr/>
        </p:nvCxnSpPr>
        <p:spPr>
          <a:xfrm>
            <a:off x="827988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ogic-05:value"/>
          <p:cNvSpPr txBox="1"/>
          <p:nvPr/>
        </p:nvSpPr>
        <p:spPr>
          <a:xfrm>
            <a:off x="827988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0B6E5A"/>
                </a:solidFill>
              </a:rPr>
              <a:t>40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%</a:t>
            </a:r>
          </a:p>
        </p:txBody>
      </p:sp>
      <p:sp>
        <p:nvSpPr>
          <p:cNvPr id="32" name="logic-05:metric"/>
          <p:cNvSpPr txBox="1"/>
          <p:nvPr/>
        </p:nvSpPr>
        <p:spPr>
          <a:xfrm>
            <a:off x="827988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비반응군 치료비 절감 (예시)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6. 연구진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4-1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분석 · 병리 · 면역 전문가가 함께해요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0B6E5A"/>
                </a:solidFill>
              </a:rPr>
              <a:t>연구책임자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447316" cy="198000"/>
          </a:xfrm>
          <a:prstGeom prst="roundRect">
            <a:avLst>
              <a:gd name="adj" fmla="val 50000"/>
            </a:avLst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447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총괄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HaLab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10년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관련 논문 20편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1152000" cy="1152000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959570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533543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533543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959570" y="2163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959570" y="2499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951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4167000"/>
            <a:ext cx="1152000" cy="1152000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959570" y="4167000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513159" y="4231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513159" y="4231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기능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959570" y="4530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 면역학 연구실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959570" y="4866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T세포 실험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연구책임자 · HaLab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리치 16:9">
  <a:themeElements>
    <a:clrScheme name="HaLab 에메랄드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