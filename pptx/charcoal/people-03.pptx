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(people-03-a).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(people-03-b).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(people-03-c).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ADA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ADA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인력양성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학부 연구생부터 박사까지 한 회로 연구 안에서 단계적으로 키운다</a:t>
            </a:r>
          </a:p>
        </p:txBody>
      </p:sp>
      <p:sp>
        <p:nvSpPr>
          <p:cNvPr id="5" name="people-03:step"/>
          <p:cNvSpPr/>
          <p:nvPr/>
        </p:nvSpPr>
        <p:spPr>
          <a:xfrm>
            <a:off x="468000" y="3025498"/>
            <a:ext cx="2652030" cy="1732970"/>
          </a:xfrm>
          <a:prstGeom prst="rect">
            <a:avLst/>
          </a:prstGeom>
          <a:solidFill>
            <a:srgbClr val="EA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people-03:marker"/>
          <p:cNvSpPr/>
          <p:nvPr/>
        </p:nvSpPr>
        <p:spPr>
          <a:xfrm>
            <a:off x="648000" y="3216070"/>
            <a:ext cx="270000" cy="270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1</a:t>
            </a:r>
          </a:p>
        </p:txBody>
      </p:sp>
      <p:sp>
        <p:nvSpPr>
          <p:cNvPr id="7" name="people-03:stage"/>
          <p:cNvSpPr txBox="1"/>
          <p:nvPr/>
        </p:nvSpPr>
        <p:spPr>
          <a:xfrm>
            <a:off x="1026000" y="3205498"/>
            <a:ext cx="1914030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학부 연구생</a:t>
            </a:r>
          </a:p>
        </p:txBody>
      </p:sp>
      <p:sp>
        <p:nvSpPr>
          <p:cNvPr id="8" name="people-03:count"/>
          <p:cNvSpPr txBox="1"/>
          <p:nvPr/>
        </p:nvSpPr>
        <p:spPr>
          <a:xfrm>
            <a:off x="648000" y="3604643"/>
            <a:ext cx="2292030" cy="485242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b="1" spc="-40">
                <a:solidFill>
                  <a:srgbClr val="262B33"/>
                </a:solidFill>
              </a:rPr>
              <a:t>6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명</a:t>
            </a:r>
          </a:p>
        </p:txBody>
      </p:sp>
      <p:sp>
        <p:nvSpPr>
          <p:cNvPr id="9" name="people-03:role"/>
          <p:cNvSpPr txBox="1"/>
          <p:nvPr/>
        </p:nvSpPr>
        <p:spPr>
          <a:xfrm>
            <a:off x="648000" y="4143885"/>
            <a:ext cx="229203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칼슘 이미징 기초 실습</a:t>
            </a:r>
          </a:p>
        </p:txBody>
      </p:sp>
      <p:sp>
        <p:nvSpPr>
          <p:cNvPr id="10" name="people-03:step"/>
          <p:cNvSpPr/>
          <p:nvPr/>
        </p:nvSpPr>
        <p:spPr>
          <a:xfrm>
            <a:off x="3336030" y="2649155"/>
            <a:ext cx="2652030" cy="2109313"/>
          </a:xfrm>
          <a:prstGeom prst="rect">
            <a:avLst/>
          </a:prstGeom>
          <a:solidFill>
            <a:srgbClr val="D7D8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people-03:marker"/>
          <p:cNvSpPr/>
          <p:nvPr/>
        </p:nvSpPr>
        <p:spPr>
          <a:xfrm>
            <a:off x="3516030" y="2839727"/>
            <a:ext cx="270000" cy="270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2</a:t>
            </a:r>
          </a:p>
        </p:txBody>
      </p:sp>
      <p:sp>
        <p:nvSpPr>
          <p:cNvPr id="12" name="people-03:stage"/>
          <p:cNvSpPr txBox="1"/>
          <p:nvPr/>
        </p:nvSpPr>
        <p:spPr>
          <a:xfrm>
            <a:off x="3894030" y="2829155"/>
            <a:ext cx="1914030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석사과정</a:t>
            </a:r>
          </a:p>
        </p:txBody>
      </p:sp>
      <p:sp>
        <p:nvSpPr>
          <p:cNvPr id="13" name="people-03:count"/>
          <p:cNvSpPr txBox="1"/>
          <p:nvPr/>
        </p:nvSpPr>
        <p:spPr>
          <a:xfrm>
            <a:off x="3516030" y="3228300"/>
            <a:ext cx="2292030" cy="485242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b="1" spc="-40">
                <a:solidFill>
                  <a:srgbClr val="262B33"/>
                </a:solidFill>
              </a:rPr>
              <a:t>4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명</a:t>
            </a:r>
          </a:p>
        </p:txBody>
      </p:sp>
      <p:sp>
        <p:nvSpPr>
          <p:cNvPr id="14" name="people-03:role"/>
          <p:cNvSpPr txBox="1"/>
          <p:nvPr/>
        </p:nvSpPr>
        <p:spPr>
          <a:xfrm>
            <a:off x="3516030" y="3767541"/>
            <a:ext cx="229203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해마 회로 기록 담당</a:t>
            </a:r>
          </a:p>
        </p:txBody>
      </p:sp>
      <p:sp>
        <p:nvSpPr>
          <p:cNvPr id="15" name="people-03:step"/>
          <p:cNvSpPr/>
          <p:nvPr/>
        </p:nvSpPr>
        <p:spPr>
          <a:xfrm>
            <a:off x="6204060" y="2272811"/>
            <a:ext cx="2652030" cy="2485657"/>
          </a:xfrm>
          <a:prstGeom prst="rect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people-03:marker"/>
          <p:cNvSpPr/>
          <p:nvPr/>
        </p:nvSpPr>
        <p:spPr>
          <a:xfrm>
            <a:off x="6384060" y="2463384"/>
            <a:ext cx="270000" cy="270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3</a:t>
            </a:r>
          </a:p>
        </p:txBody>
      </p:sp>
      <p:sp>
        <p:nvSpPr>
          <p:cNvPr id="17" name="people-03:stage"/>
          <p:cNvSpPr txBox="1"/>
          <p:nvPr/>
        </p:nvSpPr>
        <p:spPr>
          <a:xfrm>
            <a:off x="6762060" y="2452811"/>
            <a:ext cx="1914030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박사과정</a:t>
            </a:r>
          </a:p>
        </p:txBody>
      </p:sp>
      <p:sp>
        <p:nvSpPr>
          <p:cNvPr id="18" name="people-03:count"/>
          <p:cNvSpPr txBox="1"/>
          <p:nvPr/>
        </p:nvSpPr>
        <p:spPr>
          <a:xfrm>
            <a:off x="6384060" y="2851956"/>
            <a:ext cx="2292030" cy="485242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b="1" spc="-40">
                <a:solidFill>
                  <a:srgbClr val="FFFFFF"/>
                </a:solidFill>
              </a:rPr>
              <a:t>2</a:t>
            </a:r>
            <a:r>
              <a:rPr sz="1600" b="0" spc="-40">
                <a:solidFill>
                  <a:srgbClr val="DADADC"/>
                </a:solidFill>
                <a:latin typeface="Pretendard Medium"/>
                <a:ea typeface="Pretendard Medium"/>
                <a:cs typeface="Pretendard Medium"/>
              </a:rPr>
              <a:t> 명</a:t>
            </a:r>
          </a:p>
        </p:txBody>
      </p:sp>
      <p:sp>
        <p:nvSpPr>
          <p:cNvPr id="19" name="people-03:role"/>
          <p:cNvSpPr txBox="1"/>
          <p:nvPr/>
        </p:nvSpPr>
        <p:spPr>
          <a:xfrm>
            <a:off x="6384060" y="3391198"/>
            <a:ext cx="229203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DADADC"/>
                </a:solidFill>
              </a:rPr>
              <a:t>광유전학 회로 조작 과제 주도</a:t>
            </a:r>
          </a:p>
        </p:txBody>
      </p:sp>
      <p:sp>
        <p:nvSpPr>
          <p:cNvPr id="20" name="people-03:step"/>
          <p:cNvSpPr/>
          <p:nvPr/>
        </p:nvSpPr>
        <p:spPr>
          <a:xfrm>
            <a:off x="9072090" y="1896468"/>
            <a:ext cx="2652030" cy="2862000"/>
          </a:xfrm>
          <a:prstGeom prst="rect">
            <a:avLst/>
          </a:prstGeom>
          <a:solidFill>
            <a:srgbClr val="C5C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people-03:marker"/>
          <p:cNvSpPr/>
          <p:nvPr/>
        </p:nvSpPr>
        <p:spPr>
          <a:xfrm>
            <a:off x="9252090" y="2087040"/>
            <a:ext cx="270000" cy="270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4</a:t>
            </a:r>
          </a:p>
        </p:txBody>
      </p:sp>
      <p:sp>
        <p:nvSpPr>
          <p:cNvPr id="22" name="people-03:stage"/>
          <p:cNvSpPr txBox="1"/>
          <p:nvPr/>
        </p:nvSpPr>
        <p:spPr>
          <a:xfrm>
            <a:off x="9630090" y="2076468"/>
            <a:ext cx="1914030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박사후연구원</a:t>
            </a:r>
          </a:p>
        </p:txBody>
      </p:sp>
      <p:sp>
        <p:nvSpPr>
          <p:cNvPr id="23" name="people-03:count"/>
          <p:cNvSpPr txBox="1"/>
          <p:nvPr/>
        </p:nvSpPr>
        <p:spPr>
          <a:xfrm>
            <a:off x="9252090" y="2475613"/>
            <a:ext cx="2292030" cy="485242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b="1" spc="-40">
                <a:solidFill>
                  <a:srgbClr val="262B33"/>
                </a:solidFill>
              </a:rPr>
              <a:t>1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명</a:t>
            </a:r>
          </a:p>
        </p:txBody>
      </p:sp>
      <p:sp>
        <p:nvSpPr>
          <p:cNvPr id="24" name="people-03:role"/>
          <p:cNvSpPr txBox="1"/>
          <p:nvPr/>
        </p:nvSpPr>
        <p:spPr>
          <a:xfrm>
            <a:off x="9252090" y="3014855"/>
            <a:ext cx="229203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과제 총괄 · 후배 지도</a:t>
            </a:r>
          </a:p>
        </p:txBody>
      </p:sp>
      <p:cxnSp>
        <p:nvCxnSpPr>
          <p:cNvPr id="25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5년간 석·박사 8명을 배출하고, 그중 4명은 신경과학 연구기관에 진출하는 것을 목표로 한다.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인력양성 실적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지난 3년간 석사 단계에서 가장 많은 인력이 자랐다</a:t>
            </a:r>
          </a:p>
        </p:txBody>
      </p:sp>
      <p:sp>
        <p:nvSpPr>
          <p:cNvPr id="5" name="people-03:step"/>
          <p:cNvSpPr/>
          <p:nvPr/>
        </p:nvSpPr>
        <p:spPr>
          <a:xfrm>
            <a:off x="468000" y="3438916"/>
            <a:ext cx="2652030" cy="1761253"/>
          </a:xfrm>
          <a:prstGeom prst="rect">
            <a:avLst/>
          </a:prstGeom>
          <a:solidFill>
            <a:srgbClr val="EA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people-03:marker"/>
          <p:cNvSpPr/>
          <p:nvPr/>
        </p:nvSpPr>
        <p:spPr>
          <a:xfrm>
            <a:off x="702000" y="3672916"/>
            <a:ext cx="351000" cy="351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1</a:t>
            </a:r>
          </a:p>
        </p:txBody>
      </p:sp>
      <p:sp>
        <p:nvSpPr>
          <p:cNvPr id="7" name="people-03:stage"/>
          <p:cNvSpPr txBox="1"/>
          <p:nvPr/>
        </p:nvSpPr>
        <p:spPr>
          <a:xfrm>
            <a:off x="1193400" y="3672916"/>
            <a:ext cx="1692630" cy="351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학부 인턴</a:t>
            </a:r>
          </a:p>
        </p:txBody>
      </p:sp>
      <p:sp>
        <p:nvSpPr>
          <p:cNvPr id="8" name="people-03:count"/>
          <p:cNvSpPr txBox="1"/>
          <p:nvPr/>
        </p:nvSpPr>
        <p:spPr>
          <a:xfrm>
            <a:off x="702000" y="4164316"/>
            <a:ext cx="2184030" cy="485242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b="1" spc="-40">
                <a:solidFill>
                  <a:srgbClr val="262B33"/>
                </a:solidFill>
              </a:rPr>
              <a:t>15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명</a:t>
            </a:r>
          </a:p>
        </p:txBody>
      </p:sp>
      <p:sp>
        <p:nvSpPr>
          <p:cNvPr id="9" name="people-03:role"/>
          <p:cNvSpPr txBox="1"/>
          <p:nvPr/>
        </p:nvSpPr>
        <p:spPr>
          <a:xfrm>
            <a:off x="702000" y="4719758"/>
            <a:ext cx="218403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여름·겨울 단기 연구</a:t>
            </a:r>
          </a:p>
        </p:txBody>
      </p:sp>
      <p:sp>
        <p:nvSpPr>
          <p:cNvPr id="10" name="people-03:step"/>
          <p:cNvSpPr/>
          <p:nvPr/>
        </p:nvSpPr>
        <p:spPr>
          <a:xfrm>
            <a:off x="3336030" y="2970916"/>
            <a:ext cx="2652030" cy="2229253"/>
          </a:xfrm>
          <a:prstGeom prst="rect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people-03:marker"/>
          <p:cNvSpPr/>
          <p:nvPr/>
        </p:nvSpPr>
        <p:spPr>
          <a:xfrm>
            <a:off x="3570030" y="3204916"/>
            <a:ext cx="351000" cy="351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2</a:t>
            </a:r>
          </a:p>
        </p:txBody>
      </p:sp>
      <p:sp>
        <p:nvSpPr>
          <p:cNvPr id="12" name="people-03:stage"/>
          <p:cNvSpPr txBox="1"/>
          <p:nvPr/>
        </p:nvSpPr>
        <p:spPr>
          <a:xfrm>
            <a:off x="4061430" y="3204916"/>
            <a:ext cx="1692630" cy="351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석사 졸업</a:t>
            </a:r>
          </a:p>
        </p:txBody>
      </p:sp>
      <p:sp>
        <p:nvSpPr>
          <p:cNvPr id="13" name="people-03:count"/>
          <p:cNvSpPr txBox="1"/>
          <p:nvPr/>
        </p:nvSpPr>
        <p:spPr>
          <a:xfrm>
            <a:off x="3570030" y="3696316"/>
            <a:ext cx="2184030" cy="485242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b="1" spc="-40">
                <a:solidFill>
                  <a:srgbClr val="FFFFFF"/>
                </a:solidFill>
              </a:rPr>
              <a:t>9</a:t>
            </a:r>
            <a:r>
              <a:rPr sz="1600" b="0" spc="-40">
                <a:solidFill>
                  <a:srgbClr val="DADADC"/>
                </a:solidFill>
                <a:latin typeface="Pretendard Medium"/>
                <a:ea typeface="Pretendard Medium"/>
                <a:cs typeface="Pretendard Medium"/>
              </a:rPr>
              <a:t> 명</a:t>
            </a:r>
          </a:p>
        </p:txBody>
      </p:sp>
      <p:sp>
        <p:nvSpPr>
          <p:cNvPr id="14" name="people-03:role"/>
          <p:cNvSpPr txBox="1"/>
          <p:nvPr/>
        </p:nvSpPr>
        <p:spPr>
          <a:xfrm>
            <a:off x="3570030" y="4251758"/>
            <a:ext cx="218403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DADADC"/>
                </a:solidFill>
              </a:rPr>
              <a:t>6명 바이오 기업 취업</a:t>
            </a:r>
          </a:p>
        </p:txBody>
      </p:sp>
      <p:sp>
        <p:nvSpPr>
          <p:cNvPr id="15" name="people-03:step"/>
          <p:cNvSpPr/>
          <p:nvPr/>
        </p:nvSpPr>
        <p:spPr>
          <a:xfrm>
            <a:off x="6204060" y="2502916"/>
            <a:ext cx="2652030" cy="2697253"/>
          </a:xfrm>
          <a:prstGeom prst="rect">
            <a:avLst/>
          </a:prstGeom>
          <a:solidFill>
            <a:srgbClr val="D7D8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people-03:marker"/>
          <p:cNvSpPr/>
          <p:nvPr/>
        </p:nvSpPr>
        <p:spPr>
          <a:xfrm>
            <a:off x="6438060" y="2736916"/>
            <a:ext cx="351000" cy="351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3</a:t>
            </a:r>
          </a:p>
        </p:txBody>
      </p:sp>
      <p:sp>
        <p:nvSpPr>
          <p:cNvPr id="17" name="people-03:stage"/>
          <p:cNvSpPr txBox="1"/>
          <p:nvPr/>
        </p:nvSpPr>
        <p:spPr>
          <a:xfrm>
            <a:off x="6929460" y="2736916"/>
            <a:ext cx="1692630" cy="351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박사 졸업</a:t>
            </a:r>
          </a:p>
        </p:txBody>
      </p:sp>
      <p:sp>
        <p:nvSpPr>
          <p:cNvPr id="18" name="people-03:count"/>
          <p:cNvSpPr txBox="1"/>
          <p:nvPr/>
        </p:nvSpPr>
        <p:spPr>
          <a:xfrm>
            <a:off x="6438060" y="3228316"/>
            <a:ext cx="2184030" cy="485242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b="1" spc="-40">
                <a:solidFill>
                  <a:srgbClr val="262B33"/>
                </a:solidFill>
              </a:rPr>
              <a:t>3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명</a:t>
            </a:r>
          </a:p>
        </p:txBody>
      </p:sp>
      <p:sp>
        <p:nvSpPr>
          <p:cNvPr id="19" name="people-03:role"/>
          <p:cNvSpPr txBox="1"/>
          <p:nvPr/>
        </p:nvSpPr>
        <p:spPr>
          <a:xfrm>
            <a:off x="6438060" y="3783758"/>
            <a:ext cx="218403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2명 해외 박사후 과정</a:t>
            </a:r>
          </a:p>
        </p:txBody>
      </p:sp>
      <p:sp>
        <p:nvSpPr>
          <p:cNvPr id="20" name="people-03:step"/>
          <p:cNvSpPr/>
          <p:nvPr/>
        </p:nvSpPr>
        <p:spPr>
          <a:xfrm>
            <a:off x="9072090" y="2034916"/>
            <a:ext cx="2652030" cy="3165253"/>
          </a:xfrm>
          <a:prstGeom prst="rect">
            <a:avLst/>
          </a:prstGeom>
          <a:solidFill>
            <a:srgbClr val="C5C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people-03:marker"/>
          <p:cNvSpPr/>
          <p:nvPr/>
        </p:nvSpPr>
        <p:spPr>
          <a:xfrm>
            <a:off x="9306090" y="2268916"/>
            <a:ext cx="351000" cy="351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4</a:t>
            </a:r>
          </a:p>
        </p:txBody>
      </p:sp>
      <p:sp>
        <p:nvSpPr>
          <p:cNvPr id="22" name="people-03:stage"/>
          <p:cNvSpPr txBox="1"/>
          <p:nvPr/>
        </p:nvSpPr>
        <p:spPr>
          <a:xfrm>
            <a:off x="9797490" y="2268916"/>
            <a:ext cx="1692630" cy="351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박사후 독립</a:t>
            </a:r>
          </a:p>
        </p:txBody>
      </p:sp>
      <p:sp>
        <p:nvSpPr>
          <p:cNvPr id="23" name="people-03:count"/>
          <p:cNvSpPr txBox="1"/>
          <p:nvPr/>
        </p:nvSpPr>
        <p:spPr>
          <a:xfrm>
            <a:off x="9306090" y="2760316"/>
            <a:ext cx="2184030" cy="485242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b="1" spc="-40">
                <a:solidFill>
                  <a:srgbClr val="262B33"/>
                </a:solidFill>
              </a:rPr>
              <a:t>1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명</a:t>
            </a:r>
          </a:p>
        </p:txBody>
      </p:sp>
      <p:sp>
        <p:nvSpPr>
          <p:cNvPr id="24" name="people-03:role"/>
          <p:cNvSpPr txBox="1"/>
          <p:nvPr/>
        </p:nvSpPr>
        <p:spPr>
          <a:xfrm>
            <a:off x="9306090" y="3315758"/>
            <a:ext cx="218403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국내 대학 교원 임용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인력양성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대학원 세 단계마다 맡는 분석 범위를 넓혀 간다</a:t>
            </a:r>
          </a:p>
        </p:txBody>
      </p:sp>
      <p:sp>
        <p:nvSpPr>
          <p:cNvPr id="5" name="people-03:step"/>
          <p:cNvSpPr/>
          <p:nvPr/>
        </p:nvSpPr>
        <p:spPr>
          <a:xfrm>
            <a:off x="468000" y="3126916"/>
            <a:ext cx="3608040" cy="1761253"/>
          </a:xfrm>
          <a:prstGeom prst="rect">
            <a:avLst/>
          </a:prstGeom>
          <a:solidFill>
            <a:srgbClr val="EA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people-03:marker"/>
          <p:cNvSpPr/>
          <p:nvPr/>
        </p:nvSpPr>
        <p:spPr>
          <a:xfrm>
            <a:off x="702000" y="3360916"/>
            <a:ext cx="351000" cy="351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1</a:t>
            </a:r>
          </a:p>
        </p:txBody>
      </p:sp>
      <p:sp>
        <p:nvSpPr>
          <p:cNvPr id="7" name="people-03:stage"/>
          <p:cNvSpPr txBox="1"/>
          <p:nvPr/>
        </p:nvSpPr>
        <p:spPr>
          <a:xfrm>
            <a:off x="1193400" y="3360916"/>
            <a:ext cx="2648640" cy="351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석사과정</a:t>
            </a:r>
          </a:p>
        </p:txBody>
      </p:sp>
      <p:sp>
        <p:nvSpPr>
          <p:cNvPr id="8" name="people-03:count"/>
          <p:cNvSpPr txBox="1"/>
          <p:nvPr/>
        </p:nvSpPr>
        <p:spPr>
          <a:xfrm>
            <a:off x="702000" y="3852316"/>
            <a:ext cx="3140040" cy="485242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b="1" spc="-40">
                <a:solidFill>
                  <a:srgbClr val="262B33"/>
                </a:solidFill>
              </a:rPr>
              <a:t>5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명</a:t>
            </a:r>
          </a:p>
        </p:txBody>
      </p:sp>
      <p:sp>
        <p:nvSpPr>
          <p:cNvPr id="9" name="people-03:role"/>
          <p:cNvSpPr txBox="1"/>
          <p:nvPr/>
        </p:nvSpPr>
        <p:spPr>
          <a:xfrm>
            <a:off x="702000" y="4407758"/>
            <a:ext cx="31400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표준 파이프라인으로 데이터 정리</a:t>
            </a:r>
          </a:p>
        </p:txBody>
      </p:sp>
      <p:sp>
        <p:nvSpPr>
          <p:cNvPr id="10" name="people-03:step"/>
          <p:cNvSpPr/>
          <p:nvPr/>
        </p:nvSpPr>
        <p:spPr>
          <a:xfrm>
            <a:off x="4292040" y="2658916"/>
            <a:ext cx="3608040" cy="2229253"/>
          </a:xfrm>
          <a:prstGeom prst="rect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people-03:marker"/>
          <p:cNvSpPr/>
          <p:nvPr/>
        </p:nvSpPr>
        <p:spPr>
          <a:xfrm>
            <a:off x="4526040" y="2892916"/>
            <a:ext cx="351000" cy="351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2</a:t>
            </a:r>
          </a:p>
        </p:txBody>
      </p:sp>
      <p:sp>
        <p:nvSpPr>
          <p:cNvPr id="12" name="people-03:stage"/>
          <p:cNvSpPr txBox="1"/>
          <p:nvPr/>
        </p:nvSpPr>
        <p:spPr>
          <a:xfrm>
            <a:off x="5017440" y="2892916"/>
            <a:ext cx="2648640" cy="351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박사과정</a:t>
            </a:r>
          </a:p>
        </p:txBody>
      </p:sp>
      <p:sp>
        <p:nvSpPr>
          <p:cNvPr id="13" name="people-03:count"/>
          <p:cNvSpPr txBox="1"/>
          <p:nvPr/>
        </p:nvSpPr>
        <p:spPr>
          <a:xfrm>
            <a:off x="4526040" y="3384316"/>
            <a:ext cx="3140040" cy="485242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b="1" spc="-40">
                <a:solidFill>
                  <a:srgbClr val="FFFFFF"/>
                </a:solidFill>
              </a:rPr>
              <a:t>3</a:t>
            </a:r>
            <a:r>
              <a:rPr sz="1600" b="0" spc="-40">
                <a:solidFill>
                  <a:srgbClr val="DADADC"/>
                </a:solidFill>
                <a:latin typeface="Pretendard Medium"/>
                <a:ea typeface="Pretendard Medium"/>
                <a:cs typeface="Pretendard Medium"/>
              </a:rPr>
              <a:t> 명</a:t>
            </a:r>
          </a:p>
        </p:txBody>
      </p:sp>
      <p:sp>
        <p:nvSpPr>
          <p:cNvPr id="14" name="people-03:role"/>
          <p:cNvSpPr txBox="1"/>
          <p:nvPr/>
        </p:nvSpPr>
        <p:spPr>
          <a:xfrm>
            <a:off x="4526040" y="3939758"/>
            <a:ext cx="31400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DADADC"/>
                </a:solidFill>
              </a:rPr>
              <a:t>새 분석 방법 개발</a:t>
            </a:r>
          </a:p>
        </p:txBody>
      </p:sp>
      <p:sp>
        <p:nvSpPr>
          <p:cNvPr id="15" name="people-03:step"/>
          <p:cNvSpPr/>
          <p:nvPr/>
        </p:nvSpPr>
        <p:spPr>
          <a:xfrm>
            <a:off x="8116080" y="2190916"/>
            <a:ext cx="3608040" cy="2697253"/>
          </a:xfrm>
          <a:prstGeom prst="rect">
            <a:avLst/>
          </a:prstGeom>
          <a:solidFill>
            <a:srgbClr val="C5C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people-03:marker"/>
          <p:cNvSpPr/>
          <p:nvPr/>
        </p:nvSpPr>
        <p:spPr>
          <a:xfrm>
            <a:off x="8350080" y="2424916"/>
            <a:ext cx="351000" cy="351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3</a:t>
            </a:r>
          </a:p>
        </p:txBody>
      </p:sp>
      <p:sp>
        <p:nvSpPr>
          <p:cNvPr id="17" name="people-03:stage"/>
          <p:cNvSpPr txBox="1"/>
          <p:nvPr/>
        </p:nvSpPr>
        <p:spPr>
          <a:xfrm>
            <a:off x="8841480" y="2424916"/>
            <a:ext cx="2648640" cy="351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박사후연구원</a:t>
            </a:r>
          </a:p>
        </p:txBody>
      </p:sp>
      <p:sp>
        <p:nvSpPr>
          <p:cNvPr id="18" name="people-03:count"/>
          <p:cNvSpPr txBox="1"/>
          <p:nvPr/>
        </p:nvSpPr>
        <p:spPr>
          <a:xfrm>
            <a:off x="8350080" y="2916316"/>
            <a:ext cx="3140040" cy="485242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b="1" spc="-40">
                <a:solidFill>
                  <a:srgbClr val="262B33"/>
                </a:solidFill>
              </a:rPr>
              <a:t>1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명</a:t>
            </a:r>
          </a:p>
        </p:txBody>
      </p:sp>
      <p:sp>
        <p:nvSpPr>
          <p:cNvPr id="19" name="people-03:role"/>
          <p:cNvSpPr txBox="1"/>
          <p:nvPr/>
        </p:nvSpPr>
        <p:spPr>
          <a:xfrm>
            <a:off x="8350080" y="3471758"/>
            <a:ext cx="31400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다기관 데이터 통합 총괄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차콜 클린 16:9">
  <a:themeElements>
    <a:clrScheme name="HaLab 차콜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2F343B"/>
      </a:accent1>
      <a:accent2>
        <a:srgbClr val="787B80"/>
      </a:accent2>
      <a:accent3>
        <a:srgbClr val="ACAEB1"/>
      </a:accent3>
      <a:accent4>
        <a:srgbClr val="E5484D"/>
      </a:accent4>
      <a:accent5>
        <a:srgbClr val="ACAEB1"/>
      </a:accent5>
      <a:accent6>
        <a:srgbClr val="E2E5EA"/>
      </a:accent6>
      <a:hlink>
        <a:srgbClr val="2F343B"/>
      </a:hlink>
      <a:folHlink>
        <a:srgbClr val="ACAE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