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가설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유전자 X 는 TOX 위에서 T세포 소진을 켠다</a:t>
            </a:r>
          </a:p>
        </p:txBody>
      </p:sp>
      <p:sp>
        <p:nvSpPr>
          <p:cNvPr id="5" name="res-05:region"/>
          <p:cNvSpPr/>
          <p:nvPr/>
        </p:nvSpPr>
        <p:spPr>
          <a:xfrm>
            <a:off x="3501451" y="1913022"/>
            <a:ext cx="5189218" cy="2418711"/>
          </a:xfrm>
          <a:prstGeom prst="roundRect">
            <a:avLst>
              <a:gd name="adj" fmla="val 17860"/>
            </a:avLst>
          </a:prstGeom>
          <a:solidFill>
            <a:srgbClr val="EAEBEB"/>
          </a:solidFill>
          <a:ln w="19050">
            <a:solidFill>
              <a:srgbClr val="ACAE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5:region-label"/>
          <p:cNvSpPr txBox="1"/>
          <p:nvPr/>
        </p:nvSpPr>
        <p:spPr>
          <a:xfrm>
            <a:off x="3663451" y="1985022"/>
            <a:ext cx="4865218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spc="-40">
                <a:solidFill>
                  <a:srgbClr val="2F343B"/>
                </a:solidFill>
              </a:rPr>
              <a:t>종양 침윤 CD8 T세포</a:t>
            </a:r>
          </a:p>
        </p:txBody>
      </p:sp>
      <p:cxnSp>
        <p:nvCxnSpPr>
          <p:cNvPr id="7" name="res-05:edge"/>
          <p:cNvCxnSpPr/>
          <p:nvPr/>
        </p:nvCxnSpPr>
        <p:spPr>
          <a:xfrm>
            <a:off x="2058567" y="2694674"/>
            <a:ext cx="1612084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res-05:edge"/>
          <p:cNvCxnSpPr/>
          <p:nvPr/>
        </p:nvCxnSpPr>
        <p:spPr>
          <a:xfrm>
            <a:off x="5290018" y="2694674"/>
            <a:ext cx="1612084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res-05:edge"/>
          <p:cNvCxnSpPr/>
          <p:nvPr/>
        </p:nvCxnSpPr>
        <p:spPr>
          <a:xfrm>
            <a:off x="8521469" y="2694674"/>
            <a:ext cx="1612084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s-05:edge"/>
          <p:cNvCxnSpPr/>
          <p:nvPr/>
        </p:nvCxnSpPr>
        <p:spPr>
          <a:xfrm flipV="1">
            <a:off x="4480334" y="3071160"/>
            <a:ext cx="0" cy="33840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5:node"/>
          <p:cNvSpPr/>
          <p:nvPr/>
        </p:nvSpPr>
        <p:spPr>
          <a:xfrm>
            <a:off x="468000" y="2346987"/>
            <a:ext cx="1561767" cy="6953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5:node-text"/>
          <p:cNvSpPr txBox="1"/>
          <p:nvPr/>
        </p:nvSpPr>
        <p:spPr>
          <a:xfrm>
            <a:off x="612000" y="2346987"/>
            <a:ext cx="1273767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만성 항원 자극</a:t>
            </a:r>
          </a:p>
        </p:txBody>
      </p:sp>
      <p:sp>
        <p:nvSpPr>
          <p:cNvPr id="13" name="res-05:node"/>
          <p:cNvSpPr/>
          <p:nvPr/>
        </p:nvSpPr>
        <p:spPr>
          <a:xfrm>
            <a:off x="3699451" y="2346987"/>
            <a:ext cx="1561767" cy="695373"/>
          </a:xfrm>
          <a:prstGeom prst="roundRect">
            <a:avLst>
              <a:gd name="adj" fmla="val 50000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5:node-text"/>
          <p:cNvSpPr txBox="1"/>
          <p:nvPr/>
        </p:nvSpPr>
        <p:spPr>
          <a:xfrm>
            <a:off x="3843451" y="2346987"/>
            <a:ext cx="1273767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TOX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전사인자</a:t>
            </a:r>
          </a:p>
        </p:txBody>
      </p:sp>
      <p:sp>
        <p:nvSpPr>
          <p:cNvPr id="15" name="res-05:node"/>
          <p:cNvSpPr/>
          <p:nvPr/>
        </p:nvSpPr>
        <p:spPr>
          <a:xfrm>
            <a:off x="6930902" y="2346987"/>
            <a:ext cx="1561767" cy="695373"/>
          </a:xfrm>
          <a:prstGeom prst="roundRect">
            <a:avLst>
              <a:gd name="adj" fmla="val 50000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s-05:node-text"/>
          <p:cNvSpPr txBox="1"/>
          <p:nvPr/>
        </p:nvSpPr>
        <p:spPr>
          <a:xfrm>
            <a:off x="7074902" y="2346987"/>
            <a:ext cx="1273767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PD-1 · TIM-3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억제 수용체</a:t>
            </a:r>
          </a:p>
        </p:txBody>
      </p:sp>
      <p:sp>
        <p:nvSpPr>
          <p:cNvPr id="17" name="res-05:node"/>
          <p:cNvSpPr/>
          <p:nvPr/>
        </p:nvSpPr>
        <p:spPr>
          <a:xfrm>
            <a:off x="10162353" y="2346987"/>
            <a:ext cx="1561767" cy="6953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5:node-text"/>
          <p:cNvSpPr txBox="1"/>
          <p:nvPr/>
        </p:nvSpPr>
        <p:spPr>
          <a:xfrm>
            <a:off x="10306353" y="2346987"/>
            <a:ext cx="1273767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T세포 소진</a:t>
            </a:r>
          </a:p>
        </p:txBody>
      </p:sp>
      <p:sp>
        <p:nvSpPr>
          <p:cNvPr id="19" name="res-05:node"/>
          <p:cNvSpPr/>
          <p:nvPr/>
        </p:nvSpPr>
        <p:spPr>
          <a:xfrm>
            <a:off x="3699451" y="3438360"/>
            <a:ext cx="1561767" cy="695373"/>
          </a:xfrm>
          <a:prstGeom prst="roundRect">
            <a:avLst>
              <a:gd name="adj" fmla="val 50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5:node-text"/>
          <p:cNvSpPr txBox="1"/>
          <p:nvPr/>
        </p:nvSpPr>
        <p:spPr>
          <a:xfrm>
            <a:off x="3843451" y="3438360"/>
            <a:ext cx="1273767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유전자 X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이번 연구</a:t>
            </a:r>
          </a:p>
        </p:txBody>
      </p:sp>
      <p:cxnSp>
        <p:nvCxnSpPr>
          <p:cNvPr id="21" name="res-05:legend"/>
          <p:cNvCxnSpPr/>
          <p:nvPr/>
        </p:nvCxnSpPr>
        <p:spPr>
          <a:xfrm>
            <a:off x="9366073" y="4584715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s-05:legend-text"/>
          <p:cNvSpPr txBox="1"/>
          <p:nvPr/>
        </p:nvSpPr>
        <p:spPr>
          <a:xfrm>
            <a:off x="9762073" y="4493733"/>
            <a:ext cx="738340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알려진 경로</a:t>
            </a:r>
          </a:p>
        </p:txBody>
      </p:sp>
      <p:cxnSp>
        <p:nvCxnSpPr>
          <p:cNvPr id="23" name="res-05:legend"/>
          <p:cNvCxnSpPr/>
          <p:nvPr/>
        </p:nvCxnSpPr>
        <p:spPr>
          <a:xfrm>
            <a:off x="10716414" y="4584715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s-05:legend-text"/>
          <p:cNvSpPr txBox="1"/>
          <p:nvPr/>
        </p:nvSpPr>
        <p:spPr>
          <a:xfrm>
            <a:off x="11112414" y="4493733"/>
            <a:ext cx="611706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가설 경로</a:t>
            </a:r>
          </a:p>
        </p:txBody>
      </p:sp>
      <p:cxnSp>
        <p:nvCxnSpPr>
          <p:cNvPr id="25" name="conclusion:line"/>
          <p:cNvCxnSpPr/>
          <p:nvPr/>
        </p:nvCxnSpPr>
        <p:spPr>
          <a:xfrm>
            <a:off x="468000" y="494136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onclusion:text"/>
          <p:cNvSpPr txBox="1"/>
          <p:nvPr/>
        </p:nvSpPr>
        <p:spPr>
          <a:xfrm>
            <a:off x="468000" y="513936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유전자 X 를 끄면 TOX 발현과 소진 표지가 함께 줄어드는지 CRISPR 로 확인한다.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작용 기전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후보 약물 A 는 JAK1 을 막아 염증 신호를 끊을 것이다</a:t>
            </a:r>
          </a:p>
        </p:txBody>
      </p:sp>
      <p:sp>
        <p:nvSpPr>
          <p:cNvPr id="5" name="res-05:region"/>
          <p:cNvSpPr/>
          <p:nvPr/>
        </p:nvSpPr>
        <p:spPr>
          <a:xfrm>
            <a:off x="3936786" y="2376899"/>
            <a:ext cx="4318548" cy="3366084"/>
          </a:xfrm>
          <a:prstGeom prst="roundRect">
            <a:avLst>
              <a:gd name="adj" fmla="val 12833"/>
            </a:avLst>
          </a:prstGeom>
          <a:solidFill>
            <a:srgbClr val="EAEBEB"/>
          </a:solidFill>
          <a:ln w="19050">
            <a:solidFill>
              <a:srgbClr val="ACAE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5:region-label"/>
          <p:cNvSpPr txBox="1"/>
          <p:nvPr/>
        </p:nvSpPr>
        <p:spPr>
          <a:xfrm>
            <a:off x="4098786" y="2448899"/>
            <a:ext cx="3994548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1" spc="-40">
                <a:solidFill>
                  <a:srgbClr val="2F343B"/>
                </a:solidFill>
              </a:rPr>
              <a:t>대식세포</a:t>
            </a:r>
          </a:p>
        </p:txBody>
      </p:sp>
      <p:cxnSp>
        <p:nvCxnSpPr>
          <p:cNvPr id="7" name="res-05:edge"/>
          <p:cNvCxnSpPr/>
          <p:nvPr/>
        </p:nvCxnSpPr>
        <p:spPr>
          <a:xfrm>
            <a:off x="4989423" y="2315699"/>
            <a:ext cx="0" cy="466365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res-05:edge"/>
          <p:cNvCxnSpPr/>
          <p:nvPr/>
        </p:nvCxnSpPr>
        <p:spPr>
          <a:xfrm>
            <a:off x="4989423" y="3535037"/>
            <a:ext cx="0" cy="2664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res-05:edge"/>
          <p:cNvCxnSpPr/>
          <p:nvPr/>
        </p:nvCxnSpPr>
        <p:spPr>
          <a:xfrm>
            <a:off x="4989423" y="4554410"/>
            <a:ext cx="0" cy="2664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s-05:edge"/>
          <p:cNvCxnSpPr/>
          <p:nvPr/>
        </p:nvCxnSpPr>
        <p:spPr>
          <a:xfrm flipH="1">
            <a:off x="5872860" y="3158551"/>
            <a:ext cx="4464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res-05:edge-bar"/>
          <p:cNvCxnSpPr/>
          <p:nvPr/>
        </p:nvCxnSpPr>
        <p:spPr>
          <a:xfrm>
            <a:off x="5872860" y="3079351"/>
            <a:ext cx="0" cy="15840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s-05:node"/>
          <p:cNvSpPr/>
          <p:nvPr/>
        </p:nvSpPr>
        <p:spPr>
          <a:xfrm>
            <a:off x="4134786" y="1591526"/>
            <a:ext cx="1709274" cy="695373"/>
          </a:xfrm>
          <a:prstGeom prst="roundRect">
            <a:avLst>
              <a:gd name="adj" fmla="val 50000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s-05:node-text"/>
          <p:cNvSpPr txBox="1"/>
          <p:nvPr/>
        </p:nvSpPr>
        <p:spPr>
          <a:xfrm>
            <a:off x="4278786" y="1591526"/>
            <a:ext cx="1421274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IL-6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사이토카인</a:t>
            </a:r>
          </a:p>
        </p:txBody>
      </p:sp>
      <p:sp>
        <p:nvSpPr>
          <p:cNvPr id="14" name="res-05:node"/>
          <p:cNvSpPr/>
          <p:nvPr/>
        </p:nvSpPr>
        <p:spPr>
          <a:xfrm>
            <a:off x="4134786" y="2810864"/>
            <a:ext cx="1709274" cy="695373"/>
          </a:xfrm>
          <a:prstGeom prst="roundRect">
            <a:avLst>
              <a:gd name="adj" fmla="val 50000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5:node-text"/>
          <p:cNvSpPr txBox="1"/>
          <p:nvPr/>
        </p:nvSpPr>
        <p:spPr>
          <a:xfrm>
            <a:off x="4278786" y="2810864"/>
            <a:ext cx="1421274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JAK1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인산화 효소</a:t>
            </a:r>
          </a:p>
        </p:txBody>
      </p:sp>
      <p:sp>
        <p:nvSpPr>
          <p:cNvPr id="16" name="res-05:node"/>
          <p:cNvSpPr/>
          <p:nvPr/>
        </p:nvSpPr>
        <p:spPr>
          <a:xfrm>
            <a:off x="4134786" y="3830237"/>
            <a:ext cx="1709274" cy="695373"/>
          </a:xfrm>
          <a:prstGeom prst="roundRect">
            <a:avLst>
              <a:gd name="adj" fmla="val 50000"/>
            </a:avLst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5:node-text"/>
          <p:cNvSpPr txBox="1"/>
          <p:nvPr/>
        </p:nvSpPr>
        <p:spPr>
          <a:xfrm>
            <a:off x="4278786" y="3830237"/>
            <a:ext cx="1421274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STAT3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전사인자</a:t>
            </a:r>
          </a:p>
        </p:txBody>
      </p:sp>
      <p:sp>
        <p:nvSpPr>
          <p:cNvPr id="18" name="res-05:node"/>
          <p:cNvSpPr/>
          <p:nvPr/>
        </p:nvSpPr>
        <p:spPr>
          <a:xfrm>
            <a:off x="4134786" y="4849610"/>
            <a:ext cx="1709274" cy="6953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s-05:node-text"/>
          <p:cNvSpPr txBox="1"/>
          <p:nvPr/>
        </p:nvSpPr>
        <p:spPr>
          <a:xfrm>
            <a:off x="4278786" y="4849610"/>
            <a:ext cx="1421274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염증 유전자 발현</a:t>
            </a:r>
          </a:p>
        </p:txBody>
      </p:sp>
      <p:sp>
        <p:nvSpPr>
          <p:cNvPr id="20" name="res-05:node"/>
          <p:cNvSpPr/>
          <p:nvPr/>
        </p:nvSpPr>
        <p:spPr>
          <a:xfrm>
            <a:off x="6348060" y="2810864"/>
            <a:ext cx="1709274" cy="695373"/>
          </a:xfrm>
          <a:prstGeom prst="roundRect">
            <a:avLst>
              <a:gd name="adj" fmla="val 50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s-05:node-text"/>
          <p:cNvSpPr txBox="1"/>
          <p:nvPr/>
        </p:nvSpPr>
        <p:spPr>
          <a:xfrm>
            <a:off x="6492060" y="2810864"/>
            <a:ext cx="1421274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후보 약물 A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이번 연구</a:t>
            </a:r>
          </a:p>
        </p:txBody>
      </p:sp>
      <p:cxnSp>
        <p:nvCxnSpPr>
          <p:cNvPr id="22" name="res-05:legend"/>
          <p:cNvCxnSpPr/>
          <p:nvPr/>
        </p:nvCxnSpPr>
        <p:spPr>
          <a:xfrm>
            <a:off x="4960019" y="5995965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s-05:legend-text"/>
          <p:cNvSpPr txBox="1"/>
          <p:nvPr/>
        </p:nvSpPr>
        <p:spPr>
          <a:xfrm>
            <a:off x="5356019" y="5904982"/>
            <a:ext cx="738340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알려진 경로</a:t>
            </a:r>
          </a:p>
        </p:txBody>
      </p:sp>
      <p:cxnSp>
        <p:nvCxnSpPr>
          <p:cNvPr id="24" name="res-05:legend"/>
          <p:cNvCxnSpPr/>
          <p:nvPr/>
        </p:nvCxnSpPr>
        <p:spPr>
          <a:xfrm>
            <a:off x="6310359" y="5995965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s-05:legend-text"/>
          <p:cNvSpPr txBox="1"/>
          <p:nvPr/>
        </p:nvSpPr>
        <p:spPr>
          <a:xfrm>
            <a:off x="6706359" y="5904982"/>
            <a:ext cx="611706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가설 경로</a:t>
            </a:r>
          </a:p>
        </p:txBody>
      </p:sp>
      <p:cxnSp>
        <p:nvCxnSpPr>
          <p:cNvPr id="26" name="res-05:legend"/>
          <p:cNvCxnSpPr/>
          <p:nvPr/>
        </p:nvCxnSpPr>
        <p:spPr>
          <a:xfrm>
            <a:off x="7534066" y="5995965"/>
            <a:ext cx="324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s-05:legend"/>
          <p:cNvCxnSpPr/>
          <p:nvPr/>
        </p:nvCxnSpPr>
        <p:spPr>
          <a:xfrm>
            <a:off x="7858066" y="5931165"/>
            <a:ext cx="0" cy="12960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s-05:legend-text"/>
          <p:cNvSpPr txBox="1"/>
          <p:nvPr/>
        </p:nvSpPr>
        <p:spPr>
          <a:xfrm>
            <a:off x="7930066" y="5904982"/>
            <a:ext cx="325268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억제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간 신호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M2 대식세포가 섬유모세포를 깨워 섬유화를 만든다</a:t>
            </a:r>
          </a:p>
        </p:txBody>
      </p:sp>
      <p:cxnSp>
        <p:nvCxnSpPr>
          <p:cNvPr id="5" name="res-05:edge"/>
          <p:cNvCxnSpPr/>
          <p:nvPr/>
        </p:nvCxnSpPr>
        <p:spPr>
          <a:xfrm>
            <a:off x="2886299" y="3022068"/>
            <a:ext cx="2282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s-05:edge-label"/>
          <p:cNvSpPr txBox="1"/>
          <p:nvPr/>
        </p:nvSpPr>
        <p:spPr>
          <a:xfrm>
            <a:off x="3846865" y="2783942"/>
            <a:ext cx="361268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분화</a:t>
            </a:r>
          </a:p>
        </p:txBody>
      </p:sp>
      <p:cxnSp>
        <p:nvCxnSpPr>
          <p:cNvPr id="7" name="res-05:edge"/>
          <p:cNvCxnSpPr/>
          <p:nvPr/>
        </p:nvCxnSpPr>
        <p:spPr>
          <a:xfrm>
            <a:off x="7023421" y="3022068"/>
            <a:ext cx="2282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s-05:edge-label"/>
          <p:cNvSpPr txBox="1"/>
          <p:nvPr/>
        </p:nvSpPr>
        <p:spPr>
          <a:xfrm>
            <a:off x="7763445" y="2783942"/>
            <a:ext cx="802352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TGF-β 분비</a:t>
            </a:r>
          </a:p>
        </p:txBody>
      </p:sp>
      <p:sp>
        <p:nvSpPr>
          <p:cNvPr id="9" name="res-05:node"/>
          <p:cNvSpPr/>
          <p:nvPr/>
        </p:nvSpPr>
        <p:spPr>
          <a:xfrm>
            <a:off x="1060376" y="2507268"/>
            <a:ext cx="1797123" cy="1029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s-05:node-text"/>
          <p:cNvSpPr txBox="1"/>
          <p:nvPr/>
        </p:nvSpPr>
        <p:spPr>
          <a:xfrm>
            <a:off x="1329944" y="2507268"/>
            <a:ext cx="1257986" cy="102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단핵구</a:t>
            </a:r>
          </a:p>
        </p:txBody>
      </p:sp>
      <p:sp>
        <p:nvSpPr>
          <p:cNvPr id="11" name="res-05:node"/>
          <p:cNvSpPr/>
          <p:nvPr/>
        </p:nvSpPr>
        <p:spPr>
          <a:xfrm>
            <a:off x="5197499" y="2507268"/>
            <a:ext cx="1797123" cy="10296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5:node-text"/>
          <p:cNvSpPr txBox="1"/>
          <p:nvPr/>
        </p:nvSpPr>
        <p:spPr>
          <a:xfrm>
            <a:off x="5467067" y="2507268"/>
            <a:ext cx="1257986" cy="102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M2 대식세포</a:t>
            </a:r>
          </a:p>
        </p:txBody>
      </p:sp>
      <p:sp>
        <p:nvSpPr>
          <p:cNvPr id="13" name="res-05:node"/>
          <p:cNvSpPr/>
          <p:nvPr/>
        </p:nvSpPr>
        <p:spPr>
          <a:xfrm>
            <a:off x="9334621" y="2507268"/>
            <a:ext cx="1797123" cy="1029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5:node-text"/>
          <p:cNvSpPr txBox="1"/>
          <p:nvPr/>
        </p:nvSpPr>
        <p:spPr>
          <a:xfrm>
            <a:off x="9604190" y="2507268"/>
            <a:ext cx="1257986" cy="102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활성 섬유모세포</a:t>
            </a:r>
          </a:p>
        </p:txBody>
      </p:sp>
      <p:cxnSp>
        <p:nvCxnSpPr>
          <p:cNvPr id="15" name="conclusion:line"/>
          <p:cNvCxnSpPr/>
          <p:nvPr/>
        </p:nvCxnSpPr>
        <p:spPr>
          <a:xfrm>
            <a:off x="468000" y="37528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clusion:text"/>
          <p:cNvSpPr txBox="1"/>
          <p:nvPr/>
        </p:nvSpPr>
        <p:spPr>
          <a:xfrm>
            <a:off x="468000" y="39508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세 단계 모두 기존 보고로 확인된 경로다. 이번 연구는 둘째 단계의 TGF-β 양을 환자 조직에서 잰다.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