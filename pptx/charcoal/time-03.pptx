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3차년도 상반기에 생존 분석을 마쳐요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682181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1988181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240181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258181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258181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25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398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72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72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866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19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194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334581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662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662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802581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130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130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270581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598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598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738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066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066181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206581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534181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ime-03:ms-label"/>
          <p:cNvSpPr txBox="1"/>
          <p:nvPr/>
        </p:nvSpPr>
        <p:spPr>
          <a:xfrm>
            <a:off x="468000" y="5678181"/>
            <a:ext cx="2670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마일스톤</a:t>
            </a:r>
          </a:p>
        </p:txBody>
      </p:sp>
      <p:sp>
        <p:nvSpPr>
          <p:cNvPr id="56" name="time-03:milestone"/>
          <p:cNvSpPr txBox="1"/>
          <p:nvPr/>
        </p:nvSpPr>
        <p:spPr>
          <a:xfrm>
            <a:off x="333603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대상자 모집 완료</a:t>
            </a:r>
          </a:p>
        </p:txBody>
      </p:sp>
      <p:sp>
        <p:nvSpPr>
          <p:cNvPr id="57" name="time-03:milestone"/>
          <p:cNvSpPr txBox="1"/>
          <p:nvPr/>
        </p:nvSpPr>
        <p:spPr>
          <a:xfrm>
            <a:off x="615006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추적 관찰 종료</a:t>
            </a:r>
          </a:p>
        </p:txBody>
      </p:sp>
      <p:sp>
        <p:nvSpPr>
          <p:cNvPr id="58" name="time-03:milestone"/>
          <p:cNvSpPr txBox="1"/>
          <p:nvPr/>
        </p:nvSpPr>
        <p:spPr>
          <a:xfrm>
            <a:off x="8964090" y="5678181"/>
            <a:ext cx="2706030" cy="227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0" spc="-40">
                <a:solidFill>
                  <a:srgbClr val="262B33"/>
                </a:solidFill>
              </a:rPr>
              <a:t>생존 분석 · 논문 투고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연차별 추진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과제 일곱 개를 진행해요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806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112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364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382000"/>
            <a:ext cx="0" cy="3276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382000"/>
            <a:ext cx="0" cy="3276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38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대상자 모집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52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285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기저 검체 수집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2990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31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31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12개월 추적 관찰</a:t>
            </a:r>
          </a:p>
        </p:txBody>
      </p:sp>
      <p:sp>
        <p:nvSpPr>
          <p:cNvPr id="41" name="time-03:bar"/>
          <p:cNvSpPr/>
          <p:nvPr/>
        </p:nvSpPr>
        <p:spPr>
          <a:xfrm>
            <a:off x="4014338" y="3458400"/>
            <a:ext cx="486695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78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78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바이오마커 측정</a:t>
            </a:r>
          </a:p>
        </p:txBody>
      </p:sp>
      <p:sp>
        <p:nvSpPr>
          <p:cNvPr id="44" name="time-03:bar"/>
          <p:cNvSpPr/>
          <p:nvPr/>
        </p:nvSpPr>
        <p:spPr>
          <a:xfrm>
            <a:off x="6124860" y="392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25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25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데이터 정제</a:t>
            </a:r>
          </a:p>
        </p:txBody>
      </p:sp>
      <p:sp>
        <p:nvSpPr>
          <p:cNvPr id="47" name="time-03:bar"/>
          <p:cNvSpPr/>
          <p:nvPr/>
        </p:nvSpPr>
        <p:spPr>
          <a:xfrm>
            <a:off x="7531875" y="4394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72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72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생존 분석</a:t>
            </a:r>
          </a:p>
        </p:txBody>
      </p:sp>
      <p:sp>
        <p:nvSpPr>
          <p:cNvPr id="50" name="time-03:bar"/>
          <p:cNvSpPr/>
          <p:nvPr/>
        </p:nvSpPr>
        <p:spPr>
          <a:xfrm>
            <a:off x="8938890" y="4862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19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me-03:name"/>
          <p:cNvSpPr txBox="1"/>
          <p:nvPr/>
        </p:nvSpPr>
        <p:spPr>
          <a:xfrm>
            <a:off x="468000" y="519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작성</a:t>
            </a:r>
          </a:p>
        </p:txBody>
      </p:sp>
      <p:sp>
        <p:nvSpPr>
          <p:cNvPr id="53" name="time-03:bar"/>
          <p:cNvSpPr/>
          <p:nvPr/>
        </p:nvSpPr>
        <p:spPr>
          <a:xfrm>
            <a:off x="9642397" y="533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4" name="time-03:row-rule"/>
          <p:cNvCxnSpPr/>
          <p:nvPr/>
        </p:nvCxnSpPr>
        <p:spPr>
          <a:xfrm>
            <a:off x="468000" y="565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