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(logic-03-a).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(logic-03-b).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ADA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ADA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연구 필요성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왜 메타게놈 분석이 필요할까요?</a:t>
            </a:r>
          </a:p>
        </p:txBody>
      </p:sp>
      <p:sp>
        <p:nvSpPr>
          <p:cNvPr id="5" name="logic-03:row"/>
          <p:cNvSpPr/>
          <p:nvPr/>
        </p:nvSpPr>
        <p:spPr>
          <a:xfrm>
            <a:off x="468000" y="2118000"/>
            <a:ext cx="11256120" cy="75272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logic-03:marker"/>
          <p:cNvSpPr/>
          <p:nvPr/>
        </p:nvSpPr>
        <p:spPr>
          <a:xfrm>
            <a:off x="648000" y="2350364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F3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F343B"/>
                </a:solidFill>
              </a:rPr>
              <a:t>1</a:t>
            </a:r>
          </a:p>
        </p:txBody>
      </p:sp>
      <p:sp>
        <p:nvSpPr>
          <p:cNvPr id="7" name="logic-03:label"/>
          <p:cNvSpPr txBox="1"/>
          <p:nvPr/>
        </p:nvSpPr>
        <p:spPr>
          <a:xfrm>
            <a:off x="1044000" y="2118000"/>
            <a:ext cx="115200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배경</a:t>
            </a:r>
          </a:p>
        </p:txBody>
      </p:sp>
      <p:sp>
        <p:nvSpPr>
          <p:cNvPr id="8" name="logic-03:text"/>
          <p:cNvSpPr txBox="1"/>
          <p:nvPr/>
        </p:nvSpPr>
        <p:spPr>
          <a:xfrm>
            <a:off x="2268000" y="2118000"/>
            <a:ext cx="924012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262B33"/>
                </a:solidFill>
              </a:rPr>
              <a:t>장내 미생물 구성은 대장암 위험과 연관된다</a:t>
            </a:r>
          </a:p>
        </p:txBody>
      </p:sp>
      <p:cxnSp>
        <p:nvCxnSpPr>
          <p:cNvPr id="9" name="logic-03:link"/>
          <p:cNvCxnSpPr/>
          <p:nvPr/>
        </p:nvCxnSpPr>
        <p:spPr>
          <a:xfrm>
            <a:off x="792000" y="2870727"/>
            <a:ext cx="0" cy="216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ogic-03:row"/>
          <p:cNvSpPr/>
          <p:nvPr/>
        </p:nvSpPr>
        <p:spPr>
          <a:xfrm>
            <a:off x="468000" y="3086727"/>
            <a:ext cx="11256120" cy="75272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logic-03:marker"/>
          <p:cNvSpPr/>
          <p:nvPr/>
        </p:nvSpPr>
        <p:spPr>
          <a:xfrm>
            <a:off x="648000" y="3319091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F3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F343B"/>
                </a:solidFill>
              </a:rPr>
              <a:t>2</a:t>
            </a:r>
          </a:p>
        </p:txBody>
      </p:sp>
      <p:sp>
        <p:nvSpPr>
          <p:cNvPr id="12" name="logic-03:label"/>
          <p:cNvSpPr txBox="1"/>
          <p:nvPr/>
        </p:nvSpPr>
        <p:spPr>
          <a:xfrm>
            <a:off x="1044000" y="3086727"/>
            <a:ext cx="115200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한계</a:t>
            </a:r>
          </a:p>
        </p:txBody>
      </p:sp>
      <p:sp>
        <p:nvSpPr>
          <p:cNvPr id="13" name="logic-03:text"/>
          <p:cNvSpPr txBox="1"/>
          <p:nvPr/>
        </p:nvSpPr>
        <p:spPr>
          <a:xfrm>
            <a:off x="2268000" y="3086727"/>
            <a:ext cx="924012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262B33"/>
                </a:solidFill>
              </a:rPr>
              <a:t>16S 분석은 균주 수준의 기능을 구분하지 못한다</a:t>
            </a:r>
          </a:p>
        </p:txBody>
      </p:sp>
      <p:cxnSp>
        <p:nvCxnSpPr>
          <p:cNvPr id="14" name="logic-03:link"/>
          <p:cNvCxnSpPr/>
          <p:nvPr/>
        </p:nvCxnSpPr>
        <p:spPr>
          <a:xfrm>
            <a:off x="792000" y="3839455"/>
            <a:ext cx="0" cy="216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logic-03:row"/>
          <p:cNvSpPr/>
          <p:nvPr/>
        </p:nvSpPr>
        <p:spPr>
          <a:xfrm>
            <a:off x="468000" y="4055455"/>
            <a:ext cx="11256120" cy="978545"/>
          </a:xfrm>
          <a:prstGeom prst="rect">
            <a:avLst/>
          </a:prstGeom>
          <a:solidFill>
            <a:srgbClr val="2F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logic-03:marker"/>
          <p:cNvSpPr/>
          <p:nvPr/>
        </p:nvSpPr>
        <p:spPr>
          <a:xfrm>
            <a:off x="648000" y="4400727"/>
            <a:ext cx="288000" cy="288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F343B"/>
                </a:solidFill>
              </a:rPr>
              <a:t>3</a:t>
            </a:r>
          </a:p>
        </p:txBody>
      </p:sp>
      <p:sp>
        <p:nvSpPr>
          <p:cNvPr id="17" name="logic-03:label"/>
          <p:cNvSpPr txBox="1"/>
          <p:nvPr/>
        </p:nvSpPr>
        <p:spPr>
          <a:xfrm>
            <a:off x="1044000" y="4055455"/>
            <a:ext cx="1152000" cy="9785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FFFFFF"/>
                </a:solidFill>
              </a:rPr>
              <a:t>목표</a:t>
            </a:r>
          </a:p>
        </p:txBody>
      </p:sp>
      <p:sp>
        <p:nvSpPr>
          <p:cNvPr id="18" name="logic-03:text"/>
          <p:cNvSpPr txBox="1"/>
          <p:nvPr/>
        </p:nvSpPr>
        <p:spPr>
          <a:xfrm>
            <a:off x="2268000" y="4055455"/>
            <a:ext cx="9240120" cy="9785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800" b="1" spc="-40">
                <a:solidFill>
                  <a:srgbClr val="FFFFFF"/>
                </a:solidFill>
              </a:rPr>
              <a:t>메타게놈으로 대장암 관련 균주의 기능 유전자를 규명한다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연구 필요성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왜 공간전사체가 필요할까요?</a:t>
            </a:r>
          </a:p>
        </p:txBody>
      </p:sp>
      <p:sp>
        <p:nvSpPr>
          <p:cNvPr id="5" name="logic-03:row"/>
          <p:cNvSpPr/>
          <p:nvPr/>
        </p:nvSpPr>
        <p:spPr>
          <a:xfrm>
            <a:off x="468000" y="1656011"/>
            <a:ext cx="11256120" cy="117271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logic-03:marker"/>
          <p:cNvSpPr/>
          <p:nvPr/>
        </p:nvSpPr>
        <p:spPr>
          <a:xfrm>
            <a:off x="648000" y="2098369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F3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F343B"/>
                </a:solidFill>
              </a:rPr>
              <a:t>1</a:t>
            </a:r>
          </a:p>
        </p:txBody>
      </p:sp>
      <p:sp>
        <p:nvSpPr>
          <p:cNvPr id="7" name="logic-03:label"/>
          <p:cNvSpPr txBox="1"/>
          <p:nvPr/>
        </p:nvSpPr>
        <p:spPr>
          <a:xfrm>
            <a:off x="1044000" y="1656011"/>
            <a:ext cx="1152000" cy="117271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배경</a:t>
            </a:r>
          </a:p>
        </p:txBody>
      </p:sp>
      <p:sp>
        <p:nvSpPr>
          <p:cNvPr id="8" name="logic-03:text"/>
          <p:cNvSpPr txBox="1"/>
          <p:nvPr/>
        </p:nvSpPr>
        <p:spPr>
          <a:xfrm>
            <a:off x="2268000" y="1656011"/>
            <a:ext cx="9240120" cy="117271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262B33"/>
                </a:solidFill>
              </a:rPr>
              <a:t>단일세포 RNA-seq으로 종양 속 세포 유형을 나눌 수 있다</a:t>
            </a:r>
          </a:p>
          <a:p>
            <a:pPr algn="l">
              <a:lnSpc>
                <a:spcPct val="135000"/>
              </a:lnSpc>
              <a:spcBef>
                <a:spcPts val="400"/>
              </a:spcBef>
            </a:pPr>
            <a:r>
              <a:rPr sz="1400" b="0" spc="-40">
                <a:solidFill>
                  <a:srgbClr val="262B33"/>
                </a:solidFill>
              </a:rPr>
              <a:t>면역세포 구성은 치료 반응과 관련된다</a:t>
            </a:r>
          </a:p>
        </p:txBody>
      </p:sp>
      <p:cxnSp>
        <p:nvCxnSpPr>
          <p:cNvPr id="9" name="logic-03:link"/>
          <p:cNvCxnSpPr/>
          <p:nvPr/>
        </p:nvCxnSpPr>
        <p:spPr>
          <a:xfrm>
            <a:off x="792000" y="2828728"/>
            <a:ext cx="0" cy="216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ogic-03:row"/>
          <p:cNvSpPr/>
          <p:nvPr/>
        </p:nvSpPr>
        <p:spPr>
          <a:xfrm>
            <a:off x="468000" y="3044728"/>
            <a:ext cx="11256120" cy="117271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logic-03:marker"/>
          <p:cNvSpPr/>
          <p:nvPr/>
        </p:nvSpPr>
        <p:spPr>
          <a:xfrm>
            <a:off x="648000" y="3487086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F3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F343B"/>
                </a:solidFill>
              </a:rPr>
              <a:t>2</a:t>
            </a:r>
          </a:p>
        </p:txBody>
      </p:sp>
      <p:sp>
        <p:nvSpPr>
          <p:cNvPr id="12" name="logic-03:label"/>
          <p:cNvSpPr txBox="1"/>
          <p:nvPr/>
        </p:nvSpPr>
        <p:spPr>
          <a:xfrm>
            <a:off x="1044000" y="3044728"/>
            <a:ext cx="1152000" cy="117271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한계</a:t>
            </a:r>
          </a:p>
        </p:txBody>
      </p:sp>
      <p:sp>
        <p:nvSpPr>
          <p:cNvPr id="13" name="logic-03:text"/>
          <p:cNvSpPr txBox="1"/>
          <p:nvPr/>
        </p:nvSpPr>
        <p:spPr>
          <a:xfrm>
            <a:off x="2268000" y="3044728"/>
            <a:ext cx="9240120" cy="117271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262B33"/>
                </a:solidFill>
              </a:rPr>
              <a:t>세포가 조직의 어디에 있었는지는 알 수 없다</a:t>
            </a:r>
          </a:p>
        </p:txBody>
      </p:sp>
      <p:cxnSp>
        <p:nvCxnSpPr>
          <p:cNvPr id="14" name="logic-03:link"/>
          <p:cNvCxnSpPr/>
          <p:nvPr/>
        </p:nvCxnSpPr>
        <p:spPr>
          <a:xfrm>
            <a:off x="792000" y="4217445"/>
            <a:ext cx="0" cy="216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logic-03:row"/>
          <p:cNvSpPr/>
          <p:nvPr/>
        </p:nvSpPr>
        <p:spPr>
          <a:xfrm>
            <a:off x="468000" y="4433445"/>
            <a:ext cx="11256120" cy="1524532"/>
          </a:xfrm>
          <a:prstGeom prst="rect">
            <a:avLst/>
          </a:prstGeom>
          <a:solidFill>
            <a:srgbClr val="2F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logic-03:marker"/>
          <p:cNvSpPr/>
          <p:nvPr/>
        </p:nvSpPr>
        <p:spPr>
          <a:xfrm>
            <a:off x="648000" y="5051711"/>
            <a:ext cx="288000" cy="288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F343B"/>
                </a:solidFill>
              </a:rPr>
              <a:t>3</a:t>
            </a:r>
          </a:p>
        </p:txBody>
      </p:sp>
      <p:sp>
        <p:nvSpPr>
          <p:cNvPr id="17" name="logic-03:label"/>
          <p:cNvSpPr txBox="1"/>
          <p:nvPr/>
        </p:nvSpPr>
        <p:spPr>
          <a:xfrm>
            <a:off x="1044000" y="4433445"/>
            <a:ext cx="1152000" cy="15245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FFFFFF"/>
                </a:solidFill>
              </a:rPr>
              <a:t>목표</a:t>
            </a:r>
          </a:p>
        </p:txBody>
      </p:sp>
      <p:sp>
        <p:nvSpPr>
          <p:cNvPr id="18" name="logic-03:text"/>
          <p:cNvSpPr txBox="1"/>
          <p:nvPr/>
        </p:nvSpPr>
        <p:spPr>
          <a:xfrm>
            <a:off x="2268000" y="4433445"/>
            <a:ext cx="9240120" cy="15245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800" b="1" spc="-40">
                <a:solidFill>
                  <a:srgbClr val="FFFFFF"/>
                </a:solidFill>
              </a:rPr>
              <a:t>공간전사체로 면역세포가 종양 경계에 모이는지 확인한다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차콜 클린 16:9">
  <a:themeElements>
    <a:clrScheme name="HaLab 차콜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2F343B"/>
      </a:accent1>
      <a:accent2>
        <a:srgbClr val="787B80"/>
      </a:accent2>
      <a:accent3>
        <a:srgbClr val="ACAEB1"/>
      </a:accent3>
      <a:accent4>
        <a:srgbClr val="E5484D"/>
      </a:accent4>
      <a:accent5>
        <a:srgbClr val="ACAEB1"/>
      </a:accent5>
      <a:accent6>
        <a:srgbClr val="E2E5EA"/>
      </a:accent6>
      <a:hlink>
        <a:srgbClr val="2F343B"/>
      </a:hlink>
      <a:folHlink>
        <a:srgbClr val="ACAEB1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