
<file path=[Content_Types].xml><?xml version="1.0" encoding="utf-8"?>
<Types xmlns="http://schemas.openxmlformats.org/package/2006/content-types"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6"/>
    <p:sldId id="257" r:id="rId8"/>
    <p:sldId id="258" r:id="rId9"/>
  </p:sldIdLst>
  <p:sldSz cx="12192000" cy="6858000"/>
  <p:notesSz cx="6858000" cy="9144000"/>
  <p:defaultTextStyle>
    <a:defPPr marL="0" indent="0" algn="l">
      <a:lnSpc>
        <a:spcPct val="100000"/>
      </a:lnSpc>
      <a:spcBef>
        <a:spcPts val="0"/>
      </a:spcBef>
      <a:buNone/>
      <a:defRPr lang="ko-KR" sz="1800" b="0" kern="0" spc="-40">
        <a:solidFill>
          <a:schemeClr val="tx1"/>
        </a:solidFill>
        <a:latin typeface="+mn-lt"/>
        <a:ea typeface="+mn-ea"/>
      </a:defRPr>
    </a:defPPr>
  </p:defaultTextStyle>
  <p:extLst>
    <p:ext uri="{EFAFB233-063F-42B5-8137-9DF3F51BA10A}">
      <p15:sldGuideLst xmlns:p15="http://schemas.microsoft.com/office/powerpoint/2012/main">
        <p15:guide id="1" pos="295">
          <p15:clr>
            <a:srgbClr val="F26B43"/>
          </p15:clr>
        </p15:guide>
        <p15:guide id="2" pos="7385">
          <p15:clr>
            <a:srgbClr val="F26B43"/>
          </p15:clr>
        </p15:guide>
        <p15:guide id="3" orient="horz" pos="295">
          <p15:clr>
            <a:srgbClr val="F26B43"/>
          </p15:clr>
        </p15:guide>
        <p15:guide id="4" orient="horz" pos="4025">
          <p15:clr>
            <a:srgbClr val="F26B43"/>
          </p15:clr>
        </p15:guide>
        <p15:guide id="5" orient="horz" pos="862">
          <p15:clr>
            <a:srgbClr val="F26B43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3C2E1A5B-7D4F-4B8E-9A61-2F0C5D8E7B14}">
  <a:tblStyle styleId="{3C2E1A5B-7D4F-4B8E-9A61-2F0C5D8E7B14}" styleName="HaLab 가로선 표">
    <a:wholeTbl>
      <a:tcTxStyle>
        <a:fontRef idx="minor"/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6350">
              <a:solidFill>
                <a:schemeClr val="accent6"/>
              </a:solidFill>
            </a:ln>
          </a:top>
          <a:bottom>
            <a:ln w="6350">
              <a:solidFill>
                <a:schemeClr val="accent6"/>
              </a:solidFill>
            </a:ln>
          </a:bottom>
          <a:insideH>
            <a:ln w="6350">
              <a:solidFill>
                <a:schemeClr val="accent6"/>
              </a:solidFill>
            </a:ln>
          </a:insideH>
          <a:insideV>
            <a:ln>
              <a:noFill/>
            </a:ln>
          </a:insideV>
        </a:tcBdr>
        <a:fill>
          <a:noFill/>
        </a:fill>
      </a:tcStyle>
    </a:wholeTbl>
    <a:firstRow>
      <a:tcTxStyle b="on">
        <a:fontRef idx="minor"/>
        <a:schemeClr val="tx1"/>
      </a:tcTxStyle>
      <a:tcStyle>
        <a:tcBdr>
          <a:top>
            <a:ln w="12700">
              <a:solidFill>
                <a:schemeClr val="tx1"/>
              </a:solidFill>
            </a:ln>
          </a:top>
          <a:bottom>
            <a:ln w="9525">
              <a:solidFill>
                <a:schemeClr val="tx2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상대 발현</c:v>
                </c:pt>
              </c:strCache>
            </c:strRef>
          </c:tx>
          <c:spPr>
            <a:solidFill>
              <a:srgbClr val="AEB1B9"/>
            </a:solidFill>
            <a:ln>
              <a:noFill/>
            </a:ln>
          </c:spPr>
          <c:dPt>
            <c:idx val="2"/>
            <c:spPr>
              <a:solidFill>
                <a:srgbClr val="2F343B"/>
              </a:solidFill>
            </c:spPr>
          </c:dPt>
          <c:dLbls>
            <c:dLbl>
              <c:idx val="2"/>
              <c:tx>
                <c:rich>
                  <a:bodyPr/>
                  <a:lstStyle/>
                  <a:p>
                    <a:r>
                      <a:rPr sz="2400" b="1">
                        <a:solidFill>
                          <a:srgbClr val="2F343B"/>
                        </a:solidFill>
                        <a:latin typeface="Pretendard"/>
                      </a:rPr>
                      <a:t>3.2배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</c:dLbl>
            <c:showLegendKey val="0"/>
            <c:showVal val="0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Sheet1!$A$2:$A$4</c:f>
              <c:strCache>
                <c:ptCount val="3"/>
                <c:pt idx="0">
                  <c:v>정상 조직</c:v>
                </c:pt>
                <c:pt idx="1">
                  <c:v>종양 내부</c:v>
                </c:pt>
                <c:pt idx="2">
                  <c:v>종양 경계부</c:v>
                </c:pt>
              </c:strCache>
            </c:strRef>
          </c:cat>
          <c:val>
            <c:numRef>
              <c:f>Sheet1!$B$2:$B$4</c:f>
              <c:numCache>
                <c:formatCode>0.0</c:formatCode>
                <c:ptCount val="3"/>
                <c:pt idx="0">
                  <c:v>0.8</c:v>
                </c:pt>
                <c:pt idx="1">
                  <c:v>1.0</c:v>
                </c:pt>
                <c:pt idx="2">
                  <c:v>3.2</c:v>
                </c:pt>
              </c:numCache>
            </c:numRef>
          </c:val>
        </c:ser>
        <c:gapWidth val="70"/>
        <c:axId val="2068027336"/>
        <c:axId val="2113994440"/>
      </c:barChart>
      <c:catAx>
        <c:axId val="2068027336"/>
        <c:scaling>
          <c:orientation val="minMax"/>
        </c:scaling>
        <c:delete val="0"/>
        <c:axPos val="b"/>
        <c:majorTickMark val="none"/>
        <c:minorTickMark val="none"/>
        <c:tickLblPos val="nextTo"/>
        <c:spPr>
          <a:ln>
            <a:solidFill>
              <a:srgbClr val="E2E5EA"/>
            </a:solidFill>
          </a:ln>
        </c:spPr>
        <c:txPr>
          <a:bodyPr/>
          <a:lstStyle/>
          <a:p>
            <a:pPr>
              <a:defRPr sz="1200" b="0">
                <a:solidFill>
                  <a:srgbClr val="262B33"/>
                </a:solidFill>
                <a:latin typeface="Pretendard"/>
              </a:defRPr>
            </a:pPr>
          </a:p>
        </c:txPr>
        <c:crossAx val="2113994440"/>
        <c:crosses val="autoZero"/>
        <c:auto val="1"/>
        <c:lblAlgn val="ctr"/>
        <c:lblOffset val="100"/>
        <c:noMultiLvlLbl val="0"/>
      </c:catAx>
      <c:valAx>
        <c:axId val="2113994440"/>
        <c:scaling/>
        <c:delete val="0"/>
        <c:axPos val="l"/>
        <c:majorGridlines>
          <c:spPr>
            <a:ln w="6350">
              <a:solidFill>
                <a:srgbClr val="E2E5EA"/>
              </a:solidFill>
            </a:ln>
          </c:spPr>
        </c:majorGridlines>
        <c:title>
          <c:tx>
            <c:rich>
              <a:bodyPr/>
              <a:lstStyle/>
              <a:p>
                <a:r>
                  <a:rPr sz="1200" b="0">
                    <a:solidFill>
                      <a:srgbClr val="6B7280"/>
                    </a:solidFill>
                    <a:latin typeface="Pretendard"/>
                  </a:rPr>
                  <a:t>상대 발현 (종양 내부 = 1)</a:t>
                </a:r>
              </a:p>
            </c:rich>
          </c:tx>
          <c:layout/>
          <c:overlay val="0"/>
        </c:title>
        <c:numFmt formatCode="0.0" sourceLinked="0"/>
        <c:majorTickMark val="none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200" b="0">
                <a:solidFill>
                  <a:srgbClr val="6B7280"/>
                </a:solidFill>
                <a:latin typeface="Pretendard"/>
              </a:defRPr>
            </a:pPr>
          </a:p>
        </c:txPr>
        <c:crossAx val="2068027336"/>
        <c:crosses val="autoZero"/>
      </c:valAx>
    </c:plotArea>
    <c:dispBlanksAs val="gap"/>
  </c:chart>
  <c:txPr>
    <a:bodyPr/>
    <a:lstStyle/>
    <a:p>
      <a:pPr>
        <a:defRPr sz="1200" b="0">
          <a:solidFill>
            <a:srgbClr val="6B7280"/>
          </a:solidFill>
          <a:latin typeface="Pretendard"/>
        </a:defRPr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환자군</c:v>
                </c:pt>
              </c:strCache>
            </c:strRef>
          </c:tx>
          <c:spPr>
            <a:solidFill>
              <a:srgbClr val="AEB1B9"/>
            </a:solidFill>
            <a:ln>
              <a:noFill/>
            </a:ln>
          </c:spPr>
          <c:dPt>
            <c:idx val="1"/>
            <c:spPr>
              <a:solidFill>
                <a:srgbClr val="2F343B"/>
              </a:solidFill>
            </c:spPr>
          </c:dPt>
          <c:dLbls>
            <c:dLbl>
              <c:idx val="1"/>
              <c:tx>
                <c:rich>
                  <a:bodyPr/>
                  <a:lstStyle/>
                  <a:p>
                    <a:r>
                      <a:rPr sz="2400" b="1">
                        <a:solidFill>
                          <a:srgbClr val="2F343B"/>
                        </a:solidFill>
                        <a:latin typeface="Pretendard"/>
                      </a:rPr>
                      <a:t>31%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</c:dLbl>
            <c:showLegendKey val="0"/>
            <c:showVal val="0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Sheet1!$A$2:$A$5</c:f>
              <c:strCache>
                <c:ptCount val="4"/>
                <c:pt idx="0">
                  <c:v>섬유아세포</c:v>
                </c:pt>
                <c:pt idx="1">
                  <c:v>대식세포</c:v>
                </c:pt>
                <c:pt idx="2">
                  <c:v>B세포</c:v>
                </c:pt>
                <c:pt idx="3">
                  <c:v>T세포</c:v>
                </c:pt>
              </c:strCache>
            </c:strRef>
          </c:cat>
          <c:val>
            <c:numRef>
              <c:f>Sheet1!$B$2:$B$5</c:f>
              <c:numCache>
                <c:formatCode>0</c:formatCode>
                <c:ptCount val="4"/>
                <c:pt idx="0">
                  <c:v>18</c:v>
                </c:pt>
                <c:pt idx="1">
                  <c:v>31</c:v>
                </c:pt>
                <c:pt idx="2">
                  <c:v>9</c:v>
                </c:pt>
                <c:pt idx="3">
                  <c:v>22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대조군</c:v>
                </c:pt>
              </c:strCache>
            </c:strRef>
          </c:tx>
          <c:spPr>
            <a:solidFill>
              <a:srgbClr val="CBCED3"/>
            </a:solidFill>
            <a:ln>
              <a:noFill/>
            </a:ln>
          </c:spPr>
          <c:cat>
            <c:strRef>
              <c:f>Sheet1!$A$2:$A$5</c:f>
              <c:strCache>
                <c:ptCount val="4"/>
                <c:pt idx="0">
                  <c:v>섬유아세포</c:v>
                </c:pt>
                <c:pt idx="1">
                  <c:v>대식세포</c:v>
                </c:pt>
                <c:pt idx="2">
                  <c:v>B세포</c:v>
                </c:pt>
                <c:pt idx="3">
                  <c:v>T세포</c:v>
                </c:pt>
              </c:strCache>
            </c:strRef>
          </c:cat>
          <c:val>
            <c:numRef>
              <c:f>Sheet1!$C$2:$C$5</c:f>
              <c:numCache>
                <c:formatCode>0</c:formatCode>
                <c:ptCount val="4"/>
                <c:pt idx="0">
                  <c:v>17</c:v>
                </c:pt>
                <c:pt idx="1">
                  <c:v>21</c:v>
                </c:pt>
                <c:pt idx="2">
                  <c:v>11</c:v>
                </c:pt>
                <c:pt idx="3">
                  <c:v>28</c:v>
                </c:pt>
              </c:numCache>
            </c:numRef>
          </c:val>
        </c:ser>
        <c:gapWidth val="70"/>
        <c:overlap val="-10"/>
        <c:axId val="2068027336"/>
        <c:axId val="2113994440"/>
      </c:barChart>
      <c:catAx>
        <c:axId val="2068027336"/>
        <c:scaling>
          <c:orientation val="minMax"/>
        </c:scaling>
        <c:delete val="0"/>
        <c:axPos val="l"/>
        <c:majorTickMark val="none"/>
        <c:minorTickMark val="none"/>
        <c:tickLblPos val="nextTo"/>
        <c:spPr>
          <a:ln>
            <a:solidFill>
              <a:srgbClr val="E2E5EA"/>
            </a:solidFill>
          </a:ln>
        </c:spPr>
        <c:txPr>
          <a:bodyPr/>
          <a:lstStyle/>
          <a:p>
            <a:pPr>
              <a:defRPr sz="1200" b="0">
                <a:solidFill>
                  <a:srgbClr val="262B33"/>
                </a:solidFill>
                <a:latin typeface="Pretendard"/>
              </a:defRPr>
            </a:pPr>
          </a:p>
        </c:txPr>
        <c:crossAx val="2113994440"/>
        <c:crosses val="autoZero"/>
        <c:auto val="1"/>
        <c:lblAlgn val="ctr"/>
        <c:lblOffset val="100"/>
        <c:noMultiLvlLbl val="0"/>
      </c:catAx>
      <c:valAx>
        <c:axId val="2113994440"/>
        <c:scaling/>
        <c:delete val="0"/>
        <c:axPos val="b"/>
        <c:majorGridlines>
          <c:spPr>
            <a:ln w="6350">
              <a:solidFill>
                <a:srgbClr val="E2E5EA"/>
              </a:solidFill>
            </a:ln>
          </c:spPr>
        </c:majorGridlines>
        <c:title>
          <c:tx>
            <c:rich>
              <a:bodyPr/>
              <a:lstStyle/>
              <a:p>
                <a:r>
                  <a:rPr sz="1200" b="0">
                    <a:solidFill>
                      <a:srgbClr val="6B7280"/>
                    </a:solidFill>
                    <a:latin typeface="Pretendard"/>
                  </a:rPr>
                  <a:t>세포 비율 (%)</a:t>
                </a:r>
              </a:p>
            </c:rich>
          </c:tx>
          <c:layout/>
          <c:overlay val="0"/>
        </c:title>
        <c:numFmt formatCode="0" sourceLinked="0"/>
        <c:majorTickMark val="none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200" b="0">
                <a:solidFill>
                  <a:srgbClr val="6B7280"/>
                </a:solidFill>
                <a:latin typeface="Pretendard"/>
              </a:defRPr>
            </a:pPr>
          </a:p>
        </c:txPr>
        <c:crossAx val="2068027336"/>
        <c:crosses val="autoZero"/>
      </c:valAx>
    </c:plotArea>
    <c:legend>
      <c:legendPos val="t"/>
      <c:overlay val="0"/>
      <c:txPr>
        <a:bodyPr/>
        <a:lstStyle/>
        <a:p>
          <a:pPr>
            <a:defRPr sz="1200" b="0">
              <a:solidFill>
                <a:srgbClr val="6B7280"/>
              </a:solidFill>
              <a:latin typeface="Pretendard"/>
            </a:defRPr>
          </a:pPr>
        </a:p>
      </c:txPr>
    </c:legend>
    <c:dispBlanksAs val="gap"/>
  </c:chart>
  <c:txPr>
    <a:bodyPr/>
    <a:lstStyle/>
    <a:p>
      <a:pPr>
        <a:defRPr sz="1200" b="0">
          <a:solidFill>
            <a:srgbClr val="6B7280"/>
          </a:solidFill>
          <a:latin typeface="Pretendard"/>
        </a:defRPr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종양 크기</c:v>
                </c:pt>
              </c:strCache>
            </c:strRef>
          </c:tx>
          <c:spPr>
            <a:ln w="25400">
              <a:solidFill>
                <a:srgbClr val="AEB1B9"/>
              </a:solidFill>
            </a:ln>
          </c:spPr>
          <c:marker>
            <c:symbol val="circle"/>
            <c:size val="6"/>
            <c:spPr>
              <a:solidFill>
                <a:srgbClr val="AEB1B9"/>
              </a:solidFill>
              <a:ln>
                <a:solidFill>
                  <a:srgbClr val="AEB1B9"/>
                </a:solidFill>
              </a:ln>
            </c:spPr>
          </c:marker>
          <c:dPt>
            <c:idx val="4"/>
            <c:marker>
              <c:symbol val="circle"/>
              <c:size val="11"/>
              <c:spPr>
                <a:solidFill>
                  <a:srgbClr val="2F343B"/>
                </a:solidFill>
                <a:ln>
                  <a:solidFill>
                    <a:srgbClr val="2F343B"/>
                  </a:solidFill>
                </a:ln>
              </c:spPr>
            </c:marker>
            <c:spPr>
              <a:solidFill>
                <a:srgbClr val="2F343B"/>
              </a:solidFill>
            </c:spPr>
          </c:dPt>
          <c:dLbls>
            <c:dLbl>
              <c:idx val="4"/>
              <c:tx>
                <c:rich>
                  <a:bodyPr/>
                  <a:lstStyle/>
                  <a:p>
                    <a:r>
                      <a:rPr sz="2400" b="1">
                        <a:solidFill>
                          <a:srgbClr val="2F343B"/>
                        </a:solidFill>
                        <a:latin typeface="Pretendard"/>
                      </a:rPr>
                      <a:t>−60%</a:t>
                    </a:r>
                  </a:p>
                </c:rich>
              </c:tx>
              <c:dLblPos val="t"/>
              <c:showLegendKey val="0"/>
              <c:showVal val="1"/>
              <c:showCatName val="0"/>
              <c:showSerName val="0"/>
              <c:showPercent val="0"/>
              <c:showBubbleSize val="0"/>
            </c:dLbl>
            <c:showLegendKey val="0"/>
            <c:showVal val="0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Sheet1!$A$2:$A$6</c:f>
              <c:strCache>
                <c:ptCount val="5"/>
                <c:pt idx="0">
                  <c:v>0개월</c:v>
                </c:pt>
                <c:pt idx="1">
                  <c:v>3개월</c:v>
                </c:pt>
                <c:pt idx="2">
                  <c:v>6개월</c:v>
                </c:pt>
                <c:pt idx="3">
                  <c:v>9개월</c:v>
                </c:pt>
                <c:pt idx="4">
                  <c:v>12개월</c:v>
                </c:pt>
              </c:strCache>
            </c:strRef>
          </c:cat>
          <c:val>
            <c:numRef>
              <c:f>Sheet1!$B$2:$B$6</c:f>
              <c:numCache>
                <c:formatCode>0</c:formatCode>
                <c:ptCount val="5"/>
                <c:pt idx="0">
                  <c:v>100</c:v>
                </c:pt>
                <c:pt idx="1">
                  <c:v>82</c:v>
                </c:pt>
                <c:pt idx="2">
                  <c:v>61</c:v>
                </c:pt>
                <c:pt idx="3">
                  <c:v>48</c:v>
                </c:pt>
                <c:pt idx="4">
                  <c:v>40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none"/>
        <c:minorTickMark val="none"/>
        <c:tickLblPos val="nextTo"/>
        <c:spPr>
          <a:ln>
            <a:solidFill>
              <a:srgbClr val="E2E5EA"/>
            </a:solidFill>
          </a:ln>
        </c:spPr>
        <c:txPr>
          <a:bodyPr/>
          <a:lstStyle/>
          <a:p>
            <a:pPr>
              <a:defRPr sz="1200" b="0">
                <a:solidFill>
                  <a:srgbClr val="262B33"/>
                </a:solidFill>
                <a:latin typeface="Pretendard"/>
              </a:defRPr>
            </a:pPr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/>
        <c:delete val="0"/>
        <c:axPos val="l"/>
        <c:majorGridlines>
          <c:spPr>
            <a:ln w="6350">
              <a:solidFill>
                <a:srgbClr val="E2E5EA"/>
              </a:solidFill>
            </a:ln>
          </c:spPr>
        </c:majorGridlines>
        <c:title>
          <c:tx>
            <c:rich>
              <a:bodyPr/>
              <a:lstStyle/>
              <a:p>
                <a:r>
                  <a:rPr sz="1200" b="0">
                    <a:solidFill>
                      <a:srgbClr val="6B7280"/>
                    </a:solidFill>
                    <a:latin typeface="Pretendard"/>
                  </a:rPr>
                  <a:t>기준 대비 종양 크기 (%)</a:t>
                </a:r>
              </a:p>
            </c:rich>
          </c:tx>
          <c:layout/>
          <c:overlay val="0"/>
        </c:title>
        <c:numFmt formatCode="0" sourceLinked="0"/>
        <c:majorTickMark val="none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200" b="0">
                <a:solidFill>
                  <a:srgbClr val="6B7280"/>
                </a:solidFill>
                <a:latin typeface="Pretendard"/>
              </a:defRPr>
            </a:pPr>
          </a:p>
        </c:txPr>
        <c:crossAx val="2118791784"/>
        <c:crosses val="autoZero"/>
      </c:valAx>
    </c:plotArea>
    <c:plotVisOnly val="1"/>
    <c:dispBlanksAs val="gap"/>
    <c:showDLblsOverMax val="0"/>
  </c:chart>
  <c:txPr>
    <a:bodyPr/>
    <a:lstStyle/>
    <a:p>
      <a:pPr>
        <a:defRPr sz="1200" b="0">
          <a:solidFill>
            <a:srgbClr val="6B7280"/>
          </a:solidFill>
          <a:latin typeface="Pretendard"/>
        </a:defRPr>
      </a:pPr>
      <a:endParaRPr lang="en-US"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(data-02-a).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(data-02-b).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(data-02-c).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L1 표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강조 막대"/>
          <p:cNvSpPr/>
          <p:nvPr userDrawn="1"/>
        </p:nvSpPr>
        <p:spPr>
          <a:xfrm>
            <a:off x="468000" y="1516500"/>
            <a:ext cx="576000" cy="57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ko-KR"/>
          </a:p>
        </p:txBody>
      </p:sp>
      <p:sp>
        <p:nvSpPr>
          <p:cNvPr id="3" name="발표 구분"/>
          <p:cNvSpPr>
            <a:spLocks noGrp="1"/>
          </p:cNvSpPr>
          <p:nvPr>
            <p:ph type="body" idx="13"/>
          </p:nvPr>
        </p:nvSpPr>
        <p:spPr>
          <a:xfrm>
            <a:off x="468000" y="1714500"/>
            <a:ext cx="7879284" cy="324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400" b="0" kern="0" spc="-20">
                <a:solidFill>
                  <a:schemeClr val="accent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발표 구분 (예: 2026 글로컬랩 발표평가)</a:t>
            </a:r>
          </a:p>
        </p:txBody>
      </p:sp>
      <p:sp>
        <p:nvSpPr>
          <p:cNvPr id="4" name="과제명"/>
          <p:cNvSpPr>
            <a:spLocks noGrp="1"/>
          </p:cNvSpPr>
          <p:nvPr>
            <p:ph type="ctrTitle"/>
          </p:nvPr>
        </p:nvSpPr>
        <p:spPr>
          <a:xfrm>
            <a:off x="468000" y="2110500"/>
            <a:ext cx="9004896" cy="1205971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8000"/>
              </a:lnSpc>
              <a:spcBef>
                <a:spcPts val="0"/>
              </a:spcBef>
              <a:buNone/>
              <a:defRPr lang="ko-KR" sz="40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과제명 (2줄 이내)</a:t>
            </a:r>
          </a:p>
        </p:txBody>
      </p:sp>
      <p:sp>
        <p:nvSpPr>
          <p:cNvPr id="5" name="부제"/>
          <p:cNvSpPr>
            <a:spLocks noGrp="1"/>
          </p:cNvSpPr>
          <p:nvPr>
            <p:ph type="subTitle" idx="1"/>
          </p:nvPr>
        </p:nvSpPr>
        <p:spPr>
          <a:xfrm>
            <a:off x="468000" y="3568471"/>
            <a:ext cx="9004896" cy="504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2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부제 또는 영문 과제명</a:t>
            </a:r>
          </a:p>
        </p:txBody>
      </p:sp>
      <p:sp>
        <p:nvSpPr>
          <p:cNvPr id="6" name="발표자"/>
          <p:cNvSpPr>
            <a:spLocks noGrp="1"/>
          </p:cNvSpPr>
          <p:nvPr>
            <p:ph type="body" idx="14"/>
          </p:nvPr>
        </p:nvSpPr>
        <p:spPr>
          <a:xfrm>
            <a:off x="468000" y="4288471"/>
            <a:ext cx="6753672" cy="432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400" b="0" kern="0" spc="-2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발표자 · 소속</a:t>
            </a:r>
          </a:p>
        </p:txBody>
      </p:sp>
      <p:sp>
        <p:nvSpPr>
          <p:cNvPr id="7" name="기관 로고 줄"/>
          <p:cNvSpPr>
            <a:spLocks noGrp="1"/>
          </p:cNvSpPr>
          <p:nvPr>
            <p:ph type="body" idx="15"/>
          </p:nvPr>
        </p:nvSpPr>
        <p:spPr>
          <a:xfrm>
            <a:off x="468000" y="6174000"/>
            <a:ext cx="11256120" cy="432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기관 로고 (이 줄에 한 줄로)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cust" preserve="1">
  <p:cSld name="L2 목차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목차 제목"/>
          <p:cNvSpPr>
            <a:spLocks noGrp="1"/>
          </p:cNvSpPr>
          <p:nvPr>
            <p:ph type="title"/>
          </p:nvPr>
        </p:nvSpPr>
        <p:spPr>
          <a:xfrm>
            <a:off x="468000" y="2468880"/>
            <a:ext cx="3240000" cy="720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32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목차</a:t>
            </a:r>
          </a:p>
        </p:txBody>
      </p:sp>
      <p:sp>
        <p:nvSpPr>
          <p:cNvPr id="3" name="번호 1"/>
          <p:cNvSpPr>
            <a:spLocks noGrp="1"/>
          </p:cNvSpPr>
          <p:nvPr>
            <p:ph type="body" idx="20"/>
          </p:nvPr>
        </p:nvSpPr>
        <p:spPr>
          <a:xfrm>
            <a:off x="4511084" y="1436143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</a:t>
            </a:r>
          </a:p>
        </p:txBody>
      </p:sp>
      <p:sp>
        <p:nvSpPr>
          <p:cNvPr id="4" name="항목 1"/>
          <p:cNvSpPr>
            <a:spLocks noGrp="1"/>
          </p:cNvSpPr>
          <p:nvPr>
            <p:ph type="body" idx="30"/>
          </p:nvPr>
        </p:nvSpPr>
        <p:spPr>
          <a:xfrm>
            <a:off x="5087084" y="1296000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5" name="번호 2"/>
          <p:cNvSpPr>
            <a:spLocks noGrp="1"/>
          </p:cNvSpPr>
          <p:nvPr>
            <p:ph type="body" idx="21"/>
          </p:nvPr>
        </p:nvSpPr>
        <p:spPr>
          <a:xfrm>
            <a:off x="4511084" y="2076429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II</a:t>
            </a:r>
          </a:p>
        </p:txBody>
      </p:sp>
      <p:sp>
        <p:nvSpPr>
          <p:cNvPr id="6" name="항목 2"/>
          <p:cNvSpPr>
            <a:spLocks noGrp="1"/>
          </p:cNvSpPr>
          <p:nvPr>
            <p:ph type="body" idx="31"/>
          </p:nvPr>
        </p:nvSpPr>
        <p:spPr>
          <a:xfrm>
            <a:off x="5087084" y="1936286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7" name="번호 3"/>
          <p:cNvSpPr>
            <a:spLocks noGrp="1"/>
          </p:cNvSpPr>
          <p:nvPr>
            <p:ph type="body" idx="22"/>
          </p:nvPr>
        </p:nvSpPr>
        <p:spPr>
          <a:xfrm>
            <a:off x="4511084" y="2716714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III</a:t>
            </a:r>
          </a:p>
        </p:txBody>
      </p:sp>
      <p:sp>
        <p:nvSpPr>
          <p:cNvPr id="8" name="항목 3"/>
          <p:cNvSpPr>
            <a:spLocks noGrp="1"/>
          </p:cNvSpPr>
          <p:nvPr>
            <p:ph type="body" idx="32"/>
          </p:nvPr>
        </p:nvSpPr>
        <p:spPr>
          <a:xfrm>
            <a:off x="5087084" y="2576571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9" name="번호 4"/>
          <p:cNvSpPr>
            <a:spLocks noGrp="1"/>
          </p:cNvSpPr>
          <p:nvPr>
            <p:ph type="body" idx="23"/>
          </p:nvPr>
        </p:nvSpPr>
        <p:spPr>
          <a:xfrm>
            <a:off x="4511084" y="3357000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IV</a:t>
            </a:r>
          </a:p>
        </p:txBody>
      </p:sp>
      <p:sp>
        <p:nvSpPr>
          <p:cNvPr id="10" name="항목 4"/>
          <p:cNvSpPr>
            <a:spLocks noGrp="1"/>
          </p:cNvSpPr>
          <p:nvPr>
            <p:ph type="body" idx="33"/>
          </p:nvPr>
        </p:nvSpPr>
        <p:spPr>
          <a:xfrm>
            <a:off x="5087084" y="3216857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11" name="번호 5"/>
          <p:cNvSpPr>
            <a:spLocks noGrp="1"/>
          </p:cNvSpPr>
          <p:nvPr>
            <p:ph type="body" idx="24"/>
          </p:nvPr>
        </p:nvSpPr>
        <p:spPr>
          <a:xfrm>
            <a:off x="4511084" y="3997286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V</a:t>
            </a:r>
          </a:p>
        </p:txBody>
      </p:sp>
      <p:sp>
        <p:nvSpPr>
          <p:cNvPr id="12" name="항목 5"/>
          <p:cNvSpPr>
            <a:spLocks noGrp="1"/>
          </p:cNvSpPr>
          <p:nvPr>
            <p:ph type="body" idx="34"/>
          </p:nvPr>
        </p:nvSpPr>
        <p:spPr>
          <a:xfrm>
            <a:off x="5087084" y="3857143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13" name="번호 6"/>
          <p:cNvSpPr>
            <a:spLocks noGrp="1"/>
          </p:cNvSpPr>
          <p:nvPr>
            <p:ph type="body" idx="25"/>
          </p:nvPr>
        </p:nvSpPr>
        <p:spPr>
          <a:xfrm>
            <a:off x="4511084" y="4637571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VI</a:t>
            </a:r>
          </a:p>
        </p:txBody>
      </p:sp>
      <p:sp>
        <p:nvSpPr>
          <p:cNvPr id="14" name="항목 6"/>
          <p:cNvSpPr>
            <a:spLocks noGrp="1"/>
          </p:cNvSpPr>
          <p:nvPr>
            <p:ph type="body" idx="35"/>
          </p:nvPr>
        </p:nvSpPr>
        <p:spPr>
          <a:xfrm>
            <a:off x="5087084" y="4497429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15" name="번호 7"/>
          <p:cNvSpPr>
            <a:spLocks noGrp="1"/>
          </p:cNvSpPr>
          <p:nvPr>
            <p:ph type="body" idx="26"/>
          </p:nvPr>
        </p:nvSpPr>
        <p:spPr>
          <a:xfrm>
            <a:off x="4511084" y="5277857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VII</a:t>
            </a:r>
          </a:p>
        </p:txBody>
      </p:sp>
      <p:sp>
        <p:nvSpPr>
          <p:cNvPr id="16" name="항목 7"/>
          <p:cNvSpPr>
            <a:spLocks noGrp="1"/>
          </p:cNvSpPr>
          <p:nvPr>
            <p:ph type="body" idx="36"/>
          </p:nvPr>
        </p:nvSpPr>
        <p:spPr>
          <a:xfrm>
            <a:off x="5087084" y="5137714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L3 간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섹션 번호"/>
          <p:cNvSpPr>
            <a:spLocks noGrp="1"/>
          </p:cNvSpPr>
          <p:nvPr>
            <p:ph type="body" idx="13"/>
          </p:nvPr>
        </p:nvSpPr>
        <p:spPr>
          <a:xfrm>
            <a:off x="468000" y="2880360"/>
            <a:ext cx="792000" cy="792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30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</a:t>
            </a:r>
          </a:p>
        </p:txBody>
      </p:sp>
      <p:sp>
        <p:nvSpPr>
          <p:cNvPr id="3" name="섹션 이름"/>
          <p:cNvSpPr>
            <a:spLocks noGrp="1"/>
          </p:cNvSpPr>
          <p:nvPr>
            <p:ph type="title"/>
          </p:nvPr>
        </p:nvSpPr>
        <p:spPr>
          <a:xfrm>
            <a:off x="1512000" y="2736360"/>
            <a:ext cx="10212120" cy="10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36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섹션 이름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L4 헤더 + 빈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섹션 라벨"/>
          <p:cNvSpPr>
            <a:spLocks noGrp="1"/>
          </p:cNvSpPr>
          <p:nvPr>
            <p:ph type="body" idx="13"/>
          </p:nvPr>
        </p:nvSpPr>
        <p:spPr>
          <a:xfrm>
            <a:off x="468000" y="468000"/>
            <a:ext cx="504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100" b="0" kern="0" spc="-20">
                <a:solidFill>
                  <a:schemeClr val="accent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섹션 이름</a:t>
            </a:r>
          </a:p>
        </p:txBody>
      </p:sp>
      <p:sp>
        <p:nvSpPr>
          <p:cNvPr id="3" name="평가 지표 태그"/>
          <p:cNvSpPr>
            <a:spLocks noGrp="1"/>
          </p:cNvSpPr>
          <p:nvPr>
            <p:ph type="body" idx="14"/>
          </p:nvPr>
        </p:nvSpPr>
        <p:spPr>
          <a:xfrm>
            <a:off x="7404120" y="468000"/>
            <a:ext cx="432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평가 지표·사전질의 번호 (필요할 때만)</a:t>
            </a:r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468000" y="666000"/>
            <a:ext cx="11256120" cy="450000"/>
          </a:xfrm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/>
              <a:t>슬라이드 제목</a:t>
            </a:r>
          </a:p>
        </p:txBody>
      </p:sp>
      <p:cxnSp>
        <p:nvCxnSpPr>
          <p:cNvPr id="5" name="구분선"/>
          <p:cNvCxnSpPr/>
          <p:nvPr userDrawn="1"/>
        </p:nvCxnSpPr>
        <p:spPr>
          <a:xfrm>
            <a:off x="468000" y="1188000"/>
            <a:ext cx="11256120" cy="0"/>
          </a:xfrm>
          <a:prstGeom prst="line">
            <a:avLst/>
          </a:prstGeom>
          <a:ln w="9525">
            <a:solidFill>
              <a:schemeClr val="accent6"/>
            </a:solidFill>
          </a:ln>
        </p:spPr>
      </p:cxnSp>
      <p:sp>
        <p:nvSpPr>
          <p:cNvPr id="6" name="Slide Number"/>
          <p:cNvSpPr>
            <a:spLocks noGrp="1"/>
          </p:cNvSpPr>
          <p:nvPr>
            <p:ph type="sldNum" idx="12" sz="quarter"/>
          </p:nvPr>
        </p:nvSpPr>
        <p:spPr>
          <a:xfrm>
            <a:off x="10644120" y="6498000"/>
            <a:ext cx="1080000" cy="1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fld id="{B6F15528-21DE-4FAA-801E-634DDDAF4B2B}" type="slidenum">
              <a:rPr lang="ko-KR"/>
              <a:t>‹#›</a:t>
            </a:fld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L5 2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섹션 라벨"/>
          <p:cNvSpPr>
            <a:spLocks noGrp="1"/>
          </p:cNvSpPr>
          <p:nvPr>
            <p:ph type="body" idx="13"/>
          </p:nvPr>
        </p:nvSpPr>
        <p:spPr>
          <a:xfrm>
            <a:off x="468000" y="468000"/>
            <a:ext cx="504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100" b="0" kern="0" spc="-20">
                <a:solidFill>
                  <a:schemeClr val="accent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섹션 이름</a:t>
            </a:r>
          </a:p>
        </p:txBody>
      </p:sp>
      <p:sp>
        <p:nvSpPr>
          <p:cNvPr id="3" name="평가 지표 태그"/>
          <p:cNvSpPr>
            <a:spLocks noGrp="1"/>
          </p:cNvSpPr>
          <p:nvPr>
            <p:ph type="body" idx="14"/>
          </p:nvPr>
        </p:nvSpPr>
        <p:spPr>
          <a:xfrm>
            <a:off x="7404120" y="468000"/>
            <a:ext cx="432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평가 지표·사전질의 번호 (필요할 때만)</a:t>
            </a:r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468000" y="666000"/>
            <a:ext cx="11256120" cy="450000"/>
          </a:xfrm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/>
              <a:t>슬라이드 제목</a:t>
            </a:r>
          </a:p>
        </p:txBody>
      </p:sp>
      <p:cxnSp>
        <p:nvCxnSpPr>
          <p:cNvPr id="5" name="구분선"/>
          <p:cNvCxnSpPr/>
          <p:nvPr userDrawn="1"/>
        </p:nvCxnSpPr>
        <p:spPr>
          <a:xfrm>
            <a:off x="468000" y="1188000"/>
            <a:ext cx="11256120" cy="0"/>
          </a:xfrm>
          <a:prstGeom prst="line">
            <a:avLst/>
          </a:prstGeom>
          <a:ln w="9525">
            <a:solidFill>
              <a:schemeClr val="accent6"/>
            </a:solidFill>
          </a:ln>
        </p:spPr>
      </p:cxnSp>
      <p:sp>
        <p:nvSpPr>
          <p:cNvPr id="6" name="왼쪽 소제목"/>
          <p:cNvSpPr>
            <a:spLocks noGrp="1"/>
          </p:cNvSpPr>
          <p:nvPr>
            <p:ph type="body" idx="15"/>
          </p:nvPr>
        </p:nvSpPr>
        <p:spPr>
          <a:xfrm>
            <a:off x="468000" y="1368000"/>
            <a:ext cx="5448060" cy="360000"/>
          </a:xfrm>
          <a:prstGeom prst="rect">
            <a:avLst/>
          </a:prstGeom>
          <a:solidFill>
            <a:srgbClr val="DADADC"/>
          </a:solidFill>
          <a:ln>
            <a:noFill/>
          </a:ln>
        </p:spPr>
        <p:txBody>
          <a:bodyPr vert="horz" wrap="square" lIns="126000" tIns="0" rIns="12600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1" kern="0" spc="-40">
                <a:solidFill>
                  <a:schemeClr val="tx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왼쪽 소제목</a:t>
            </a:r>
          </a:p>
        </p:txBody>
      </p:sp>
      <p:sp>
        <p:nvSpPr>
          <p:cNvPr id="7" name="왼쪽 내용"/>
          <p:cNvSpPr>
            <a:spLocks noGrp="1"/>
          </p:cNvSpPr>
          <p:nvPr>
            <p:ph idx="16"/>
          </p:nvPr>
        </p:nvSpPr>
        <p:spPr>
          <a:xfrm>
            <a:off x="468000" y="1944000"/>
            <a:ext cx="5448060" cy="4446000"/>
          </a:xfrm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/>
              <a:t>항목 6개 이내 · 키워드 + 설명 1–2줄</a:t>
            </a:r>
          </a:p>
        </p:txBody>
      </p:sp>
      <p:sp>
        <p:nvSpPr>
          <p:cNvPr id="8" name="오른쪽 소제목"/>
          <p:cNvSpPr>
            <a:spLocks noGrp="1"/>
          </p:cNvSpPr>
          <p:nvPr>
            <p:ph type="body" idx="17"/>
          </p:nvPr>
        </p:nvSpPr>
        <p:spPr>
          <a:xfrm>
            <a:off x="6276060" y="1368000"/>
            <a:ext cx="5448060" cy="360000"/>
          </a:xfrm>
          <a:prstGeom prst="rect">
            <a:avLst/>
          </a:prstGeom>
          <a:solidFill>
            <a:srgbClr val="DADADC"/>
          </a:solidFill>
          <a:ln>
            <a:noFill/>
          </a:ln>
        </p:spPr>
        <p:txBody>
          <a:bodyPr vert="horz" wrap="square" lIns="126000" tIns="0" rIns="12600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1" kern="0" spc="-40">
                <a:solidFill>
                  <a:schemeClr val="tx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오른쪽 소제목</a:t>
            </a:r>
          </a:p>
        </p:txBody>
      </p:sp>
      <p:sp>
        <p:nvSpPr>
          <p:cNvPr id="9" name="오른쪽 내용"/>
          <p:cNvSpPr>
            <a:spLocks noGrp="1"/>
          </p:cNvSpPr>
          <p:nvPr>
            <p:ph idx="18"/>
          </p:nvPr>
        </p:nvSpPr>
        <p:spPr>
          <a:xfrm>
            <a:off x="6276060" y="1944000"/>
            <a:ext cx="5448060" cy="4446000"/>
          </a:xfrm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/>
              <a:t>항목 6개 이내 · 키워드 + 설명 1–2줄</a:t>
            </a:r>
          </a:p>
        </p:txBody>
      </p:sp>
      <p:sp>
        <p:nvSpPr>
          <p:cNvPr id="10" name="Slide Number"/>
          <p:cNvSpPr>
            <a:spLocks noGrp="1"/>
          </p:cNvSpPr>
          <p:nvPr>
            <p:ph type="sldNum" idx="12" sz="quarter"/>
          </p:nvPr>
        </p:nvSpPr>
        <p:spPr>
          <a:xfrm>
            <a:off x="10644120" y="6498000"/>
            <a:ext cx="1080000" cy="1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fld id="{B6F15528-21DE-4FAA-801E-634DDDAF4B2B}" type="slidenum">
              <a:rPr lang="ko-KR"/>
              <a:t>‹#›</a:t>
            </a:fld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cust" preserve="1">
  <p:cSld name="L6 마무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강조 막대"/>
          <p:cNvSpPr/>
          <p:nvPr userDrawn="1"/>
        </p:nvSpPr>
        <p:spPr>
          <a:xfrm>
            <a:off x="468000" y="1516500"/>
            <a:ext cx="576000" cy="57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ko-KR"/>
          </a:p>
        </p:txBody>
      </p:sp>
      <p:sp>
        <p:nvSpPr>
          <p:cNvPr id="3" name="과제명"/>
          <p:cNvSpPr>
            <a:spLocks noGrp="1"/>
          </p:cNvSpPr>
          <p:nvPr>
            <p:ph type="ctrTitle"/>
          </p:nvPr>
        </p:nvSpPr>
        <p:spPr>
          <a:xfrm>
            <a:off x="468000" y="2110500"/>
            <a:ext cx="9004896" cy="1205971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8000"/>
              </a:lnSpc>
              <a:spcBef>
                <a:spcPts val="0"/>
              </a:spcBef>
              <a:buNone/>
              <a:defRPr lang="ko-KR" sz="40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감사합니다</a:t>
            </a:r>
          </a:p>
        </p:txBody>
      </p:sp>
      <p:sp>
        <p:nvSpPr>
          <p:cNvPr id="4" name="부제"/>
          <p:cNvSpPr>
            <a:spLocks noGrp="1"/>
          </p:cNvSpPr>
          <p:nvPr>
            <p:ph type="subTitle" idx="1"/>
          </p:nvPr>
        </p:nvSpPr>
        <p:spPr>
          <a:xfrm>
            <a:off x="468000" y="3568471"/>
            <a:ext cx="9004896" cy="504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2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과제명 한 줄</a:t>
            </a:r>
          </a:p>
        </p:txBody>
      </p:sp>
      <p:sp>
        <p:nvSpPr>
          <p:cNvPr id="5" name="발표자"/>
          <p:cNvSpPr>
            <a:spLocks noGrp="1"/>
          </p:cNvSpPr>
          <p:nvPr>
            <p:ph type="body" idx="14"/>
          </p:nvPr>
        </p:nvSpPr>
        <p:spPr>
          <a:xfrm>
            <a:off x="468000" y="4288471"/>
            <a:ext cx="6753672" cy="432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400" b="0" kern="0" spc="-2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발표자 · 연락처</a:t>
            </a:r>
          </a:p>
        </p:txBody>
      </p:sp>
      <p:sp>
        <p:nvSpPr>
          <p:cNvPr id="6" name="기관 로고 줄"/>
          <p:cNvSpPr>
            <a:spLocks noGrp="1"/>
          </p:cNvSpPr>
          <p:nvPr>
            <p:ph type="body" idx="15"/>
          </p:nvPr>
        </p:nvSpPr>
        <p:spPr>
          <a:xfrm>
            <a:off x="468000" y="6174000"/>
            <a:ext cx="11256120" cy="432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기관 로고 (이 줄에 한 줄로)</a:t>
            </a:r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68000" y="666000"/>
            <a:ext cx="11256120" cy="450000"/>
          </a:xfrm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/>
              <a:t>마스터 제목 스타일 편집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8000" y="1368000"/>
            <a:ext cx="11256120" cy="5022000"/>
          </a:xfrm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/>
              <a:t>마스터 텍스트 스타일을 편집합니다</a:t>
            </a:r>
          </a:p>
          <a:p>
            <a:r>
              <a:rPr lang="ko-KR"/>
              <a:t>둘째 수준</a:t>
            </a:r>
          </a:p>
          <a:p>
            <a:r>
              <a:rPr lang="ko-KR"/>
              <a:t>셋째 수준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>
          <a:xfrm>
            <a:off x="10644120" y="6498000"/>
            <a:ext cx="1080000" cy="1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fld id="{B6F15528-21DE-4FAA-801E-634DDDAF4B2B}" type="slidenum">
              <a:rPr lang="ko-KR"/>
              <a:t>‹#›</a:t>
            </a:fld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</p:sldLayoutIdLst>
  <p:txStyles>
    <p:titleStyle>
      <a:lvl1pPr marL="0" indent="0" algn="l">
        <a:lnSpc>
          <a:spcPct val="100000"/>
        </a:lnSpc>
        <a:spcBef>
          <a:spcPts val="0"/>
        </a:spcBef>
        <a:buNone/>
        <a:defRPr lang="ko-KR" sz="2800" b="1" kern="0" spc="-60">
          <a:solidFill>
            <a:schemeClr val="tx1"/>
          </a:solidFill>
          <a:latin typeface="+mj-lt"/>
          <a:ea typeface="+mj-ea"/>
        </a:defRPr>
      </a:lvl1pPr>
    </p:titleStyle>
    <p:bodyStyle>
      <a:lvl1pPr marL="0" indent="0" algn="l">
        <a:lnSpc>
          <a:spcPct val="120000"/>
        </a:lnSpc>
        <a:spcBef>
          <a:spcPts val="560"/>
        </a:spcBef>
        <a:buNone/>
        <a:defRPr lang="ko-KR" sz="1400" b="0" kern="0" spc="-40">
          <a:solidFill>
            <a:schemeClr val="tx1"/>
          </a:solidFill>
          <a:latin typeface="+mn-lt"/>
          <a:ea typeface="+mn-ea"/>
        </a:defRPr>
      </a:lvl1pPr>
      <a:lvl2pPr marL="162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–"/>
        <a:defRPr lang="ko-KR" sz="1400" b="0" kern="0" spc="-40">
          <a:solidFill>
            <a:schemeClr val="tx2"/>
          </a:solidFill>
          <a:latin typeface="+mn-lt"/>
          <a:ea typeface="+mn-ea"/>
        </a:defRPr>
      </a:lvl2pPr>
      <a:lvl3pPr marL="306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3pPr>
      <a:lvl4pPr marL="450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4pPr>
      <a:lvl5pPr marL="594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5pPr>
      <a:lvl6pPr marL="738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6pPr>
      <a:lvl7pPr marL="882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7pPr>
      <a:lvl8pPr marL="1026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8pPr>
      <a:lvl9pPr marL="1170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9pPr>
    </p:bodyStyle>
    <p:otherStyle>
      <a:defPPr marL="0" indent="0" algn="l">
        <a:lnSpc>
          <a:spcPct val="100000"/>
        </a:lnSpc>
        <a:spcBef>
          <a:spcPts val="0"/>
        </a:spcBef>
        <a:buNone/>
        <a:defRPr lang="ko-KR" sz="1400" b="0" kern="0" spc="-40">
          <a:solidFill>
            <a:schemeClr val="tx1"/>
          </a:solidFill>
          <a:latin typeface="+mn-lt"/>
          <a:ea typeface="+mn-ea"/>
        </a:defRPr>
      </a:def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chart" Target="../charts/chart1.xml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chart" Target="../charts/chart2.xml"/><Relationship Id="rId3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chart" Target="../charts/chart3.xml"/><Relationship Id="rId3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예비 결과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클러스터 7 표지 유전자는 종양 경계부에서 3.2배 높아요</a:t>
            </a:r>
          </a:p>
        </p:txBody>
      </p:sp>
      <p:graphicFrame>
        <p:nvGraphicFramePr>
          <p:cNvPr id="5" name="data-02:chart"/>
          <p:cNvGraphicFramePr>
            <a:graphicFrameLocks noGrp="1"/>
          </p:cNvGraphicFramePr>
          <p:nvPr/>
        </p:nvGraphicFramePr>
        <p:xfrm>
          <a:off x="468000" y="1584000"/>
          <a:ext cx="11256120" cy="4173445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6" name="data-02:note"/>
          <p:cNvSpPr txBox="1"/>
          <p:nvPr/>
        </p:nvSpPr>
        <p:spPr>
          <a:xfrm>
            <a:off x="468000" y="5865445"/>
            <a:ext cx="11256120" cy="23655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200" b="0" spc="-40">
                <a:solidFill>
                  <a:srgbClr val="6B7280"/>
                </a:solidFill>
              </a:rPr>
              <a:t>클러스터 7 표지 유전자의 평균 발현. 절편 4개, 스팟 1,200개.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1</a:t>
            </a:fld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세포 구성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환자군에서 대식세포 비율이 31%로 가장 높아요</a:t>
            </a:r>
          </a:p>
        </p:txBody>
      </p:sp>
      <p:graphicFrame>
        <p:nvGraphicFramePr>
          <p:cNvPr id="5" name="data-02:chart"/>
          <p:cNvGraphicFramePr>
            <a:graphicFrameLocks noGrp="1"/>
          </p:cNvGraphicFramePr>
          <p:nvPr/>
        </p:nvGraphicFramePr>
        <p:xfrm>
          <a:off x="468000" y="1584000"/>
          <a:ext cx="11256120" cy="4173445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6" name="data-02:note"/>
          <p:cNvSpPr txBox="1"/>
          <p:nvPr/>
        </p:nvSpPr>
        <p:spPr>
          <a:xfrm>
            <a:off x="468000" y="5865445"/>
            <a:ext cx="11256120" cy="23655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200" b="0" spc="-40">
                <a:solidFill>
                  <a:srgbClr val="6B7280"/>
                </a:solidFill>
              </a:rPr>
              <a:t>환자군 12명, 대조군 10명의 단일세포 주석 비율 평균.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2</a:t>
            </a:fld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치료 반응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12개월 뒤 종양 크기가 60% 줄었어요</a:t>
            </a:r>
          </a:p>
        </p:txBody>
      </p:sp>
      <p:graphicFrame>
        <p:nvGraphicFramePr>
          <p:cNvPr id="5" name="data-02:chart"/>
          <p:cNvGraphicFramePr>
            <a:graphicFrameLocks noGrp="1"/>
          </p:cNvGraphicFramePr>
          <p:nvPr/>
        </p:nvGraphicFramePr>
        <p:xfrm>
          <a:off x="468000" y="1584000"/>
          <a:ext cx="11256120" cy="4173445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6" name="data-02:note"/>
          <p:cNvSpPr txBox="1"/>
          <p:nvPr/>
        </p:nvSpPr>
        <p:spPr>
          <a:xfrm>
            <a:off x="468000" y="5865445"/>
            <a:ext cx="11256120" cy="23655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200" b="0" spc="-40">
                <a:solidFill>
                  <a:srgbClr val="6B7280"/>
                </a:solidFill>
              </a:rPr>
              <a:t>치료군 24명 평균.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3</a:t>
            </a:fld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HaLab 차콜 클린 16:9">
  <a:themeElements>
    <a:clrScheme name="HaLab 차콜 클린 16:9">
      <a:dk1>
        <a:srgbClr val="262B33"/>
      </a:dk1>
      <a:lt1>
        <a:srgbClr val="FFFFFF"/>
      </a:lt1>
      <a:dk2>
        <a:srgbClr val="6B7280"/>
      </a:dk2>
      <a:lt2>
        <a:srgbClr val="FBFBFB"/>
      </a:lt2>
      <a:accent1>
        <a:srgbClr val="2F343B"/>
      </a:accent1>
      <a:accent2>
        <a:srgbClr val="787B80"/>
      </a:accent2>
      <a:accent3>
        <a:srgbClr val="ACAEB1"/>
      </a:accent3>
      <a:accent4>
        <a:srgbClr val="E5484D"/>
      </a:accent4>
      <a:accent5>
        <a:srgbClr val="ACAEB1"/>
      </a:accent5>
      <a:accent6>
        <a:srgbClr val="E2E5EA"/>
      </a:accent6>
      <a:hlink>
        <a:srgbClr val="2F343B"/>
      </a:hlink>
      <a:folHlink>
        <a:srgbClr val="ACAEB1"/>
      </a:folHlink>
    </a:clrScheme>
    <a:fontScheme name="Pretendard">
      <a:majorFont>
        <a:latin typeface="Pretendard"/>
        <a:ea typeface="Pretendard"/>
        <a:cs typeface=""/>
        <a:font script="Hang" typeface="Pretendard"/>
      </a:majorFont>
      <a:minorFont>
        <a:latin typeface="Pretendard"/>
        <a:ea typeface="Pretendard"/>
        <a:cs typeface=""/>
        <a:font script="Hang" typeface="Pretendard"/>
      </a:minorFont>
    </a:fontScheme>
    <a:fmtScheme name="HaLab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9525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>
    <a:spDef>
      <a:spPr>
        <a:solidFill>
          <a:schemeClr val="bg1"/>
        </a:solidFill>
        <a:ln w="9525">
          <a:solidFill>
            <a:schemeClr val="accent6"/>
          </a:solidFill>
        </a:ln>
      </a:spPr>
      <a:bodyPr rtlCol="0" anchor="ctr"/>
      <a:lstStyle>
        <a:defPPr algn="ctr">
          <a:defRPr lang="ko-KR"/>
        </a:defPPr>
      </a:lstStyle>
      <a:style>
        <a:lnRef idx="0">
          <a:schemeClr val="accent6"/>
        </a:lnRef>
        <a:fillRef idx="0">
          <a:schemeClr val="bg1"/>
        </a:fillRef>
        <a:effectRef idx="0">
          <a:schemeClr val="accent1"/>
        </a:effectRef>
        <a:fontRef idx="minor">
          <a:schemeClr val="tx1"/>
        </a:fontRef>
      </a:style>
    </a:spDef>
    <a:lnDef>
      <a:spPr>
        <a:ln w="9525">
          <a:solidFill>
            <a:schemeClr val="tx2"/>
          </a:solidFill>
        </a:ln>
      </a:spPr>
      <a:bodyPr/>
      <a:lstStyle/>
      <a:style>
        <a:lnRef idx="0">
          <a:schemeClr val="tx2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0" rIns="0" bIns="0" rtlCol="0">
        <a:spAutoFit/>
      </a:bodyPr>
      <a:lstStyle>
        <a:defPPr>
          <a:lnSpc>
            <a:spcPct val="120000"/>
          </a:lnSpc>
          <a:defRPr lang="ko-KR" spc="-40"/>
        </a:defPPr>
      </a:lstStyle>
    </a:tx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>
  <Application>Microsoft Office PowerPoint</Application>
  <Slides>0</Slide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title>HaLab 틸 클린 16:9</dc:title>
  <dc:creator>HaLab</dc:creator>
</cp:coreProperties>
</file>