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종양 경계의 세 클러스터를 봐 주세요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4587838" y="4090419"/>
            <a:ext cx="252000" cy="252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9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스팟 1,492개, 클러스터 6개 (임의 데이터)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1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종양세포가 많은 안쪽</a:t>
            </a:r>
          </a:p>
        </p:txBody>
      </p:sp>
      <p:cxnSp>
        <p:nvCxnSpPr>
          <p:cNvPr id="14" name="list-01:line"/>
          <p:cNvCxnSpPr/>
          <p:nvPr/>
        </p:nvCxnSpPr>
        <p:spPr>
          <a:xfrm>
            <a:off x="8044080" y="4266252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6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3</a:t>
            </a:r>
          </a:p>
        </p:txBody>
      </p:sp>
      <p:sp>
        <p:nvSpPr>
          <p:cNvPr id="17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면역세포가 모인 경계</a:t>
            </a:r>
          </a:p>
        </p:txBody>
      </p:sp>
      <p:sp>
        <p:nvSpPr>
          <p:cNvPr id="18" name="list-01:marker"/>
          <p:cNvSpPr/>
          <p:nvPr/>
        </p:nvSpPr>
        <p:spPr>
          <a:xfrm>
            <a:off x="8044080" y="4627825"/>
            <a:ext cx="288000" cy="288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9" name="list-01:title"/>
          <p:cNvSpPr txBox="1"/>
          <p:nvPr/>
        </p:nvSpPr>
        <p:spPr>
          <a:xfrm>
            <a:off x="8512080" y="4626252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4</a:t>
            </a:r>
          </a:p>
        </p:txBody>
      </p:sp>
      <p:sp>
        <p:nvSpPr>
          <p:cNvPr id="20" name="list-01:desc"/>
          <p:cNvSpPr txBox="1"/>
          <p:nvPr/>
        </p:nvSpPr>
        <p:spPr>
          <a:xfrm>
            <a:off x="8512080" y="4971397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섬유아세포가 많은 바깥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표지 유전자는 경계 쪽에서 높게 나와요</a:t>
            </a:r>
          </a:p>
        </p:txBody>
      </p:sp>
      <p:pic>
        <p:nvPicPr>
          <p:cNvPr id="5" name="img-01:image" descr="spatial_gen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3 표지 유전자의 발현 (진할수록 높음, 임의 데이터)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클러스터마다 표지 유전자가 다른 곳에서 나와요</a:t>
            </a:r>
          </a:p>
        </p:txBody>
      </p:sp>
      <p:sp>
        <p:nvSpPr>
          <p:cNvPr id="5" name="img-01:title"/>
          <p:cNvSpPr txBox="1"/>
          <p:nvPr/>
        </p:nvSpPr>
        <p:spPr>
          <a:xfrm>
            <a:off x="4411597" y="1584000"/>
            <a:ext cx="3368926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공간전사체 절편 클러스터 지도</a:t>
            </a:r>
          </a:p>
        </p:txBody>
      </p:sp>
      <p:pic>
        <p:nvPicPr>
          <p:cNvPr id="6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597" y="1965145"/>
            <a:ext cx="3368926" cy="2526695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7" name="img-01:caption"/>
          <p:cNvSpPr txBox="1"/>
          <p:nvPr/>
        </p:nvSpPr>
        <p:spPr>
          <a:xfrm>
            <a:off x="4411597" y="4563840"/>
            <a:ext cx="3368926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스팟 1,492개, 클러스터 6개 (임의 데이터)</a:t>
            </a:r>
          </a:p>
        </p:txBody>
      </p:sp>
      <p:pic>
        <p:nvPicPr>
          <p:cNvPr id="8" name="img-01:thumb" descr="spatial_gen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597" y="4980002"/>
            <a:ext cx="842232" cy="631674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9" name="img-01:thumb-marker"/>
          <p:cNvSpPr/>
          <p:nvPr/>
        </p:nvSpPr>
        <p:spPr>
          <a:xfrm>
            <a:off x="4087597" y="566567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10" name="img-01:thumb-caption"/>
          <p:cNvSpPr txBox="1"/>
          <p:nvPr/>
        </p:nvSpPr>
        <p:spPr>
          <a:xfrm>
            <a:off x="4321597" y="5647676"/>
            <a:ext cx="608232" cy="4543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1 표지</a:t>
            </a:r>
          </a:p>
        </p:txBody>
      </p:sp>
      <p:pic>
        <p:nvPicPr>
          <p:cNvPr id="11" name="img-01:thumb" descr="spatial_gen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5828" y="4980002"/>
            <a:ext cx="842232" cy="631674"/>
          </a:xfrm>
          <a:prstGeom prst="rect">
            <a:avLst/>
          </a:prstGeom>
          <a:ln w="25400">
            <a:solidFill>
              <a:srgbClr val="7A1F3D"/>
            </a:solidFill>
          </a:ln>
        </p:spPr>
      </p:pic>
      <p:sp>
        <p:nvSpPr>
          <p:cNvPr id="12" name="img-01:thumb-marker"/>
          <p:cNvSpPr/>
          <p:nvPr/>
        </p:nvSpPr>
        <p:spPr>
          <a:xfrm>
            <a:off x="5145828" y="5665676"/>
            <a:ext cx="180000" cy="180000"/>
          </a:xfrm>
          <a:prstGeom prst="ellipse">
            <a:avLst/>
          </a:prstGeom>
          <a:solidFill>
            <a:srgbClr val="7A1F3D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img-01:thumb-caption"/>
          <p:cNvSpPr txBox="1"/>
          <p:nvPr/>
        </p:nvSpPr>
        <p:spPr>
          <a:xfrm>
            <a:off x="5379828" y="5647676"/>
            <a:ext cx="608232" cy="4543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262B33"/>
                </a:solidFill>
              </a:rPr>
              <a:t>클러스터 3 표지</a:t>
            </a:r>
          </a:p>
        </p:txBody>
      </p:sp>
      <p:pic>
        <p:nvPicPr>
          <p:cNvPr id="14" name="img-01:thumb" descr="spatial_gen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4060" y="4980002"/>
            <a:ext cx="842232" cy="631674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15" name="img-01:thumb-marker"/>
          <p:cNvSpPr/>
          <p:nvPr/>
        </p:nvSpPr>
        <p:spPr>
          <a:xfrm>
            <a:off x="6204060" y="566567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6" name="img-01:thumb-caption"/>
          <p:cNvSpPr txBox="1"/>
          <p:nvPr/>
        </p:nvSpPr>
        <p:spPr>
          <a:xfrm>
            <a:off x="6438060" y="5647676"/>
            <a:ext cx="608232" cy="4543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4 표지</a:t>
            </a:r>
          </a:p>
        </p:txBody>
      </p:sp>
      <p:pic>
        <p:nvPicPr>
          <p:cNvPr id="17" name="img-01:thumb" descr="spatial_gen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2292" y="4980002"/>
            <a:ext cx="842232" cy="631674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18" name="img-01:thumb-marker"/>
          <p:cNvSpPr/>
          <p:nvPr/>
        </p:nvSpPr>
        <p:spPr>
          <a:xfrm>
            <a:off x="7262292" y="566567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-40">
                <a:solidFill>
                  <a:srgbClr val="7A1F3D"/>
                </a:solidFill>
              </a:rPr>
              <a:t>4</a:t>
            </a:r>
          </a:p>
        </p:txBody>
      </p:sp>
      <p:sp>
        <p:nvSpPr>
          <p:cNvPr id="19" name="img-01:thumb-caption"/>
          <p:cNvSpPr txBox="1"/>
          <p:nvPr/>
        </p:nvSpPr>
        <p:spPr>
          <a:xfrm>
            <a:off x="7496292" y="5647676"/>
            <a:ext cx="608232" cy="4543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2 표지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