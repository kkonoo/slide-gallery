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분석 도구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표본이 적고 공변량이 많은 이번 설계에는 DESeq2 가 맞다</a:t>
            </a:r>
          </a:p>
        </p:txBody>
      </p:sp>
      <p:sp>
        <p:nvSpPr>
          <p:cNvPr id="5" name="comp-05:pick-col"/>
          <p:cNvSpPr/>
          <p:nvPr/>
        </p:nvSpPr>
        <p:spPr>
          <a:xfrm>
            <a:off x="2344020" y="1896468"/>
            <a:ext cx="3126700" cy="2862000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5:pick-head"/>
          <p:cNvSpPr/>
          <p:nvPr/>
        </p:nvSpPr>
        <p:spPr>
          <a:xfrm>
            <a:off x="2344020" y="1896468"/>
            <a:ext cx="3126700" cy="849145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5:marker"/>
          <p:cNvSpPr/>
          <p:nvPr/>
        </p:nvSpPr>
        <p:spPr>
          <a:xfrm>
            <a:off x="3790370" y="2022468"/>
            <a:ext cx="234000" cy="234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8" name="comp-05:option"/>
          <p:cNvSpPr txBox="1"/>
          <p:nvPr/>
        </p:nvSpPr>
        <p:spPr>
          <a:xfrm>
            <a:off x="2452020" y="2328468"/>
            <a:ext cx="291070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DESeq2</a:t>
            </a:r>
          </a:p>
        </p:txBody>
      </p:sp>
      <p:sp>
        <p:nvSpPr>
          <p:cNvPr id="9" name="comp-05:marker"/>
          <p:cNvSpPr/>
          <p:nvPr/>
        </p:nvSpPr>
        <p:spPr>
          <a:xfrm>
            <a:off x="6917070" y="2022468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0" name="comp-05:option"/>
          <p:cNvSpPr txBox="1"/>
          <p:nvPr/>
        </p:nvSpPr>
        <p:spPr>
          <a:xfrm>
            <a:off x="5578720" y="2328468"/>
            <a:ext cx="291070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edgeR</a:t>
            </a:r>
          </a:p>
        </p:txBody>
      </p:sp>
      <p:sp>
        <p:nvSpPr>
          <p:cNvPr id="11" name="comp-05:marker"/>
          <p:cNvSpPr/>
          <p:nvPr/>
        </p:nvSpPr>
        <p:spPr>
          <a:xfrm>
            <a:off x="10043770" y="2022468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2" name="comp-05:option"/>
          <p:cNvSpPr txBox="1"/>
          <p:nvPr/>
        </p:nvSpPr>
        <p:spPr>
          <a:xfrm>
            <a:off x="8705420" y="2328468"/>
            <a:ext cx="291070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limma-voom</a:t>
            </a:r>
          </a:p>
        </p:txBody>
      </p:sp>
      <p:cxnSp>
        <p:nvCxnSpPr>
          <p:cNvPr id="13" name="comp-05:head-rule"/>
          <p:cNvCxnSpPr/>
          <p:nvPr/>
        </p:nvCxnSpPr>
        <p:spPr>
          <a:xfrm>
            <a:off x="468000" y="2745613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5:criterion"/>
          <p:cNvSpPr txBox="1"/>
          <p:nvPr/>
        </p:nvSpPr>
        <p:spPr>
          <a:xfrm>
            <a:off x="468000" y="2745613"/>
            <a:ext cx="176802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적합한 표본 수</a:t>
            </a:r>
          </a:p>
        </p:txBody>
      </p:sp>
      <p:sp>
        <p:nvSpPr>
          <p:cNvPr id="15" name="comp-05:value"/>
          <p:cNvSpPr txBox="1"/>
          <p:nvPr/>
        </p:nvSpPr>
        <p:spPr>
          <a:xfrm>
            <a:off x="2452020" y="2745613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군당 3–10개</a:t>
            </a:r>
          </a:p>
        </p:txBody>
      </p:sp>
      <p:sp>
        <p:nvSpPr>
          <p:cNvPr id="16" name="comp-05:value"/>
          <p:cNvSpPr txBox="1"/>
          <p:nvPr/>
        </p:nvSpPr>
        <p:spPr>
          <a:xfrm>
            <a:off x="5578720" y="2745613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군당 3–10개</a:t>
            </a:r>
          </a:p>
        </p:txBody>
      </p:sp>
      <p:sp>
        <p:nvSpPr>
          <p:cNvPr id="17" name="comp-05:value"/>
          <p:cNvSpPr txBox="1"/>
          <p:nvPr/>
        </p:nvSpPr>
        <p:spPr>
          <a:xfrm>
            <a:off x="8705420" y="2745613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군당 10개 이상</a:t>
            </a:r>
          </a:p>
        </p:txBody>
      </p:sp>
      <p:cxnSp>
        <p:nvCxnSpPr>
          <p:cNvPr id="18" name="comp-05:row-rule"/>
          <p:cNvCxnSpPr/>
          <p:nvPr/>
        </p:nvCxnSpPr>
        <p:spPr>
          <a:xfrm>
            <a:off x="468000" y="324882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5:criterion"/>
          <p:cNvSpPr txBox="1"/>
          <p:nvPr/>
        </p:nvSpPr>
        <p:spPr>
          <a:xfrm>
            <a:off x="468000" y="3248827"/>
            <a:ext cx="176802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공변량 처리</a:t>
            </a:r>
          </a:p>
        </p:txBody>
      </p:sp>
      <p:sp>
        <p:nvSpPr>
          <p:cNvPr id="20" name="comp-05:value"/>
          <p:cNvSpPr txBox="1"/>
          <p:nvPr/>
        </p:nvSpPr>
        <p:spPr>
          <a:xfrm>
            <a:off x="2452020" y="3248827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설계식으로 여럿</a:t>
            </a:r>
          </a:p>
        </p:txBody>
      </p:sp>
      <p:sp>
        <p:nvSpPr>
          <p:cNvPr id="21" name="comp-05:value"/>
          <p:cNvSpPr txBox="1"/>
          <p:nvPr/>
        </p:nvSpPr>
        <p:spPr>
          <a:xfrm>
            <a:off x="5578720" y="3248827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설계식으로 여럿</a:t>
            </a:r>
          </a:p>
        </p:txBody>
      </p:sp>
      <p:sp>
        <p:nvSpPr>
          <p:cNvPr id="22" name="comp-05:value"/>
          <p:cNvSpPr txBox="1"/>
          <p:nvPr/>
        </p:nvSpPr>
        <p:spPr>
          <a:xfrm>
            <a:off x="8705420" y="3248827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설계식 + 가중치</a:t>
            </a:r>
          </a:p>
        </p:txBody>
      </p:sp>
      <p:cxnSp>
        <p:nvCxnSpPr>
          <p:cNvPr id="23" name="comp-05:row-rule"/>
          <p:cNvCxnSpPr/>
          <p:nvPr/>
        </p:nvCxnSpPr>
        <p:spPr>
          <a:xfrm>
            <a:off x="468000" y="375204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omp-05:criterion"/>
          <p:cNvSpPr txBox="1"/>
          <p:nvPr/>
        </p:nvSpPr>
        <p:spPr>
          <a:xfrm>
            <a:off x="468000" y="3752040"/>
            <a:ext cx="176802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속도 (표본 60개)</a:t>
            </a:r>
          </a:p>
        </p:txBody>
      </p:sp>
      <p:sp>
        <p:nvSpPr>
          <p:cNvPr id="25" name="comp-05:value"/>
          <p:cNvSpPr txBox="1"/>
          <p:nvPr/>
        </p:nvSpPr>
        <p:spPr>
          <a:xfrm>
            <a:off x="2452020" y="3752040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약 4분</a:t>
            </a:r>
          </a:p>
        </p:txBody>
      </p:sp>
      <p:sp>
        <p:nvSpPr>
          <p:cNvPr id="26" name="comp-05:value"/>
          <p:cNvSpPr txBox="1"/>
          <p:nvPr/>
        </p:nvSpPr>
        <p:spPr>
          <a:xfrm>
            <a:off x="5578720" y="3752040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약 1분</a:t>
            </a:r>
          </a:p>
        </p:txBody>
      </p:sp>
      <p:sp>
        <p:nvSpPr>
          <p:cNvPr id="27" name="comp-05:value"/>
          <p:cNvSpPr txBox="1"/>
          <p:nvPr/>
        </p:nvSpPr>
        <p:spPr>
          <a:xfrm>
            <a:off x="8705420" y="3752040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약 30초</a:t>
            </a:r>
          </a:p>
        </p:txBody>
      </p:sp>
      <p:cxnSp>
        <p:nvCxnSpPr>
          <p:cNvPr id="28" name="comp-05:row-rule"/>
          <p:cNvCxnSpPr/>
          <p:nvPr/>
        </p:nvCxnSpPr>
        <p:spPr>
          <a:xfrm>
            <a:off x="468000" y="4255254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omp-05:criterion"/>
          <p:cNvSpPr txBox="1"/>
          <p:nvPr/>
        </p:nvSpPr>
        <p:spPr>
          <a:xfrm>
            <a:off x="468000" y="4255254"/>
            <a:ext cx="176802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문서 · 사용 사례</a:t>
            </a:r>
          </a:p>
        </p:txBody>
      </p:sp>
      <p:sp>
        <p:nvSpPr>
          <p:cNvPr id="30" name="comp-05:value"/>
          <p:cNvSpPr txBox="1"/>
          <p:nvPr/>
        </p:nvSpPr>
        <p:spPr>
          <a:xfrm>
            <a:off x="2452020" y="4255254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가장 많다</a:t>
            </a:r>
          </a:p>
        </p:txBody>
      </p:sp>
      <p:sp>
        <p:nvSpPr>
          <p:cNvPr id="31" name="comp-05:value"/>
          <p:cNvSpPr txBox="1"/>
          <p:nvPr/>
        </p:nvSpPr>
        <p:spPr>
          <a:xfrm>
            <a:off x="5578720" y="4255254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많다</a:t>
            </a:r>
          </a:p>
        </p:txBody>
      </p:sp>
      <p:sp>
        <p:nvSpPr>
          <p:cNvPr id="32" name="comp-05:value"/>
          <p:cNvSpPr txBox="1"/>
          <p:nvPr/>
        </p:nvSpPr>
        <p:spPr>
          <a:xfrm>
            <a:off x="8705420" y="4255254"/>
            <a:ext cx="2910700" cy="5032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많다</a:t>
            </a:r>
          </a:p>
        </p:txBody>
      </p:sp>
      <p:cxnSp>
        <p:nvCxnSpPr>
          <p:cNvPr id="33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질환 3종 × 군당 6명이라 표본이 적고, 나이 · 성별 · 배치를 함께 보정해야 해서 DESeq2 로 정한다.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실험 설계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예산 안에서 환자 수를 가장 많이 확보하는 설계안 C 로 간다</a:t>
            </a:r>
          </a:p>
        </p:txBody>
      </p:sp>
      <p:sp>
        <p:nvSpPr>
          <p:cNvPr id="5" name="comp-05:pick-col"/>
          <p:cNvSpPr/>
          <p:nvPr/>
        </p:nvSpPr>
        <p:spPr>
          <a:xfrm>
            <a:off x="6830155" y="2014952"/>
            <a:ext cx="2446983" cy="3225145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5:pick-head"/>
          <p:cNvSpPr/>
          <p:nvPr/>
        </p:nvSpPr>
        <p:spPr>
          <a:xfrm>
            <a:off x="6830155" y="2014952"/>
            <a:ext cx="2446983" cy="849145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5:marker"/>
          <p:cNvSpPr/>
          <p:nvPr/>
        </p:nvSpPr>
        <p:spPr>
          <a:xfrm>
            <a:off x="3042681" y="2140952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8" name="comp-05:option"/>
          <p:cNvSpPr txBox="1"/>
          <p:nvPr/>
        </p:nvSpPr>
        <p:spPr>
          <a:xfrm>
            <a:off x="2044190" y="2446952"/>
            <a:ext cx="22309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설계안 A</a:t>
            </a:r>
          </a:p>
        </p:txBody>
      </p:sp>
      <p:sp>
        <p:nvSpPr>
          <p:cNvPr id="9" name="comp-05:marker"/>
          <p:cNvSpPr/>
          <p:nvPr/>
        </p:nvSpPr>
        <p:spPr>
          <a:xfrm>
            <a:off x="5489663" y="2140952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0" name="comp-05:option"/>
          <p:cNvSpPr txBox="1"/>
          <p:nvPr/>
        </p:nvSpPr>
        <p:spPr>
          <a:xfrm>
            <a:off x="4491172" y="2446952"/>
            <a:ext cx="22309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설계안 B</a:t>
            </a:r>
          </a:p>
        </p:txBody>
      </p:sp>
      <p:sp>
        <p:nvSpPr>
          <p:cNvPr id="11" name="comp-05:marker"/>
          <p:cNvSpPr/>
          <p:nvPr/>
        </p:nvSpPr>
        <p:spPr>
          <a:xfrm>
            <a:off x="7936646" y="2140952"/>
            <a:ext cx="234000" cy="234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2" name="comp-05:option"/>
          <p:cNvSpPr txBox="1"/>
          <p:nvPr/>
        </p:nvSpPr>
        <p:spPr>
          <a:xfrm>
            <a:off x="6938155" y="2446952"/>
            <a:ext cx="22309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설계안 C</a:t>
            </a:r>
          </a:p>
        </p:txBody>
      </p:sp>
      <p:sp>
        <p:nvSpPr>
          <p:cNvPr id="13" name="comp-05:marker"/>
          <p:cNvSpPr/>
          <p:nvPr/>
        </p:nvSpPr>
        <p:spPr>
          <a:xfrm>
            <a:off x="10383629" y="2140952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4</a:t>
            </a:r>
          </a:p>
        </p:txBody>
      </p:sp>
      <p:sp>
        <p:nvSpPr>
          <p:cNvPr id="14" name="comp-05:option"/>
          <p:cNvSpPr txBox="1"/>
          <p:nvPr/>
        </p:nvSpPr>
        <p:spPr>
          <a:xfrm>
            <a:off x="9385137" y="2446952"/>
            <a:ext cx="22309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설계안 D</a:t>
            </a:r>
          </a:p>
        </p:txBody>
      </p:sp>
      <p:cxnSp>
        <p:nvCxnSpPr>
          <p:cNvPr id="15" name="comp-05:head-rule"/>
          <p:cNvCxnSpPr/>
          <p:nvPr/>
        </p:nvCxnSpPr>
        <p:spPr>
          <a:xfrm>
            <a:off x="468000" y="2864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5:criterion"/>
          <p:cNvSpPr txBox="1"/>
          <p:nvPr/>
        </p:nvSpPr>
        <p:spPr>
          <a:xfrm>
            <a:off x="468000" y="2864097"/>
            <a:ext cx="1360190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환자 수</a:t>
            </a:r>
          </a:p>
        </p:txBody>
      </p:sp>
      <p:sp>
        <p:nvSpPr>
          <p:cNvPr id="17" name="comp-05:value"/>
          <p:cNvSpPr txBox="1"/>
          <p:nvPr/>
        </p:nvSpPr>
        <p:spPr>
          <a:xfrm>
            <a:off x="2044190" y="2864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12명</a:t>
            </a:r>
          </a:p>
        </p:txBody>
      </p:sp>
      <p:sp>
        <p:nvSpPr>
          <p:cNvPr id="18" name="comp-05:value"/>
          <p:cNvSpPr txBox="1"/>
          <p:nvPr/>
        </p:nvSpPr>
        <p:spPr>
          <a:xfrm>
            <a:off x="4491172" y="2864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18명</a:t>
            </a:r>
          </a:p>
        </p:txBody>
      </p:sp>
      <p:sp>
        <p:nvSpPr>
          <p:cNvPr id="19" name="comp-05:value"/>
          <p:cNvSpPr txBox="1"/>
          <p:nvPr/>
        </p:nvSpPr>
        <p:spPr>
          <a:xfrm>
            <a:off x="6938155" y="2864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24명</a:t>
            </a:r>
          </a:p>
        </p:txBody>
      </p:sp>
      <p:sp>
        <p:nvSpPr>
          <p:cNvPr id="20" name="comp-05:value"/>
          <p:cNvSpPr txBox="1"/>
          <p:nvPr/>
        </p:nvSpPr>
        <p:spPr>
          <a:xfrm>
            <a:off x="9385137" y="2864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16명</a:t>
            </a:r>
          </a:p>
        </p:txBody>
      </p:sp>
      <p:cxnSp>
        <p:nvCxnSpPr>
          <p:cNvPr id="21" name="comp-05:row-rule"/>
          <p:cNvCxnSpPr/>
          <p:nvPr/>
        </p:nvCxnSpPr>
        <p:spPr>
          <a:xfrm>
            <a:off x="468000" y="365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5:criterion"/>
          <p:cNvSpPr txBox="1"/>
          <p:nvPr/>
        </p:nvSpPr>
        <p:spPr>
          <a:xfrm>
            <a:off x="468000" y="3656097"/>
            <a:ext cx="1360190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환자당 시점</a:t>
            </a:r>
          </a:p>
        </p:txBody>
      </p:sp>
      <p:sp>
        <p:nvSpPr>
          <p:cNvPr id="23" name="comp-05:value"/>
          <p:cNvSpPr txBox="1"/>
          <p:nvPr/>
        </p:nvSpPr>
        <p:spPr>
          <a:xfrm>
            <a:off x="2044190" y="3656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3시점</a:t>
            </a:r>
          </a:p>
        </p:txBody>
      </p:sp>
      <p:sp>
        <p:nvSpPr>
          <p:cNvPr id="24" name="comp-05:value"/>
          <p:cNvSpPr txBox="1"/>
          <p:nvPr/>
        </p:nvSpPr>
        <p:spPr>
          <a:xfrm>
            <a:off x="4491172" y="3656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2시점</a:t>
            </a:r>
          </a:p>
        </p:txBody>
      </p:sp>
      <p:sp>
        <p:nvSpPr>
          <p:cNvPr id="25" name="comp-05:value"/>
          <p:cNvSpPr txBox="1"/>
          <p:nvPr/>
        </p:nvSpPr>
        <p:spPr>
          <a:xfrm>
            <a:off x="6938155" y="3656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2시점</a:t>
            </a:r>
          </a:p>
        </p:txBody>
      </p:sp>
      <p:sp>
        <p:nvSpPr>
          <p:cNvPr id="26" name="comp-05:value"/>
          <p:cNvSpPr txBox="1"/>
          <p:nvPr/>
        </p:nvSpPr>
        <p:spPr>
          <a:xfrm>
            <a:off x="9385137" y="3656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1시점</a:t>
            </a:r>
          </a:p>
        </p:txBody>
      </p:sp>
      <p:cxnSp>
        <p:nvCxnSpPr>
          <p:cNvPr id="27" name="comp-05:row-rule"/>
          <p:cNvCxnSpPr/>
          <p:nvPr/>
        </p:nvCxnSpPr>
        <p:spPr>
          <a:xfrm>
            <a:off x="468000" y="444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5:criterion"/>
          <p:cNvSpPr txBox="1"/>
          <p:nvPr/>
        </p:nvSpPr>
        <p:spPr>
          <a:xfrm>
            <a:off x="468000" y="4448097"/>
            <a:ext cx="1360190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총 비용</a:t>
            </a:r>
          </a:p>
        </p:txBody>
      </p:sp>
      <p:sp>
        <p:nvSpPr>
          <p:cNvPr id="29" name="comp-05:value"/>
          <p:cNvSpPr txBox="1"/>
          <p:nvPr/>
        </p:nvSpPr>
        <p:spPr>
          <a:xfrm>
            <a:off x="2044190" y="4448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1.8억 원</a:t>
            </a:r>
          </a:p>
        </p:txBody>
      </p:sp>
      <p:sp>
        <p:nvSpPr>
          <p:cNvPr id="30" name="comp-05:value"/>
          <p:cNvSpPr txBox="1"/>
          <p:nvPr/>
        </p:nvSpPr>
        <p:spPr>
          <a:xfrm>
            <a:off x="4491172" y="4448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2.1억 원</a:t>
            </a:r>
          </a:p>
        </p:txBody>
      </p:sp>
      <p:sp>
        <p:nvSpPr>
          <p:cNvPr id="31" name="comp-05:value"/>
          <p:cNvSpPr txBox="1"/>
          <p:nvPr/>
        </p:nvSpPr>
        <p:spPr>
          <a:xfrm>
            <a:off x="6938155" y="4448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1.9억 원</a:t>
            </a:r>
          </a:p>
        </p:txBody>
      </p:sp>
      <p:sp>
        <p:nvSpPr>
          <p:cNvPr id="32" name="comp-05:value"/>
          <p:cNvSpPr txBox="1"/>
          <p:nvPr/>
        </p:nvSpPr>
        <p:spPr>
          <a:xfrm>
            <a:off x="9385137" y="4448097"/>
            <a:ext cx="2230983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1.2억 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전사체 플랫폼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세포 단위 해상도와 유전자 수를 함께 보면 Xenium 이 가장 균형이 맞다</a:t>
            </a:r>
          </a:p>
        </p:txBody>
      </p:sp>
      <p:sp>
        <p:nvSpPr>
          <p:cNvPr id="5" name="comp-05:pick-col"/>
          <p:cNvSpPr/>
          <p:nvPr/>
        </p:nvSpPr>
        <p:spPr>
          <a:xfrm>
            <a:off x="5470720" y="1584000"/>
            <a:ext cx="3126700" cy="4518000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5:pick-head"/>
          <p:cNvSpPr/>
          <p:nvPr/>
        </p:nvSpPr>
        <p:spPr>
          <a:xfrm>
            <a:off x="5470720" y="1584000"/>
            <a:ext cx="3126700" cy="1067504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5:marker"/>
          <p:cNvSpPr/>
          <p:nvPr/>
        </p:nvSpPr>
        <p:spPr>
          <a:xfrm>
            <a:off x="3790370" y="171000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8" name="comp-05:option"/>
          <p:cNvSpPr txBox="1"/>
          <p:nvPr/>
        </p:nvSpPr>
        <p:spPr>
          <a:xfrm>
            <a:off x="2452020" y="2016000"/>
            <a:ext cx="2910700" cy="509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</a:t>
            </a:r>
          </a:p>
          <a:p>
            <a:pPr algn="ctr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스팟 55 µm</a:t>
            </a:r>
          </a:p>
        </p:txBody>
      </p:sp>
      <p:sp>
        <p:nvSpPr>
          <p:cNvPr id="9" name="comp-05:marker"/>
          <p:cNvSpPr/>
          <p:nvPr/>
        </p:nvSpPr>
        <p:spPr>
          <a:xfrm>
            <a:off x="6917070" y="1710000"/>
            <a:ext cx="234000" cy="234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0" name="comp-05:option"/>
          <p:cNvSpPr txBox="1"/>
          <p:nvPr/>
        </p:nvSpPr>
        <p:spPr>
          <a:xfrm>
            <a:off x="5578720" y="2016000"/>
            <a:ext cx="2910700" cy="509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Xenium</a:t>
            </a:r>
          </a:p>
          <a:p>
            <a:pPr algn="ctr">
              <a:lnSpc>
                <a:spcPct val="120000"/>
              </a:lnSpc>
            </a:pPr>
            <a:r>
              <a:rPr sz="1200" b="0" spc="-40">
                <a:solidFill>
                  <a:srgbClr val="FFFFFF"/>
                </a:solidFill>
              </a:rPr>
              <a:t>세포 단위 이미징</a:t>
            </a:r>
          </a:p>
        </p:txBody>
      </p:sp>
      <p:sp>
        <p:nvSpPr>
          <p:cNvPr id="11" name="comp-05:marker"/>
          <p:cNvSpPr/>
          <p:nvPr/>
        </p:nvSpPr>
        <p:spPr>
          <a:xfrm>
            <a:off x="10043770" y="171000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2" name="comp-05:option"/>
          <p:cNvSpPr txBox="1"/>
          <p:nvPr/>
        </p:nvSpPr>
        <p:spPr>
          <a:xfrm>
            <a:off x="8705420" y="2016000"/>
            <a:ext cx="2910700" cy="509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Stereo-seq</a:t>
            </a:r>
          </a:p>
          <a:p>
            <a:pPr algn="ctr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DNB 0.5 µm</a:t>
            </a:r>
          </a:p>
        </p:txBody>
      </p:sp>
      <p:cxnSp>
        <p:nvCxnSpPr>
          <p:cNvPr id="13" name="comp-05:head-rule"/>
          <p:cNvCxnSpPr/>
          <p:nvPr/>
        </p:nvCxnSpPr>
        <p:spPr>
          <a:xfrm>
            <a:off x="468000" y="2651504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5:criterion"/>
          <p:cNvSpPr txBox="1"/>
          <p:nvPr/>
        </p:nvSpPr>
        <p:spPr>
          <a:xfrm>
            <a:off x="468000" y="2651504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해상도</a:t>
            </a:r>
          </a:p>
        </p:txBody>
      </p:sp>
      <p:sp>
        <p:nvSpPr>
          <p:cNvPr id="15" name="comp-05:value"/>
          <p:cNvSpPr txBox="1"/>
          <p:nvPr/>
        </p:nvSpPr>
        <p:spPr>
          <a:xfrm>
            <a:off x="2452020" y="2651504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스팟당 1–10세포</a:t>
            </a:r>
          </a:p>
        </p:txBody>
      </p:sp>
      <p:sp>
        <p:nvSpPr>
          <p:cNvPr id="16" name="comp-05:value"/>
          <p:cNvSpPr txBox="1"/>
          <p:nvPr/>
        </p:nvSpPr>
        <p:spPr>
          <a:xfrm>
            <a:off x="5578720" y="2651504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세포 하나</a:t>
            </a:r>
          </a:p>
        </p:txBody>
      </p:sp>
      <p:sp>
        <p:nvSpPr>
          <p:cNvPr id="17" name="comp-05:value"/>
          <p:cNvSpPr txBox="1"/>
          <p:nvPr/>
        </p:nvSpPr>
        <p:spPr>
          <a:xfrm>
            <a:off x="8705420" y="2651504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세포 이하</a:t>
            </a:r>
          </a:p>
        </p:txBody>
      </p:sp>
      <p:cxnSp>
        <p:nvCxnSpPr>
          <p:cNvPr id="18" name="comp-05:row-rule"/>
          <p:cNvCxnSpPr/>
          <p:nvPr/>
        </p:nvCxnSpPr>
        <p:spPr>
          <a:xfrm>
            <a:off x="468000" y="3341603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5:criterion"/>
          <p:cNvSpPr txBox="1"/>
          <p:nvPr/>
        </p:nvSpPr>
        <p:spPr>
          <a:xfrm>
            <a:off x="468000" y="3341603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측정 유전자</a:t>
            </a:r>
          </a:p>
        </p:txBody>
      </p:sp>
      <p:sp>
        <p:nvSpPr>
          <p:cNvPr id="20" name="comp-05:value"/>
          <p:cNvSpPr txBox="1"/>
          <p:nvPr/>
        </p:nvSpPr>
        <p:spPr>
          <a:xfrm>
            <a:off x="2452020" y="3341603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전사체 전체</a:t>
            </a:r>
          </a:p>
        </p:txBody>
      </p:sp>
      <p:sp>
        <p:nvSpPr>
          <p:cNvPr id="21" name="comp-05:value"/>
          <p:cNvSpPr txBox="1"/>
          <p:nvPr/>
        </p:nvSpPr>
        <p:spPr>
          <a:xfrm>
            <a:off x="5578720" y="3341603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패널 약 5,000개</a:t>
            </a:r>
          </a:p>
        </p:txBody>
      </p:sp>
      <p:sp>
        <p:nvSpPr>
          <p:cNvPr id="22" name="comp-05:value"/>
          <p:cNvSpPr txBox="1"/>
          <p:nvPr/>
        </p:nvSpPr>
        <p:spPr>
          <a:xfrm>
            <a:off x="8705420" y="3341603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전사체 전체</a:t>
            </a:r>
          </a:p>
        </p:txBody>
      </p:sp>
      <p:cxnSp>
        <p:nvCxnSpPr>
          <p:cNvPr id="23" name="comp-05:row-rule"/>
          <p:cNvCxnSpPr/>
          <p:nvPr/>
        </p:nvCxnSpPr>
        <p:spPr>
          <a:xfrm>
            <a:off x="468000" y="403170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omp-05:criterion"/>
          <p:cNvSpPr txBox="1"/>
          <p:nvPr/>
        </p:nvSpPr>
        <p:spPr>
          <a:xfrm>
            <a:off x="468000" y="4031702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절편당 비용</a:t>
            </a:r>
          </a:p>
        </p:txBody>
      </p:sp>
      <p:sp>
        <p:nvSpPr>
          <p:cNvPr id="25" name="comp-05:value"/>
          <p:cNvSpPr txBox="1"/>
          <p:nvPr/>
        </p:nvSpPr>
        <p:spPr>
          <a:xfrm>
            <a:off x="2452020" y="4031702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약 150만 원</a:t>
            </a:r>
          </a:p>
        </p:txBody>
      </p:sp>
      <p:sp>
        <p:nvSpPr>
          <p:cNvPr id="26" name="comp-05:value"/>
          <p:cNvSpPr txBox="1"/>
          <p:nvPr/>
        </p:nvSpPr>
        <p:spPr>
          <a:xfrm>
            <a:off x="5578720" y="4031702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약 400만 원</a:t>
            </a:r>
          </a:p>
        </p:txBody>
      </p:sp>
      <p:sp>
        <p:nvSpPr>
          <p:cNvPr id="27" name="comp-05:value"/>
          <p:cNvSpPr txBox="1"/>
          <p:nvPr/>
        </p:nvSpPr>
        <p:spPr>
          <a:xfrm>
            <a:off x="8705420" y="4031702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약 300만 원</a:t>
            </a:r>
          </a:p>
        </p:txBody>
      </p:sp>
      <p:cxnSp>
        <p:nvCxnSpPr>
          <p:cNvPr id="28" name="comp-05:row-rule"/>
          <p:cNvCxnSpPr/>
          <p:nvPr/>
        </p:nvCxnSpPr>
        <p:spPr>
          <a:xfrm>
            <a:off x="468000" y="472180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omp-05:criterion"/>
          <p:cNvSpPr txBox="1"/>
          <p:nvPr/>
        </p:nvSpPr>
        <p:spPr>
          <a:xfrm>
            <a:off x="468000" y="4721801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FFPE 검체</a:t>
            </a:r>
          </a:p>
        </p:txBody>
      </p:sp>
      <p:sp>
        <p:nvSpPr>
          <p:cNvPr id="30" name="comp-05:value"/>
          <p:cNvSpPr txBox="1"/>
          <p:nvPr/>
        </p:nvSpPr>
        <p:spPr>
          <a:xfrm>
            <a:off x="2452020" y="47218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가능</a:t>
            </a:r>
          </a:p>
        </p:txBody>
      </p:sp>
      <p:sp>
        <p:nvSpPr>
          <p:cNvPr id="31" name="comp-05:value"/>
          <p:cNvSpPr txBox="1"/>
          <p:nvPr/>
        </p:nvSpPr>
        <p:spPr>
          <a:xfrm>
            <a:off x="5578720" y="47218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가능</a:t>
            </a:r>
          </a:p>
        </p:txBody>
      </p:sp>
      <p:sp>
        <p:nvSpPr>
          <p:cNvPr id="32" name="comp-05:value"/>
          <p:cNvSpPr txBox="1"/>
          <p:nvPr/>
        </p:nvSpPr>
        <p:spPr>
          <a:xfrm>
            <a:off x="8705420" y="47218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제한적</a:t>
            </a:r>
          </a:p>
        </p:txBody>
      </p:sp>
      <p:cxnSp>
        <p:nvCxnSpPr>
          <p:cNvPr id="33" name="comp-05:row-rule"/>
          <p:cNvCxnSpPr/>
          <p:nvPr/>
        </p:nvCxnSpPr>
        <p:spPr>
          <a:xfrm>
            <a:off x="468000" y="541190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mp-05:criterion"/>
          <p:cNvSpPr txBox="1"/>
          <p:nvPr/>
        </p:nvSpPr>
        <p:spPr>
          <a:xfrm>
            <a:off x="468000" y="5411901"/>
            <a:ext cx="176802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학내 장비</a:t>
            </a:r>
          </a:p>
        </p:txBody>
      </p:sp>
      <p:sp>
        <p:nvSpPr>
          <p:cNvPr id="35" name="comp-05:value"/>
          <p:cNvSpPr txBox="1"/>
          <p:nvPr/>
        </p:nvSpPr>
        <p:spPr>
          <a:xfrm>
            <a:off x="2452020" y="54119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있음</a:t>
            </a:r>
          </a:p>
        </p:txBody>
      </p:sp>
      <p:sp>
        <p:nvSpPr>
          <p:cNvPr id="36" name="comp-05:value"/>
          <p:cNvSpPr txBox="1"/>
          <p:nvPr/>
        </p:nvSpPr>
        <p:spPr>
          <a:xfrm>
            <a:off x="5578720" y="54119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1" spc="-40">
                <a:solidFill>
                  <a:srgbClr val="262B33"/>
                </a:solidFill>
              </a:rPr>
              <a:t>공동 장비</a:t>
            </a:r>
          </a:p>
        </p:txBody>
      </p:sp>
      <p:sp>
        <p:nvSpPr>
          <p:cNvPr id="37" name="comp-05:value"/>
          <p:cNvSpPr txBox="1"/>
          <p:nvPr/>
        </p:nvSpPr>
        <p:spPr>
          <a:xfrm>
            <a:off x="8705420" y="5411901"/>
            <a:ext cx="2910700" cy="6900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외부 의뢰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