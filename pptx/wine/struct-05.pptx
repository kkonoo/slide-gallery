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차등발현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1만 8천 개 유전자에서 경로 핵심 유전자 80개로 좁혔다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02843" y="1896468"/>
            <a:ext cx="2862000" cy="2862000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03693" y="2898168"/>
            <a:ext cx="1860300" cy="1860300"/>
          </a:xfrm>
          <a:prstGeom prst="ellipse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132993" y="3756768"/>
            <a:ext cx="1001700" cy="10017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09497" y="2181318"/>
            <a:ext cx="1848692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18,000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5811309" y="2397318"/>
            <a:ext cx="75753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6640843" y="21163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샘플 절반 이상에서 CPM 1 이상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3967620" y="3111468"/>
            <a:ext cx="1332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1,200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507634" y="3327468"/>
            <a:ext cx="106120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6640843" y="304652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차등발현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FDR 0.05 미만 · |log2FC| 1 이상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08120" y="4041618"/>
            <a:ext cx="851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80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224693" y="4257618"/>
            <a:ext cx="1344150" cy="0"/>
          </a:xfrm>
          <a:prstGeom prst="line">
            <a:avLst/>
          </a:prstGeom>
          <a:ln w="9525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6640843" y="39766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7A1F3D"/>
                </a:solidFill>
              </a:rPr>
              <a:t>경로 농축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상위 5개 경로에 속한 유전자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80개는 모두 염증 · 섬유화 경로에 모여 있어 다음 실험 후보로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선별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등록자의 4%만 장기 추적 분석에 들어간다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321464" y="1896468"/>
            <a:ext cx="2862000" cy="2862000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693524" y="2640588"/>
            <a:ext cx="2117880" cy="2117880"/>
          </a:xfrm>
          <a:prstGeom prst="ellipse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036964" y="3327468"/>
            <a:ext cx="1431000" cy="1431000"/>
          </a:xfrm>
          <a:prstGeom prst="ellipse">
            <a:avLst/>
          </a:prstGeom>
          <a:solidFill>
            <a:srgbClr val="A96D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circle"/>
          <p:cNvSpPr/>
          <p:nvPr/>
        </p:nvSpPr>
        <p:spPr>
          <a:xfrm>
            <a:off x="4351784" y="3957108"/>
            <a:ext cx="801360" cy="80136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5:value"/>
          <p:cNvSpPr txBox="1"/>
          <p:nvPr/>
        </p:nvSpPr>
        <p:spPr>
          <a:xfrm>
            <a:off x="3934339" y="2052528"/>
            <a:ext cx="1636251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12,400</a:t>
            </a:r>
          </a:p>
        </p:txBody>
      </p:sp>
      <p:cxnSp>
        <p:nvCxnSpPr>
          <p:cNvPr id="10" name="struct-05:leader"/>
          <p:cNvCxnSpPr/>
          <p:nvPr/>
        </p:nvCxnSpPr>
        <p:spPr>
          <a:xfrm>
            <a:off x="5804965" y="2268528"/>
            <a:ext cx="88249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5:label"/>
          <p:cNvSpPr txBox="1"/>
          <p:nvPr/>
        </p:nvSpPr>
        <p:spPr>
          <a:xfrm>
            <a:off x="6759464" y="19875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전체 등록자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2015–2022 건강검진 코호트</a:t>
            </a:r>
          </a:p>
        </p:txBody>
      </p:sp>
      <p:sp>
        <p:nvSpPr>
          <p:cNvPr id="12" name="struct-05:value"/>
          <p:cNvSpPr txBox="1"/>
          <p:nvPr/>
        </p:nvSpPr>
        <p:spPr>
          <a:xfrm>
            <a:off x="4088912" y="2768028"/>
            <a:ext cx="1327104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3,150</a:t>
            </a:r>
          </a:p>
        </p:txBody>
      </p:sp>
      <p:cxnSp>
        <p:nvCxnSpPr>
          <p:cNvPr id="13" name="struct-05:leader"/>
          <p:cNvCxnSpPr/>
          <p:nvPr/>
        </p:nvCxnSpPr>
        <p:spPr>
          <a:xfrm>
            <a:off x="5623114" y="2984028"/>
            <a:ext cx="106435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ruct-05:label"/>
          <p:cNvSpPr txBox="1"/>
          <p:nvPr/>
        </p:nvSpPr>
        <p:spPr>
          <a:xfrm>
            <a:off x="6759464" y="27030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유전체 자료 보유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SNP 칩 QC 통과</a:t>
            </a:r>
          </a:p>
        </p:txBody>
      </p:sp>
      <p:sp>
        <p:nvSpPr>
          <p:cNvPr id="15" name="struct-05:value"/>
          <p:cNvSpPr txBox="1"/>
          <p:nvPr/>
        </p:nvSpPr>
        <p:spPr>
          <a:xfrm>
            <a:off x="4248596" y="3426288"/>
            <a:ext cx="1007737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1,020</a:t>
            </a:r>
          </a:p>
        </p:txBody>
      </p:sp>
      <p:cxnSp>
        <p:nvCxnSpPr>
          <p:cNvPr id="16" name="struct-05:leader"/>
          <p:cNvCxnSpPr/>
          <p:nvPr/>
        </p:nvCxnSpPr>
        <p:spPr>
          <a:xfrm>
            <a:off x="5435251" y="3642288"/>
            <a:ext cx="1252213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ruct-05:label"/>
          <p:cNvSpPr txBox="1"/>
          <p:nvPr/>
        </p:nvSpPr>
        <p:spPr>
          <a:xfrm>
            <a:off x="6759464" y="33613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5년 이상 추적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추적 중 탈락 없이 방문</a:t>
            </a:r>
          </a:p>
        </p:txBody>
      </p:sp>
      <p:sp>
        <p:nvSpPr>
          <p:cNvPr id="18" name="struct-05:value"/>
          <p:cNvSpPr txBox="1"/>
          <p:nvPr/>
        </p:nvSpPr>
        <p:spPr>
          <a:xfrm>
            <a:off x="4411886" y="4141788"/>
            <a:ext cx="681156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496</a:t>
            </a:r>
          </a:p>
        </p:txBody>
      </p:sp>
      <p:cxnSp>
        <p:nvCxnSpPr>
          <p:cNvPr id="19" name="struct-05:leader"/>
          <p:cNvCxnSpPr/>
          <p:nvPr/>
        </p:nvCxnSpPr>
        <p:spPr>
          <a:xfrm>
            <a:off x="5243144" y="4357788"/>
            <a:ext cx="1444320" cy="0"/>
          </a:xfrm>
          <a:prstGeom prst="line">
            <a:avLst/>
          </a:prstGeom>
          <a:ln w="9525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5:label"/>
          <p:cNvSpPr txBox="1"/>
          <p:nvPr/>
        </p:nvSpPr>
        <p:spPr>
          <a:xfrm>
            <a:off x="6759464" y="40768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7A1F3D"/>
                </a:solidFill>
              </a:rPr>
              <a:t>최종 분석 대상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신기능 정상 · 결측 없음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최종 대상의 성별 · 나이 분포는 전체 등록자와 차이가 없다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약물 스크리닝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화합물 2,400개 중 12개가 재현 실험까지 남았다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24149" y="2076000"/>
            <a:ext cx="3042000" cy="3042000"/>
          </a:xfrm>
          <a:prstGeom prst="ellipse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56499" y="3140700"/>
            <a:ext cx="1977300" cy="1977300"/>
          </a:xfrm>
          <a:prstGeom prst="ellipse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212799" y="4053300"/>
            <a:ext cx="1064700" cy="10647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62668" y="2327550"/>
            <a:ext cx="1964962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2,400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6018009" y="2608350"/>
            <a:ext cx="9033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7014949" y="24603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1차 스크리닝 화합물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4037026" y="3316200"/>
            <a:ext cx="1416246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96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695235" y="3597000"/>
            <a:ext cx="122611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7014949" y="344900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농도 반응 확인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92651" y="4304850"/>
            <a:ext cx="904995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394499" y="4585650"/>
            <a:ext cx="1526850" cy="0"/>
          </a:xfrm>
          <a:prstGeom prst="line">
            <a:avLst/>
          </a:prstGeom>
          <a:ln w="9525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7014949" y="44376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7A1F3D"/>
                </a:solidFill>
              </a:rPr>
              <a:t>재현 실험 통과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