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군집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넣은 분할로 병리 주석과의 일치도가 0.62에서 0.81로 올랐다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발현만 쓴 분할 (Leiden)</a:t>
            </a:r>
          </a:p>
        </p:txBody>
      </p:sp>
      <p:pic>
        <p:nvPicPr>
          <p:cNvPr id="9" name="comp-03:image" descr="comp-03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197" y="2235145"/>
            <a:ext cx="3033666" cy="227397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487223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0.62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487223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18%</a:t>
            </a:r>
          </a:p>
        </p:txBody>
      </p:sp>
      <p:cxnSp>
        <p:nvCxnSpPr>
          <p:cNvPr id="16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mp-03:metric-label"/>
          <p:cNvSpPr txBox="1"/>
          <p:nvPr/>
        </p:nvSpPr>
        <p:spPr>
          <a:xfrm>
            <a:off x="68400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18" name="comp-03:metric-value"/>
          <p:cNvSpPr txBox="1"/>
          <p:nvPr/>
        </p:nvSpPr>
        <p:spPr>
          <a:xfrm>
            <a:off x="487223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7</a:t>
            </a:r>
          </a:p>
        </p:txBody>
      </p:sp>
      <p:sp>
        <p:nvSpPr>
          <p:cNvPr id="19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omp-03:tag"/>
          <p:cNvSpPr/>
          <p:nvPr/>
        </p:nvSpPr>
        <p:spPr>
          <a:xfrm>
            <a:off x="642006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omp-03:tag-text"/>
          <p:cNvSpPr txBox="1"/>
          <p:nvPr/>
        </p:nvSpPr>
        <p:spPr>
          <a:xfrm>
            <a:off x="642006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1F3D"/>
                </a:solidFill>
              </a:rPr>
              <a:t>후</a:t>
            </a:r>
          </a:p>
        </p:txBody>
      </p:sp>
      <p:sp>
        <p:nvSpPr>
          <p:cNvPr id="22" name="comp-03:title"/>
          <p:cNvSpPr txBox="1"/>
          <p:nvPr/>
        </p:nvSpPr>
        <p:spPr>
          <a:xfrm>
            <a:off x="687069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이웃을 반영한 분할</a:t>
            </a:r>
          </a:p>
        </p:txBody>
      </p:sp>
      <p:pic>
        <p:nvPicPr>
          <p:cNvPr id="23" name="comp-03:image" descr="comp-03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257" y="2235145"/>
            <a:ext cx="3033666" cy="2273975"/>
          </a:xfrm>
          <a:prstGeom prst="rect">
            <a:avLst/>
          </a:prstGeom>
        </p:spPr>
      </p:pic>
      <p:cxnSp>
        <p:nvCxnSpPr>
          <p:cNvPr id="24" name="comp-03:metric-rule"/>
          <p:cNvCxnSpPr/>
          <p:nvPr/>
        </p:nvCxnSpPr>
        <p:spPr>
          <a:xfrm>
            <a:off x="642006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60829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7A1F3D"/>
                </a:solidFill>
              </a:rPr>
              <a:t>0.81</a:t>
            </a:r>
          </a:p>
        </p:txBody>
      </p:sp>
      <p:cxnSp>
        <p:nvCxnSpPr>
          <p:cNvPr id="27" name="comp-03:metric-rule"/>
          <p:cNvCxnSpPr/>
          <p:nvPr/>
        </p:nvCxnSpPr>
        <p:spPr>
          <a:xfrm>
            <a:off x="642006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3:metric-label"/>
          <p:cNvSpPr txBox="1"/>
          <p:nvPr/>
        </p:nvSpPr>
        <p:spPr>
          <a:xfrm>
            <a:off x="642006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29" name="comp-03:metric-value"/>
          <p:cNvSpPr txBox="1"/>
          <p:nvPr/>
        </p:nvSpPr>
        <p:spPr>
          <a:xfrm>
            <a:off x="1060829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4%</a:t>
            </a:r>
          </a:p>
        </p:txBody>
      </p:sp>
      <p:cxnSp>
        <p:nvCxnSpPr>
          <p:cNvPr id="30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omp-03:metric-label"/>
          <p:cNvSpPr txBox="1"/>
          <p:nvPr/>
        </p:nvSpPr>
        <p:spPr>
          <a:xfrm>
            <a:off x="642006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32" name="comp-03:metric-value"/>
          <p:cNvSpPr txBox="1"/>
          <p:nvPr/>
        </p:nvSpPr>
        <p:spPr>
          <a:xfrm>
            <a:off x="1060829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5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배치 보정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보정 후 세 배치가 섞이고 세포 유형 구분은 그대로 남았다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896468"/>
            <a:ext cx="5520060" cy="28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2132040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2132040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2112468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보정 전</a:t>
            </a:r>
          </a:p>
        </p:txBody>
      </p:sp>
      <p:sp>
        <p:nvSpPr>
          <p:cNvPr id="9" name="comp-03:desc"/>
          <p:cNvSpPr txBox="1"/>
          <p:nvPr/>
        </p:nvSpPr>
        <p:spPr>
          <a:xfrm>
            <a:off x="684000" y="2457613"/>
            <a:ext cx="508806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배치마다 따로 모인다</a:t>
            </a:r>
          </a:p>
        </p:txBody>
      </p:sp>
      <p:pic>
        <p:nvPicPr>
          <p:cNvPr id="10" name="comp-03:image" descr="comp-03-umap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46" y="2857881"/>
            <a:ext cx="2248066" cy="1684587"/>
          </a:xfrm>
          <a:prstGeom prst="rect">
            <a:avLst/>
          </a:prstGeom>
        </p:spPr>
      </p:pic>
      <p:sp>
        <p:nvSpPr>
          <p:cNvPr id="11" name="comp-03:metric-label"/>
          <p:cNvSpPr txBox="1"/>
          <p:nvPr/>
        </p:nvSpPr>
        <p:spPr>
          <a:xfrm>
            <a:off x="3940358" y="3010483"/>
            <a:ext cx="183170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배치 혼합 (iLISI)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3940358" y="3256895"/>
            <a:ext cx="1831702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1.1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3940358" y="3761135"/>
            <a:ext cx="1831702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3940358" y="3815135"/>
            <a:ext cx="183170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유형 보존 (cLISI)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3940358" y="4061546"/>
            <a:ext cx="1831702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1.02</a:t>
            </a:r>
          </a:p>
        </p:txBody>
      </p:sp>
      <p:sp>
        <p:nvSpPr>
          <p:cNvPr id="16" name="comp-03:panel"/>
          <p:cNvSpPr/>
          <p:nvPr/>
        </p:nvSpPr>
        <p:spPr>
          <a:xfrm>
            <a:off x="6204060" y="1896468"/>
            <a:ext cx="5520060" cy="28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omp-03:tag"/>
          <p:cNvSpPr/>
          <p:nvPr/>
        </p:nvSpPr>
        <p:spPr>
          <a:xfrm>
            <a:off x="6420060" y="2132040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comp-03:tag-text"/>
          <p:cNvSpPr txBox="1"/>
          <p:nvPr/>
        </p:nvSpPr>
        <p:spPr>
          <a:xfrm>
            <a:off x="6420060" y="2132040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1F3D"/>
                </a:solidFill>
              </a:rPr>
              <a:t>후</a:t>
            </a:r>
          </a:p>
        </p:txBody>
      </p:sp>
      <p:sp>
        <p:nvSpPr>
          <p:cNvPr id="19" name="comp-03:title"/>
          <p:cNvSpPr txBox="1"/>
          <p:nvPr/>
        </p:nvSpPr>
        <p:spPr>
          <a:xfrm>
            <a:off x="6870694" y="2112468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Harmony 보정 후</a:t>
            </a:r>
          </a:p>
        </p:txBody>
      </p:sp>
      <p:sp>
        <p:nvSpPr>
          <p:cNvPr id="20" name="comp-03:desc"/>
          <p:cNvSpPr txBox="1"/>
          <p:nvPr/>
        </p:nvSpPr>
        <p:spPr>
          <a:xfrm>
            <a:off x="6420060" y="2457613"/>
            <a:ext cx="508806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배치가 섞이고 네 유형은 유지된다</a:t>
            </a:r>
          </a:p>
        </p:txBody>
      </p:sp>
      <p:pic>
        <p:nvPicPr>
          <p:cNvPr id="21" name="comp-03:image" descr="comp-03-umap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6293" y="2857881"/>
            <a:ext cx="2247893" cy="1684587"/>
          </a:xfrm>
          <a:prstGeom prst="rect">
            <a:avLst/>
          </a:prstGeom>
        </p:spPr>
      </p:pic>
      <p:sp>
        <p:nvSpPr>
          <p:cNvPr id="22" name="comp-03:metric-label"/>
          <p:cNvSpPr txBox="1"/>
          <p:nvPr/>
        </p:nvSpPr>
        <p:spPr>
          <a:xfrm>
            <a:off x="9676418" y="3010483"/>
            <a:ext cx="183170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배치 혼합 (iLISI)</a:t>
            </a:r>
          </a:p>
        </p:txBody>
      </p:sp>
      <p:sp>
        <p:nvSpPr>
          <p:cNvPr id="23" name="comp-03:metric-value"/>
          <p:cNvSpPr txBox="1"/>
          <p:nvPr/>
        </p:nvSpPr>
        <p:spPr>
          <a:xfrm>
            <a:off x="9676418" y="3256895"/>
            <a:ext cx="1831702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spc="-40">
                <a:solidFill>
                  <a:srgbClr val="7A1F3D"/>
                </a:solidFill>
              </a:rPr>
              <a:t>2.7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9676418" y="3761135"/>
            <a:ext cx="1831702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9676418" y="3815135"/>
            <a:ext cx="183170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유형 보존 (cLISI)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9676418" y="4061546"/>
            <a:ext cx="1831702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1.04</a:t>
            </a:r>
          </a:p>
        </p:txBody>
      </p:sp>
      <p:cxnSp>
        <p:nvCxnSpPr>
          <p:cNvPr id="2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이후 분석은 보정한 임베딩으로 한다. 유형 표지 유전자는 보정 전 발현값으로 확인한다.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파이프라인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분석을 자동화하자 한 표본 처리 시간이 12시간에서 40분으로 줄었다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662049"/>
            <a:ext cx="5520060" cy="428385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97621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97621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1878049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수작업 분석</a:t>
            </a:r>
          </a:p>
        </p:txBody>
      </p:sp>
      <p:sp>
        <p:nvSpPr>
          <p:cNvPr id="9" name="comp-03:desc"/>
          <p:cNvSpPr txBox="1"/>
          <p:nvPr/>
        </p:nvSpPr>
        <p:spPr>
          <a:xfrm>
            <a:off x="684000" y="2223194"/>
            <a:ext cx="508806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단계마다 스크립트를 손으로 돌리고 결과를 옮겨 적었다</a:t>
            </a:r>
          </a:p>
        </p:txBody>
      </p:sp>
      <p:cxnSp>
        <p:nvCxnSpPr>
          <p:cNvPr id="10" name="comp-03:metric-rule"/>
          <p:cNvCxnSpPr/>
          <p:nvPr/>
        </p:nvCxnSpPr>
        <p:spPr>
          <a:xfrm>
            <a:off x="684000" y="262346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2623462"/>
            <a:ext cx="3325120" cy="1157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표본당 처리 시간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4009120" y="2623462"/>
            <a:ext cx="1762940" cy="1157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4000" b="1" spc="-40">
                <a:solidFill>
                  <a:srgbClr val="6B7280"/>
                </a:solidFill>
              </a:rPr>
              <a:t>12시간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378086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3780862"/>
            <a:ext cx="332512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손으로 하는 단계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4009120" y="3780862"/>
            <a:ext cx="176294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200" b="1" spc="-40">
                <a:solidFill>
                  <a:srgbClr val="6B7280"/>
                </a:solidFill>
              </a:rPr>
              <a:t>9개</a:t>
            </a:r>
          </a:p>
        </p:txBody>
      </p:sp>
      <p:cxnSp>
        <p:nvCxnSpPr>
          <p:cNvPr id="16" name="comp-03:metric-rule"/>
          <p:cNvCxnSpPr/>
          <p:nvPr/>
        </p:nvCxnSpPr>
        <p:spPr>
          <a:xfrm>
            <a:off x="684000" y="475538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mp-03:metric-label"/>
          <p:cNvSpPr txBox="1"/>
          <p:nvPr/>
        </p:nvSpPr>
        <p:spPr>
          <a:xfrm>
            <a:off x="684000" y="4755382"/>
            <a:ext cx="332512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재현 실패 (최근 10회)</a:t>
            </a:r>
          </a:p>
        </p:txBody>
      </p:sp>
      <p:sp>
        <p:nvSpPr>
          <p:cNvPr id="18" name="comp-03:metric-value"/>
          <p:cNvSpPr txBox="1"/>
          <p:nvPr/>
        </p:nvSpPr>
        <p:spPr>
          <a:xfrm>
            <a:off x="4009120" y="4755382"/>
            <a:ext cx="176294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200" b="1" spc="-40">
                <a:solidFill>
                  <a:srgbClr val="6B7280"/>
                </a:solidFill>
              </a:rPr>
              <a:t>4회</a:t>
            </a:r>
          </a:p>
        </p:txBody>
      </p:sp>
      <p:sp>
        <p:nvSpPr>
          <p:cNvPr id="19" name="comp-03:panel"/>
          <p:cNvSpPr/>
          <p:nvPr/>
        </p:nvSpPr>
        <p:spPr>
          <a:xfrm>
            <a:off x="6204060" y="1662049"/>
            <a:ext cx="5520060" cy="428385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omp-03:tag"/>
          <p:cNvSpPr/>
          <p:nvPr/>
        </p:nvSpPr>
        <p:spPr>
          <a:xfrm>
            <a:off x="6420060" y="1897621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omp-03:tag-text"/>
          <p:cNvSpPr txBox="1"/>
          <p:nvPr/>
        </p:nvSpPr>
        <p:spPr>
          <a:xfrm>
            <a:off x="6420060" y="1897621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1F3D"/>
                </a:solidFill>
              </a:rPr>
              <a:t>후</a:t>
            </a:r>
          </a:p>
        </p:txBody>
      </p:sp>
      <p:sp>
        <p:nvSpPr>
          <p:cNvPr id="22" name="comp-03:title"/>
          <p:cNvSpPr txBox="1"/>
          <p:nvPr/>
        </p:nvSpPr>
        <p:spPr>
          <a:xfrm>
            <a:off x="6870694" y="1878049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Snakemake 파이프라인</a:t>
            </a:r>
          </a:p>
        </p:txBody>
      </p:sp>
      <p:sp>
        <p:nvSpPr>
          <p:cNvPr id="23" name="comp-03:desc"/>
          <p:cNvSpPr txBox="1"/>
          <p:nvPr/>
        </p:nvSpPr>
        <p:spPr>
          <a:xfrm>
            <a:off x="6420060" y="2223194"/>
            <a:ext cx="508806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명령 하나로 정렬부터 군집까지 돌고 기록이 남는다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6420060" y="262346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2623462"/>
            <a:ext cx="3325120" cy="1157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표본당 처리 시간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9745180" y="2623462"/>
            <a:ext cx="1762940" cy="1157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4000" b="1" spc="-40">
                <a:solidFill>
                  <a:srgbClr val="7A1F3D"/>
                </a:solidFill>
              </a:rPr>
              <a:t>40분</a:t>
            </a:r>
          </a:p>
        </p:txBody>
      </p:sp>
      <p:cxnSp>
        <p:nvCxnSpPr>
          <p:cNvPr id="27" name="comp-03:metric-rule"/>
          <p:cNvCxnSpPr/>
          <p:nvPr/>
        </p:nvCxnSpPr>
        <p:spPr>
          <a:xfrm>
            <a:off x="6420060" y="378086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3:metric-label"/>
          <p:cNvSpPr txBox="1"/>
          <p:nvPr/>
        </p:nvSpPr>
        <p:spPr>
          <a:xfrm>
            <a:off x="6420060" y="3780862"/>
            <a:ext cx="332512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손으로 하는 단계</a:t>
            </a:r>
          </a:p>
        </p:txBody>
      </p:sp>
      <p:sp>
        <p:nvSpPr>
          <p:cNvPr id="29" name="comp-03:metric-value"/>
          <p:cNvSpPr txBox="1"/>
          <p:nvPr/>
        </p:nvSpPr>
        <p:spPr>
          <a:xfrm>
            <a:off x="9745180" y="3780862"/>
            <a:ext cx="176294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1개</a:t>
            </a:r>
          </a:p>
        </p:txBody>
      </p:sp>
      <p:cxnSp>
        <p:nvCxnSpPr>
          <p:cNvPr id="30" name="comp-03:metric-rule"/>
          <p:cNvCxnSpPr/>
          <p:nvPr/>
        </p:nvCxnSpPr>
        <p:spPr>
          <a:xfrm>
            <a:off x="6420060" y="475538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omp-03:metric-label"/>
          <p:cNvSpPr txBox="1"/>
          <p:nvPr/>
        </p:nvSpPr>
        <p:spPr>
          <a:xfrm>
            <a:off x="6420060" y="4755382"/>
            <a:ext cx="332512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재현 실패 (최근 10회)</a:t>
            </a:r>
          </a:p>
        </p:txBody>
      </p:sp>
      <p:sp>
        <p:nvSpPr>
          <p:cNvPr id="32" name="comp-03:metric-value"/>
          <p:cNvSpPr txBox="1"/>
          <p:nvPr/>
        </p:nvSpPr>
        <p:spPr>
          <a:xfrm>
            <a:off x="9745180" y="4755382"/>
            <a:ext cx="176294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0회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