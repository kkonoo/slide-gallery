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학부 연구생부터 박사까지 한 회로 연구 안에서 단계적으로 키운다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025498"/>
            <a:ext cx="2652030" cy="173297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648000" y="321607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026000" y="320549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연구생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648000" y="360464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648000" y="414388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칼슘 이미징 기초 실습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649155"/>
            <a:ext cx="2652030" cy="2109313"/>
          </a:xfrm>
          <a:prstGeom prst="rect">
            <a:avLst/>
          </a:prstGeom>
          <a:solidFill>
            <a:srgbClr val="E6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16030" y="2839727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3894030" y="2829155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16030" y="3228300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4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16030" y="3767541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해마 회로 기록 담당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272811"/>
            <a:ext cx="2652030" cy="2485657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384060" y="2463384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762060" y="2452811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384060" y="2851956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2</a:t>
            </a:r>
            <a:r>
              <a:rPr sz="1600" b="0" spc="-40">
                <a:solidFill>
                  <a:srgbClr val="E7D7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384060" y="3391198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E7D7DC"/>
                </a:solidFill>
              </a:rPr>
              <a:t>광유전학 회로 조작 과제 주도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1896468"/>
            <a:ext cx="2652030" cy="2862000"/>
          </a:xfrm>
          <a:prstGeom prst="rect">
            <a:avLst/>
          </a:prstGeom>
          <a:solidFill>
            <a:srgbClr val="DAC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252090" y="2087040"/>
            <a:ext cx="270000" cy="270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630090" y="2076468"/>
            <a:ext cx="191403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252090" y="2475613"/>
            <a:ext cx="2292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252090" y="3014855"/>
            <a:ext cx="2292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과제 총괄 · 후배 지도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5년간 석·박사 8명을 배출하고, 그중 4명은 신경과학 연구기관에 진출하는 것을 목표로 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 실적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3년간 석사 단계에서 가장 많은 인력이 자랐다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438916"/>
            <a:ext cx="2652030" cy="1761253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67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672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학부 인턴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4164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719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여름·겨울 단기 연구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3336030" y="2970916"/>
            <a:ext cx="2652030" cy="2229253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3570030" y="320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4061430" y="3204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석사 졸업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3570030" y="3696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9</a:t>
            </a:r>
            <a:r>
              <a:rPr sz="1600" b="0" spc="-40">
                <a:solidFill>
                  <a:srgbClr val="E7D7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3570030" y="4251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E7D7DC"/>
                </a:solidFill>
              </a:rPr>
              <a:t>6명 바이오 기업 취업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6204060" y="2502916"/>
            <a:ext cx="2652030" cy="2697253"/>
          </a:xfrm>
          <a:prstGeom prst="rect">
            <a:avLst/>
          </a:prstGeom>
          <a:solidFill>
            <a:srgbClr val="E6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6438060" y="2736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6929460" y="2736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 졸업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6438060" y="3228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6438060" y="3783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2명 해외 박사후 과정</a:t>
            </a:r>
          </a:p>
        </p:txBody>
      </p:sp>
      <p:sp>
        <p:nvSpPr>
          <p:cNvPr id="20" name="people-03:step"/>
          <p:cNvSpPr/>
          <p:nvPr/>
        </p:nvSpPr>
        <p:spPr>
          <a:xfrm>
            <a:off x="9072090" y="2034916"/>
            <a:ext cx="2652030" cy="3165253"/>
          </a:xfrm>
          <a:prstGeom prst="rect">
            <a:avLst/>
          </a:prstGeom>
          <a:solidFill>
            <a:srgbClr val="DAC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3:marker"/>
          <p:cNvSpPr/>
          <p:nvPr/>
        </p:nvSpPr>
        <p:spPr>
          <a:xfrm>
            <a:off x="9306090" y="2268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22" name="people-03:stage"/>
          <p:cNvSpPr txBox="1"/>
          <p:nvPr/>
        </p:nvSpPr>
        <p:spPr>
          <a:xfrm>
            <a:off x="9797490" y="2268916"/>
            <a:ext cx="169263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 독립</a:t>
            </a:r>
          </a:p>
        </p:txBody>
      </p:sp>
      <p:sp>
        <p:nvSpPr>
          <p:cNvPr id="23" name="people-03:count"/>
          <p:cNvSpPr txBox="1"/>
          <p:nvPr/>
        </p:nvSpPr>
        <p:spPr>
          <a:xfrm>
            <a:off x="9306090" y="2760316"/>
            <a:ext cx="218403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24" name="people-03:role"/>
          <p:cNvSpPr txBox="1"/>
          <p:nvPr/>
        </p:nvSpPr>
        <p:spPr>
          <a:xfrm>
            <a:off x="9306090" y="3315758"/>
            <a:ext cx="2184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국내 대학 교원 임용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인력양성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대학원 세 단계마다 맡는 분석 범위를 넓혀 간다</a:t>
            </a:r>
          </a:p>
        </p:txBody>
      </p:sp>
      <p:sp>
        <p:nvSpPr>
          <p:cNvPr id="5" name="people-03:step"/>
          <p:cNvSpPr/>
          <p:nvPr/>
        </p:nvSpPr>
        <p:spPr>
          <a:xfrm>
            <a:off x="468000" y="3126916"/>
            <a:ext cx="3608040" cy="1761253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3:marker"/>
          <p:cNvSpPr/>
          <p:nvPr/>
        </p:nvSpPr>
        <p:spPr>
          <a:xfrm>
            <a:off x="702000" y="3360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people-03:stage"/>
          <p:cNvSpPr txBox="1"/>
          <p:nvPr/>
        </p:nvSpPr>
        <p:spPr>
          <a:xfrm>
            <a:off x="1193400" y="3360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석사과정</a:t>
            </a:r>
          </a:p>
        </p:txBody>
      </p:sp>
      <p:sp>
        <p:nvSpPr>
          <p:cNvPr id="8" name="people-03:count"/>
          <p:cNvSpPr txBox="1"/>
          <p:nvPr/>
        </p:nvSpPr>
        <p:spPr>
          <a:xfrm>
            <a:off x="702000" y="3852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9" name="people-03:role"/>
          <p:cNvSpPr txBox="1"/>
          <p:nvPr/>
        </p:nvSpPr>
        <p:spPr>
          <a:xfrm>
            <a:off x="702000" y="4407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표준 파이프라인으로 데이터 정리</a:t>
            </a:r>
          </a:p>
        </p:txBody>
      </p:sp>
      <p:sp>
        <p:nvSpPr>
          <p:cNvPr id="10" name="people-03:step"/>
          <p:cNvSpPr/>
          <p:nvPr/>
        </p:nvSpPr>
        <p:spPr>
          <a:xfrm>
            <a:off x="4292040" y="2658916"/>
            <a:ext cx="3608040" cy="2229253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3:marker"/>
          <p:cNvSpPr/>
          <p:nvPr/>
        </p:nvSpPr>
        <p:spPr>
          <a:xfrm>
            <a:off x="4526040" y="2892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people-03:stage"/>
          <p:cNvSpPr txBox="1"/>
          <p:nvPr/>
        </p:nvSpPr>
        <p:spPr>
          <a:xfrm>
            <a:off x="5017440" y="2892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박사과정</a:t>
            </a:r>
          </a:p>
        </p:txBody>
      </p:sp>
      <p:sp>
        <p:nvSpPr>
          <p:cNvPr id="13" name="people-03:count"/>
          <p:cNvSpPr txBox="1"/>
          <p:nvPr/>
        </p:nvSpPr>
        <p:spPr>
          <a:xfrm>
            <a:off x="4526040" y="3384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FFFFFF"/>
                </a:solidFill>
              </a:rPr>
              <a:t>3</a:t>
            </a:r>
            <a:r>
              <a:rPr sz="1600" b="0" spc="-40">
                <a:solidFill>
                  <a:srgbClr val="E7D7DC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4" name="people-03:role"/>
          <p:cNvSpPr txBox="1"/>
          <p:nvPr/>
        </p:nvSpPr>
        <p:spPr>
          <a:xfrm>
            <a:off x="4526040" y="3939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E7D7DC"/>
                </a:solidFill>
              </a:rPr>
              <a:t>새 분석 방법 개발</a:t>
            </a:r>
          </a:p>
        </p:txBody>
      </p:sp>
      <p:sp>
        <p:nvSpPr>
          <p:cNvPr id="15" name="people-03:step"/>
          <p:cNvSpPr/>
          <p:nvPr/>
        </p:nvSpPr>
        <p:spPr>
          <a:xfrm>
            <a:off x="8116080" y="2190916"/>
            <a:ext cx="3608040" cy="2697253"/>
          </a:xfrm>
          <a:prstGeom prst="rect">
            <a:avLst/>
          </a:prstGeom>
          <a:solidFill>
            <a:srgbClr val="DAC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3:marker"/>
          <p:cNvSpPr/>
          <p:nvPr/>
        </p:nvSpPr>
        <p:spPr>
          <a:xfrm>
            <a:off x="8350080" y="2424916"/>
            <a:ext cx="351000" cy="351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people-03:stage"/>
          <p:cNvSpPr txBox="1"/>
          <p:nvPr/>
        </p:nvSpPr>
        <p:spPr>
          <a:xfrm>
            <a:off x="8841480" y="2424916"/>
            <a:ext cx="2648640" cy="35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박사후연구원</a:t>
            </a:r>
          </a:p>
        </p:txBody>
      </p:sp>
      <p:sp>
        <p:nvSpPr>
          <p:cNvPr id="18" name="people-03:count"/>
          <p:cNvSpPr txBox="1"/>
          <p:nvPr/>
        </p:nvSpPr>
        <p:spPr>
          <a:xfrm>
            <a:off x="8350080" y="2916316"/>
            <a:ext cx="3140040" cy="48524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spc="-40">
                <a:solidFill>
                  <a:srgbClr val="262B33"/>
                </a:solidFill>
              </a:rPr>
              <a:t>1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19" name="people-03:role"/>
          <p:cNvSpPr txBox="1"/>
          <p:nvPr/>
        </p:nvSpPr>
        <p:spPr>
          <a:xfrm>
            <a:off x="8350080" y="3471758"/>
            <a:ext cx="3140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다기관 데이터 통합 총괄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