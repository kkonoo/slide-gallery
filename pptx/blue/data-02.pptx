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상대 발현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2563C9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 조직</c:v>
                </c:pt>
                <c:pt idx="1">
                  <c:v>종양 내부</c:v>
                </c:pt>
                <c:pt idx="2">
                  <c:v>종양 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발현 (종양 내부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환자군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1"/>
            <c:spPr>
              <a:solidFill>
                <a:srgbClr val="2563C9"/>
              </a:solidFill>
            </c:spPr>
          </c:dPt>
          <c:dLbls>
            <c:dLbl>
              <c:idx val="1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31%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18</c:v>
                </c:pt>
                <c:pt idx="1">
                  <c:v>31</c:v>
                </c:pt>
                <c:pt idx="2">
                  <c:v>9</c:v>
                </c:pt>
                <c:pt idx="3">
                  <c:v>22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대조군</c:v>
                </c:pt>
              </c:strCache>
            </c:strRef>
          </c:tx>
          <c:spPr>
            <a:solidFill>
              <a:srgbClr val="CBCED3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섬유아세포</c:v>
                </c:pt>
                <c:pt idx="1">
                  <c:v>대식세포</c:v>
                </c:pt>
                <c:pt idx="2">
                  <c:v>B세포</c:v>
                </c:pt>
                <c:pt idx="3">
                  <c:v>T세포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17</c:v>
                </c:pt>
                <c:pt idx="1">
                  <c:v>21</c:v>
                </c:pt>
                <c:pt idx="2">
                  <c:v>11</c:v>
                </c:pt>
                <c:pt idx="3">
                  <c:v>28</c:v>
                </c:pt>
              </c:numCache>
            </c:numRef>
          </c:val>
        </c:ser>
        <c:gapWidth val="70"/>
        <c:overlap val="-1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세포 비율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legend>
      <c:legendPos val="t"/>
      <c:overlay val="0"/>
      <c:txPr>
        <a:bodyPr/>
        <a:lstStyle/>
        <a:p>
          <a:pPr>
            <a:defRPr sz="1200" b="0">
              <a:solidFill>
                <a:srgbClr val="6B7280"/>
              </a:solidFill>
              <a:latin typeface="Pretendard"/>
            </a:defRPr>
          </a:pPr>
        </a:p>
      </c:txPr>
    </c:legend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종양 크기</c:v>
                </c:pt>
              </c:strCache>
            </c:strRef>
          </c:tx>
          <c:spPr>
            <a:ln w="25400">
              <a:solidFill>
                <a:srgbClr val="AEB1B9"/>
              </a:solidFill>
            </a:ln>
          </c:spPr>
          <c:marker>
            <c:symbol val="circle"/>
            <c:size val="6"/>
            <c:spPr>
              <a:solidFill>
                <a:srgbClr val="AEB1B9"/>
              </a:solidFill>
              <a:ln>
                <a:solidFill>
                  <a:srgbClr val="AEB1B9"/>
                </a:solidFill>
              </a:ln>
            </c:spPr>
          </c:marker>
          <c:dPt>
            <c:idx val="4"/>
            <c:marker>
              <c:symbol val="circle"/>
              <c:size val="11"/>
              <c:spPr>
                <a:solidFill>
                  <a:srgbClr val="2563C9"/>
                </a:solidFill>
                <a:ln>
                  <a:solidFill>
                    <a:srgbClr val="2563C9"/>
                  </a:solidFill>
                </a:ln>
              </c:spPr>
            </c:marker>
            <c:spPr>
              <a:solidFill>
                <a:srgbClr val="2563C9"/>
              </a:solidFill>
            </c:spPr>
          </c:dPt>
          <c:dLbls>
            <c:dLbl>
              <c:idx val="4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2563C9"/>
                        </a:solidFill>
                        <a:latin typeface="Pretendard"/>
                      </a:rPr>
                      <a:t>−60%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0개월</c:v>
                </c:pt>
                <c:pt idx="1">
                  <c:v>3개월</c:v>
                </c:pt>
                <c:pt idx="2">
                  <c:v>6개월</c:v>
                </c:pt>
                <c:pt idx="3">
                  <c:v>9개월</c:v>
                </c:pt>
                <c:pt idx="4">
                  <c:v>12개월</c:v>
                </c:pt>
              </c:strCache>
            </c:strRef>
          </c:cat>
          <c:val>
            <c:numRef>
              <c:f>Sheet1!$B$2:$B$6</c:f>
              <c:numCache>
                <c:formatCode>0</c:formatCode>
                <c:ptCount val="5"/>
                <c:pt idx="0">
                  <c:v>100</c:v>
                </c:pt>
                <c:pt idx="1">
                  <c:v>82</c:v>
                </c:pt>
                <c:pt idx="2">
                  <c:v>61</c:v>
                </c:pt>
                <c:pt idx="3">
                  <c:v>48</c:v>
                </c:pt>
                <c:pt idx="4">
                  <c:v>40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기준 대비 종양 크기 (%)</a:t>
                </a:r>
              </a:p>
            </c:rich>
          </c:tx>
          <c:layout/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(data-02-c).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8E3F5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예비 결과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7 표지 유전자는 종양 경계부에서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클러스터 7 표지 유전자의 평균 발현. 절편 4개, 스팟 1,200개.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구성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환자군에서 대식세포 비율이 31%로 가장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환자군 12명, 대조군 10명의 단일세포 주석 비율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치료 반응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12개월 뒤 종양 크기가 60% 줄었어요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치료군 24명 평균.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블루 클린 16:9">
  <a:themeElements>
    <a:clrScheme name="HaLab 블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563C9"/>
      </a:accent1>
      <a:accent2>
        <a:srgbClr val="14A884"/>
      </a:accent2>
      <a:accent3>
        <a:srgbClr val="36B3C2"/>
      </a:accent3>
      <a:accent4>
        <a:srgbClr val="FFD93D"/>
      </a:accent4>
      <a:accent5>
        <a:srgbClr val="A8C1E9"/>
      </a:accent5>
      <a:accent6>
        <a:srgbClr val="E2E5EA"/>
      </a:accent6>
      <a:hlink>
        <a:srgbClr val="2563C9"/>
      </a:hlink>
      <a:folHlink>
        <a:srgbClr val="36B3C2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블루 클린 16:9</dc:title>
  <dc:creator>HaLab</dc:creator>
</cp:coreProperties>
</file>