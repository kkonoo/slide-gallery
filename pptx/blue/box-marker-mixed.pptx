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(layouts-b).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(list-01-b).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목차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r>
              <a:t>I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0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r>
              <a:t>II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1"/>
          </p:nvPr>
        </p:nvSpPr>
        <p:spPr/>
        <p:txBody>
          <a:bodyPr/>
          <a:lstStyle/>
          <a:p>
            <a:r>
              <a:t>In the previous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r>
              <a:t>III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32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r>
              <a:t>IV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33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r>
              <a:t>V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34"/>
          </p:nvPr>
        </p:nvSpPr>
        <p:spPr/>
        <p:txBody>
          <a:bodyPr/>
          <a:lstStyle/>
          <a:p>
            <a:r>
              <a:t>Next plans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Progress report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Progress report는 다섯 부분이에요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Background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알려진 것과 한계, 연구 목표. 두 번째부터는 1–2장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In the previous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지난번 Next plans와 받은 피드백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Results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왜 했는지 → 결과 → 한 줄 요약</a:t>
            </a:r>
          </a:p>
        </p:txBody>
      </p:sp>
      <p:cxnSp>
        <p:nvCxnSpPr>
          <p:cNvPr id="16" name="list-01:line"/>
          <p:cNvCxnSpPr/>
          <p:nvPr/>
        </p:nvCxnSpPr>
        <p:spPr>
          <a:xfrm>
            <a:off x="6204060" y="296400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ist-01:marker"/>
          <p:cNvSpPr/>
          <p:nvPr/>
        </p:nvSpPr>
        <p:spPr>
          <a:xfrm>
            <a:off x="6204060" y="1984446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list-01:title"/>
          <p:cNvSpPr txBox="1"/>
          <p:nvPr/>
        </p:nvSpPr>
        <p:spPr>
          <a:xfrm>
            <a:off x="6672060" y="1982874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Summary</a:t>
            </a:r>
          </a:p>
        </p:txBody>
      </p:sp>
      <p:sp>
        <p:nvSpPr>
          <p:cNvPr id="19" name="list-01:desc"/>
          <p:cNvSpPr txBox="1"/>
          <p:nvPr/>
        </p:nvSpPr>
        <p:spPr>
          <a:xfrm>
            <a:off x="6672060" y="2328019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이번에 알게 된 것 3줄 이내</a:t>
            </a:r>
          </a:p>
        </p:txBody>
      </p:sp>
      <p:sp>
        <p:nvSpPr>
          <p:cNvPr id="20" name="list-01:marker"/>
          <p:cNvSpPr/>
          <p:nvPr/>
        </p:nvSpPr>
        <p:spPr>
          <a:xfrm>
            <a:off x="6204060" y="3325573"/>
            <a:ext cx="288000" cy="288000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1" name="list-01:title"/>
          <p:cNvSpPr txBox="1"/>
          <p:nvPr/>
        </p:nvSpPr>
        <p:spPr>
          <a:xfrm>
            <a:off x="6672060" y="3324000"/>
            <a:ext cx="5052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Next plans</a:t>
            </a:r>
          </a:p>
        </p:txBody>
      </p:sp>
      <p:sp>
        <p:nvSpPr>
          <p:cNvPr id="22" name="list-01:desc"/>
          <p:cNvSpPr txBox="1"/>
          <p:nvPr/>
        </p:nvSpPr>
        <p:spPr>
          <a:xfrm>
            <a:off x="6672060" y="3669145"/>
            <a:ext cx="505206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다음 단계와 도움이 필요한 것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단일세포 전사체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품질 필터링이 결과를 좌우해요</a:t>
            </a:r>
          </a:p>
        </p:txBody>
      </p:sp>
      <p:cxnSp>
        <p:nvCxnSpPr>
          <p:cNvPr id="5" name="flow-01:line"/>
          <p:cNvCxnSpPr/>
          <p:nvPr/>
        </p:nvCxnSpPr>
        <p:spPr>
          <a:xfrm>
            <a:off x="702000" y="2816041"/>
            <a:ext cx="9004896" cy="0"/>
          </a:xfrm>
          <a:prstGeom prst="line">
            <a:avLst/>
          </a:prstGeom>
          <a:ln w="15875">
            <a:solidFill>
              <a:srgbClr val="A8C1E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low-01:marker"/>
          <p:cNvSpPr/>
          <p:nvPr/>
        </p:nvSpPr>
        <p:spPr>
          <a:xfrm>
            <a:off x="468000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flow-01:title"/>
          <p:cNvSpPr txBox="1"/>
          <p:nvPr/>
        </p:nvSpPr>
        <p:spPr>
          <a:xfrm>
            <a:off x="468000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세포 분리</a:t>
            </a:r>
          </a:p>
        </p:txBody>
      </p:sp>
      <p:sp>
        <p:nvSpPr>
          <p:cNvPr id="8" name="flow-01:desc"/>
          <p:cNvSpPr txBox="1"/>
          <p:nvPr/>
        </p:nvSpPr>
        <p:spPr>
          <a:xfrm>
            <a:off x="468000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조직을 효소로 풀어 단일세포 현탁액</a:t>
            </a:r>
          </a:p>
        </p:txBody>
      </p:sp>
      <p:sp>
        <p:nvSpPr>
          <p:cNvPr id="9" name="flow-01:marker"/>
          <p:cNvSpPr/>
          <p:nvPr/>
        </p:nvSpPr>
        <p:spPr>
          <a:xfrm>
            <a:off x="2719224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0" name="flow-01:title"/>
          <p:cNvSpPr txBox="1"/>
          <p:nvPr/>
        </p:nvSpPr>
        <p:spPr>
          <a:xfrm>
            <a:off x="2719224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라이브러리 제작</a:t>
            </a:r>
          </a:p>
        </p:txBody>
      </p:sp>
      <p:sp>
        <p:nvSpPr>
          <p:cNvPr id="11" name="flow-01:desc"/>
          <p:cNvSpPr txBox="1"/>
          <p:nvPr/>
        </p:nvSpPr>
        <p:spPr>
          <a:xfrm>
            <a:off x="2719224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세포마다 바코드를 붙여 cDNA 증폭</a:t>
            </a:r>
          </a:p>
        </p:txBody>
      </p:sp>
      <p:sp>
        <p:nvSpPr>
          <p:cNvPr id="12" name="flow-01:marker"/>
          <p:cNvSpPr/>
          <p:nvPr/>
        </p:nvSpPr>
        <p:spPr>
          <a:xfrm>
            <a:off x="4970448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3" name="flow-01:title"/>
          <p:cNvSpPr txBox="1"/>
          <p:nvPr/>
        </p:nvSpPr>
        <p:spPr>
          <a:xfrm>
            <a:off x="4970448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시퀀싱</a:t>
            </a:r>
          </a:p>
        </p:txBody>
      </p:sp>
      <p:sp>
        <p:nvSpPr>
          <p:cNvPr id="14" name="flow-01:desc"/>
          <p:cNvSpPr txBox="1"/>
          <p:nvPr/>
        </p:nvSpPr>
        <p:spPr>
          <a:xfrm>
            <a:off x="4970448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세포당 2–5만 리드</a:t>
            </a:r>
          </a:p>
        </p:txBody>
      </p:sp>
      <p:sp>
        <p:nvSpPr>
          <p:cNvPr id="15" name="flow-01:marker"/>
          <p:cNvSpPr/>
          <p:nvPr/>
        </p:nvSpPr>
        <p:spPr>
          <a:xfrm>
            <a:off x="7221672" y="2582041"/>
            <a:ext cx="468000" cy="468000"/>
          </a:xfrm>
          <a:prstGeom prst="ellipse">
            <a:avLst/>
          </a:prstGeom>
          <a:solidFill>
            <a:srgbClr val="2563C9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flow-01:title"/>
          <p:cNvSpPr txBox="1"/>
          <p:nvPr/>
        </p:nvSpPr>
        <p:spPr>
          <a:xfrm>
            <a:off x="7221672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563C9"/>
                </a:solidFill>
              </a:rPr>
              <a:t>품질 필터링</a:t>
            </a:r>
          </a:p>
        </p:txBody>
      </p:sp>
      <p:sp>
        <p:nvSpPr>
          <p:cNvPr id="17" name="flow-01:desc"/>
          <p:cNvSpPr txBox="1"/>
          <p:nvPr/>
        </p:nvSpPr>
        <p:spPr>
          <a:xfrm>
            <a:off x="7221672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죽은 세포 · 이중 세포 제거</a:t>
            </a:r>
          </a:p>
        </p:txBody>
      </p:sp>
      <p:sp>
        <p:nvSpPr>
          <p:cNvPr id="18" name="flow-01:marker"/>
          <p:cNvSpPr/>
          <p:nvPr/>
        </p:nvSpPr>
        <p:spPr>
          <a:xfrm>
            <a:off x="9472896" y="2582041"/>
            <a:ext cx="468000" cy="46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5</a:t>
            </a:r>
          </a:p>
        </p:txBody>
      </p:sp>
      <p:sp>
        <p:nvSpPr>
          <p:cNvPr id="19" name="flow-01:title"/>
          <p:cNvSpPr txBox="1"/>
          <p:nvPr/>
        </p:nvSpPr>
        <p:spPr>
          <a:xfrm>
            <a:off x="9472896" y="3213841"/>
            <a:ext cx="1970424" cy="30934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군집 분석</a:t>
            </a:r>
          </a:p>
        </p:txBody>
      </p:sp>
      <p:sp>
        <p:nvSpPr>
          <p:cNvPr id="20" name="flow-01:desc"/>
          <p:cNvSpPr txBox="1"/>
          <p:nvPr/>
        </p:nvSpPr>
        <p:spPr>
          <a:xfrm>
            <a:off x="9472896" y="3593383"/>
            <a:ext cx="1970424" cy="5125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6B7280"/>
                </a:solidFill>
              </a:rPr>
              <a:t>비슷한 발현끼리 묶어 세포 유형 찾기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563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2563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563C9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