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분석에는 샘플 95개를 썼어요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08624" y="1770360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49024" y="1770360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34726" y="2342305"/>
            <a:ext cx="0" cy="1247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34726" y="2966290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82027" y="2482705"/>
            <a:ext cx="2701469" cy="967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122427" y="2599705"/>
            <a:ext cx="2420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08624" y="3590276"/>
            <a:ext cx="4052203" cy="571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49024" y="3590276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34726" y="4162221"/>
            <a:ext cx="0" cy="995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34726" y="4659778"/>
            <a:ext cx="2447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82027" y="4302621"/>
            <a:ext cx="2701469" cy="714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122427" y="4419621"/>
            <a:ext cx="2420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08624" y="5157335"/>
            <a:ext cx="4052203" cy="5719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49024" y="5157335"/>
            <a:ext cx="3771403" cy="571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대상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52개, 대조군 43개를 비교해요</a:t>
            </a:r>
          </a:p>
        </p:txBody>
      </p:sp>
      <p:sp>
        <p:nvSpPr>
          <p:cNvPr id="5" name="res-02:box"/>
          <p:cNvSpPr/>
          <p:nvPr/>
        </p:nvSpPr>
        <p:spPr>
          <a:xfrm>
            <a:off x="2549124" y="1591712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2:box-text"/>
          <p:cNvSpPr txBox="1"/>
          <p:nvPr/>
        </p:nvSpPr>
        <p:spPr>
          <a:xfrm>
            <a:off x="2662524" y="1591712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공개 코호트 샘플  </a:t>
            </a:r>
            <a:r>
              <a:rPr sz="1600" b="1" spc="-40">
                <a:solidFill>
                  <a:srgbClr val="262B33"/>
                </a:solidFill>
              </a:rPr>
              <a:t>n = 120</a:t>
            </a:r>
          </a:p>
        </p:txBody>
      </p:sp>
      <p:cxnSp>
        <p:nvCxnSpPr>
          <p:cNvPr id="7" name="res-02:flow"/>
          <p:cNvCxnSpPr/>
          <p:nvPr/>
        </p:nvCxnSpPr>
        <p:spPr>
          <a:xfrm>
            <a:off x="4575226" y="2109657"/>
            <a:ext cx="0" cy="1148971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2:out"/>
          <p:cNvCxnSpPr/>
          <p:nvPr/>
        </p:nvCxnSpPr>
        <p:spPr>
          <a:xfrm>
            <a:off x="4575226" y="2684142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s-02:exclude"/>
          <p:cNvSpPr/>
          <p:nvPr/>
        </p:nvSpPr>
        <p:spPr>
          <a:xfrm>
            <a:off x="6941527" y="2223057"/>
            <a:ext cx="2701469" cy="92217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2:exclude-text"/>
          <p:cNvSpPr txBox="1"/>
          <p:nvPr/>
        </p:nvSpPr>
        <p:spPr>
          <a:xfrm>
            <a:off x="7054927" y="2317557"/>
            <a:ext cx="2474669" cy="733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품질 미달  </a:t>
            </a:r>
            <a:r>
              <a:rPr sz="1200" b="1" spc="-40">
                <a:solidFill>
                  <a:srgbClr val="262B33"/>
                </a:solidFill>
              </a:rPr>
              <a:t>n = 18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매핑률 70% 미만 11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RIN 6 미만 7</a:t>
            </a:r>
          </a:p>
        </p:txBody>
      </p:sp>
      <p:sp>
        <p:nvSpPr>
          <p:cNvPr id="11" name="res-02:box"/>
          <p:cNvSpPr/>
          <p:nvPr/>
        </p:nvSpPr>
        <p:spPr>
          <a:xfrm>
            <a:off x="2549124" y="3258628"/>
            <a:ext cx="4052203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2:box-text"/>
          <p:cNvSpPr txBox="1"/>
          <p:nvPr/>
        </p:nvSpPr>
        <p:spPr>
          <a:xfrm>
            <a:off x="2662524" y="3258628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품질 통과  </a:t>
            </a:r>
            <a:r>
              <a:rPr sz="1600" b="1" spc="-40">
                <a:solidFill>
                  <a:srgbClr val="262B33"/>
                </a:solidFill>
              </a:rPr>
              <a:t>n = 102</a:t>
            </a:r>
          </a:p>
        </p:txBody>
      </p:sp>
      <p:cxnSp>
        <p:nvCxnSpPr>
          <p:cNvPr id="13" name="res-02:flow"/>
          <p:cNvCxnSpPr/>
          <p:nvPr/>
        </p:nvCxnSpPr>
        <p:spPr>
          <a:xfrm>
            <a:off x="4575226" y="3776573"/>
            <a:ext cx="0" cy="896114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s-02:out"/>
          <p:cNvCxnSpPr/>
          <p:nvPr/>
        </p:nvCxnSpPr>
        <p:spPr>
          <a:xfrm>
            <a:off x="4575226" y="4224630"/>
            <a:ext cx="2366301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s-02:exclude"/>
          <p:cNvSpPr/>
          <p:nvPr/>
        </p:nvSpPr>
        <p:spPr>
          <a:xfrm>
            <a:off x="6941527" y="3889973"/>
            <a:ext cx="2701469" cy="66931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2:exclude-text"/>
          <p:cNvSpPr txBox="1"/>
          <p:nvPr/>
        </p:nvSpPr>
        <p:spPr>
          <a:xfrm>
            <a:off x="7054927" y="3984473"/>
            <a:ext cx="2474669" cy="4803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262B33"/>
                </a:solidFill>
              </a:rPr>
              <a:t>중복  </a:t>
            </a:r>
            <a:r>
              <a:rPr sz="1200" b="1" spc="-40">
                <a:solidFill>
                  <a:srgbClr val="262B33"/>
                </a:solidFill>
              </a:rPr>
              <a:t>n = 7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같은 환자 반복 채취</a:t>
            </a:r>
          </a:p>
        </p:txBody>
      </p:sp>
      <p:sp>
        <p:nvSpPr>
          <p:cNvPr id="17" name="res-02:box"/>
          <p:cNvSpPr/>
          <p:nvPr/>
        </p:nvSpPr>
        <p:spPr>
          <a:xfrm>
            <a:off x="2549124" y="4672687"/>
            <a:ext cx="4052203" cy="5179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2:box-text"/>
          <p:cNvSpPr txBox="1"/>
          <p:nvPr/>
        </p:nvSpPr>
        <p:spPr>
          <a:xfrm>
            <a:off x="2662524" y="4672687"/>
            <a:ext cx="3825403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FFFFFF"/>
                </a:solidFill>
              </a:rPr>
              <a:t>분석 샘플  </a:t>
            </a:r>
            <a:r>
              <a:rPr sz="1600" b="1" spc="-40">
                <a:solidFill>
                  <a:srgbClr val="FFFFFF"/>
                </a:solidFill>
              </a:rPr>
              <a:t>n = 95</a:t>
            </a:r>
          </a:p>
        </p:txBody>
      </p:sp>
      <p:cxnSp>
        <p:nvCxnSpPr>
          <p:cNvPr id="19" name="res-02:split"/>
          <p:cNvCxnSpPr/>
          <p:nvPr/>
        </p:nvCxnSpPr>
        <p:spPr>
          <a:xfrm>
            <a:off x="4575226" y="5190632"/>
            <a:ext cx="0" cy="189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s-02:split"/>
          <p:cNvCxnSpPr/>
          <p:nvPr/>
        </p:nvCxnSpPr>
        <p:spPr>
          <a:xfrm>
            <a:off x="3224675" y="5379632"/>
            <a:ext cx="270110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s-02:split"/>
          <p:cNvCxnSpPr/>
          <p:nvPr/>
        </p:nvCxnSpPr>
        <p:spPr>
          <a:xfrm>
            <a:off x="3224675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2:box"/>
          <p:cNvSpPr/>
          <p:nvPr/>
        </p:nvSpPr>
        <p:spPr>
          <a:xfrm>
            <a:off x="1982124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2:box-text"/>
          <p:cNvSpPr txBox="1"/>
          <p:nvPr/>
        </p:nvSpPr>
        <p:spPr>
          <a:xfrm>
            <a:off x="2095524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환자군  </a:t>
            </a:r>
            <a:r>
              <a:rPr sz="1600" b="1" spc="-40">
                <a:solidFill>
                  <a:srgbClr val="262B33"/>
                </a:solidFill>
              </a:rPr>
              <a:t>n = 52</a:t>
            </a:r>
          </a:p>
        </p:txBody>
      </p:sp>
      <p:cxnSp>
        <p:nvCxnSpPr>
          <p:cNvPr id="24" name="res-02:split"/>
          <p:cNvCxnSpPr/>
          <p:nvPr/>
        </p:nvCxnSpPr>
        <p:spPr>
          <a:xfrm>
            <a:off x="5925776" y="5379632"/>
            <a:ext cx="0" cy="189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2:box"/>
          <p:cNvSpPr/>
          <p:nvPr/>
        </p:nvSpPr>
        <p:spPr>
          <a:xfrm>
            <a:off x="4683226" y="5568632"/>
            <a:ext cx="2485102" cy="51794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2:box-text"/>
          <p:cNvSpPr txBox="1"/>
          <p:nvPr/>
        </p:nvSpPr>
        <p:spPr>
          <a:xfrm>
            <a:off x="4796626" y="5568632"/>
            <a:ext cx="2258302" cy="5179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대조군  </a:t>
            </a:r>
            <a:r>
              <a:rPr sz="1600" b="1" spc="-40">
                <a:solidFill>
                  <a:srgbClr val="262B33"/>
                </a:solidFill>
              </a:rPr>
              <a:t>n = 43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