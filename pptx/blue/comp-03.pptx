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(comp-03-a).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(comp-03-b).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(comp-03-c).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8E3F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8E3F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공간 군집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공간 정보를 넣은 분할로 병리 주석과의 일치도가 0.62에서 0.81로 올랐다</a:t>
            </a:r>
          </a:p>
        </p:txBody>
      </p:sp>
      <p:sp>
        <p:nvSpPr>
          <p:cNvPr id="5" name="comp-03:panel"/>
          <p:cNvSpPr/>
          <p:nvPr/>
        </p:nvSpPr>
        <p:spPr>
          <a:xfrm>
            <a:off x="468000" y="1584000"/>
            <a:ext cx="5520060" cy="4518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comp-03:tag"/>
          <p:cNvSpPr/>
          <p:nvPr/>
        </p:nvSpPr>
        <p:spPr>
          <a:xfrm>
            <a:off x="684000" y="1819572"/>
            <a:ext cx="342634" cy="25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comp-03:tag-text"/>
          <p:cNvSpPr txBox="1"/>
          <p:nvPr/>
        </p:nvSpPr>
        <p:spPr>
          <a:xfrm>
            <a:off x="684000" y="1819572"/>
            <a:ext cx="342634" cy="25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전</a:t>
            </a:r>
          </a:p>
        </p:txBody>
      </p:sp>
      <p:sp>
        <p:nvSpPr>
          <p:cNvPr id="8" name="comp-03:title"/>
          <p:cNvSpPr txBox="1"/>
          <p:nvPr/>
        </p:nvSpPr>
        <p:spPr>
          <a:xfrm>
            <a:off x="1134634" y="1800000"/>
            <a:ext cx="4637426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발현만 쓴 분할 (Leiden)</a:t>
            </a:r>
          </a:p>
        </p:txBody>
      </p:sp>
      <p:pic>
        <p:nvPicPr>
          <p:cNvPr id="9" name="comp-03:image" descr="comp-03-bef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1197" y="2235145"/>
            <a:ext cx="3033666" cy="2273975"/>
          </a:xfrm>
          <a:prstGeom prst="rect">
            <a:avLst/>
          </a:prstGeom>
        </p:spPr>
      </p:pic>
      <p:cxnSp>
        <p:nvCxnSpPr>
          <p:cNvPr id="10" name="comp-03:metric-rule"/>
          <p:cNvCxnSpPr/>
          <p:nvPr/>
        </p:nvCxnSpPr>
        <p:spPr>
          <a:xfrm>
            <a:off x="684000" y="461712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omp-03:metric-label"/>
          <p:cNvSpPr txBox="1"/>
          <p:nvPr/>
        </p:nvSpPr>
        <p:spPr>
          <a:xfrm>
            <a:off x="684000" y="4617120"/>
            <a:ext cx="4188233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병리 주석 일치도 (ARI)</a:t>
            </a:r>
          </a:p>
        </p:txBody>
      </p:sp>
      <p:sp>
        <p:nvSpPr>
          <p:cNvPr id="12" name="comp-03:metric-value"/>
          <p:cNvSpPr txBox="1"/>
          <p:nvPr/>
        </p:nvSpPr>
        <p:spPr>
          <a:xfrm>
            <a:off x="4872233" y="4617120"/>
            <a:ext cx="899827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2600" b="0" spc="-40">
                <a:solidFill>
                  <a:srgbClr val="6B7280"/>
                </a:solidFill>
              </a:rPr>
              <a:t>0.62</a:t>
            </a:r>
          </a:p>
        </p:txBody>
      </p:sp>
      <p:cxnSp>
        <p:nvCxnSpPr>
          <p:cNvPr id="13" name="comp-03:metric-rule"/>
          <p:cNvCxnSpPr/>
          <p:nvPr/>
        </p:nvCxnSpPr>
        <p:spPr>
          <a:xfrm>
            <a:off x="684000" y="512136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omp-03:metric-label"/>
          <p:cNvSpPr txBox="1"/>
          <p:nvPr/>
        </p:nvSpPr>
        <p:spPr>
          <a:xfrm>
            <a:off x="684000" y="5121360"/>
            <a:ext cx="4188233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고립 스팟 비율</a:t>
            </a:r>
          </a:p>
        </p:txBody>
      </p:sp>
      <p:sp>
        <p:nvSpPr>
          <p:cNvPr id="15" name="comp-03:metric-value"/>
          <p:cNvSpPr txBox="1"/>
          <p:nvPr/>
        </p:nvSpPr>
        <p:spPr>
          <a:xfrm>
            <a:off x="4872233" y="5121360"/>
            <a:ext cx="899827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800" b="0" spc="-40">
                <a:solidFill>
                  <a:srgbClr val="6B7280"/>
                </a:solidFill>
              </a:rPr>
              <a:t>18%</a:t>
            </a:r>
          </a:p>
        </p:txBody>
      </p:sp>
      <p:cxnSp>
        <p:nvCxnSpPr>
          <p:cNvPr id="16" name="comp-03:metric-rule"/>
          <p:cNvCxnSpPr/>
          <p:nvPr/>
        </p:nvCxnSpPr>
        <p:spPr>
          <a:xfrm>
            <a:off x="684000" y="550368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comp-03:metric-label"/>
          <p:cNvSpPr txBox="1"/>
          <p:nvPr/>
        </p:nvSpPr>
        <p:spPr>
          <a:xfrm>
            <a:off x="684000" y="5503680"/>
            <a:ext cx="4188233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군집 수</a:t>
            </a:r>
          </a:p>
        </p:txBody>
      </p:sp>
      <p:sp>
        <p:nvSpPr>
          <p:cNvPr id="18" name="comp-03:metric-value"/>
          <p:cNvSpPr txBox="1"/>
          <p:nvPr/>
        </p:nvSpPr>
        <p:spPr>
          <a:xfrm>
            <a:off x="4872233" y="5503680"/>
            <a:ext cx="899827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800" b="0" spc="-40">
                <a:solidFill>
                  <a:srgbClr val="6B7280"/>
                </a:solidFill>
              </a:rPr>
              <a:t>7</a:t>
            </a:r>
          </a:p>
        </p:txBody>
      </p:sp>
      <p:sp>
        <p:nvSpPr>
          <p:cNvPr id="19" name="comp-03:panel"/>
          <p:cNvSpPr/>
          <p:nvPr/>
        </p:nvSpPr>
        <p:spPr>
          <a:xfrm>
            <a:off x="6204060" y="1584000"/>
            <a:ext cx="5520060" cy="4518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comp-03:tag"/>
          <p:cNvSpPr/>
          <p:nvPr/>
        </p:nvSpPr>
        <p:spPr>
          <a:xfrm>
            <a:off x="6420060" y="1819572"/>
            <a:ext cx="342634" cy="25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comp-03:tag-text"/>
          <p:cNvSpPr txBox="1"/>
          <p:nvPr/>
        </p:nvSpPr>
        <p:spPr>
          <a:xfrm>
            <a:off x="6420060" y="1819572"/>
            <a:ext cx="342634" cy="25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2563C9"/>
                </a:solidFill>
              </a:rPr>
              <a:t>후</a:t>
            </a:r>
          </a:p>
        </p:txBody>
      </p:sp>
      <p:sp>
        <p:nvSpPr>
          <p:cNvPr id="22" name="comp-03:title"/>
          <p:cNvSpPr txBox="1"/>
          <p:nvPr/>
        </p:nvSpPr>
        <p:spPr>
          <a:xfrm>
            <a:off x="6870694" y="1800000"/>
            <a:ext cx="4637426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공간 이웃을 반영한 분할</a:t>
            </a:r>
          </a:p>
        </p:txBody>
      </p:sp>
      <p:pic>
        <p:nvPicPr>
          <p:cNvPr id="23" name="comp-03:image" descr="comp-03-af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7257" y="2235145"/>
            <a:ext cx="3033666" cy="2273975"/>
          </a:xfrm>
          <a:prstGeom prst="rect">
            <a:avLst/>
          </a:prstGeom>
        </p:spPr>
      </p:pic>
      <p:cxnSp>
        <p:nvCxnSpPr>
          <p:cNvPr id="24" name="comp-03:metric-rule"/>
          <p:cNvCxnSpPr/>
          <p:nvPr/>
        </p:nvCxnSpPr>
        <p:spPr>
          <a:xfrm>
            <a:off x="6420060" y="461712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comp-03:metric-label"/>
          <p:cNvSpPr txBox="1"/>
          <p:nvPr/>
        </p:nvSpPr>
        <p:spPr>
          <a:xfrm>
            <a:off x="6420060" y="4617120"/>
            <a:ext cx="4188233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병리 주석 일치도 (ARI)</a:t>
            </a:r>
          </a:p>
        </p:txBody>
      </p:sp>
      <p:sp>
        <p:nvSpPr>
          <p:cNvPr id="26" name="comp-03:metric-value"/>
          <p:cNvSpPr txBox="1"/>
          <p:nvPr/>
        </p:nvSpPr>
        <p:spPr>
          <a:xfrm>
            <a:off x="10608293" y="4617120"/>
            <a:ext cx="899827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2600" b="1" spc="-40">
                <a:solidFill>
                  <a:srgbClr val="2563C9"/>
                </a:solidFill>
              </a:rPr>
              <a:t>0.81</a:t>
            </a:r>
          </a:p>
        </p:txBody>
      </p:sp>
      <p:cxnSp>
        <p:nvCxnSpPr>
          <p:cNvPr id="27" name="comp-03:metric-rule"/>
          <p:cNvCxnSpPr/>
          <p:nvPr/>
        </p:nvCxnSpPr>
        <p:spPr>
          <a:xfrm>
            <a:off x="6420060" y="512136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comp-03:metric-label"/>
          <p:cNvSpPr txBox="1"/>
          <p:nvPr/>
        </p:nvSpPr>
        <p:spPr>
          <a:xfrm>
            <a:off x="6420060" y="5121360"/>
            <a:ext cx="4188233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고립 스팟 비율</a:t>
            </a:r>
          </a:p>
        </p:txBody>
      </p:sp>
      <p:sp>
        <p:nvSpPr>
          <p:cNvPr id="29" name="comp-03:metric-value"/>
          <p:cNvSpPr txBox="1"/>
          <p:nvPr/>
        </p:nvSpPr>
        <p:spPr>
          <a:xfrm>
            <a:off x="10608293" y="5121360"/>
            <a:ext cx="899827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800" b="1" spc="-40">
                <a:solidFill>
                  <a:srgbClr val="262B33"/>
                </a:solidFill>
              </a:rPr>
              <a:t>4%</a:t>
            </a:r>
          </a:p>
        </p:txBody>
      </p:sp>
      <p:cxnSp>
        <p:nvCxnSpPr>
          <p:cNvPr id="30" name="comp-03:metric-rule"/>
          <p:cNvCxnSpPr/>
          <p:nvPr/>
        </p:nvCxnSpPr>
        <p:spPr>
          <a:xfrm>
            <a:off x="6420060" y="550368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comp-03:metric-label"/>
          <p:cNvSpPr txBox="1"/>
          <p:nvPr/>
        </p:nvSpPr>
        <p:spPr>
          <a:xfrm>
            <a:off x="6420060" y="5503680"/>
            <a:ext cx="4188233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군집 수</a:t>
            </a:r>
          </a:p>
        </p:txBody>
      </p:sp>
      <p:sp>
        <p:nvSpPr>
          <p:cNvPr id="32" name="comp-03:metric-value"/>
          <p:cNvSpPr txBox="1"/>
          <p:nvPr/>
        </p:nvSpPr>
        <p:spPr>
          <a:xfrm>
            <a:off x="10608293" y="5503680"/>
            <a:ext cx="899827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800" b="1" spc="-40">
                <a:solidFill>
                  <a:srgbClr val="262B33"/>
                </a:solidFill>
              </a:rPr>
              <a:t>5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배치 보정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보정 후 세 배치가 섞이고 세포 유형 구분은 그대로 남았다</a:t>
            </a:r>
          </a:p>
        </p:txBody>
      </p:sp>
      <p:sp>
        <p:nvSpPr>
          <p:cNvPr id="5" name="comp-03:panel"/>
          <p:cNvSpPr/>
          <p:nvPr/>
        </p:nvSpPr>
        <p:spPr>
          <a:xfrm>
            <a:off x="468000" y="1896468"/>
            <a:ext cx="5520060" cy="2862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comp-03:tag"/>
          <p:cNvSpPr/>
          <p:nvPr/>
        </p:nvSpPr>
        <p:spPr>
          <a:xfrm>
            <a:off x="684000" y="2132040"/>
            <a:ext cx="342634" cy="25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comp-03:tag-text"/>
          <p:cNvSpPr txBox="1"/>
          <p:nvPr/>
        </p:nvSpPr>
        <p:spPr>
          <a:xfrm>
            <a:off x="684000" y="2132040"/>
            <a:ext cx="342634" cy="25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전</a:t>
            </a:r>
          </a:p>
        </p:txBody>
      </p:sp>
      <p:sp>
        <p:nvSpPr>
          <p:cNvPr id="8" name="comp-03:title"/>
          <p:cNvSpPr txBox="1"/>
          <p:nvPr/>
        </p:nvSpPr>
        <p:spPr>
          <a:xfrm>
            <a:off x="1134634" y="2112468"/>
            <a:ext cx="4637426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보정 전</a:t>
            </a:r>
          </a:p>
        </p:txBody>
      </p:sp>
      <p:sp>
        <p:nvSpPr>
          <p:cNvPr id="9" name="comp-03:desc"/>
          <p:cNvSpPr txBox="1"/>
          <p:nvPr/>
        </p:nvSpPr>
        <p:spPr>
          <a:xfrm>
            <a:off x="684000" y="2457613"/>
            <a:ext cx="508806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배치마다 따로 모인다</a:t>
            </a:r>
          </a:p>
        </p:txBody>
      </p:sp>
      <p:pic>
        <p:nvPicPr>
          <p:cNvPr id="10" name="comp-03:image" descr="comp-03-umap-bef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146" y="2857881"/>
            <a:ext cx="2248066" cy="1684587"/>
          </a:xfrm>
          <a:prstGeom prst="rect">
            <a:avLst/>
          </a:prstGeom>
        </p:spPr>
      </p:pic>
      <p:sp>
        <p:nvSpPr>
          <p:cNvPr id="11" name="comp-03:metric-label"/>
          <p:cNvSpPr txBox="1"/>
          <p:nvPr/>
        </p:nvSpPr>
        <p:spPr>
          <a:xfrm>
            <a:off x="3940358" y="3010483"/>
            <a:ext cx="1831702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배치 혼합 (iLISI)</a:t>
            </a:r>
          </a:p>
        </p:txBody>
      </p:sp>
      <p:sp>
        <p:nvSpPr>
          <p:cNvPr id="12" name="comp-03:metric-value"/>
          <p:cNvSpPr txBox="1"/>
          <p:nvPr/>
        </p:nvSpPr>
        <p:spPr>
          <a:xfrm>
            <a:off x="3940358" y="3256895"/>
            <a:ext cx="1831702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600" b="0" spc="-40">
                <a:solidFill>
                  <a:srgbClr val="6B7280"/>
                </a:solidFill>
              </a:rPr>
              <a:t>1.1</a:t>
            </a:r>
          </a:p>
        </p:txBody>
      </p:sp>
      <p:cxnSp>
        <p:nvCxnSpPr>
          <p:cNvPr id="13" name="comp-03:metric-rule"/>
          <p:cNvCxnSpPr/>
          <p:nvPr/>
        </p:nvCxnSpPr>
        <p:spPr>
          <a:xfrm>
            <a:off x="3940358" y="3761135"/>
            <a:ext cx="1831702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omp-03:metric-label"/>
          <p:cNvSpPr txBox="1"/>
          <p:nvPr/>
        </p:nvSpPr>
        <p:spPr>
          <a:xfrm>
            <a:off x="3940358" y="3815135"/>
            <a:ext cx="1831702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유형 보존 (cLISI)</a:t>
            </a:r>
          </a:p>
        </p:txBody>
      </p:sp>
      <p:sp>
        <p:nvSpPr>
          <p:cNvPr id="15" name="comp-03:metric-value"/>
          <p:cNvSpPr txBox="1"/>
          <p:nvPr/>
        </p:nvSpPr>
        <p:spPr>
          <a:xfrm>
            <a:off x="3940358" y="4061546"/>
            <a:ext cx="1831702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0" spc="-40">
                <a:solidFill>
                  <a:srgbClr val="6B7280"/>
                </a:solidFill>
              </a:rPr>
              <a:t>1.02</a:t>
            </a:r>
          </a:p>
        </p:txBody>
      </p:sp>
      <p:sp>
        <p:nvSpPr>
          <p:cNvPr id="16" name="comp-03:panel"/>
          <p:cNvSpPr/>
          <p:nvPr/>
        </p:nvSpPr>
        <p:spPr>
          <a:xfrm>
            <a:off x="6204060" y="1896468"/>
            <a:ext cx="5520060" cy="2862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comp-03:tag"/>
          <p:cNvSpPr/>
          <p:nvPr/>
        </p:nvSpPr>
        <p:spPr>
          <a:xfrm>
            <a:off x="6420060" y="2132040"/>
            <a:ext cx="342634" cy="25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comp-03:tag-text"/>
          <p:cNvSpPr txBox="1"/>
          <p:nvPr/>
        </p:nvSpPr>
        <p:spPr>
          <a:xfrm>
            <a:off x="6420060" y="2132040"/>
            <a:ext cx="342634" cy="25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2563C9"/>
                </a:solidFill>
              </a:rPr>
              <a:t>후</a:t>
            </a:r>
          </a:p>
        </p:txBody>
      </p:sp>
      <p:sp>
        <p:nvSpPr>
          <p:cNvPr id="19" name="comp-03:title"/>
          <p:cNvSpPr txBox="1"/>
          <p:nvPr/>
        </p:nvSpPr>
        <p:spPr>
          <a:xfrm>
            <a:off x="6870694" y="2112468"/>
            <a:ext cx="4637426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Harmony 보정 후</a:t>
            </a:r>
          </a:p>
        </p:txBody>
      </p:sp>
      <p:sp>
        <p:nvSpPr>
          <p:cNvPr id="20" name="comp-03:desc"/>
          <p:cNvSpPr txBox="1"/>
          <p:nvPr/>
        </p:nvSpPr>
        <p:spPr>
          <a:xfrm>
            <a:off x="6420060" y="2457613"/>
            <a:ext cx="508806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배치가 섞이고 네 유형은 유지된다</a:t>
            </a:r>
          </a:p>
        </p:txBody>
      </p:sp>
      <p:pic>
        <p:nvPicPr>
          <p:cNvPr id="21" name="comp-03:image" descr="comp-03-umap-af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6293" y="2857881"/>
            <a:ext cx="2247893" cy="1684587"/>
          </a:xfrm>
          <a:prstGeom prst="rect">
            <a:avLst/>
          </a:prstGeom>
        </p:spPr>
      </p:pic>
      <p:sp>
        <p:nvSpPr>
          <p:cNvPr id="22" name="comp-03:metric-label"/>
          <p:cNvSpPr txBox="1"/>
          <p:nvPr/>
        </p:nvSpPr>
        <p:spPr>
          <a:xfrm>
            <a:off x="9676418" y="3010483"/>
            <a:ext cx="1831702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배치 혼합 (iLISI)</a:t>
            </a:r>
          </a:p>
        </p:txBody>
      </p:sp>
      <p:sp>
        <p:nvSpPr>
          <p:cNvPr id="23" name="comp-03:metric-value"/>
          <p:cNvSpPr txBox="1"/>
          <p:nvPr/>
        </p:nvSpPr>
        <p:spPr>
          <a:xfrm>
            <a:off x="9676418" y="3256895"/>
            <a:ext cx="1831702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600" b="1" spc="-40">
                <a:solidFill>
                  <a:srgbClr val="2563C9"/>
                </a:solidFill>
              </a:rPr>
              <a:t>2.7</a:t>
            </a:r>
          </a:p>
        </p:txBody>
      </p:sp>
      <p:cxnSp>
        <p:nvCxnSpPr>
          <p:cNvPr id="24" name="comp-03:metric-rule"/>
          <p:cNvCxnSpPr/>
          <p:nvPr/>
        </p:nvCxnSpPr>
        <p:spPr>
          <a:xfrm>
            <a:off x="9676418" y="3761135"/>
            <a:ext cx="1831702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comp-03:metric-label"/>
          <p:cNvSpPr txBox="1"/>
          <p:nvPr/>
        </p:nvSpPr>
        <p:spPr>
          <a:xfrm>
            <a:off x="9676418" y="3815135"/>
            <a:ext cx="1831702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유형 보존 (cLISI)</a:t>
            </a:r>
          </a:p>
        </p:txBody>
      </p:sp>
      <p:sp>
        <p:nvSpPr>
          <p:cNvPr id="26" name="comp-03:metric-value"/>
          <p:cNvSpPr txBox="1"/>
          <p:nvPr/>
        </p:nvSpPr>
        <p:spPr>
          <a:xfrm>
            <a:off x="9676418" y="4061546"/>
            <a:ext cx="1831702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1" spc="-40">
                <a:solidFill>
                  <a:srgbClr val="262B33"/>
                </a:solidFill>
              </a:rPr>
              <a:t>1.04</a:t>
            </a:r>
          </a:p>
        </p:txBody>
      </p:sp>
      <p:cxnSp>
        <p:nvCxnSpPr>
          <p:cNvPr id="27" name="conclusion:line"/>
          <p:cNvCxnSpPr/>
          <p:nvPr/>
        </p:nvCxnSpPr>
        <p:spPr>
          <a:xfrm>
            <a:off x="468000" y="4974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conclusion:text"/>
          <p:cNvSpPr txBox="1"/>
          <p:nvPr/>
        </p:nvSpPr>
        <p:spPr>
          <a:xfrm>
            <a:off x="468000" y="5172468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이후 분석은 보정한 임베딩으로 한다. 유형 표지 유전자는 보정 전 발현값으로 확인한다.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파이프라인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분석을 자동화하자 한 표본 처리 시간이 12시간에서 40분으로 줄었다</a:t>
            </a:r>
          </a:p>
        </p:txBody>
      </p:sp>
      <p:sp>
        <p:nvSpPr>
          <p:cNvPr id="5" name="comp-03:panel"/>
          <p:cNvSpPr/>
          <p:nvPr/>
        </p:nvSpPr>
        <p:spPr>
          <a:xfrm>
            <a:off x="468000" y="1662049"/>
            <a:ext cx="5520060" cy="4283853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comp-03:tag"/>
          <p:cNvSpPr/>
          <p:nvPr/>
        </p:nvSpPr>
        <p:spPr>
          <a:xfrm>
            <a:off x="684000" y="1897621"/>
            <a:ext cx="342634" cy="25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comp-03:tag-text"/>
          <p:cNvSpPr txBox="1"/>
          <p:nvPr/>
        </p:nvSpPr>
        <p:spPr>
          <a:xfrm>
            <a:off x="684000" y="1897621"/>
            <a:ext cx="342634" cy="25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전</a:t>
            </a:r>
          </a:p>
        </p:txBody>
      </p:sp>
      <p:sp>
        <p:nvSpPr>
          <p:cNvPr id="8" name="comp-03:title"/>
          <p:cNvSpPr txBox="1"/>
          <p:nvPr/>
        </p:nvSpPr>
        <p:spPr>
          <a:xfrm>
            <a:off x="1134634" y="1878049"/>
            <a:ext cx="4637426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수작업 분석</a:t>
            </a:r>
          </a:p>
        </p:txBody>
      </p:sp>
      <p:sp>
        <p:nvSpPr>
          <p:cNvPr id="9" name="comp-03:desc"/>
          <p:cNvSpPr txBox="1"/>
          <p:nvPr/>
        </p:nvSpPr>
        <p:spPr>
          <a:xfrm>
            <a:off x="684000" y="2223194"/>
            <a:ext cx="508806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단계마다 스크립트를 손으로 돌리고 결과를 옮겨 적었다</a:t>
            </a:r>
          </a:p>
        </p:txBody>
      </p:sp>
      <p:cxnSp>
        <p:nvCxnSpPr>
          <p:cNvPr id="10" name="comp-03:metric-rule"/>
          <p:cNvCxnSpPr/>
          <p:nvPr/>
        </p:nvCxnSpPr>
        <p:spPr>
          <a:xfrm>
            <a:off x="684000" y="2623462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omp-03:metric-label"/>
          <p:cNvSpPr txBox="1"/>
          <p:nvPr/>
        </p:nvSpPr>
        <p:spPr>
          <a:xfrm>
            <a:off x="684000" y="2623462"/>
            <a:ext cx="3325120" cy="1157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표본당 처리 시간</a:t>
            </a:r>
          </a:p>
        </p:txBody>
      </p:sp>
      <p:sp>
        <p:nvSpPr>
          <p:cNvPr id="12" name="comp-03:metric-value"/>
          <p:cNvSpPr txBox="1"/>
          <p:nvPr/>
        </p:nvSpPr>
        <p:spPr>
          <a:xfrm>
            <a:off x="4009120" y="2623462"/>
            <a:ext cx="1762940" cy="1157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4000" b="1" spc="-40">
                <a:solidFill>
                  <a:srgbClr val="6B7280"/>
                </a:solidFill>
              </a:rPr>
              <a:t>12시간</a:t>
            </a:r>
          </a:p>
        </p:txBody>
      </p:sp>
      <p:cxnSp>
        <p:nvCxnSpPr>
          <p:cNvPr id="13" name="comp-03:metric-rule"/>
          <p:cNvCxnSpPr/>
          <p:nvPr/>
        </p:nvCxnSpPr>
        <p:spPr>
          <a:xfrm>
            <a:off x="684000" y="3780862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omp-03:metric-label"/>
          <p:cNvSpPr txBox="1"/>
          <p:nvPr/>
        </p:nvSpPr>
        <p:spPr>
          <a:xfrm>
            <a:off x="684000" y="3780862"/>
            <a:ext cx="3325120" cy="974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손으로 하는 단계</a:t>
            </a:r>
          </a:p>
        </p:txBody>
      </p:sp>
      <p:sp>
        <p:nvSpPr>
          <p:cNvPr id="15" name="comp-03:metric-value"/>
          <p:cNvSpPr txBox="1"/>
          <p:nvPr/>
        </p:nvSpPr>
        <p:spPr>
          <a:xfrm>
            <a:off x="4009120" y="3780862"/>
            <a:ext cx="1762940" cy="974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3200" b="1" spc="-40">
                <a:solidFill>
                  <a:srgbClr val="6B7280"/>
                </a:solidFill>
              </a:rPr>
              <a:t>9개</a:t>
            </a:r>
          </a:p>
        </p:txBody>
      </p:sp>
      <p:cxnSp>
        <p:nvCxnSpPr>
          <p:cNvPr id="16" name="comp-03:metric-rule"/>
          <p:cNvCxnSpPr/>
          <p:nvPr/>
        </p:nvCxnSpPr>
        <p:spPr>
          <a:xfrm>
            <a:off x="684000" y="4755382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comp-03:metric-label"/>
          <p:cNvSpPr txBox="1"/>
          <p:nvPr/>
        </p:nvSpPr>
        <p:spPr>
          <a:xfrm>
            <a:off x="684000" y="4755382"/>
            <a:ext cx="3325120" cy="974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재현 실패 (최근 10회)</a:t>
            </a:r>
          </a:p>
        </p:txBody>
      </p:sp>
      <p:sp>
        <p:nvSpPr>
          <p:cNvPr id="18" name="comp-03:metric-value"/>
          <p:cNvSpPr txBox="1"/>
          <p:nvPr/>
        </p:nvSpPr>
        <p:spPr>
          <a:xfrm>
            <a:off x="4009120" y="4755382"/>
            <a:ext cx="1762940" cy="974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3200" b="1" spc="-40">
                <a:solidFill>
                  <a:srgbClr val="6B7280"/>
                </a:solidFill>
              </a:rPr>
              <a:t>4회</a:t>
            </a:r>
          </a:p>
        </p:txBody>
      </p:sp>
      <p:sp>
        <p:nvSpPr>
          <p:cNvPr id="19" name="comp-03:panel"/>
          <p:cNvSpPr/>
          <p:nvPr/>
        </p:nvSpPr>
        <p:spPr>
          <a:xfrm>
            <a:off x="6204060" y="1662049"/>
            <a:ext cx="5520060" cy="4283853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comp-03:tag"/>
          <p:cNvSpPr/>
          <p:nvPr/>
        </p:nvSpPr>
        <p:spPr>
          <a:xfrm>
            <a:off x="6420060" y="1897621"/>
            <a:ext cx="342634" cy="25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comp-03:tag-text"/>
          <p:cNvSpPr txBox="1"/>
          <p:nvPr/>
        </p:nvSpPr>
        <p:spPr>
          <a:xfrm>
            <a:off x="6420060" y="1897621"/>
            <a:ext cx="342634" cy="25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2563C9"/>
                </a:solidFill>
              </a:rPr>
              <a:t>후</a:t>
            </a:r>
          </a:p>
        </p:txBody>
      </p:sp>
      <p:sp>
        <p:nvSpPr>
          <p:cNvPr id="22" name="comp-03:title"/>
          <p:cNvSpPr txBox="1"/>
          <p:nvPr/>
        </p:nvSpPr>
        <p:spPr>
          <a:xfrm>
            <a:off x="6870694" y="1878049"/>
            <a:ext cx="4637426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Snakemake 파이프라인</a:t>
            </a:r>
          </a:p>
        </p:txBody>
      </p:sp>
      <p:sp>
        <p:nvSpPr>
          <p:cNvPr id="23" name="comp-03:desc"/>
          <p:cNvSpPr txBox="1"/>
          <p:nvPr/>
        </p:nvSpPr>
        <p:spPr>
          <a:xfrm>
            <a:off x="6420060" y="2223194"/>
            <a:ext cx="508806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명령 하나로 정렬부터 군집까지 돌고 기록이 남는다</a:t>
            </a:r>
          </a:p>
        </p:txBody>
      </p:sp>
      <p:cxnSp>
        <p:nvCxnSpPr>
          <p:cNvPr id="24" name="comp-03:metric-rule"/>
          <p:cNvCxnSpPr/>
          <p:nvPr/>
        </p:nvCxnSpPr>
        <p:spPr>
          <a:xfrm>
            <a:off x="6420060" y="2623462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comp-03:metric-label"/>
          <p:cNvSpPr txBox="1"/>
          <p:nvPr/>
        </p:nvSpPr>
        <p:spPr>
          <a:xfrm>
            <a:off x="6420060" y="2623462"/>
            <a:ext cx="3325120" cy="1157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표본당 처리 시간</a:t>
            </a:r>
          </a:p>
        </p:txBody>
      </p:sp>
      <p:sp>
        <p:nvSpPr>
          <p:cNvPr id="26" name="comp-03:metric-value"/>
          <p:cNvSpPr txBox="1"/>
          <p:nvPr/>
        </p:nvSpPr>
        <p:spPr>
          <a:xfrm>
            <a:off x="9745180" y="2623462"/>
            <a:ext cx="1762940" cy="1157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4000" b="1" spc="-40">
                <a:solidFill>
                  <a:srgbClr val="2563C9"/>
                </a:solidFill>
              </a:rPr>
              <a:t>40분</a:t>
            </a:r>
          </a:p>
        </p:txBody>
      </p:sp>
      <p:cxnSp>
        <p:nvCxnSpPr>
          <p:cNvPr id="27" name="comp-03:metric-rule"/>
          <p:cNvCxnSpPr/>
          <p:nvPr/>
        </p:nvCxnSpPr>
        <p:spPr>
          <a:xfrm>
            <a:off x="6420060" y="3780862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comp-03:metric-label"/>
          <p:cNvSpPr txBox="1"/>
          <p:nvPr/>
        </p:nvSpPr>
        <p:spPr>
          <a:xfrm>
            <a:off x="6420060" y="3780862"/>
            <a:ext cx="3325120" cy="974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손으로 하는 단계</a:t>
            </a:r>
          </a:p>
        </p:txBody>
      </p:sp>
      <p:sp>
        <p:nvSpPr>
          <p:cNvPr id="29" name="comp-03:metric-value"/>
          <p:cNvSpPr txBox="1"/>
          <p:nvPr/>
        </p:nvSpPr>
        <p:spPr>
          <a:xfrm>
            <a:off x="9745180" y="3780862"/>
            <a:ext cx="1762940" cy="974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3200" b="1" spc="-40">
                <a:solidFill>
                  <a:srgbClr val="262B33"/>
                </a:solidFill>
              </a:rPr>
              <a:t>1개</a:t>
            </a:r>
          </a:p>
        </p:txBody>
      </p:sp>
      <p:cxnSp>
        <p:nvCxnSpPr>
          <p:cNvPr id="30" name="comp-03:metric-rule"/>
          <p:cNvCxnSpPr/>
          <p:nvPr/>
        </p:nvCxnSpPr>
        <p:spPr>
          <a:xfrm>
            <a:off x="6420060" y="4755382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comp-03:metric-label"/>
          <p:cNvSpPr txBox="1"/>
          <p:nvPr/>
        </p:nvSpPr>
        <p:spPr>
          <a:xfrm>
            <a:off x="6420060" y="4755382"/>
            <a:ext cx="3325120" cy="974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재현 실패 (최근 10회)</a:t>
            </a:r>
          </a:p>
        </p:txBody>
      </p:sp>
      <p:sp>
        <p:nvSpPr>
          <p:cNvPr id="32" name="comp-03:metric-value"/>
          <p:cNvSpPr txBox="1"/>
          <p:nvPr/>
        </p:nvSpPr>
        <p:spPr>
          <a:xfrm>
            <a:off x="9745180" y="4755382"/>
            <a:ext cx="1762940" cy="974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3200" b="1" spc="-40">
                <a:solidFill>
                  <a:srgbClr val="262B33"/>
                </a:solidFill>
              </a:rPr>
              <a:t>0회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블루 클린 16:9">
  <a:themeElements>
    <a:clrScheme name="HaLab 블루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2563C9"/>
      </a:accent1>
      <a:accent2>
        <a:srgbClr val="14A884"/>
      </a:accent2>
      <a:accent3>
        <a:srgbClr val="36B3C2"/>
      </a:accent3>
      <a:accent4>
        <a:srgbClr val="FFD93D"/>
      </a:accent4>
      <a:accent5>
        <a:srgbClr val="A8C1E9"/>
      </a:accent5>
      <a:accent6>
        <a:srgbClr val="E2E5EA"/>
      </a:accent6>
      <a:hlink>
        <a:srgbClr val="2563C9"/>
      </a:hlink>
      <a:folHlink>
        <a:srgbClr val="36B3C2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블루 클린 16:9</dc:title>
  <dc:creator>HaLab</dc:creator>
</cp:coreProperties>
</file>