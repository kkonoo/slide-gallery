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(flow-06-e).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코호트 운영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정보와 혈액 시료는 따로 흘러 분석팀에서 만난다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215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6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558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60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496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bel-rule"/>
          <p:cNvCxnSpPr/>
          <p:nvPr/>
        </p:nvCxnSpPr>
        <p:spPr>
          <a:xfrm>
            <a:off x="2077923" y="2154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low-06:lane"/>
          <p:cNvSpPr txBox="1"/>
          <p:nvPr/>
        </p:nvSpPr>
        <p:spPr>
          <a:xfrm>
            <a:off x="468000" y="2154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 책임자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2856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임상 코디네이터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3558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바이오뱅크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4260000"/>
            <a:ext cx="1375923" cy="70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분석팀</a:t>
            </a:r>
          </a:p>
        </p:txBody>
      </p:sp>
      <p:sp>
        <p:nvSpPr>
          <p:cNvPr id="15" name="flow-06:task"/>
          <p:cNvSpPr/>
          <p:nvPr/>
        </p:nvSpPr>
        <p:spPr>
          <a:xfrm>
            <a:off x="2293923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2387523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연구 계획 · IRB</a:t>
            </a:r>
          </a:p>
        </p:txBody>
      </p:sp>
      <p:sp>
        <p:nvSpPr>
          <p:cNvPr id="17" name="flow-06:task"/>
          <p:cNvSpPr/>
          <p:nvPr/>
        </p:nvSpPr>
        <p:spPr>
          <a:xfrm>
            <a:off x="426636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435996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동의 · 등록</a:t>
            </a:r>
          </a:p>
        </p:txBody>
      </p:sp>
      <p:sp>
        <p:nvSpPr>
          <p:cNvPr id="19" name="flow-06:task"/>
          <p:cNvSpPr/>
          <p:nvPr/>
        </p:nvSpPr>
        <p:spPr>
          <a:xfrm>
            <a:off x="6238802" y="3713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6332402" y="3713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혈액 분주 · 보관</a:t>
            </a:r>
          </a:p>
        </p:txBody>
      </p:sp>
      <p:sp>
        <p:nvSpPr>
          <p:cNvPr id="21" name="flow-06:task"/>
          <p:cNvSpPr/>
          <p:nvPr/>
        </p:nvSpPr>
        <p:spPr>
          <a:xfrm>
            <a:off x="6238802" y="3011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6332402" y="3011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정보 입력</a:t>
            </a:r>
          </a:p>
        </p:txBody>
      </p:sp>
      <p:sp>
        <p:nvSpPr>
          <p:cNvPr id="23" name="flow-06:task"/>
          <p:cNvSpPr/>
          <p:nvPr/>
        </p:nvSpPr>
        <p:spPr>
          <a:xfrm>
            <a:off x="8211241" y="4415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830484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유전형 분석</a:t>
            </a:r>
          </a:p>
        </p:txBody>
      </p:sp>
      <p:sp>
        <p:nvSpPr>
          <p:cNvPr id="25" name="flow-06:task"/>
          <p:cNvSpPr/>
          <p:nvPr/>
        </p:nvSpPr>
        <p:spPr>
          <a:xfrm>
            <a:off x="10183681" y="4415751"/>
            <a:ext cx="1540439" cy="39049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10277281" y="4415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연관 분석</a:t>
            </a:r>
          </a:p>
        </p:txBody>
      </p:sp>
      <p:sp>
        <p:nvSpPr>
          <p:cNvPr id="27" name="flow-06:task"/>
          <p:cNvSpPr/>
          <p:nvPr/>
        </p:nvSpPr>
        <p:spPr>
          <a:xfrm>
            <a:off x="10183681" y="2309751"/>
            <a:ext cx="1540439" cy="3904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flow-06:task-text"/>
          <p:cNvSpPr txBox="1"/>
          <p:nvPr/>
        </p:nvSpPr>
        <p:spPr>
          <a:xfrm>
            <a:off x="10277281" y="2309751"/>
            <a:ext cx="1353239" cy="3904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결과 검토</a:t>
            </a:r>
          </a:p>
        </p:txBody>
      </p:sp>
      <p:cxnSp>
        <p:nvCxnSpPr>
          <p:cNvPr id="29" name="flow-06:handoff"/>
          <p:cNvCxnSpPr/>
          <p:nvPr/>
        </p:nvCxnSpPr>
        <p:spPr>
          <a:xfrm>
            <a:off x="3834362" y="2505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050362" y="2505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405036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5806802" y="3207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022802" y="3207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6022802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7779241" y="3909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7995241" y="3909000"/>
            <a:ext cx="0" cy="70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799524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flow-06:handoff"/>
          <p:cNvCxnSpPr/>
          <p:nvPr/>
        </p:nvCxnSpPr>
        <p:spPr>
          <a:xfrm>
            <a:off x="7779241" y="3207000"/>
            <a:ext cx="21884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flow-06:handoff"/>
          <p:cNvCxnSpPr/>
          <p:nvPr/>
        </p:nvCxnSpPr>
        <p:spPr>
          <a:xfrm>
            <a:off x="9967681" y="3207000"/>
            <a:ext cx="0" cy="140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flow-06:handoff"/>
          <p:cNvCxnSpPr/>
          <p:nvPr/>
        </p:nvCxnSpPr>
        <p:spPr>
          <a:xfrm>
            <a:off x="9967681" y="4611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flow-06:handoff"/>
          <p:cNvCxnSpPr/>
          <p:nvPr/>
        </p:nvCxnSpPr>
        <p:spPr>
          <a:xfrm flipV="1">
            <a:off x="10953900" y="2700249"/>
            <a:ext cx="0" cy="1715502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공유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공개 전 검토는 다섯 주체가 한 번씩만 맡는다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58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4876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3912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2948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ne-rule"/>
          <p:cNvCxnSpPr/>
          <p:nvPr/>
        </p:nvCxnSpPr>
        <p:spPr>
          <a:xfrm>
            <a:off x="468000" y="51984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flow-06:lane-rule"/>
          <p:cNvCxnSpPr/>
          <p:nvPr/>
        </p:nvCxnSpPr>
        <p:spPr>
          <a:xfrm>
            <a:off x="468000" y="6102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flow-06:label-rule"/>
          <p:cNvCxnSpPr/>
          <p:nvPr/>
        </p:nvCxnSpPr>
        <p:spPr>
          <a:xfrm>
            <a:off x="1820984" y="1584000"/>
            <a:ext cx="0" cy="451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-06:lane"/>
          <p:cNvSpPr txBox="1"/>
          <p:nvPr/>
        </p:nvSpPr>
        <p:spPr>
          <a:xfrm>
            <a:off x="468000" y="15840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데이터 생산</a:t>
            </a:r>
          </a:p>
        </p:txBody>
      </p:sp>
      <p:sp>
        <p:nvSpPr>
          <p:cNvPr id="13" name="flow-06:lane"/>
          <p:cNvSpPr txBox="1"/>
          <p:nvPr/>
        </p:nvSpPr>
        <p:spPr>
          <a:xfrm>
            <a:off x="468000" y="24876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관리자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메타데이터</a:t>
            </a:r>
          </a:p>
        </p:txBody>
      </p:sp>
      <p:sp>
        <p:nvSpPr>
          <p:cNvPr id="14" name="flow-06:lane"/>
          <p:cNvSpPr txBox="1"/>
          <p:nvPr/>
        </p:nvSpPr>
        <p:spPr>
          <a:xfrm>
            <a:off x="468000" y="33912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책임자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승인</a:t>
            </a:r>
          </a:p>
        </p:txBody>
      </p:sp>
      <p:sp>
        <p:nvSpPr>
          <p:cNvPr id="15" name="flow-06:lane"/>
          <p:cNvSpPr txBox="1"/>
          <p:nvPr/>
        </p:nvSpPr>
        <p:spPr>
          <a:xfrm>
            <a:off x="468000" y="42948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IRB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개인정보 검토</a:t>
            </a:r>
          </a:p>
        </p:txBody>
      </p:sp>
      <p:sp>
        <p:nvSpPr>
          <p:cNvPr id="16" name="flow-06:lane"/>
          <p:cNvSpPr txBox="1"/>
          <p:nvPr/>
        </p:nvSpPr>
        <p:spPr>
          <a:xfrm>
            <a:off x="468000" y="5198400"/>
            <a:ext cx="1172984" cy="90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공개 저장소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GEO · SRA</a:t>
            </a:r>
          </a:p>
        </p:txBody>
      </p:sp>
      <p:sp>
        <p:nvSpPr>
          <p:cNvPr id="17" name="flow-06:task"/>
          <p:cNvSpPr/>
          <p:nvPr/>
        </p:nvSpPr>
        <p:spPr>
          <a:xfrm>
            <a:off x="2036984" y="17458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2108984" y="17458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원자료 정리</a:t>
            </a:r>
          </a:p>
        </p:txBody>
      </p:sp>
      <p:sp>
        <p:nvSpPr>
          <p:cNvPr id="19" name="flow-06:task"/>
          <p:cNvSpPr/>
          <p:nvPr/>
        </p:nvSpPr>
        <p:spPr>
          <a:xfrm>
            <a:off x="2036984" y="26494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2108984" y="26494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메타데이터 작성</a:t>
            </a:r>
          </a:p>
        </p:txBody>
      </p:sp>
      <p:sp>
        <p:nvSpPr>
          <p:cNvPr id="21" name="flow-06:task"/>
          <p:cNvSpPr/>
          <p:nvPr/>
        </p:nvSpPr>
        <p:spPr>
          <a:xfrm>
            <a:off x="4566768" y="35530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4638768" y="35530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공개 범위 승인</a:t>
            </a:r>
          </a:p>
        </p:txBody>
      </p:sp>
      <p:sp>
        <p:nvSpPr>
          <p:cNvPr id="23" name="flow-06:task"/>
          <p:cNvSpPr/>
          <p:nvPr/>
        </p:nvSpPr>
        <p:spPr>
          <a:xfrm>
            <a:off x="7096552" y="4456620"/>
            <a:ext cx="2097784" cy="57995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flow-06:task-text"/>
          <p:cNvSpPr txBox="1"/>
          <p:nvPr/>
        </p:nvSpPr>
        <p:spPr>
          <a:xfrm>
            <a:off x="7168552" y="44566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비식별 검토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1–2주</a:t>
            </a:r>
          </a:p>
        </p:txBody>
      </p:sp>
      <p:sp>
        <p:nvSpPr>
          <p:cNvPr id="25" name="flow-06:task"/>
          <p:cNvSpPr/>
          <p:nvPr/>
        </p:nvSpPr>
        <p:spPr>
          <a:xfrm>
            <a:off x="9626336" y="5360220"/>
            <a:ext cx="2097784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flow-06:task-text"/>
          <p:cNvSpPr txBox="1"/>
          <p:nvPr/>
        </p:nvSpPr>
        <p:spPr>
          <a:xfrm>
            <a:off x="9698336" y="5360220"/>
            <a:ext cx="1953784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업로드 · 접수번호</a:t>
            </a:r>
          </a:p>
        </p:txBody>
      </p:sp>
      <p:cxnSp>
        <p:nvCxnSpPr>
          <p:cNvPr id="27" name="flow-06:handoff"/>
          <p:cNvCxnSpPr/>
          <p:nvPr/>
        </p:nvCxnSpPr>
        <p:spPr>
          <a:xfrm>
            <a:off x="3085876" y="2325780"/>
            <a:ext cx="0" cy="32364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4134768" y="29394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4350768" y="29394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4350768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6664552" y="38430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6880552" y="38430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>
            <a:off x="6880552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194336" y="4746600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410336" y="4746600"/>
            <a:ext cx="0" cy="903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>
            <a:off x="9410336" y="5650200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low-06:lane"/>
          <p:cNvSpPr txBox="1"/>
          <p:nvPr/>
        </p:nvSpPr>
        <p:spPr>
          <a:xfrm>
            <a:off x="468000" y="1896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sp>
        <p:nvSpPr>
          <p:cNvPr id="11" name="flow-06:lane"/>
          <p:cNvSpPr txBox="1"/>
          <p:nvPr/>
        </p:nvSpPr>
        <p:spPr>
          <a:xfrm>
            <a:off x="468000" y="2850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sp>
        <p:nvSpPr>
          <p:cNvPr id="12" name="flow-06:lane"/>
          <p:cNvSpPr txBox="1"/>
          <p:nvPr/>
        </p:nvSpPr>
        <p:spPr>
          <a:xfrm>
            <a:off x="468000" y="3804468"/>
            <a:ext cx="1058173" cy="95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3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E0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5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D0D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17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C0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19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1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9FBA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3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공동연구 체계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시료가 세 기관을 오가며 분석까지 6주 안에 끝난다</a:t>
            </a:r>
          </a:p>
        </p:txBody>
      </p:sp>
      <p:cxnSp>
        <p:nvCxnSpPr>
          <p:cNvPr id="5" name="flow-06:lane-rule"/>
          <p:cNvCxnSpPr/>
          <p:nvPr/>
        </p:nvCxnSpPr>
        <p:spPr>
          <a:xfrm>
            <a:off x="468000" y="1896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flow-06:lane-rule"/>
          <p:cNvCxnSpPr/>
          <p:nvPr/>
        </p:nvCxnSpPr>
        <p:spPr>
          <a:xfrm>
            <a:off x="468000" y="2850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flow-06:lane-rule"/>
          <p:cNvCxnSpPr/>
          <p:nvPr/>
        </p:nvCxnSpPr>
        <p:spPr>
          <a:xfrm>
            <a:off x="468000" y="380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flow-06:lane-rule"/>
          <p:cNvCxnSpPr/>
          <p:nvPr/>
        </p:nvCxnSpPr>
        <p:spPr>
          <a:xfrm>
            <a:off x="468000" y="4758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flow-06:label-rule"/>
          <p:cNvCxnSpPr/>
          <p:nvPr/>
        </p:nvCxnSpPr>
        <p:spPr>
          <a:xfrm>
            <a:off x="1706173" y="1896468"/>
            <a:ext cx="0" cy="2862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flow-06:logo" descr="logo-ho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2092896"/>
            <a:ext cx="581850" cy="216000"/>
          </a:xfrm>
          <a:prstGeom prst="rect">
            <a:avLst/>
          </a:prstGeom>
        </p:spPr>
      </p:pic>
      <p:sp>
        <p:nvSpPr>
          <p:cNvPr id="11" name="flow-06:lane"/>
          <p:cNvSpPr txBox="1"/>
          <p:nvPr/>
        </p:nvSpPr>
        <p:spPr>
          <a:xfrm>
            <a:off x="468000" y="2362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협력 병원</a:t>
            </a:r>
          </a:p>
        </p:txBody>
      </p:sp>
      <p:pic>
        <p:nvPicPr>
          <p:cNvPr id="12" name="flow-06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00" y="3046896"/>
            <a:ext cx="668250" cy="216000"/>
          </a:xfrm>
          <a:prstGeom prst="rect">
            <a:avLst/>
          </a:prstGeom>
        </p:spPr>
      </p:pic>
      <p:sp>
        <p:nvSpPr>
          <p:cNvPr id="13" name="flow-06:lane"/>
          <p:cNvSpPr txBox="1"/>
          <p:nvPr/>
        </p:nvSpPr>
        <p:spPr>
          <a:xfrm>
            <a:off x="468000" y="3316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연구실</a:t>
            </a:r>
          </a:p>
        </p:txBody>
      </p:sp>
      <p:pic>
        <p:nvPicPr>
          <p:cNvPr id="14" name="flow-06:logo" descr="logo-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" y="4000896"/>
            <a:ext cx="668250" cy="216000"/>
          </a:xfrm>
          <a:prstGeom prst="rect">
            <a:avLst/>
          </a:prstGeom>
        </p:spPr>
      </p:pic>
      <p:sp>
        <p:nvSpPr>
          <p:cNvPr id="15" name="flow-06:lane"/>
          <p:cNvSpPr txBox="1"/>
          <p:nvPr/>
        </p:nvSpPr>
        <p:spPr>
          <a:xfrm>
            <a:off x="468000" y="4270896"/>
            <a:ext cx="105817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16" name="flow-06:task"/>
          <p:cNvSpPr/>
          <p:nvPr/>
        </p:nvSpPr>
        <p:spPr>
          <a:xfrm>
            <a:off x="1922173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flow-06:task-text"/>
          <p:cNvSpPr txBox="1"/>
          <p:nvPr/>
        </p:nvSpPr>
        <p:spPr>
          <a:xfrm>
            <a:off x="1994173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시료 채취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환자 120명</a:t>
            </a:r>
          </a:p>
        </p:txBody>
      </p:sp>
      <p:sp>
        <p:nvSpPr>
          <p:cNvPr id="18" name="flow-06:task"/>
          <p:cNvSpPr/>
          <p:nvPr/>
        </p:nvSpPr>
        <p:spPr>
          <a:xfrm>
            <a:off x="3968963" y="3037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flow-06:task-text"/>
          <p:cNvSpPr txBox="1"/>
          <p:nvPr/>
        </p:nvSpPr>
        <p:spPr>
          <a:xfrm>
            <a:off x="4040963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RNA 추출 · QC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RIN 7 이상</a:t>
            </a:r>
          </a:p>
        </p:txBody>
      </p:sp>
      <p:sp>
        <p:nvSpPr>
          <p:cNvPr id="20" name="flow-06:task"/>
          <p:cNvSpPr/>
          <p:nvPr/>
        </p:nvSpPr>
        <p:spPr>
          <a:xfrm>
            <a:off x="6015752" y="3991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flow-06:task-text"/>
          <p:cNvSpPr txBox="1"/>
          <p:nvPr/>
        </p:nvSpPr>
        <p:spPr>
          <a:xfrm>
            <a:off x="6087752" y="3991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라이브러리 · 시퀀싱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2" name="flow-06:task"/>
          <p:cNvSpPr/>
          <p:nvPr/>
        </p:nvSpPr>
        <p:spPr>
          <a:xfrm>
            <a:off x="8062541" y="3037488"/>
            <a:ext cx="1614789" cy="579959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flow-06:task-text"/>
          <p:cNvSpPr txBox="1"/>
          <p:nvPr/>
        </p:nvSpPr>
        <p:spPr>
          <a:xfrm>
            <a:off x="8134541" y="3037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FFFFFF"/>
                </a:solidFill>
              </a:rPr>
              <a:t>발현 분석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DEG · 경로</a:t>
            </a:r>
          </a:p>
        </p:txBody>
      </p:sp>
      <p:sp>
        <p:nvSpPr>
          <p:cNvPr id="24" name="flow-06:task"/>
          <p:cNvSpPr/>
          <p:nvPr/>
        </p:nvSpPr>
        <p:spPr>
          <a:xfrm>
            <a:off x="10109331" y="2083488"/>
            <a:ext cx="1614789" cy="579959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flow-06:task-text"/>
          <p:cNvSpPr txBox="1"/>
          <p:nvPr/>
        </p:nvSpPr>
        <p:spPr>
          <a:xfrm>
            <a:off x="10181331" y="2083488"/>
            <a:ext cx="1470789" cy="57995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spc="-40">
                <a:solidFill>
                  <a:srgbClr val="262B33"/>
                </a:solidFill>
              </a:rPr>
              <a:t>임상 해석</a:t>
            </a:r>
          </a:p>
        </p:txBody>
      </p:sp>
      <p:cxnSp>
        <p:nvCxnSpPr>
          <p:cNvPr id="26" name="flow-06:handoff"/>
          <p:cNvCxnSpPr/>
          <p:nvPr/>
        </p:nvCxnSpPr>
        <p:spPr>
          <a:xfrm>
            <a:off x="3536963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6:handoff"/>
          <p:cNvCxnSpPr/>
          <p:nvPr/>
        </p:nvCxnSpPr>
        <p:spPr>
          <a:xfrm>
            <a:off x="3752963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6:handoff"/>
          <p:cNvCxnSpPr/>
          <p:nvPr/>
        </p:nvCxnSpPr>
        <p:spPr>
          <a:xfrm>
            <a:off x="3752963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flow-06:handoff"/>
          <p:cNvCxnSpPr/>
          <p:nvPr/>
        </p:nvCxnSpPr>
        <p:spPr>
          <a:xfrm>
            <a:off x="5583752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flow-06:handoff"/>
          <p:cNvCxnSpPr/>
          <p:nvPr/>
        </p:nvCxnSpPr>
        <p:spPr>
          <a:xfrm>
            <a:off x="5799752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flow-06:handoff"/>
          <p:cNvCxnSpPr/>
          <p:nvPr/>
        </p:nvCxnSpPr>
        <p:spPr>
          <a:xfrm>
            <a:off x="5799752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flow-06:handoff"/>
          <p:cNvCxnSpPr/>
          <p:nvPr/>
        </p:nvCxnSpPr>
        <p:spPr>
          <a:xfrm>
            <a:off x="7630541" y="4281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low-06:handoff"/>
          <p:cNvCxnSpPr/>
          <p:nvPr/>
        </p:nvCxnSpPr>
        <p:spPr>
          <a:xfrm flipV="1">
            <a:off x="7846541" y="3327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flow-06:handoff"/>
          <p:cNvCxnSpPr/>
          <p:nvPr/>
        </p:nvCxnSpPr>
        <p:spPr>
          <a:xfrm>
            <a:off x="784654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flow-06:handoff"/>
          <p:cNvCxnSpPr/>
          <p:nvPr/>
        </p:nvCxnSpPr>
        <p:spPr>
          <a:xfrm>
            <a:off x="9677331" y="3327468"/>
            <a:ext cx="216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flow-06:handoff"/>
          <p:cNvCxnSpPr/>
          <p:nvPr/>
        </p:nvCxnSpPr>
        <p:spPr>
          <a:xfrm flipV="1">
            <a:off x="9893331" y="2373468"/>
            <a:ext cx="0" cy="95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flow-06:handoff"/>
          <p:cNvCxnSpPr/>
          <p:nvPr/>
        </p:nvCxnSpPr>
        <p:spPr>
          <a:xfrm>
            <a:off x="9893331" y="2373468"/>
            <a:ext cx="2160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인계 4곳마다 담당자와 넘기는 파일 형식을 미리 정해 두었다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