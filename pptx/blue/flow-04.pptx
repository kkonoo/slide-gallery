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4160000"/>
              <a:gd name="adj2" fmla="val 18240000"/>
              <a:gd name="adj3" fmla="val 13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8480000"/>
              <a:gd name="adj2" fmla="val 960000"/>
              <a:gd name="adj3" fmla="val 13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200000"/>
              <a:gd name="adj2" fmla="val 5280000"/>
              <a:gd name="adj3" fmla="val 13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5520000"/>
              <a:gd name="adj2" fmla="val 9600000"/>
              <a:gd name="adj3" fmla="val 13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9840000"/>
              <a:gd name="adj2" fmla="val 13500000"/>
              <a:gd name="adj3" fmla="val 13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arrow"/>
          <p:cNvSpPr/>
          <p:nvPr/>
        </p:nvSpPr>
        <p:spPr>
          <a:xfrm rot="2910000">
            <a:off x="4821079" y="3099522"/>
            <a:ext cx="525110" cy="203835"/>
          </a:xfrm>
          <a:prstGeom prst="triangle">
            <a:avLst/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"/>
          <p:cNvSpPr/>
          <p:nvPr/>
        </p:nvSpPr>
        <p:spPr>
          <a:xfrm>
            <a:off x="5004393" y="3254111"/>
            <a:ext cx="2183335" cy="2183335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4:center-text"/>
          <p:cNvSpPr txBox="1"/>
          <p:nvPr/>
        </p:nvSpPr>
        <p:spPr>
          <a:xfrm>
            <a:off x="5244559" y="3581611"/>
            <a:ext cx="1703001" cy="15283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2563C9"/>
                </a:solidFill>
              </a:rPr>
              <a:t>실험과 분석이 서로 다음 질문을 만든다</a:t>
            </a:r>
          </a:p>
        </p:txBody>
      </p:sp>
      <p:sp>
        <p:nvSpPr>
          <p:cNvPr id="13" name="flow-04:marker"/>
          <p:cNvSpPr/>
          <p:nvPr/>
        </p:nvSpPr>
        <p:spPr>
          <a:xfrm>
            <a:off x="5952060" y="1584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14" name="flow-04:label"/>
          <p:cNvSpPr txBox="1"/>
          <p:nvPr/>
        </p:nvSpPr>
        <p:spPr>
          <a:xfrm>
            <a:off x="3282030" y="1908000"/>
            <a:ext cx="5628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5" name="flow-04:marker"/>
          <p:cNvSpPr/>
          <p:nvPr/>
        </p:nvSpPr>
        <p:spPr>
          <a:xfrm>
            <a:off x="8068282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6" name="flow-04:label"/>
          <p:cNvSpPr txBox="1"/>
          <p:nvPr/>
        </p:nvSpPr>
        <p:spPr>
          <a:xfrm>
            <a:off x="8446282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7" name="flow-04:marker"/>
          <p:cNvSpPr/>
          <p:nvPr/>
        </p:nvSpPr>
        <p:spPr>
          <a:xfrm>
            <a:off x="8068282" y="536614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8" name="flow-04:label"/>
          <p:cNvSpPr txBox="1"/>
          <p:nvPr/>
        </p:nvSpPr>
        <p:spPr>
          <a:xfrm>
            <a:off x="8446282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9" name="flow-04:marker"/>
          <p:cNvSpPr/>
          <p:nvPr/>
        </p:nvSpPr>
        <p:spPr>
          <a:xfrm>
            <a:off x="3835838" y="5366148"/>
            <a:ext cx="288000" cy="288000"/>
          </a:xfrm>
          <a:prstGeom prst="ellipse">
            <a:avLst/>
          </a:prstGeom>
          <a:solidFill>
            <a:srgbClr val="2563C9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flow-04:label"/>
          <p:cNvSpPr txBox="1"/>
          <p:nvPr/>
        </p:nvSpPr>
        <p:spPr>
          <a:xfrm>
            <a:off x="576000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21" name="flow-04:marker"/>
          <p:cNvSpPr/>
          <p:nvPr/>
        </p:nvSpPr>
        <p:spPr>
          <a:xfrm>
            <a:off x="3835838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5</a:t>
            </a:r>
          </a:p>
        </p:txBody>
      </p:sp>
      <p:sp>
        <p:nvSpPr>
          <p:cNvPr id="22" name="flow-04:label"/>
          <p:cNvSpPr txBox="1"/>
          <p:nvPr/>
        </p:nvSpPr>
        <p:spPr>
          <a:xfrm>
            <a:off x="576000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 수정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다음 후보 유전자 선정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6320000"/>
              <a:gd name="adj2" fmla="val 21480000"/>
              <a:gd name="adj3" fmla="val 13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20000"/>
              <a:gd name="adj2" fmla="val 5280000"/>
              <a:gd name="adj3" fmla="val 13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5520000"/>
              <a:gd name="adj2" fmla="val 10680000"/>
              <a:gd name="adj3" fmla="val 13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0920000"/>
              <a:gd name="adj2" fmla="val 15660000"/>
              <a:gd name="adj3" fmla="val 13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arrow"/>
          <p:cNvSpPr/>
          <p:nvPr/>
        </p:nvSpPr>
        <p:spPr>
          <a:xfrm rot="5070000">
            <a:off x="5634946" y="1920427"/>
            <a:ext cx="592020" cy="229808"/>
          </a:xfrm>
          <a:prstGeom prst="triangl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center"/>
          <p:cNvSpPr/>
          <p:nvPr/>
        </p:nvSpPr>
        <p:spPr>
          <a:xfrm>
            <a:off x="4865292" y="2519232"/>
            <a:ext cx="2461536" cy="24615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-text"/>
          <p:cNvSpPr txBox="1"/>
          <p:nvPr/>
        </p:nvSpPr>
        <p:spPr>
          <a:xfrm>
            <a:off x="5136061" y="2888462"/>
            <a:ext cx="1919998" cy="17230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2563C9"/>
                </a:solidFill>
              </a:rPr>
              <a:t>실험과 분석이 서로 다음 질문을 만든다</a:t>
            </a:r>
          </a:p>
        </p:txBody>
      </p:sp>
      <p:sp>
        <p:nvSpPr>
          <p:cNvPr id="12" name="flow-04:marker"/>
          <p:cNvSpPr/>
          <p:nvPr/>
        </p:nvSpPr>
        <p:spPr>
          <a:xfrm>
            <a:off x="8292060" y="2175156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13" name="flow-04:label"/>
          <p:cNvSpPr txBox="1"/>
          <p:nvPr/>
        </p:nvSpPr>
        <p:spPr>
          <a:xfrm>
            <a:off x="8670060" y="2175156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4" name="flow-04:marker"/>
          <p:cNvSpPr/>
          <p:nvPr/>
        </p:nvSpPr>
        <p:spPr>
          <a:xfrm>
            <a:off x="8292060" y="475128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5" name="flow-04:label"/>
          <p:cNvSpPr txBox="1"/>
          <p:nvPr/>
        </p:nvSpPr>
        <p:spPr>
          <a:xfrm>
            <a:off x="8670060" y="4751287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6" name="flow-04:marker"/>
          <p:cNvSpPr/>
          <p:nvPr/>
        </p:nvSpPr>
        <p:spPr>
          <a:xfrm>
            <a:off x="3612060" y="475128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flow-04:label"/>
          <p:cNvSpPr txBox="1"/>
          <p:nvPr/>
        </p:nvSpPr>
        <p:spPr>
          <a:xfrm>
            <a:off x="576000" y="4751287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8" name="flow-04:marker"/>
          <p:cNvSpPr/>
          <p:nvPr/>
        </p:nvSpPr>
        <p:spPr>
          <a:xfrm>
            <a:off x="3612060" y="2175156"/>
            <a:ext cx="288000" cy="288000"/>
          </a:xfrm>
          <a:prstGeom prst="ellipse">
            <a:avLst/>
          </a:prstGeom>
          <a:solidFill>
            <a:srgbClr val="2563C9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flow-04:label"/>
          <p:cNvSpPr txBox="1"/>
          <p:nvPr/>
        </p:nvSpPr>
        <p:spPr>
          <a:xfrm>
            <a:off x="576000" y="2175156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4160000"/>
              <a:gd name="adj2" fmla="val 18240000"/>
              <a:gd name="adj3" fmla="val 13000"/>
            </a:avLst>
          </a:prstGeom>
          <a:solidFill>
            <a:srgbClr val="E0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8480000"/>
              <a:gd name="adj2" fmla="val 960000"/>
              <a:gd name="adj3" fmla="val 13000"/>
            </a:avLst>
          </a:prstGeom>
          <a:solidFill>
            <a:srgbClr val="D0D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200000"/>
              <a:gd name="adj2" fmla="val 5280000"/>
              <a:gd name="adj3" fmla="val 13000"/>
            </a:avLst>
          </a:prstGeom>
          <a:solidFill>
            <a:srgbClr val="C0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5520000"/>
              <a:gd name="adj2" fmla="val 9600000"/>
              <a:gd name="adj3" fmla="val 13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9840000"/>
              <a:gd name="adj2" fmla="val 13500000"/>
              <a:gd name="adj3" fmla="val 13000"/>
            </a:avLst>
          </a:prstGeom>
          <a:solidFill>
            <a:srgbClr val="9FB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arrow"/>
          <p:cNvSpPr/>
          <p:nvPr/>
        </p:nvSpPr>
        <p:spPr>
          <a:xfrm rot="2910000">
            <a:off x="4821079" y="3099522"/>
            <a:ext cx="525110" cy="203835"/>
          </a:xfrm>
          <a:prstGeom prst="triangle">
            <a:avLst/>
          </a:prstGeom>
          <a:solidFill>
            <a:srgbClr val="9FB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"/>
          <p:cNvSpPr/>
          <p:nvPr/>
        </p:nvSpPr>
        <p:spPr>
          <a:xfrm>
            <a:off x="5004393" y="3254111"/>
            <a:ext cx="2183335" cy="2183335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4:center-text"/>
          <p:cNvSpPr txBox="1"/>
          <p:nvPr/>
        </p:nvSpPr>
        <p:spPr>
          <a:xfrm>
            <a:off x="5244559" y="3581611"/>
            <a:ext cx="1703001" cy="15283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2563C9"/>
                </a:solidFill>
              </a:rPr>
              <a:t>실험과 분석이 서로 다음 질문을 만든다</a:t>
            </a:r>
          </a:p>
        </p:txBody>
      </p:sp>
      <p:sp>
        <p:nvSpPr>
          <p:cNvPr id="13" name="flow-04:marker"/>
          <p:cNvSpPr/>
          <p:nvPr/>
        </p:nvSpPr>
        <p:spPr>
          <a:xfrm>
            <a:off x="5952060" y="1584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14" name="flow-04:label"/>
          <p:cNvSpPr txBox="1"/>
          <p:nvPr/>
        </p:nvSpPr>
        <p:spPr>
          <a:xfrm>
            <a:off x="3282030" y="1908000"/>
            <a:ext cx="5628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5" name="flow-04:marker"/>
          <p:cNvSpPr/>
          <p:nvPr/>
        </p:nvSpPr>
        <p:spPr>
          <a:xfrm>
            <a:off x="8068282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6" name="flow-04:label"/>
          <p:cNvSpPr txBox="1"/>
          <p:nvPr/>
        </p:nvSpPr>
        <p:spPr>
          <a:xfrm>
            <a:off x="8446282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7" name="flow-04:marker"/>
          <p:cNvSpPr/>
          <p:nvPr/>
        </p:nvSpPr>
        <p:spPr>
          <a:xfrm>
            <a:off x="8068282" y="536614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8" name="flow-04:label"/>
          <p:cNvSpPr txBox="1"/>
          <p:nvPr/>
        </p:nvSpPr>
        <p:spPr>
          <a:xfrm>
            <a:off x="8446282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9" name="flow-04:marker"/>
          <p:cNvSpPr/>
          <p:nvPr/>
        </p:nvSpPr>
        <p:spPr>
          <a:xfrm>
            <a:off x="3835838" y="5366148"/>
            <a:ext cx="288000" cy="288000"/>
          </a:xfrm>
          <a:prstGeom prst="ellipse">
            <a:avLst/>
          </a:prstGeom>
          <a:solidFill>
            <a:srgbClr val="2563C9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flow-04:label"/>
          <p:cNvSpPr txBox="1"/>
          <p:nvPr/>
        </p:nvSpPr>
        <p:spPr>
          <a:xfrm>
            <a:off x="576000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21" name="flow-04:marker"/>
          <p:cNvSpPr/>
          <p:nvPr/>
        </p:nvSpPr>
        <p:spPr>
          <a:xfrm>
            <a:off x="3835838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5</a:t>
            </a:r>
          </a:p>
        </p:txBody>
      </p:sp>
      <p:sp>
        <p:nvSpPr>
          <p:cNvPr id="22" name="flow-04:label"/>
          <p:cNvSpPr txBox="1"/>
          <p:nvPr/>
        </p:nvSpPr>
        <p:spPr>
          <a:xfrm>
            <a:off x="576000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 수정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다음 후보 유전자 선정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